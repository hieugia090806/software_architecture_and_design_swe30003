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ricolage Grotesque ExtraBold"/>
      <p:regular r:id="rId17"/>
    </p:embeddedFont>
    <p:embeddedFont>
      <p:font typeface="Montserrat"/>
      <p:regular r:id="rId18"/>
    </p:embeddedFont>
    <p:embeddedFont>
      <p:font typeface="Montserrat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520651"/>
            <a:ext cx="1505396" cy="266402"/>
          </a:xfrm>
          <a:prstGeom prst="roundRect">
            <a:avLst>
              <a:gd name="adj" fmla="val 17880"/>
            </a:avLst>
          </a:prstGeom>
          <a:solidFill>
            <a:srgbClr val="3E0845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563142"/>
            <a:ext cx="179248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SWE30003 · WEEKS 1–4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84375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Software Abstraction &amp; Quality Design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94233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 Synthesis — a structured review of verification, validation, UML modelling, quality attributes, and the foundational principles for mastering software complexity.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33413"/>
            <a:ext cx="1105272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1280666"/>
            <a:ext cx="138283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 REVIEW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566044"/>
            <a:ext cx="492003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Verification vs. Validation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394022" y="2221632"/>
            <a:ext cx="4107135" cy="1688455"/>
          </a:xfrm>
          <a:prstGeom prst="roundRect">
            <a:avLst>
              <a:gd name="adj" fmla="val 6045"/>
            </a:avLst>
          </a:prstGeom>
          <a:solidFill>
            <a:srgbClr val="243799"/>
          </a:solidFill>
          <a:ln/>
        </p:spPr>
      </p:sp>
      <p:sp>
        <p:nvSpPr>
          <p:cNvPr id="6" name="Text 4"/>
          <p:cNvSpPr/>
          <p:nvPr/>
        </p:nvSpPr>
        <p:spPr>
          <a:xfrm>
            <a:off x="535781" y="2363391"/>
            <a:ext cx="30950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Verification — Building It Right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2726606"/>
            <a:ext cx="4280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 we conforming to the specification?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5781" y="3080965"/>
            <a:ext cx="3823618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compliance and static analysis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syntax and logic verification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Internal correctness against defined specs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2363391"/>
            <a:ext cx="36495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Validation — Building the Right Thing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2726606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Does it solve the real-world problem?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49701" y="3080965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Stakeholder expectations and usability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Real-world business problem resolution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environment performance and behaviour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379" y="411063"/>
            <a:ext cx="1111672" cy="270346"/>
          </a:xfrm>
          <a:prstGeom prst="roundRect">
            <a:avLst>
              <a:gd name="adj" fmla="val 17344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858" y="457646"/>
            <a:ext cx="1391915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2 REVIEW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8379" y="736327"/>
            <a:ext cx="5582617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UML Use Cases vs. User Tasks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379" y="1585020"/>
            <a:ext cx="5189562" cy="29406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3074" y="1515814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UML Use Cases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3074" y="1871216"/>
            <a:ext cx="2637234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Predefined system boundary. Separates human and computer interactions early. Focuses on system-level functionality with a clear scope.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023074" y="2946350"/>
            <a:ext cx="2637234" cy="10418"/>
          </a:xfrm>
          <a:prstGeom prst="rect">
            <a:avLst/>
          </a:prstGeom>
          <a:solidFill>
            <a:srgbClr val="E5DCE6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023074" y="3146078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Task Descriptions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023074" y="3501479"/>
            <a:ext cx="2637234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Human–computer collaborative workflows. Describes the domain task without premature system splits, preserving real-world context before technical decisions are imposed.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640" y="452661"/>
            <a:ext cx="1093440" cy="264765"/>
          </a:xfrm>
          <a:prstGeom prst="roundRect">
            <a:avLst>
              <a:gd name="adj" fmla="val 17429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7779" y="498574"/>
            <a:ext cx="1376363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2 REVIEW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0640" y="770632"/>
            <a:ext cx="4266158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 Goal–Design Scale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80640" y="1399282"/>
            <a:ext cx="818271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Requirements exist at three levels of abstraction. Moving down the scale adds specificity — but risks premature design commitment.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640" y="1981572"/>
            <a:ext cx="1363712" cy="785217"/>
          </a:xfrm>
          <a:prstGeom prst="roundRect">
            <a:avLst>
              <a:gd name="adj" fmla="val 7346"/>
            </a:avLst>
          </a:prstGeom>
          <a:solidFill>
            <a:srgbClr val="282D5E"/>
          </a:solidFill>
          <a:ln/>
        </p:spPr>
      </p:sp>
      <p:sp>
        <p:nvSpPr>
          <p:cNvPr id="7" name="Text 5"/>
          <p:cNvSpPr/>
          <p:nvPr/>
        </p:nvSpPr>
        <p:spPr>
          <a:xfrm>
            <a:off x="1065907" y="2253481"/>
            <a:ext cx="193104" cy="241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81646" y="2118866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Goal Level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981646" y="2413174"/>
            <a:ext cx="445003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Abstract business expectations — e.g., </a:t>
            </a:r>
            <a:pPr algn="l" indent="0" marL="0">
              <a:lnSpc>
                <a:spcPct val="131000"/>
              </a:lnSpc>
              <a:buNone/>
            </a:pPr>
            <a:r>
              <a:rPr lang="en-US" sz="1050" i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increase profitability by 5%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12962" y="2757264"/>
            <a:ext cx="6681788" cy="9525"/>
          </a:xfrm>
          <a:prstGeom prst="roundRect">
            <a:avLst>
              <a:gd name="adj" fmla="val 605580"/>
            </a:avLst>
          </a:prstGeom>
          <a:solidFill>
            <a:srgbClr val="414677"/>
          </a:solidFill>
          <a:ln/>
        </p:spPr>
      </p:sp>
      <p:sp>
        <p:nvSpPr>
          <p:cNvPr id="11" name="Shape 9"/>
          <p:cNvSpPr/>
          <p:nvPr/>
        </p:nvSpPr>
        <p:spPr>
          <a:xfrm>
            <a:off x="480640" y="2835399"/>
            <a:ext cx="2727499" cy="785217"/>
          </a:xfrm>
          <a:prstGeom prst="roundRect">
            <a:avLst>
              <a:gd name="adj" fmla="val 7346"/>
            </a:avLst>
          </a:prstGeom>
          <a:solidFill>
            <a:srgbClr val="282D5E"/>
          </a:solidFill>
          <a:ln/>
        </p:spPr>
      </p:sp>
      <p:sp>
        <p:nvSpPr>
          <p:cNvPr id="12" name="Text 10"/>
          <p:cNvSpPr/>
          <p:nvPr/>
        </p:nvSpPr>
        <p:spPr>
          <a:xfrm>
            <a:off x="1747837" y="3107308"/>
            <a:ext cx="193104" cy="241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45433" y="2972693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Domain Level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45433" y="3267001"/>
            <a:ext cx="517639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activity outside the product — e.g., </a:t>
            </a:r>
            <a:pPr algn="l" indent="0" marL="0">
              <a:lnSpc>
                <a:spcPct val="131000"/>
              </a:lnSpc>
              <a:buNone/>
            </a:pPr>
            <a:r>
              <a:rPr lang="en-US" sz="1050" i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recording cost calculations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76749" y="3611091"/>
            <a:ext cx="5318001" cy="9525"/>
          </a:xfrm>
          <a:prstGeom prst="roundRect">
            <a:avLst>
              <a:gd name="adj" fmla="val 605580"/>
            </a:avLst>
          </a:prstGeom>
          <a:solidFill>
            <a:srgbClr val="414677"/>
          </a:solidFill>
          <a:ln/>
        </p:spPr>
      </p:sp>
      <p:sp>
        <p:nvSpPr>
          <p:cNvPr id="16" name="Shape 14"/>
          <p:cNvSpPr/>
          <p:nvPr/>
        </p:nvSpPr>
        <p:spPr>
          <a:xfrm>
            <a:off x="480640" y="3689226"/>
            <a:ext cx="4091360" cy="1001539"/>
          </a:xfrm>
          <a:prstGeom prst="roundRect">
            <a:avLst>
              <a:gd name="adj" fmla="val 5759"/>
            </a:avLst>
          </a:prstGeom>
          <a:solidFill>
            <a:srgbClr val="282D5E"/>
          </a:solidFill>
          <a:ln/>
        </p:spPr>
      </p:sp>
      <p:sp>
        <p:nvSpPr>
          <p:cNvPr id="17" name="Text 15"/>
          <p:cNvSpPr/>
          <p:nvPr/>
        </p:nvSpPr>
        <p:spPr>
          <a:xfrm>
            <a:off x="2429768" y="4069259"/>
            <a:ext cx="193104" cy="241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9294" y="3826520"/>
            <a:ext cx="193960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Product &amp; Design Level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09294" y="4120828"/>
            <a:ext cx="381677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Explicit system inputs, outputs, UI details, and internal tables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613097"/>
            <a:ext cx="1128266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014936" y="660350"/>
            <a:ext cx="140583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3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945728"/>
            <a:ext cx="493633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SMART Quality Attributes</a:t>
            </a:r>
            <a:endParaRPr lang="en-US" sz="2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6069" y="1601316"/>
            <a:ext cx="4741813" cy="13936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43077" y="1762125"/>
            <a:ext cx="19806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Vague — Unacceptable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143077" y="2068637"/>
            <a:ext cx="4343995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i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"The system must have no delay and be highly portable."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Untestable and unverifiable — this is not a quality requirement.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6069" y="3136702"/>
            <a:ext cx="4741813" cy="13936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43077" y="3297510"/>
            <a:ext cx="1851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SMART — Acceptable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143077" y="3604022"/>
            <a:ext cx="4343995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i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"Latency must be ≤ 50ms at 300 characters/minute."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Verifiable, quantifiable, and testable. If you cannot write a test for it, it does not qualify as a quality requirement.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25041"/>
            <a:ext cx="866031" cy="197197"/>
          </a:xfrm>
          <a:prstGeom prst="roundRect">
            <a:avLst>
              <a:gd name="adj" fmla="val 18494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7210" y="362322"/>
            <a:ext cx="1183481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3 REVIEW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55427"/>
            <a:ext cx="4284092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Quality Tension &amp; Trade-Offs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336" y="1112713"/>
            <a:ext cx="3612207" cy="36122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071" y="2170881"/>
            <a:ext cx="242552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Internal vs. External Qualities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709071" y="2423443"/>
            <a:ext cx="3612207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External qualities — usability, reliability, performance — are what users experience. They are driven by internal qualities: clean code structure, low coupling, and modifiability managed by developers.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709071" y="3003872"/>
            <a:ext cx="3612207" cy="8111"/>
          </a:xfrm>
          <a:prstGeom prst="rect">
            <a:avLst/>
          </a:prstGeom>
          <a:solidFill>
            <a:srgbClr val="E5DCE6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709071" y="3132534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Key Trade-Offs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09071" y="3385096"/>
            <a:ext cx="3612207" cy="335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Caching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improves performance but reduces data consistency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Modifiability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are frequently in tension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35025"/>
            <a:ext cx="1202382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85936" y="482278"/>
            <a:ext cx="147994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4 LECTURE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76765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Mastering System Complexity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186623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Complexity is inherent in software — it can only be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mastered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never destroyed. Three foundational pillars make this possible.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479328"/>
            <a:ext cx="2290465" cy="1270471"/>
          </a:xfrm>
          <a:prstGeom prst="roundRect">
            <a:avLst>
              <a:gd name="adj" fmla="val 4687"/>
            </a:avLst>
          </a:prstGeom>
          <a:solidFill>
            <a:srgbClr val="282D5E"/>
          </a:solidFill>
          <a:ln/>
        </p:spPr>
      </p:sp>
      <p:sp>
        <p:nvSpPr>
          <p:cNvPr id="8" name="Text 5"/>
          <p:cNvSpPr/>
          <p:nvPr/>
        </p:nvSpPr>
        <p:spPr>
          <a:xfrm>
            <a:off x="637877" y="26210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Abstraction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7877" y="2927598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Hiding irrelevant details to highlight essential properties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8342" y="2479328"/>
            <a:ext cx="2290539" cy="1270471"/>
          </a:xfrm>
          <a:prstGeom prst="roundRect">
            <a:avLst>
              <a:gd name="adj" fmla="val 4687"/>
            </a:avLst>
          </a:prstGeom>
          <a:solidFill>
            <a:srgbClr val="282D5E"/>
          </a:solidFill>
          <a:ln/>
        </p:spPr>
      </p:sp>
      <p:sp>
        <p:nvSpPr>
          <p:cNvPr id="11" name="Text 8"/>
          <p:cNvSpPr/>
          <p:nvPr/>
        </p:nvSpPr>
        <p:spPr>
          <a:xfrm>
            <a:off x="3070101" y="26210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Decomposition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070101" y="2927598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Splitting systems into manageable, independent components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3891558"/>
            <a:ext cx="4722763" cy="816843"/>
          </a:xfrm>
          <a:prstGeom prst="roundRect">
            <a:avLst>
              <a:gd name="adj" fmla="val 7289"/>
            </a:avLst>
          </a:prstGeom>
          <a:solidFill>
            <a:srgbClr val="282D5E"/>
          </a:solidFill>
          <a:ln/>
        </p:spPr>
      </p:sp>
      <p:sp>
        <p:nvSpPr>
          <p:cNvPr id="14" name="Text 11"/>
          <p:cNvSpPr/>
          <p:nvPr/>
        </p:nvSpPr>
        <p:spPr>
          <a:xfrm>
            <a:off x="637877" y="40333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Composition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37877" y="4339828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Orchestrating interfaces and system interactions coherently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25041"/>
            <a:ext cx="922734" cy="197197"/>
          </a:xfrm>
          <a:prstGeom prst="roundRect">
            <a:avLst>
              <a:gd name="adj" fmla="val 18494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7210" y="362322"/>
            <a:ext cx="1240185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4 LECTURE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55427"/>
            <a:ext cx="474181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 Software Abstraction Stack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7336" y="2324249"/>
            <a:ext cx="3612207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Software operates across four distinct abstraction levels. Each layer encapsulates complexity and exposes a controlled interface to the layer above.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7336" y="2858914"/>
            <a:ext cx="3612207" cy="700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Architectural: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Subsystems, components, packages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Logical: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Interfaces, objects, abstract data types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Procedural: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Functions, code expressions, macros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Hardware: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Instruction sets, memory cells</a:t>
            </a: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071" y="1112713"/>
            <a:ext cx="3612207" cy="36122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91580"/>
            <a:ext cx="1202382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1138833"/>
            <a:ext cx="147994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4 LECTURE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24211"/>
            <a:ext cx="51319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Abstractions Beyond Code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79799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6113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System Models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917850"/>
            <a:ext cx="259913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Domain models capturing real-world entity associations and shared vocabulary — the conceptual foundation before any schema is planned.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079799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2433" y="2611338"/>
            <a:ext cx="21208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Architectural Blueprints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2917850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Shared understanding of processing elements and component interfaces, enabling consistent team-level design decisions.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079799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8747" y="26113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Design Patterns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8747" y="2917850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Documented, recurring, standard software architectural templates that encode proven solutions to common structural problems.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19807"/>
            <a:ext cx="1613892" cy="266402"/>
          </a:xfrm>
          <a:prstGeom prst="roundRect">
            <a:avLst>
              <a:gd name="adj" fmla="val 17880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62298"/>
            <a:ext cx="190098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· SYNTHESIS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42913"/>
            <a:ext cx="71035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Hotel Domain Model &amp; Key Takeaways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84026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Domain Entities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203475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Guest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RoomState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define specifications before planning database tables or schemas.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02567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User Tasks Matrix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3388891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Real-world actions — discussing dates, verifying identity, handing keys — map to software responses: allocating rooms, processing bills, updating dirty room state.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7605" y="1698501"/>
            <a:ext cx="4107135" cy="2725192"/>
          </a:xfrm>
          <a:prstGeom prst="roundRect">
            <a:avLst>
              <a:gd name="adj" fmla="val 3746"/>
            </a:avLst>
          </a:prstGeom>
          <a:solidFill>
            <a:srgbClr val="243799"/>
          </a:solidFill>
          <a:ln/>
        </p:spPr>
      </p:sp>
      <p:sp>
        <p:nvSpPr>
          <p:cNvPr id="10" name="Text 8"/>
          <p:cNvSpPr/>
          <p:nvPr/>
        </p:nvSpPr>
        <p:spPr>
          <a:xfrm>
            <a:off x="4789363" y="184026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Key Takeaways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89363" y="2203475"/>
            <a:ext cx="3823618" cy="1410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Translation Bridge: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Software design translates messy stakeholder requirements into clean, testable system abstractions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Vocabulary (Guy Steele):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Great developers grow an expressive structural design language — they do not just write code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2026-05-31T09:21:02Z</dcterms:created>
  <dcterms:modified xsi:type="dcterms:W3CDTF">2026-05-31T09:21:02Z</dcterms:modified>
</cp:coreProperties>
</file>