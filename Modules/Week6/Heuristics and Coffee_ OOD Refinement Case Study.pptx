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50" b="1" i="0">
                <a:solidFill>
                  <a:srgbClr val="0E1526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0" i="0">
                <a:solidFill>
                  <a:srgbClr val="444852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1" i="0">
                <a:solidFill>
                  <a:srgbClr val="0E1526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50" b="0" i="0">
                <a:solidFill>
                  <a:srgbClr val="444852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1" i="0">
                <a:solidFill>
                  <a:srgbClr val="0E1526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1" i="0">
                <a:solidFill>
                  <a:srgbClr val="0E1526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10490" y="877259"/>
            <a:ext cx="11698605" cy="7139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50" b="1" i="0">
                <a:solidFill>
                  <a:srgbClr val="0E1526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49707" y="5161249"/>
            <a:ext cx="15713075" cy="24168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0" i="0">
                <a:solidFill>
                  <a:srgbClr val="444852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jpeg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.jpeg"/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image" Target="../media/image13.jpe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1.jpeg"/><Relationship Id="rId5" Type="http://schemas.openxmlformats.org/officeDocument/2006/relationships/image" Target="../media/image20.jpeg"/><Relationship Id="rId4" Type="http://schemas.openxmlformats.org/officeDocument/2006/relationships/image" Target="../media/image19.jpeg"/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image" Target="../media/image16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28.jpeg"/><Relationship Id="rId7" Type="http://schemas.openxmlformats.org/officeDocument/2006/relationships/image" Target="../media/image27.jpeg"/><Relationship Id="rId6" Type="http://schemas.openxmlformats.org/officeDocument/2006/relationships/image" Target="../media/image3.jpeg"/><Relationship Id="rId5" Type="http://schemas.openxmlformats.org/officeDocument/2006/relationships/image" Target="../media/image26.jpeg"/><Relationship Id="rId4" Type="http://schemas.openxmlformats.org/officeDocument/2006/relationships/image" Target="../media/image25.jpeg"/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image" Target="../media/image2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jpeg"/><Relationship Id="rId1" Type="http://schemas.openxmlformats.org/officeDocument/2006/relationships/image" Target="../media/image29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image" Target="../media/image30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6.jpeg"/><Relationship Id="rId2" Type="http://schemas.openxmlformats.org/officeDocument/2006/relationships/image" Target="../media/image35.jpeg"/><Relationship Id="rId1" Type="http://schemas.openxmlformats.org/officeDocument/2006/relationships/image" Target="../media/image34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3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258469" y="6142570"/>
            <a:ext cx="251693" cy="1889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2738" y="7134817"/>
            <a:ext cx="267424" cy="1889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58469" y="8127065"/>
            <a:ext cx="251693" cy="1889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08224" y="3402077"/>
            <a:ext cx="8368818" cy="6032233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242738" y="1834954"/>
            <a:ext cx="960119" cy="0"/>
          </a:xfrm>
          <a:custGeom>
            <a:avLst/>
            <a:gdLst/>
            <a:ahLst/>
            <a:cxnLst/>
            <a:rect l="l" t="t" r="r" b="b"/>
            <a:pathLst>
              <a:path w="960119">
                <a:moveTo>
                  <a:pt x="0" y="0"/>
                </a:moveTo>
                <a:lnTo>
                  <a:pt x="959582" y="0"/>
                </a:lnTo>
              </a:path>
            </a:pathLst>
          </a:custGeom>
          <a:ln w="551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1234883" y="877259"/>
            <a:ext cx="10065385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3388995" algn="l"/>
              </a:tabLst>
            </a:pPr>
            <a:r>
              <a:rPr spc="365" dirty="0">
                <a:solidFill>
                  <a:srgbClr val="0F1626"/>
                </a:solidFill>
              </a:rPr>
              <a:t>Case</a:t>
            </a:r>
            <a:r>
              <a:rPr spc="-70" dirty="0">
                <a:solidFill>
                  <a:srgbClr val="0F1626"/>
                </a:solidFill>
              </a:rPr>
              <a:t> </a:t>
            </a:r>
            <a:r>
              <a:rPr spc="170" dirty="0">
                <a:solidFill>
                  <a:srgbClr val="0F1626"/>
                </a:solidFill>
              </a:rPr>
              <a:t>Stud</a:t>
            </a:r>
            <a:r>
              <a:rPr dirty="0">
                <a:solidFill>
                  <a:srgbClr val="0F1626"/>
                </a:solidFill>
              </a:rPr>
              <a:t>	</a:t>
            </a:r>
            <a:r>
              <a:rPr spc="100" dirty="0">
                <a:solidFill>
                  <a:srgbClr val="0F1626"/>
                </a:solidFill>
              </a:rPr>
              <a:t>:</a:t>
            </a:r>
            <a:r>
              <a:rPr spc="-300" dirty="0">
                <a:solidFill>
                  <a:srgbClr val="0F1626"/>
                </a:solidFill>
              </a:rPr>
              <a:t> </a:t>
            </a:r>
            <a:r>
              <a:rPr spc="409" dirty="0">
                <a:solidFill>
                  <a:srgbClr val="0F1626"/>
                </a:solidFill>
              </a:rPr>
              <a:t>Mark</a:t>
            </a:r>
            <a:r>
              <a:rPr spc="-100" dirty="0">
                <a:solidFill>
                  <a:srgbClr val="0F1626"/>
                </a:solidFill>
              </a:rPr>
              <a:t> </a:t>
            </a:r>
            <a:r>
              <a:rPr spc="330" dirty="0">
                <a:solidFill>
                  <a:srgbClr val="0F1626"/>
                </a:solidFill>
              </a:rPr>
              <a:t>IV</a:t>
            </a:r>
            <a:r>
              <a:rPr spc="-509" dirty="0">
                <a:solidFill>
                  <a:srgbClr val="0F1626"/>
                </a:solidFill>
              </a:rPr>
              <a:t> </a:t>
            </a:r>
            <a:r>
              <a:rPr spc="225" dirty="0">
                <a:solidFill>
                  <a:srgbClr val="0F1626"/>
                </a:solidFill>
              </a:rPr>
              <a:t>Coffee</a:t>
            </a:r>
            <a:r>
              <a:rPr spc="-55" dirty="0">
                <a:solidFill>
                  <a:srgbClr val="0F1626"/>
                </a:solidFill>
              </a:rPr>
              <a:t> </a:t>
            </a:r>
            <a:r>
              <a:rPr spc="345" dirty="0">
                <a:solidFill>
                  <a:srgbClr val="0F1626"/>
                </a:solidFill>
              </a:rPr>
              <a:t>Maker</a:t>
            </a:r>
            <a:endParaRPr spc="345" dirty="0">
              <a:solidFill>
                <a:srgbClr val="0F1626"/>
              </a:solidFill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37801" y="3869751"/>
            <a:ext cx="8320405" cy="48145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95"/>
              </a:spcBef>
            </a:pPr>
            <a:r>
              <a:rPr sz="2300" dirty="0">
                <a:solidFill>
                  <a:srgbClr val="0F1626"/>
                </a:solidFill>
                <a:latin typeface="Arial" panose="020B0604020202020204"/>
                <a:cs typeface="Arial" panose="020B0604020202020204"/>
              </a:rPr>
              <a:t>Target</a:t>
            </a:r>
            <a:r>
              <a:rPr sz="2300" spc="125" dirty="0">
                <a:solidFill>
                  <a:srgbClr val="0F162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300" spc="50" dirty="0">
                <a:solidFill>
                  <a:srgbClr val="0F1626"/>
                </a:solidFill>
                <a:latin typeface="Arial" panose="020B0604020202020204"/>
                <a:cs typeface="Arial" panose="020B0604020202020204"/>
              </a:rPr>
              <a:t>System</a:t>
            </a:r>
            <a:r>
              <a:rPr sz="2300" spc="130" dirty="0">
                <a:solidFill>
                  <a:srgbClr val="0F162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300" dirty="0">
                <a:solidFill>
                  <a:srgbClr val="0F1626"/>
                </a:solidFill>
                <a:latin typeface="Arial" panose="020B0604020202020204"/>
                <a:cs typeface="Arial" panose="020B0604020202020204"/>
              </a:rPr>
              <a:t>Hardware</a:t>
            </a:r>
            <a:r>
              <a:rPr sz="2300" spc="229" dirty="0">
                <a:solidFill>
                  <a:srgbClr val="0F162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300" spc="70" dirty="0">
                <a:solidFill>
                  <a:srgbClr val="0F1626"/>
                </a:solidFill>
                <a:latin typeface="Arial" panose="020B0604020202020204"/>
                <a:cs typeface="Arial" panose="020B0604020202020204"/>
              </a:rPr>
              <a:t>Specification:</a:t>
            </a:r>
            <a:endParaRPr sz="2300">
              <a:latin typeface="Arial" panose="020B0604020202020204"/>
              <a:cs typeface="Arial" panose="020B0604020202020204"/>
            </a:endParaRPr>
          </a:p>
          <a:p>
            <a:pPr marL="12700" marR="283210" indent="10160">
              <a:lnSpc>
                <a:spcPct val="131000"/>
              </a:lnSpc>
              <a:spcBef>
                <a:spcPts val="2025"/>
              </a:spcBef>
            </a:pPr>
            <a:r>
              <a:rPr sz="1900" dirty="0">
                <a:solidFill>
                  <a:srgbClr val="545760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1900" spc="125" dirty="0">
                <a:solidFill>
                  <a:srgbClr val="54576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spc="50" dirty="0">
                <a:solidFill>
                  <a:srgbClr val="545760"/>
                </a:solidFill>
                <a:latin typeface="Arial" panose="020B0604020202020204"/>
                <a:cs typeface="Arial" panose="020B0604020202020204"/>
              </a:rPr>
              <a:t>Mark</a:t>
            </a:r>
            <a:r>
              <a:rPr sz="1900" spc="25" dirty="0">
                <a:solidFill>
                  <a:srgbClr val="54576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545760"/>
                </a:solidFill>
                <a:latin typeface="Arial" panose="020B0604020202020204"/>
                <a:cs typeface="Arial" panose="020B0604020202020204"/>
              </a:rPr>
              <a:t>IV</a:t>
            </a:r>
            <a:r>
              <a:rPr sz="1900" spc="10" dirty="0">
                <a:solidFill>
                  <a:srgbClr val="54576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545760"/>
                </a:solidFill>
                <a:latin typeface="Arial" panose="020B0604020202020204"/>
                <a:cs typeface="Arial" panose="020B0604020202020204"/>
              </a:rPr>
              <a:t>Special</a:t>
            </a:r>
            <a:r>
              <a:rPr sz="1900" spc="220" dirty="0">
                <a:solidFill>
                  <a:srgbClr val="54576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545760"/>
                </a:solidFill>
                <a:latin typeface="Arial" panose="020B0604020202020204"/>
                <a:cs typeface="Arial" panose="020B0604020202020204"/>
              </a:rPr>
              <a:t>must</a:t>
            </a:r>
            <a:r>
              <a:rPr sz="1900" spc="80" dirty="0">
                <a:solidFill>
                  <a:srgbClr val="54576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545760"/>
                </a:solidFill>
                <a:latin typeface="Arial" panose="020B0604020202020204"/>
                <a:cs typeface="Arial" panose="020B0604020202020204"/>
              </a:rPr>
              <a:t>reliably</a:t>
            </a:r>
            <a:r>
              <a:rPr sz="1900" spc="140" dirty="0">
                <a:solidFill>
                  <a:srgbClr val="54576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spc="60" dirty="0">
                <a:solidFill>
                  <a:srgbClr val="545760"/>
                </a:solidFill>
                <a:latin typeface="Arial" panose="020B0604020202020204"/>
                <a:cs typeface="Arial" panose="020B0604020202020204"/>
              </a:rPr>
              <a:t>control</a:t>
            </a:r>
            <a:r>
              <a:rPr sz="1900" spc="240" dirty="0">
                <a:solidFill>
                  <a:srgbClr val="54576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545760"/>
                </a:solidFill>
                <a:latin typeface="Arial" panose="020B0604020202020204"/>
                <a:cs typeface="Arial" panose="020B0604020202020204"/>
              </a:rPr>
              <a:t>boiler</a:t>
            </a:r>
            <a:r>
              <a:rPr sz="1900" spc="140" dirty="0">
                <a:solidFill>
                  <a:srgbClr val="54576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545760"/>
                </a:solidFill>
                <a:latin typeface="Arial" panose="020B0604020202020204"/>
                <a:cs typeface="Arial" panose="020B0604020202020204"/>
              </a:rPr>
              <a:t>heaters,</a:t>
            </a:r>
            <a:r>
              <a:rPr sz="1900" spc="215" dirty="0">
                <a:solidFill>
                  <a:srgbClr val="54576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545760"/>
                </a:solidFill>
                <a:latin typeface="Arial" panose="020B0604020202020204"/>
                <a:cs typeface="Arial" panose="020B0604020202020204"/>
              </a:rPr>
              <a:t>warmer</a:t>
            </a:r>
            <a:r>
              <a:rPr sz="1900" spc="295" dirty="0">
                <a:solidFill>
                  <a:srgbClr val="54576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spc="-10" dirty="0">
                <a:solidFill>
                  <a:srgbClr val="545760"/>
                </a:solidFill>
                <a:latin typeface="Arial" panose="020B0604020202020204"/>
                <a:cs typeface="Arial" panose="020B0604020202020204"/>
              </a:rPr>
              <a:t>plates, </a:t>
            </a:r>
            <a:r>
              <a:rPr sz="1900" dirty="0">
                <a:solidFill>
                  <a:srgbClr val="545760"/>
                </a:solidFill>
                <a:latin typeface="Arial" panose="020B0604020202020204"/>
                <a:cs typeface="Arial" panose="020B0604020202020204"/>
              </a:rPr>
              <a:t>valve</a:t>
            </a:r>
            <a:r>
              <a:rPr sz="1900" spc="30" dirty="0">
                <a:solidFill>
                  <a:srgbClr val="54576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545760"/>
                </a:solidFill>
                <a:latin typeface="Arial" panose="020B0604020202020204"/>
                <a:cs typeface="Arial" panose="020B0604020202020204"/>
              </a:rPr>
              <a:t>mechanics,</a:t>
            </a:r>
            <a:r>
              <a:rPr sz="1900" spc="150" dirty="0">
                <a:solidFill>
                  <a:srgbClr val="54576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545760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1900" spc="10" dirty="0">
                <a:solidFill>
                  <a:srgbClr val="54576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spc="55" dirty="0">
                <a:solidFill>
                  <a:srgbClr val="545760"/>
                </a:solidFill>
                <a:latin typeface="Arial" panose="020B0604020202020204"/>
                <a:cs typeface="Arial" panose="020B0604020202020204"/>
              </a:rPr>
              <a:t>button</a:t>
            </a:r>
            <a:r>
              <a:rPr sz="1900" spc="60" dirty="0">
                <a:solidFill>
                  <a:srgbClr val="54576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545760"/>
                </a:solidFill>
                <a:latin typeface="Arial" panose="020B0604020202020204"/>
                <a:cs typeface="Arial" panose="020B0604020202020204"/>
              </a:rPr>
              <a:t>arrays</a:t>
            </a:r>
            <a:r>
              <a:rPr sz="1900" spc="150" dirty="0">
                <a:solidFill>
                  <a:srgbClr val="54576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545760"/>
                </a:solidFill>
                <a:latin typeface="Arial" panose="020B0604020202020204"/>
                <a:cs typeface="Arial" panose="020B0604020202020204"/>
              </a:rPr>
              <a:t>based</a:t>
            </a:r>
            <a:r>
              <a:rPr sz="1900" spc="65" dirty="0">
                <a:solidFill>
                  <a:srgbClr val="54576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spc="60" dirty="0">
                <a:solidFill>
                  <a:srgbClr val="545760"/>
                </a:solidFill>
                <a:latin typeface="Arial" panose="020B0604020202020204"/>
                <a:cs typeface="Arial" panose="020B0604020202020204"/>
              </a:rPr>
              <a:t>on</a:t>
            </a:r>
            <a:r>
              <a:rPr sz="1900" spc="-5" dirty="0">
                <a:solidFill>
                  <a:srgbClr val="54576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spc="55" dirty="0">
                <a:solidFill>
                  <a:srgbClr val="545760"/>
                </a:solidFill>
                <a:latin typeface="Arial" panose="020B0604020202020204"/>
                <a:cs typeface="Arial" panose="020B0604020202020204"/>
              </a:rPr>
              <a:t>safety</a:t>
            </a:r>
            <a:r>
              <a:rPr sz="1900" spc="20" dirty="0">
                <a:solidFill>
                  <a:srgbClr val="54576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spc="50" dirty="0">
                <a:solidFill>
                  <a:srgbClr val="545760"/>
                </a:solidFill>
                <a:latin typeface="Arial" panose="020B0604020202020204"/>
                <a:cs typeface="Arial" panose="020B0604020202020204"/>
              </a:rPr>
              <a:t>constraints</a:t>
            </a:r>
            <a:r>
              <a:rPr sz="1900" spc="125" dirty="0">
                <a:solidFill>
                  <a:srgbClr val="54576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spc="-25" dirty="0">
                <a:solidFill>
                  <a:srgbClr val="545760"/>
                </a:solidFill>
                <a:latin typeface="Arial" panose="020B0604020202020204"/>
                <a:cs typeface="Arial" panose="020B0604020202020204"/>
              </a:rPr>
              <a:t>and </a:t>
            </a:r>
            <a:r>
              <a:rPr sz="1900" dirty="0">
                <a:solidFill>
                  <a:srgbClr val="545760"/>
                </a:solidFill>
                <a:latin typeface="Arial" panose="020B0604020202020204"/>
                <a:cs typeface="Arial" panose="020B0604020202020204"/>
              </a:rPr>
              <a:t>physical</a:t>
            </a:r>
            <a:r>
              <a:rPr sz="1900" spc="395" dirty="0">
                <a:solidFill>
                  <a:srgbClr val="54576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spc="40" dirty="0">
                <a:solidFill>
                  <a:srgbClr val="545760"/>
                </a:solidFill>
                <a:latin typeface="Arial" panose="020B0604020202020204"/>
                <a:cs typeface="Arial" panose="020B0604020202020204"/>
              </a:rPr>
              <a:t>conditions:</a:t>
            </a:r>
            <a:endParaRPr sz="19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sz="1900">
              <a:latin typeface="Arial" panose="020B0604020202020204"/>
              <a:cs typeface="Arial" panose="020B0604020202020204"/>
            </a:endParaRPr>
          </a:p>
          <a:p>
            <a:pPr marL="570865" marR="22860" indent="-635">
              <a:lnSpc>
                <a:spcPct val="131000"/>
              </a:lnSpc>
            </a:pPr>
            <a:r>
              <a:rPr sz="1800" b="1" spc="65" dirty="0">
                <a:solidFill>
                  <a:srgbClr val="3D4450"/>
                </a:solidFill>
                <a:latin typeface="Arial" panose="020B0604020202020204"/>
                <a:cs typeface="Arial" panose="020B0604020202020204"/>
              </a:rPr>
              <a:t>Safety</a:t>
            </a:r>
            <a:r>
              <a:rPr sz="1800" b="1" spc="180" dirty="0">
                <a:solidFill>
                  <a:srgbClr val="3D445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solidFill>
                  <a:srgbClr val="3D4450"/>
                </a:solidFill>
                <a:latin typeface="Arial" panose="020B0604020202020204"/>
                <a:cs typeface="Arial" panose="020B0604020202020204"/>
              </a:rPr>
              <a:t>First:</a:t>
            </a:r>
            <a:r>
              <a:rPr sz="1800" b="1" spc="60" dirty="0">
                <a:solidFill>
                  <a:srgbClr val="3D445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3D4450"/>
                </a:solidFill>
                <a:latin typeface="Arial" panose="020B0604020202020204"/>
                <a:cs typeface="Arial" panose="020B0604020202020204"/>
              </a:rPr>
              <a:t>If</a:t>
            </a:r>
            <a:r>
              <a:rPr sz="1900" spc="195" dirty="0">
                <a:solidFill>
                  <a:srgbClr val="3D445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spc="65" dirty="0">
                <a:solidFill>
                  <a:srgbClr val="3D4450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1900" spc="10" dirty="0">
                <a:solidFill>
                  <a:srgbClr val="3D445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spc="65" dirty="0">
                <a:solidFill>
                  <a:srgbClr val="3D4450"/>
                </a:solidFill>
                <a:latin typeface="Arial" panose="020B0604020202020204"/>
                <a:cs typeface="Arial" panose="020B0604020202020204"/>
              </a:rPr>
              <a:t>pot</a:t>
            </a:r>
            <a:r>
              <a:rPr sz="1900" spc="25" dirty="0">
                <a:solidFill>
                  <a:srgbClr val="3D445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spc="60" dirty="0">
                <a:solidFill>
                  <a:srgbClr val="463A3B"/>
                </a:solidFill>
                <a:latin typeface="Arial" panose="020B0604020202020204"/>
                <a:cs typeface="Arial" panose="020B0604020202020204"/>
              </a:rPr>
              <a:t>is</a:t>
            </a:r>
            <a:r>
              <a:rPr sz="1900" spc="55" dirty="0">
                <a:solidFill>
                  <a:srgbClr val="463A3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463A3B"/>
                </a:solidFill>
                <a:latin typeface="Arial" panose="020B0604020202020204"/>
                <a:cs typeface="Arial" panose="020B0604020202020204"/>
              </a:rPr>
              <a:t>removed</a:t>
            </a:r>
            <a:r>
              <a:rPr sz="1900" spc="155" dirty="0">
                <a:solidFill>
                  <a:srgbClr val="463A3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3D4450"/>
                </a:solidFill>
                <a:latin typeface="Arial" panose="020B0604020202020204"/>
                <a:cs typeface="Arial" panose="020B0604020202020204"/>
              </a:rPr>
              <a:t>during</a:t>
            </a:r>
            <a:r>
              <a:rPr sz="1900" spc="100" dirty="0">
                <a:solidFill>
                  <a:srgbClr val="3D445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463A3B"/>
                </a:solidFill>
                <a:latin typeface="Arial" panose="020B0604020202020204"/>
                <a:cs typeface="Arial" panose="020B0604020202020204"/>
              </a:rPr>
              <a:t>boiling,</a:t>
            </a:r>
            <a:r>
              <a:rPr sz="1900" spc="10" dirty="0">
                <a:solidFill>
                  <a:srgbClr val="463A3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spc="65" dirty="0">
                <a:solidFill>
                  <a:srgbClr val="3D4450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1900" spc="85" dirty="0">
                <a:solidFill>
                  <a:srgbClr val="3D445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3D4450"/>
                </a:solidFill>
                <a:latin typeface="Arial" panose="020B0604020202020204"/>
                <a:cs typeface="Arial" panose="020B0604020202020204"/>
              </a:rPr>
              <a:t>water</a:t>
            </a:r>
            <a:r>
              <a:rPr sz="1900" spc="180" dirty="0">
                <a:solidFill>
                  <a:srgbClr val="3D445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spc="95" dirty="0">
                <a:solidFill>
                  <a:srgbClr val="3D4450"/>
                </a:solidFill>
                <a:latin typeface="Arial" panose="020B0604020202020204"/>
                <a:cs typeface="Arial" panose="020B0604020202020204"/>
              </a:rPr>
              <a:t>flow</a:t>
            </a:r>
            <a:r>
              <a:rPr sz="1900" spc="135" dirty="0">
                <a:solidFill>
                  <a:srgbClr val="3D445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spc="-20" dirty="0">
                <a:solidFill>
                  <a:srgbClr val="3D4450"/>
                </a:solidFill>
                <a:latin typeface="Arial" panose="020B0604020202020204"/>
                <a:cs typeface="Arial" panose="020B0604020202020204"/>
              </a:rPr>
              <a:t>must </a:t>
            </a:r>
            <a:r>
              <a:rPr sz="1900" dirty="0">
                <a:solidFill>
                  <a:srgbClr val="3D4450"/>
                </a:solidFill>
                <a:latin typeface="Arial" panose="020B0604020202020204"/>
                <a:cs typeface="Arial" panose="020B0604020202020204"/>
              </a:rPr>
              <a:t>be</a:t>
            </a:r>
            <a:r>
              <a:rPr sz="1900" spc="130" dirty="0">
                <a:solidFill>
                  <a:srgbClr val="3D445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3D4450"/>
                </a:solidFill>
                <a:latin typeface="Arial" panose="020B0604020202020204"/>
                <a:cs typeface="Arial" panose="020B0604020202020204"/>
              </a:rPr>
              <a:t>stopped</a:t>
            </a:r>
            <a:r>
              <a:rPr sz="1900" spc="120" dirty="0">
                <a:solidFill>
                  <a:srgbClr val="3D445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spc="-10" dirty="0">
                <a:solidFill>
                  <a:srgbClr val="463A3B"/>
                </a:solidFill>
                <a:latin typeface="Arial" panose="020B0604020202020204"/>
                <a:cs typeface="Arial" panose="020B0604020202020204"/>
              </a:rPr>
              <a:t>immediately</a:t>
            </a:r>
            <a:r>
              <a:rPr sz="1900" spc="-10" dirty="0">
                <a:solidFill>
                  <a:srgbClr val="1F282F"/>
                </a:solidFill>
                <a:latin typeface="Arial" panose="020B0604020202020204"/>
                <a:cs typeface="Arial" panose="020B0604020202020204"/>
              </a:rPr>
              <a:t>.</a:t>
            </a:r>
            <a:endParaRPr sz="1900">
              <a:latin typeface="Arial" panose="020B0604020202020204"/>
              <a:cs typeface="Arial" panose="020B0604020202020204"/>
            </a:endParaRPr>
          </a:p>
          <a:p>
            <a:pPr marL="570865" marR="444500" indent="-1270">
              <a:lnSpc>
                <a:spcPct val="131000"/>
              </a:lnSpc>
              <a:spcBef>
                <a:spcPts val="1800"/>
              </a:spcBef>
            </a:pPr>
            <a:r>
              <a:rPr sz="1800" b="1" dirty="0">
                <a:solidFill>
                  <a:srgbClr val="3D4450"/>
                </a:solidFill>
                <a:latin typeface="Arial" panose="020B0604020202020204"/>
                <a:cs typeface="Arial" panose="020B0604020202020204"/>
              </a:rPr>
              <a:t>Energy</a:t>
            </a:r>
            <a:r>
              <a:rPr sz="1800" b="1" spc="70" dirty="0">
                <a:solidFill>
                  <a:srgbClr val="3D445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solidFill>
                  <a:srgbClr val="3D4450"/>
                </a:solidFill>
                <a:latin typeface="Arial" panose="020B0604020202020204"/>
                <a:cs typeface="Arial" panose="020B0604020202020204"/>
              </a:rPr>
              <a:t>Preservation:</a:t>
            </a:r>
            <a:r>
              <a:rPr sz="1800" b="1" spc="310" dirty="0">
                <a:solidFill>
                  <a:srgbClr val="3D445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463A3B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1900" spc="145" dirty="0">
                <a:solidFill>
                  <a:srgbClr val="463A3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3D4450"/>
                </a:solidFill>
                <a:latin typeface="Arial" panose="020B0604020202020204"/>
                <a:cs typeface="Arial" panose="020B0604020202020204"/>
              </a:rPr>
              <a:t>warmer</a:t>
            </a:r>
            <a:r>
              <a:rPr sz="1900" spc="215" dirty="0">
                <a:solidFill>
                  <a:srgbClr val="3D445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3D4450"/>
                </a:solidFill>
                <a:latin typeface="Arial" panose="020B0604020202020204"/>
                <a:cs typeface="Arial" panose="020B0604020202020204"/>
              </a:rPr>
              <a:t>plate</a:t>
            </a:r>
            <a:r>
              <a:rPr sz="1900" spc="50" dirty="0">
                <a:solidFill>
                  <a:srgbClr val="3D445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spc="55" dirty="0">
                <a:solidFill>
                  <a:srgbClr val="3D4450"/>
                </a:solidFill>
                <a:latin typeface="Arial" panose="020B0604020202020204"/>
                <a:cs typeface="Arial" panose="020B0604020202020204"/>
              </a:rPr>
              <a:t>turns</a:t>
            </a:r>
            <a:r>
              <a:rPr sz="1900" spc="100" dirty="0">
                <a:solidFill>
                  <a:srgbClr val="3D445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spc="-20" dirty="0">
                <a:solidFill>
                  <a:srgbClr val="3D4450"/>
                </a:solidFill>
                <a:latin typeface="Arial" panose="020B0604020202020204"/>
                <a:cs typeface="Arial" panose="020B0604020202020204"/>
              </a:rPr>
              <a:t>ON</a:t>
            </a:r>
            <a:r>
              <a:rPr sz="1900" spc="-15" dirty="0">
                <a:solidFill>
                  <a:srgbClr val="3D445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spc="50" dirty="0">
                <a:solidFill>
                  <a:srgbClr val="3D4450"/>
                </a:solidFill>
                <a:latin typeface="Arial" panose="020B0604020202020204"/>
                <a:cs typeface="Arial" panose="020B0604020202020204"/>
              </a:rPr>
              <a:t>only</a:t>
            </a:r>
            <a:r>
              <a:rPr sz="1900" spc="-60" dirty="0">
                <a:solidFill>
                  <a:srgbClr val="3D445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463A3B"/>
                </a:solidFill>
                <a:latin typeface="Arial" panose="020B0604020202020204"/>
                <a:cs typeface="Arial" panose="020B0604020202020204"/>
              </a:rPr>
              <a:t>if</a:t>
            </a:r>
            <a:r>
              <a:rPr sz="1900" spc="355" dirty="0">
                <a:solidFill>
                  <a:srgbClr val="463A3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spc="90" dirty="0">
                <a:solidFill>
                  <a:srgbClr val="3D4450"/>
                </a:solidFill>
                <a:latin typeface="Arial" panose="020B0604020202020204"/>
                <a:cs typeface="Arial" panose="020B0604020202020204"/>
              </a:rPr>
              <a:t>coffee</a:t>
            </a:r>
            <a:r>
              <a:rPr sz="1900" spc="60" dirty="0">
                <a:solidFill>
                  <a:srgbClr val="3D445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spc="50" dirty="0">
                <a:solidFill>
                  <a:srgbClr val="463A3B"/>
                </a:solidFill>
                <a:latin typeface="Arial" panose="020B0604020202020204"/>
                <a:cs typeface="Arial" panose="020B0604020202020204"/>
              </a:rPr>
              <a:t>is </a:t>
            </a:r>
            <a:r>
              <a:rPr sz="1900" dirty="0">
                <a:solidFill>
                  <a:srgbClr val="463A3B"/>
                </a:solidFill>
                <a:latin typeface="Arial" panose="020B0604020202020204"/>
                <a:cs typeface="Arial" panose="020B0604020202020204"/>
              </a:rPr>
              <a:t>physically</a:t>
            </a:r>
            <a:r>
              <a:rPr sz="1900" spc="215" dirty="0">
                <a:solidFill>
                  <a:srgbClr val="463A3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3D4450"/>
                </a:solidFill>
                <a:latin typeface="Arial" panose="020B0604020202020204"/>
                <a:cs typeface="Arial" panose="020B0604020202020204"/>
              </a:rPr>
              <a:t>present</a:t>
            </a:r>
            <a:r>
              <a:rPr sz="1900" spc="190" dirty="0">
                <a:solidFill>
                  <a:srgbClr val="3D445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463A3B"/>
                </a:solidFill>
                <a:latin typeface="Arial" panose="020B0604020202020204"/>
                <a:cs typeface="Arial" panose="020B0604020202020204"/>
              </a:rPr>
              <a:t>in</a:t>
            </a:r>
            <a:r>
              <a:rPr sz="1900" spc="265" dirty="0">
                <a:solidFill>
                  <a:srgbClr val="463A3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spc="65" dirty="0">
                <a:solidFill>
                  <a:srgbClr val="3D4450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1900" spc="190" dirty="0">
                <a:solidFill>
                  <a:srgbClr val="3D445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spc="45" dirty="0">
                <a:solidFill>
                  <a:srgbClr val="3D4450"/>
                </a:solidFill>
                <a:latin typeface="Arial" panose="020B0604020202020204"/>
                <a:cs typeface="Arial" panose="020B0604020202020204"/>
              </a:rPr>
              <a:t>pot</a:t>
            </a:r>
            <a:r>
              <a:rPr sz="1900" spc="45" dirty="0">
                <a:solidFill>
                  <a:srgbClr val="3F4979"/>
                </a:solidFill>
                <a:latin typeface="Arial" panose="020B0604020202020204"/>
                <a:cs typeface="Arial" panose="020B0604020202020204"/>
              </a:rPr>
              <a:t>.</a:t>
            </a:r>
            <a:endParaRPr sz="1900">
              <a:latin typeface="Arial" panose="020B0604020202020204"/>
              <a:cs typeface="Arial" panose="020B0604020202020204"/>
            </a:endParaRPr>
          </a:p>
          <a:p>
            <a:pPr marL="570865" marR="5080" indent="-1270">
              <a:lnSpc>
                <a:spcPct val="128000"/>
              </a:lnSpc>
              <a:spcBef>
                <a:spcPts val="1980"/>
              </a:spcBef>
            </a:pPr>
            <a:r>
              <a:rPr sz="1800" b="1" spc="65" dirty="0">
                <a:solidFill>
                  <a:srgbClr val="3D4450"/>
                </a:solidFill>
                <a:latin typeface="Arial" panose="020B0604020202020204"/>
                <a:cs typeface="Arial" panose="020B0604020202020204"/>
              </a:rPr>
              <a:t>Hardware</a:t>
            </a:r>
            <a:r>
              <a:rPr sz="1800" b="1" spc="215" dirty="0">
                <a:solidFill>
                  <a:srgbClr val="3D445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solidFill>
                  <a:srgbClr val="3D4450"/>
                </a:solidFill>
                <a:latin typeface="Arial" panose="020B0604020202020204"/>
                <a:cs typeface="Arial" panose="020B0604020202020204"/>
              </a:rPr>
              <a:t>Limits:</a:t>
            </a:r>
            <a:r>
              <a:rPr sz="1800" b="1" spc="110" dirty="0">
                <a:solidFill>
                  <a:srgbClr val="3D445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3D4450"/>
                </a:solidFill>
                <a:latin typeface="Arial" panose="020B0604020202020204"/>
                <a:cs typeface="Arial" panose="020B0604020202020204"/>
              </a:rPr>
              <a:t>Control</a:t>
            </a:r>
            <a:r>
              <a:rPr sz="1900" spc="114" dirty="0">
                <a:solidFill>
                  <a:srgbClr val="3D445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spc="55" dirty="0">
                <a:solidFill>
                  <a:srgbClr val="3D4450"/>
                </a:solidFill>
                <a:latin typeface="Arial" panose="020B0604020202020204"/>
                <a:cs typeface="Arial" panose="020B0604020202020204"/>
              </a:rPr>
              <a:t>boiling</a:t>
            </a:r>
            <a:r>
              <a:rPr sz="1900" spc="75" dirty="0">
                <a:solidFill>
                  <a:srgbClr val="3D445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3D4450"/>
                </a:solidFill>
                <a:latin typeface="Arial" panose="020B0604020202020204"/>
                <a:cs typeface="Arial" panose="020B0604020202020204"/>
              </a:rPr>
              <a:t>elements,</a:t>
            </a:r>
            <a:r>
              <a:rPr sz="1900" spc="70" dirty="0">
                <a:solidFill>
                  <a:srgbClr val="3D445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3D4450"/>
                </a:solidFill>
                <a:latin typeface="Arial" panose="020B0604020202020204"/>
                <a:cs typeface="Arial" panose="020B0604020202020204"/>
              </a:rPr>
              <a:t>valves,</a:t>
            </a:r>
            <a:r>
              <a:rPr sz="1900" spc="55" dirty="0">
                <a:solidFill>
                  <a:srgbClr val="3D445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3D4450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1900" spc="-20" dirty="0">
                <a:solidFill>
                  <a:srgbClr val="3D445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3D4450"/>
                </a:solidFill>
                <a:latin typeface="Arial" panose="020B0604020202020204"/>
                <a:cs typeface="Arial" panose="020B0604020202020204"/>
              </a:rPr>
              <a:t>handle</a:t>
            </a:r>
            <a:r>
              <a:rPr sz="1900" spc="220" dirty="0">
                <a:solidFill>
                  <a:srgbClr val="3D445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spc="45" dirty="0">
                <a:solidFill>
                  <a:srgbClr val="3D4450"/>
                </a:solidFill>
                <a:latin typeface="Arial" panose="020B0604020202020204"/>
                <a:cs typeface="Arial" panose="020B0604020202020204"/>
              </a:rPr>
              <a:t>button </a:t>
            </a:r>
            <a:r>
              <a:rPr sz="1900" spc="50" dirty="0">
                <a:solidFill>
                  <a:srgbClr val="463A3B"/>
                </a:solidFill>
                <a:latin typeface="Arial" panose="020B0604020202020204"/>
                <a:cs typeface="Arial" panose="020B0604020202020204"/>
              </a:rPr>
              <a:t>polling</a:t>
            </a:r>
            <a:r>
              <a:rPr sz="1900" spc="30" dirty="0">
                <a:solidFill>
                  <a:srgbClr val="463A3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spc="45" dirty="0">
                <a:solidFill>
                  <a:srgbClr val="3D4450"/>
                </a:solidFill>
                <a:latin typeface="Arial" panose="020B0604020202020204"/>
                <a:cs typeface="Arial" panose="020B0604020202020204"/>
              </a:rPr>
              <a:t>without</a:t>
            </a:r>
            <a:r>
              <a:rPr sz="1900" spc="90" dirty="0">
                <a:solidFill>
                  <a:srgbClr val="3D445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spc="-10" dirty="0">
                <a:solidFill>
                  <a:srgbClr val="3D4450"/>
                </a:solidFill>
                <a:latin typeface="Arial" panose="020B0604020202020204"/>
                <a:cs typeface="Arial" panose="020B0604020202020204"/>
              </a:rPr>
              <a:t>multithreading.</a:t>
            </a:r>
            <a:endParaRPr sz="19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627055" y="1118337"/>
            <a:ext cx="346079" cy="50399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06870" y="1118337"/>
            <a:ext cx="361810" cy="51974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77588" y="4394325"/>
            <a:ext cx="519118" cy="50399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058801" y="4394325"/>
            <a:ext cx="393271" cy="50399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282065" y="3874573"/>
            <a:ext cx="0" cy="5087620"/>
          </a:xfrm>
          <a:custGeom>
            <a:avLst/>
            <a:gdLst/>
            <a:ahLst/>
            <a:cxnLst/>
            <a:rect l="l" t="t" r="r" b="b"/>
            <a:pathLst>
              <a:path h="5087620">
                <a:moveTo>
                  <a:pt x="0" y="5087237"/>
                </a:moveTo>
                <a:lnTo>
                  <a:pt x="0" y="0"/>
                </a:lnTo>
              </a:path>
            </a:pathLst>
          </a:custGeom>
          <a:ln w="5505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0563273" y="3874573"/>
            <a:ext cx="0" cy="5087620"/>
          </a:xfrm>
          <a:custGeom>
            <a:avLst/>
            <a:gdLst/>
            <a:ahLst/>
            <a:cxnLst/>
            <a:rect l="l" t="t" r="r" b="b"/>
            <a:pathLst>
              <a:path h="5087620">
                <a:moveTo>
                  <a:pt x="0" y="5087237"/>
                </a:moveTo>
                <a:lnTo>
                  <a:pt x="0" y="0"/>
                </a:lnTo>
              </a:path>
            </a:pathLst>
          </a:custGeom>
          <a:ln w="5505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242738" y="1834954"/>
            <a:ext cx="960119" cy="0"/>
          </a:xfrm>
          <a:custGeom>
            <a:avLst/>
            <a:gdLst/>
            <a:ahLst/>
            <a:cxnLst/>
            <a:rect l="l" t="t" r="r" b="b"/>
            <a:pathLst>
              <a:path w="960119">
                <a:moveTo>
                  <a:pt x="0" y="0"/>
                </a:moveTo>
                <a:lnTo>
                  <a:pt x="959582" y="0"/>
                </a:lnTo>
              </a:path>
            </a:pathLst>
          </a:custGeom>
          <a:ln w="551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3238685" y="778824"/>
            <a:ext cx="173990" cy="4933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050" spc="55" dirty="0">
                <a:solidFill>
                  <a:srgbClr val="0E1526"/>
                </a:solidFill>
                <a:latin typeface="Arial" panose="020B0604020202020204"/>
                <a:cs typeface="Arial" panose="020B0604020202020204"/>
              </a:rPr>
              <a:t>•</a:t>
            </a:r>
            <a:endParaRPr sz="30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1261500" y="885136"/>
            <a:ext cx="2487930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1730375" algn="l"/>
              </a:tabLst>
            </a:pPr>
            <a:r>
              <a:rPr sz="4450" spc="190" dirty="0"/>
              <a:t>Anal</a:t>
            </a:r>
            <a:r>
              <a:rPr sz="4450" dirty="0"/>
              <a:t>	</a:t>
            </a:r>
            <a:r>
              <a:rPr sz="3600" spc="110" dirty="0"/>
              <a:t>Zin</a:t>
            </a:r>
            <a:endParaRPr sz="3600"/>
          </a:p>
        </p:txBody>
      </p:sp>
      <p:sp>
        <p:nvSpPr>
          <p:cNvPr id="11" name="object 11"/>
          <p:cNvSpPr txBox="1"/>
          <p:nvPr/>
        </p:nvSpPr>
        <p:spPr>
          <a:xfrm>
            <a:off x="4303409" y="877259"/>
            <a:ext cx="5939790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4450" b="1" spc="350" dirty="0">
                <a:solidFill>
                  <a:srgbClr val="0E1526"/>
                </a:solidFill>
                <a:latin typeface="Arial" panose="020B0604020202020204"/>
                <a:cs typeface="Arial" panose="020B0604020202020204"/>
              </a:rPr>
              <a:t>Naive</a:t>
            </a:r>
            <a:r>
              <a:rPr sz="4450" b="1" spc="45" dirty="0">
                <a:solidFill>
                  <a:srgbClr val="0E152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450" b="1" spc="254" dirty="0">
                <a:solidFill>
                  <a:srgbClr val="0E1526"/>
                </a:solidFill>
                <a:latin typeface="Arial" panose="020B0604020202020204"/>
                <a:cs typeface="Arial" panose="020B0604020202020204"/>
              </a:rPr>
              <a:t>Anti-</a:t>
            </a:r>
            <a:r>
              <a:rPr sz="4450" b="1" spc="270" dirty="0">
                <a:solidFill>
                  <a:srgbClr val="0E1526"/>
                </a:solidFill>
                <a:latin typeface="Arial" panose="020B0604020202020204"/>
                <a:cs typeface="Arial" panose="020B0604020202020204"/>
              </a:rPr>
              <a:t>Patterns</a:t>
            </a:r>
            <a:endParaRPr sz="4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71085" y="5287247"/>
            <a:ext cx="6569075" cy="139700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00" b="1" spc="235" dirty="0">
                <a:solidFill>
                  <a:srgbClr val="0E1526"/>
                </a:solidFill>
                <a:latin typeface="Arial" panose="020B0604020202020204"/>
                <a:cs typeface="Arial" panose="020B0604020202020204"/>
              </a:rPr>
              <a:t>Hyper-</a:t>
            </a:r>
            <a:r>
              <a:rPr sz="2700" b="1" spc="240" dirty="0">
                <a:solidFill>
                  <a:srgbClr val="0E1526"/>
                </a:solidFill>
                <a:latin typeface="Arial" panose="020B0604020202020204"/>
                <a:cs typeface="Arial" panose="020B0604020202020204"/>
              </a:rPr>
              <a:t>Concrete</a:t>
            </a:r>
            <a:r>
              <a:rPr sz="2700" b="1" spc="-254" dirty="0">
                <a:solidFill>
                  <a:srgbClr val="0E152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700" b="1" spc="160" dirty="0">
                <a:solidFill>
                  <a:srgbClr val="0E1526"/>
                </a:solidFill>
                <a:latin typeface="Arial" panose="020B0604020202020204"/>
                <a:cs typeface="Arial" panose="020B0604020202020204"/>
              </a:rPr>
              <a:t>Modeling</a:t>
            </a:r>
            <a:endParaRPr sz="2700">
              <a:latin typeface="Arial" panose="020B0604020202020204"/>
              <a:cs typeface="Arial" panose="020B0604020202020204"/>
            </a:endParaRPr>
          </a:p>
          <a:p>
            <a:pPr marL="20320" marR="5080" indent="-635">
              <a:lnSpc>
                <a:spcPct val="131000"/>
              </a:lnSpc>
              <a:spcBef>
                <a:spcPts val="1580"/>
              </a:spcBef>
            </a:pPr>
            <a:r>
              <a:rPr sz="190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Mapping</a:t>
            </a:r>
            <a:r>
              <a:rPr sz="1900" spc="16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physical</a:t>
            </a:r>
            <a:r>
              <a:rPr sz="1900" spc="29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components  (Boiler,</a:t>
            </a:r>
            <a:r>
              <a:rPr sz="1900" spc="13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WarmerPlate,</a:t>
            </a:r>
            <a:r>
              <a:rPr sz="1900" spc="31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spc="-1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Light, </a:t>
            </a:r>
            <a:r>
              <a:rPr sz="190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Button)</a:t>
            </a:r>
            <a:r>
              <a:rPr sz="1900" spc="18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spc="7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directly</a:t>
            </a:r>
            <a:r>
              <a:rPr sz="1900" spc="2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spc="8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into</a:t>
            </a:r>
            <a:r>
              <a:rPr sz="1900" spc="-7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individual</a:t>
            </a:r>
            <a:r>
              <a:rPr sz="1900" spc="21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spc="5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structural</a:t>
            </a:r>
            <a:r>
              <a:rPr sz="1900" spc="21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spc="-1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classes.</a:t>
            </a:r>
            <a:endParaRPr sz="19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773949" y="6984305"/>
            <a:ext cx="7173595" cy="1459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90"/>
              </a:spcBef>
            </a:pPr>
            <a:r>
              <a:rPr sz="1900" dirty="0">
                <a:solidFill>
                  <a:srgbClr val="A85415"/>
                </a:solidFill>
                <a:latin typeface="Arial" panose="020B0604020202020204"/>
                <a:cs typeface="Arial" panose="020B0604020202020204"/>
              </a:rPr>
              <a:t>Fatal</a:t>
            </a:r>
            <a:r>
              <a:rPr sz="1900" spc="35" dirty="0">
                <a:solidFill>
                  <a:srgbClr val="A8541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spc="50" dirty="0">
                <a:solidFill>
                  <a:srgbClr val="A85415"/>
                </a:solidFill>
                <a:latin typeface="Arial" panose="020B0604020202020204"/>
                <a:cs typeface="Arial" panose="020B0604020202020204"/>
              </a:rPr>
              <a:t>Flaw:</a:t>
            </a:r>
            <a:r>
              <a:rPr sz="1900" spc="55" dirty="0">
                <a:solidFill>
                  <a:srgbClr val="A8541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spc="60" dirty="0">
                <a:solidFill>
                  <a:srgbClr val="A85415"/>
                </a:solidFill>
                <a:latin typeface="Arial" panose="020B0604020202020204"/>
                <a:cs typeface="Arial" panose="020B0604020202020204"/>
              </a:rPr>
              <a:t>Missing</a:t>
            </a:r>
            <a:r>
              <a:rPr sz="1900" spc="55" dirty="0">
                <a:solidFill>
                  <a:srgbClr val="A8541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spc="-10" dirty="0">
                <a:solidFill>
                  <a:srgbClr val="A85415"/>
                </a:solidFill>
                <a:latin typeface="Arial" panose="020B0604020202020204"/>
                <a:cs typeface="Arial" panose="020B0604020202020204"/>
              </a:rPr>
              <a:t>Behavior</a:t>
            </a:r>
            <a:endParaRPr sz="1900">
              <a:latin typeface="Arial" panose="020B0604020202020204"/>
              <a:cs typeface="Arial" panose="020B0604020202020204"/>
            </a:endParaRPr>
          </a:p>
          <a:p>
            <a:pPr marL="12700" marR="5080" indent="8890">
              <a:lnSpc>
                <a:spcPct val="135000"/>
              </a:lnSpc>
              <a:spcBef>
                <a:spcPts val="735"/>
              </a:spcBef>
            </a:pPr>
            <a:r>
              <a:rPr sz="170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This</a:t>
            </a:r>
            <a:r>
              <a:rPr sz="1700" spc="-3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6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models</a:t>
            </a:r>
            <a:r>
              <a:rPr sz="1700" spc="3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5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"nouns"</a:t>
            </a:r>
            <a:r>
              <a:rPr sz="1700" spc="21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5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instead</a:t>
            </a:r>
            <a:r>
              <a:rPr sz="1700" spc="12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6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1700" spc="5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7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1700" spc="4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7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active</a:t>
            </a:r>
            <a:r>
              <a:rPr sz="1700" spc="11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7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"behavior"</a:t>
            </a:r>
            <a:r>
              <a:rPr sz="1700" spc="31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6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1700" spc="5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7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1700" spc="-1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7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program. </a:t>
            </a:r>
            <a:r>
              <a:rPr sz="1700" spc="1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Programs</a:t>
            </a:r>
            <a:r>
              <a:rPr sz="1700" spc="18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1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are</a:t>
            </a:r>
            <a:r>
              <a:rPr sz="1700" spc="7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6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driven</a:t>
            </a:r>
            <a:r>
              <a:rPr sz="1700" spc="1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8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by</a:t>
            </a:r>
            <a:r>
              <a:rPr sz="1700" spc="31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6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execution</a:t>
            </a:r>
            <a:r>
              <a:rPr sz="1700" spc="9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6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1700" spc="8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1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information</a:t>
            </a:r>
            <a:r>
              <a:rPr sz="1700" spc="9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6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flows,</a:t>
            </a:r>
            <a:r>
              <a:rPr sz="1700" spc="2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6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not</a:t>
            </a:r>
            <a:r>
              <a:rPr sz="1700" spc="204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4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static </a:t>
            </a:r>
            <a:r>
              <a:rPr sz="1700" spc="7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physical</a:t>
            </a:r>
            <a:r>
              <a:rPr sz="1700" spc="-3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1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replication.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062082" y="5279372"/>
            <a:ext cx="4865370" cy="4413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00" b="1" spc="105" dirty="0">
                <a:solidFill>
                  <a:srgbClr val="0E1526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2700" b="1" spc="-190" dirty="0">
                <a:solidFill>
                  <a:srgbClr val="0E152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700" b="1" dirty="0">
                <a:solidFill>
                  <a:srgbClr val="0E1526"/>
                </a:solidFill>
                <a:latin typeface="Arial" panose="020B0604020202020204"/>
                <a:cs typeface="Arial" panose="020B0604020202020204"/>
              </a:rPr>
              <a:t>Rise</a:t>
            </a:r>
            <a:r>
              <a:rPr sz="2700" b="1" spc="-120" dirty="0">
                <a:solidFill>
                  <a:srgbClr val="0E152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700" b="1" dirty="0">
                <a:solidFill>
                  <a:srgbClr val="0E1526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2700" b="1" spc="-25" dirty="0">
                <a:solidFill>
                  <a:srgbClr val="0E152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700" b="1" spc="70" dirty="0">
                <a:solidFill>
                  <a:srgbClr val="0E1526"/>
                </a:solidFill>
                <a:latin typeface="Arial" panose="020B0604020202020204"/>
                <a:cs typeface="Arial" panose="020B0604020202020204"/>
              </a:rPr>
              <a:t>··vapor</a:t>
            </a:r>
            <a:r>
              <a:rPr sz="2700" b="1" spc="120" dirty="0">
                <a:solidFill>
                  <a:srgbClr val="0E152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700" b="1" spc="45" dirty="0">
                <a:solidFill>
                  <a:srgbClr val="0E1526"/>
                </a:solidFill>
                <a:latin typeface="Arial" panose="020B0604020202020204"/>
                <a:cs typeface="Arial" panose="020B0604020202020204"/>
              </a:rPr>
              <a:t>Classes''</a:t>
            </a:r>
            <a:endParaRPr sz="2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060048" y="5918034"/>
            <a:ext cx="7271384" cy="765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 marR="5080" indent="-1270">
              <a:lnSpc>
                <a:spcPct val="128000"/>
              </a:lnSpc>
              <a:spcBef>
                <a:spcPts val="100"/>
              </a:spcBef>
            </a:pPr>
            <a:r>
              <a:rPr sz="190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Lacking</a:t>
            </a:r>
            <a:r>
              <a:rPr sz="1900" spc="12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independent</a:t>
            </a:r>
            <a:r>
              <a:rPr sz="1900" spc="40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states</a:t>
            </a:r>
            <a:r>
              <a:rPr sz="1900" spc="23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or</a:t>
            </a:r>
            <a:r>
              <a:rPr sz="1900" spc="21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localized</a:t>
            </a:r>
            <a:r>
              <a:rPr sz="1900" spc="22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spc="6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logic,</a:t>
            </a:r>
            <a:r>
              <a:rPr sz="1900" spc="3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classes</a:t>
            </a:r>
            <a:r>
              <a:rPr sz="1900" spc="25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like</a:t>
            </a:r>
            <a:r>
              <a:rPr sz="1900" spc="27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spc="4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'Light' </a:t>
            </a:r>
            <a:r>
              <a:rPr sz="190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1900" spc="2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spc="6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'Button'</a:t>
            </a:r>
            <a:r>
              <a:rPr sz="1900" spc="24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act</a:t>
            </a:r>
            <a:r>
              <a:rPr sz="1900" spc="3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as</a:t>
            </a:r>
            <a:r>
              <a:rPr sz="1900" spc="4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raw</a:t>
            </a:r>
            <a:r>
              <a:rPr sz="1900" spc="1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spc="5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call-</a:t>
            </a:r>
            <a:r>
              <a:rPr sz="1900" spc="4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translators.</a:t>
            </a:r>
            <a:endParaRPr sz="19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055164" y="6992180"/>
            <a:ext cx="6561455" cy="145161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7780" algn="just">
              <a:lnSpc>
                <a:spcPct val="100000"/>
              </a:lnSpc>
              <a:spcBef>
                <a:spcPts val="130"/>
              </a:spcBef>
            </a:pPr>
            <a:r>
              <a:rPr sz="1800" b="1" dirty="0">
                <a:solidFill>
                  <a:srgbClr val="A85415"/>
                </a:solidFill>
                <a:latin typeface="Arial" panose="020B0604020202020204"/>
                <a:cs typeface="Arial" panose="020B0604020202020204"/>
              </a:rPr>
              <a:t>Fatal</a:t>
            </a:r>
            <a:r>
              <a:rPr sz="1800" b="1" spc="185" dirty="0">
                <a:solidFill>
                  <a:srgbClr val="A8541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solidFill>
                  <a:srgbClr val="A85415"/>
                </a:solidFill>
                <a:latin typeface="Arial" panose="020B0604020202020204"/>
                <a:cs typeface="Arial" panose="020B0604020202020204"/>
              </a:rPr>
              <a:t>Flaw:</a:t>
            </a:r>
            <a:r>
              <a:rPr sz="1800" b="1" spc="190" dirty="0">
                <a:solidFill>
                  <a:srgbClr val="A8541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50" dirty="0">
                <a:solidFill>
                  <a:srgbClr val="A85415"/>
                </a:solidFill>
                <a:latin typeface="Arial" panose="020B0604020202020204"/>
                <a:cs typeface="Arial" panose="020B0604020202020204"/>
              </a:rPr>
              <a:t>Zero</a:t>
            </a:r>
            <a:r>
              <a:rPr sz="1800" b="1" spc="120" dirty="0">
                <a:solidFill>
                  <a:srgbClr val="A8541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10" dirty="0">
                <a:solidFill>
                  <a:srgbClr val="A85415"/>
                </a:solidFill>
                <a:latin typeface="Arial" panose="020B0604020202020204"/>
                <a:cs typeface="Arial" panose="020B0604020202020204"/>
              </a:rPr>
              <a:t>Autonomy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12700" marR="5080" indent="8890" algn="just">
              <a:lnSpc>
                <a:spcPct val="137000"/>
              </a:lnSpc>
              <a:spcBef>
                <a:spcPts val="660"/>
              </a:spcBef>
            </a:pPr>
            <a:r>
              <a:rPr sz="170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They</a:t>
            </a:r>
            <a:r>
              <a:rPr sz="1700" spc="22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6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delegate</a:t>
            </a:r>
            <a:r>
              <a:rPr sz="1700" spc="23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straight</a:t>
            </a:r>
            <a:r>
              <a:rPr sz="1700" spc="32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1700" spc="21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9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raw</a:t>
            </a:r>
            <a:r>
              <a:rPr sz="1700" spc="5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hardware</a:t>
            </a:r>
            <a:r>
              <a:rPr sz="1700" spc="24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APls.</a:t>
            </a:r>
            <a:r>
              <a:rPr sz="1700" spc="13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They</a:t>
            </a:r>
            <a:r>
              <a:rPr sz="1700" spc="22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are</a:t>
            </a:r>
            <a:r>
              <a:rPr sz="1700" spc="4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1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useless </a:t>
            </a:r>
            <a:r>
              <a:rPr sz="1700" spc="7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wrappers</a:t>
            </a:r>
            <a:r>
              <a:rPr sz="1700" spc="9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8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that</a:t>
            </a:r>
            <a:r>
              <a:rPr sz="1700" spc="10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5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could</a:t>
            </a:r>
            <a:r>
              <a:rPr sz="1700" spc="9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6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be</a:t>
            </a:r>
            <a:r>
              <a:rPr sz="1700" spc="13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6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removed</a:t>
            </a:r>
            <a:r>
              <a:rPr sz="1700" spc="15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entirely</a:t>
            </a:r>
            <a:r>
              <a:rPr sz="1700" spc="21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7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with</a:t>
            </a:r>
            <a:r>
              <a:rPr sz="1700" spc="-7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8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no</a:t>
            </a:r>
            <a:r>
              <a:rPr sz="1700" spc="-4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5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loss</a:t>
            </a:r>
            <a:r>
              <a:rPr sz="1700" spc="-3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6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1700" spc="11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6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system </a:t>
            </a:r>
            <a:r>
              <a:rPr sz="1700" spc="7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integrity</a:t>
            </a:r>
            <a:r>
              <a:rPr sz="1700" spc="12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5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or</a:t>
            </a:r>
            <a:r>
              <a:rPr sz="1700" spc="2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6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change</a:t>
            </a:r>
            <a:r>
              <a:rPr sz="1700" spc="5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in</a:t>
            </a:r>
            <a:r>
              <a:rPr sz="1700" spc="4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5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domain</a:t>
            </a:r>
            <a:r>
              <a:rPr sz="1700" spc="-3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5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logic.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793318" y="4567574"/>
            <a:ext cx="566311" cy="44099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33972" y="4567574"/>
            <a:ext cx="424733" cy="42524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858895" y="4536074"/>
            <a:ext cx="487656" cy="50399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282065" y="4016323"/>
            <a:ext cx="0" cy="4803775"/>
          </a:xfrm>
          <a:custGeom>
            <a:avLst/>
            <a:gdLst/>
            <a:ahLst/>
            <a:cxnLst/>
            <a:rect l="l" t="t" r="r" b="b"/>
            <a:pathLst>
              <a:path h="4803775">
                <a:moveTo>
                  <a:pt x="0" y="4803738"/>
                </a:moveTo>
                <a:lnTo>
                  <a:pt x="0" y="0"/>
                </a:lnTo>
              </a:path>
            </a:pathLst>
          </a:custGeom>
          <a:ln w="5505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306985" y="4016323"/>
            <a:ext cx="0" cy="4803775"/>
          </a:xfrm>
          <a:custGeom>
            <a:avLst/>
            <a:gdLst/>
            <a:ahLst/>
            <a:cxnLst/>
            <a:rect l="l" t="t" r="r" b="b"/>
            <a:pathLst>
              <a:path h="4803775">
                <a:moveTo>
                  <a:pt x="0" y="4803738"/>
                </a:moveTo>
                <a:lnTo>
                  <a:pt x="0" y="0"/>
                </a:lnTo>
              </a:path>
            </a:pathLst>
          </a:custGeom>
          <a:ln w="5505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3347636" y="4016323"/>
            <a:ext cx="0" cy="4803775"/>
          </a:xfrm>
          <a:custGeom>
            <a:avLst/>
            <a:gdLst/>
            <a:ahLst/>
            <a:cxnLst/>
            <a:rect l="l" t="t" r="r" b="b"/>
            <a:pathLst>
              <a:path h="4803775">
                <a:moveTo>
                  <a:pt x="0" y="4803738"/>
                </a:moveTo>
                <a:lnTo>
                  <a:pt x="0" y="0"/>
                </a:lnTo>
              </a:path>
            </a:pathLst>
          </a:custGeom>
          <a:ln w="5505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242738" y="1834954"/>
            <a:ext cx="960119" cy="0"/>
          </a:xfrm>
          <a:custGeom>
            <a:avLst/>
            <a:gdLst/>
            <a:ahLst/>
            <a:cxnLst/>
            <a:rect l="l" t="t" r="r" b="b"/>
            <a:pathLst>
              <a:path w="960119">
                <a:moveTo>
                  <a:pt x="0" y="0"/>
                </a:moveTo>
                <a:lnTo>
                  <a:pt x="959582" y="0"/>
                </a:lnTo>
              </a:path>
            </a:pathLst>
          </a:custGeom>
          <a:ln w="551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43180">
              <a:lnSpc>
                <a:spcPct val="100000"/>
              </a:lnSpc>
              <a:spcBef>
                <a:spcPts val="115"/>
              </a:spcBef>
            </a:pPr>
            <a:r>
              <a:rPr spc="180" dirty="0"/>
              <a:t>The</a:t>
            </a:r>
            <a:r>
              <a:rPr spc="-175" dirty="0"/>
              <a:t> </a:t>
            </a:r>
            <a:r>
              <a:rPr spc="210" dirty="0"/>
              <a:t>Three</a:t>
            </a:r>
            <a:r>
              <a:rPr spc="75" dirty="0"/>
              <a:t> </a:t>
            </a:r>
            <a:r>
              <a:rPr spc="225" dirty="0"/>
              <a:t>Architectural</a:t>
            </a:r>
            <a:r>
              <a:rPr spc="290" dirty="0"/>
              <a:t> </a:t>
            </a:r>
            <a:r>
              <a:rPr spc="-20" dirty="0"/>
              <a:t>Sins</a:t>
            </a:r>
            <a:endParaRPr spc="-20" dirty="0"/>
          </a:p>
        </p:txBody>
      </p:sp>
      <p:sp>
        <p:nvSpPr>
          <p:cNvPr id="10" name="object 10"/>
          <p:cNvSpPr txBox="1"/>
          <p:nvPr/>
        </p:nvSpPr>
        <p:spPr>
          <a:xfrm>
            <a:off x="1771306" y="5417185"/>
            <a:ext cx="4505325" cy="172720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20"/>
              </a:spcBef>
            </a:pPr>
            <a:r>
              <a:rPr sz="2800" b="1" dirty="0">
                <a:solidFill>
                  <a:srgbClr val="0E1526"/>
                </a:solidFill>
                <a:latin typeface="Arial" panose="020B0604020202020204"/>
                <a:cs typeface="Arial" panose="020B0604020202020204"/>
              </a:rPr>
              <a:t>God</a:t>
            </a:r>
            <a:r>
              <a:rPr sz="2800" b="1" spc="20" dirty="0">
                <a:solidFill>
                  <a:srgbClr val="0E152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b="1" spc="45" dirty="0">
                <a:solidFill>
                  <a:srgbClr val="0E1526"/>
                </a:solidFill>
                <a:latin typeface="Arial" panose="020B0604020202020204"/>
                <a:cs typeface="Arial" panose="020B0604020202020204"/>
              </a:rPr>
              <a:t>Classes</a:t>
            </a:r>
            <a:endParaRPr sz="2800">
              <a:latin typeface="Arial" panose="020B0604020202020204"/>
              <a:cs typeface="Arial" panose="020B0604020202020204"/>
            </a:endParaRPr>
          </a:p>
          <a:p>
            <a:pPr marL="13970" marR="5080" indent="5080" algn="just">
              <a:lnSpc>
                <a:spcPct val="137000"/>
              </a:lnSpc>
              <a:spcBef>
                <a:spcPts val="1640"/>
              </a:spcBef>
            </a:pPr>
            <a:r>
              <a:rPr sz="1700" spc="60" dirty="0">
                <a:solidFill>
                  <a:srgbClr val="545B67"/>
                </a:solidFill>
                <a:latin typeface="Arial" panose="020B0604020202020204"/>
                <a:cs typeface="Arial" panose="020B0604020202020204"/>
              </a:rPr>
              <a:t>When</a:t>
            </a:r>
            <a:r>
              <a:rPr sz="1700" spc="114" dirty="0">
                <a:solidFill>
                  <a:srgbClr val="545B67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545B67"/>
                </a:solidFill>
                <a:latin typeface="Arial" panose="020B0604020202020204"/>
                <a:cs typeface="Arial" panose="020B0604020202020204"/>
              </a:rPr>
              <a:t>surrounding</a:t>
            </a:r>
            <a:r>
              <a:rPr sz="1700" spc="415" dirty="0">
                <a:solidFill>
                  <a:srgbClr val="545B67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545B67"/>
                </a:solidFill>
                <a:latin typeface="Arial" panose="020B0604020202020204"/>
                <a:cs typeface="Arial" panose="020B0604020202020204"/>
              </a:rPr>
              <a:t>classes</a:t>
            </a:r>
            <a:r>
              <a:rPr sz="1700" spc="210" dirty="0">
                <a:solidFill>
                  <a:srgbClr val="545B67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545B67"/>
                </a:solidFill>
                <a:latin typeface="Arial" panose="020B0604020202020204"/>
                <a:cs typeface="Arial" panose="020B0604020202020204"/>
              </a:rPr>
              <a:t>are</a:t>
            </a:r>
            <a:r>
              <a:rPr sz="1700" spc="160" dirty="0">
                <a:solidFill>
                  <a:srgbClr val="545B67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95" dirty="0">
                <a:solidFill>
                  <a:srgbClr val="696D72"/>
                </a:solidFill>
                <a:latin typeface="Arial" panose="020B0604020202020204"/>
                <a:cs typeface="Arial" panose="020B0604020202020204"/>
              </a:rPr>
              <a:t>"vapor",</a:t>
            </a:r>
            <a:r>
              <a:rPr sz="1700" spc="110" dirty="0">
                <a:solidFill>
                  <a:srgbClr val="696D7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70" dirty="0">
                <a:solidFill>
                  <a:srgbClr val="545B67"/>
                </a:solidFill>
                <a:latin typeface="Arial" panose="020B0604020202020204"/>
                <a:cs typeface="Arial" panose="020B0604020202020204"/>
              </a:rPr>
              <a:t>the </a:t>
            </a:r>
            <a:r>
              <a:rPr sz="1700" dirty="0">
                <a:solidFill>
                  <a:srgbClr val="545B67"/>
                </a:solidFill>
                <a:latin typeface="Arial" panose="020B0604020202020204"/>
                <a:cs typeface="Arial" panose="020B0604020202020204"/>
              </a:rPr>
              <a:t>entire</a:t>
            </a:r>
            <a:r>
              <a:rPr sz="1700" spc="215" dirty="0">
                <a:solidFill>
                  <a:srgbClr val="545B67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545B67"/>
                </a:solidFill>
                <a:latin typeface="Arial" panose="020B0604020202020204"/>
                <a:cs typeface="Arial" panose="020B0604020202020204"/>
              </a:rPr>
              <a:t>operational</a:t>
            </a:r>
            <a:r>
              <a:rPr sz="1700" spc="200" dirty="0">
                <a:solidFill>
                  <a:srgbClr val="545B67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70" dirty="0">
                <a:solidFill>
                  <a:srgbClr val="545B67"/>
                </a:solidFill>
                <a:latin typeface="Arial" panose="020B0604020202020204"/>
                <a:cs typeface="Arial" panose="020B0604020202020204"/>
              </a:rPr>
              <a:t>logic</a:t>
            </a:r>
            <a:r>
              <a:rPr sz="1700" spc="265" dirty="0">
                <a:solidFill>
                  <a:srgbClr val="545B67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545B67"/>
                </a:solidFill>
                <a:latin typeface="Arial" panose="020B0604020202020204"/>
                <a:cs typeface="Arial" panose="020B0604020202020204"/>
              </a:rPr>
              <a:t>collapsing</a:t>
            </a:r>
            <a:r>
              <a:rPr sz="1700" spc="390" dirty="0">
                <a:solidFill>
                  <a:srgbClr val="545B67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114" dirty="0">
                <a:solidFill>
                  <a:srgbClr val="545B67"/>
                </a:solidFill>
                <a:latin typeface="Arial" panose="020B0604020202020204"/>
                <a:cs typeface="Arial" panose="020B0604020202020204"/>
              </a:rPr>
              <a:t>back</a:t>
            </a:r>
            <a:r>
              <a:rPr sz="1700" spc="204" dirty="0">
                <a:solidFill>
                  <a:srgbClr val="545B67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40" dirty="0">
                <a:solidFill>
                  <a:srgbClr val="545B67"/>
                </a:solidFill>
                <a:latin typeface="Arial" panose="020B0604020202020204"/>
                <a:cs typeface="Arial" panose="020B0604020202020204"/>
              </a:rPr>
              <a:t>into </a:t>
            </a:r>
            <a:r>
              <a:rPr sz="1700" spc="100" dirty="0">
                <a:solidFill>
                  <a:srgbClr val="545B67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1700" spc="75" dirty="0">
                <a:solidFill>
                  <a:srgbClr val="545B67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545B67"/>
                </a:solidFill>
                <a:latin typeface="Arial" panose="020B0604020202020204"/>
                <a:cs typeface="Arial" panose="020B0604020202020204"/>
              </a:rPr>
              <a:t>single</a:t>
            </a:r>
            <a:r>
              <a:rPr sz="1700" spc="105" dirty="0">
                <a:solidFill>
                  <a:srgbClr val="545B67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60" dirty="0">
                <a:solidFill>
                  <a:srgbClr val="545B67"/>
                </a:solidFill>
                <a:latin typeface="Arial" panose="020B0604020202020204"/>
                <a:cs typeface="Arial" panose="020B0604020202020204"/>
              </a:rPr>
              <a:t>central</a:t>
            </a:r>
            <a:r>
              <a:rPr sz="1700" spc="25" dirty="0">
                <a:solidFill>
                  <a:srgbClr val="545B67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10" dirty="0">
                <a:solidFill>
                  <a:srgbClr val="545B67"/>
                </a:solidFill>
                <a:latin typeface="Arial" panose="020B0604020202020204"/>
                <a:cs typeface="Arial" panose="020B0604020202020204"/>
              </a:rPr>
              <a:t>coordinator.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85716" y="7265441"/>
            <a:ext cx="4146550" cy="10179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635">
              <a:lnSpc>
                <a:spcPct val="136000"/>
              </a:lnSpc>
              <a:spcBef>
                <a:spcPts val="95"/>
              </a:spcBef>
            </a:pPr>
            <a:r>
              <a:rPr sz="1600" i="1" dirty="0">
                <a:solidFill>
                  <a:srgbClr val="777E89"/>
                </a:solidFill>
                <a:latin typeface="Arial" panose="020B0604020202020204"/>
                <a:cs typeface="Arial" panose="020B0604020202020204"/>
              </a:rPr>
              <a:t>Result:</a:t>
            </a:r>
            <a:r>
              <a:rPr sz="1600" i="1" spc="155" dirty="0">
                <a:solidFill>
                  <a:srgbClr val="777E8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i="1" spc="65" dirty="0">
                <a:solidFill>
                  <a:srgbClr val="777E89"/>
                </a:solidFill>
                <a:latin typeface="Arial" panose="020B0604020202020204"/>
                <a:cs typeface="Arial" panose="020B0604020202020204"/>
              </a:rPr>
              <a:t>Highly</a:t>
            </a:r>
            <a:r>
              <a:rPr sz="1600" i="1" spc="50" dirty="0">
                <a:solidFill>
                  <a:srgbClr val="777E8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i="1" spc="60" dirty="0">
                <a:solidFill>
                  <a:srgbClr val="777E89"/>
                </a:solidFill>
                <a:latin typeface="Arial" panose="020B0604020202020204"/>
                <a:cs typeface="Arial" panose="020B0604020202020204"/>
              </a:rPr>
              <a:t>procedural</a:t>
            </a:r>
            <a:r>
              <a:rPr sz="1600" i="1" spc="105" dirty="0">
                <a:solidFill>
                  <a:srgbClr val="777E8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i="1" spc="60" dirty="0">
                <a:solidFill>
                  <a:srgbClr val="777E89"/>
                </a:solidFill>
                <a:latin typeface="Arial" panose="020B0604020202020204"/>
                <a:cs typeface="Arial" panose="020B0604020202020204"/>
              </a:rPr>
              <a:t>procedural</a:t>
            </a:r>
            <a:r>
              <a:rPr sz="1600" i="1" spc="130" dirty="0">
                <a:solidFill>
                  <a:srgbClr val="777E8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i="1" spc="60" dirty="0">
                <a:solidFill>
                  <a:srgbClr val="777E89"/>
                </a:solidFill>
                <a:latin typeface="Arial" panose="020B0604020202020204"/>
                <a:cs typeface="Arial" panose="020B0604020202020204"/>
              </a:rPr>
              <a:t>code</a:t>
            </a:r>
            <a:r>
              <a:rPr sz="1600" i="1" spc="60" dirty="0">
                <a:solidFill>
                  <a:srgbClr val="777E89"/>
                </a:solidFill>
                <a:latin typeface="Arial" panose="020B0604020202020204"/>
                <a:cs typeface="Arial" panose="020B0604020202020204"/>
              </a:rPr>
              <a:t> written</a:t>
            </a:r>
            <a:r>
              <a:rPr sz="1600" i="1" spc="55" dirty="0">
                <a:solidFill>
                  <a:srgbClr val="777E8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i="1" spc="65" dirty="0">
                <a:solidFill>
                  <a:srgbClr val="777E89"/>
                </a:solidFill>
                <a:latin typeface="Arial" panose="020B0604020202020204"/>
                <a:cs typeface="Arial" panose="020B0604020202020204"/>
              </a:rPr>
              <a:t>in</a:t>
            </a:r>
            <a:r>
              <a:rPr sz="1600" i="1" spc="90" dirty="0">
                <a:solidFill>
                  <a:srgbClr val="777E8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i="1" spc="85" dirty="0">
                <a:solidFill>
                  <a:srgbClr val="777E89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1600" i="1" spc="-105" dirty="0">
                <a:solidFill>
                  <a:srgbClr val="777E8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i="1" spc="60" dirty="0">
                <a:solidFill>
                  <a:srgbClr val="777E89"/>
                </a:solidFill>
                <a:latin typeface="Arial" panose="020B0604020202020204"/>
                <a:cs typeface="Arial" panose="020B0604020202020204"/>
              </a:rPr>
              <a:t>pseudo-</a:t>
            </a:r>
            <a:r>
              <a:rPr sz="1600" i="1" spc="95" dirty="0">
                <a:solidFill>
                  <a:srgbClr val="777E89"/>
                </a:solidFill>
                <a:latin typeface="Arial" panose="020B0604020202020204"/>
                <a:cs typeface="Arial" panose="020B0604020202020204"/>
              </a:rPr>
              <a:t>GO</a:t>
            </a:r>
            <a:r>
              <a:rPr sz="1600" i="1" spc="125" dirty="0">
                <a:solidFill>
                  <a:srgbClr val="777E8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i="1" spc="40" dirty="0">
                <a:solidFill>
                  <a:srgbClr val="777E89"/>
                </a:solidFill>
                <a:latin typeface="Arial" panose="020B0604020202020204"/>
                <a:cs typeface="Arial" panose="020B0604020202020204"/>
              </a:rPr>
              <a:t>language </a:t>
            </a:r>
            <a:r>
              <a:rPr sz="1600" i="1" spc="45" dirty="0">
                <a:solidFill>
                  <a:srgbClr val="777E89"/>
                </a:solidFill>
                <a:latin typeface="Arial" panose="020B0604020202020204"/>
                <a:cs typeface="Arial" panose="020B0604020202020204"/>
              </a:rPr>
              <a:t>environment.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804802" y="5425059"/>
            <a:ext cx="4351655" cy="206628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800" b="1" spc="200" dirty="0">
                <a:solidFill>
                  <a:srgbClr val="0E1526"/>
                </a:solidFill>
                <a:latin typeface="Arial" panose="020B0604020202020204"/>
                <a:cs typeface="Arial" panose="020B0604020202020204"/>
              </a:rPr>
              <a:t>Imaginary</a:t>
            </a:r>
            <a:r>
              <a:rPr sz="2800" b="1" spc="40" dirty="0">
                <a:solidFill>
                  <a:srgbClr val="0E152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b="1" spc="55" dirty="0">
                <a:solidFill>
                  <a:srgbClr val="0E1526"/>
                </a:solidFill>
                <a:latin typeface="Arial" panose="020B0604020202020204"/>
                <a:cs typeface="Arial" panose="020B0604020202020204"/>
              </a:rPr>
              <a:t>Abstractions</a:t>
            </a:r>
            <a:endParaRPr sz="2800">
              <a:latin typeface="Arial" panose="020B0604020202020204"/>
              <a:cs typeface="Arial" panose="020B0604020202020204"/>
            </a:endParaRPr>
          </a:p>
          <a:p>
            <a:pPr marL="18415" marR="105410" indent="635">
              <a:lnSpc>
                <a:spcPct val="136000"/>
              </a:lnSpc>
              <a:spcBef>
                <a:spcPts val="1600"/>
              </a:spcBef>
            </a:pPr>
            <a:r>
              <a:rPr sz="1700" dirty="0">
                <a:solidFill>
                  <a:srgbClr val="545B67"/>
                </a:solidFill>
                <a:latin typeface="Arial" panose="020B0604020202020204"/>
                <a:cs typeface="Arial" panose="020B0604020202020204"/>
              </a:rPr>
              <a:t>Developing</a:t>
            </a:r>
            <a:r>
              <a:rPr sz="1700" spc="330" dirty="0">
                <a:solidFill>
                  <a:srgbClr val="545B67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70" dirty="0">
                <a:solidFill>
                  <a:srgbClr val="3F5470"/>
                </a:solidFill>
                <a:latin typeface="Arial" panose="020B0604020202020204"/>
                <a:cs typeface="Arial" panose="020B0604020202020204"/>
              </a:rPr>
              <a:t>base</a:t>
            </a:r>
            <a:r>
              <a:rPr sz="1700" spc="114" dirty="0">
                <a:solidFill>
                  <a:srgbClr val="3F547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55" dirty="0">
                <a:solidFill>
                  <a:srgbClr val="3F5470"/>
                </a:solidFill>
                <a:latin typeface="Arial" panose="020B0604020202020204"/>
                <a:cs typeface="Arial" panose="020B0604020202020204"/>
              </a:rPr>
              <a:t>interfaces</a:t>
            </a:r>
            <a:r>
              <a:rPr sz="1700" spc="300" dirty="0">
                <a:solidFill>
                  <a:srgbClr val="3F547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545B67"/>
                </a:solidFill>
                <a:latin typeface="Arial" panose="020B0604020202020204"/>
                <a:cs typeface="Arial" panose="020B0604020202020204"/>
              </a:rPr>
              <a:t>(e.g.,</a:t>
            </a:r>
            <a:r>
              <a:rPr sz="1700" spc="130" dirty="0">
                <a:solidFill>
                  <a:srgbClr val="545B67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10" dirty="0">
                <a:solidFill>
                  <a:srgbClr val="3F5470"/>
                </a:solidFill>
                <a:latin typeface="Arial" panose="020B0604020202020204"/>
                <a:cs typeface="Arial" panose="020B0604020202020204"/>
              </a:rPr>
              <a:t>Heater, </a:t>
            </a:r>
            <a:r>
              <a:rPr sz="1700" dirty="0">
                <a:solidFill>
                  <a:srgbClr val="545B67"/>
                </a:solidFill>
                <a:latin typeface="Arial" panose="020B0604020202020204"/>
                <a:cs typeface="Arial" panose="020B0604020202020204"/>
              </a:rPr>
              <a:t>Sensor)</a:t>
            </a:r>
            <a:r>
              <a:rPr sz="1700" spc="350" dirty="0">
                <a:solidFill>
                  <a:srgbClr val="545B67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80" dirty="0">
                <a:solidFill>
                  <a:srgbClr val="545B67"/>
                </a:solidFill>
                <a:latin typeface="Arial" panose="020B0604020202020204"/>
                <a:cs typeface="Arial" panose="020B0604020202020204"/>
              </a:rPr>
              <a:t>that</a:t>
            </a:r>
            <a:r>
              <a:rPr sz="1700" spc="195" dirty="0">
                <a:solidFill>
                  <a:srgbClr val="545B67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545B67"/>
                </a:solidFill>
                <a:latin typeface="Arial" panose="020B0604020202020204"/>
                <a:cs typeface="Arial" panose="020B0604020202020204"/>
              </a:rPr>
              <a:t>are</a:t>
            </a:r>
            <a:r>
              <a:rPr sz="1700" spc="100" dirty="0">
                <a:solidFill>
                  <a:srgbClr val="545B67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545B67"/>
                </a:solidFill>
                <a:latin typeface="Arial" panose="020B0604020202020204"/>
                <a:cs typeface="Arial" panose="020B0604020202020204"/>
              </a:rPr>
              <a:t>entirely</a:t>
            </a:r>
            <a:r>
              <a:rPr sz="1700" spc="175" dirty="0">
                <a:solidFill>
                  <a:srgbClr val="545B67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545B67"/>
                </a:solidFill>
                <a:latin typeface="Arial" panose="020B0604020202020204"/>
                <a:cs typeface="Arial" panose="020B0604020202020204"/>
              </a:rPr>
              <a:t>unused</a:t>
            </a:r>
            <a:r>
              <a:rPr sz="1700" spc="175" dirty="0">
                <a:solidFill>
                  <a:srgbClr val="545B67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3F5470"/>
                </a:solidFill>
                <a:latin typeface="Arial" panose="020B0604020202020204"/>
                <a:cs typeface="Arial" panose="020B0604020202020204"/>
              </a:rPr>
              <a:t>by</a:t>
            </a:r>
            <a:r>
              <a:rPr sz="1700" spc="455" dirty="0">
                <a:solidFill>
                  <a:srgbClr val="3F547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40" dirty="0">
                <a:solidFill>
                  <a:srgbClr val="545B67"/>
                </a:solidFill>
                <a:latin typeface="Arial" panose="020B0604020202020204"/>
                <a:cs typeface="Arial" panose="020B0604020202020204"/>
              </a:rPr>
              <a:t>other </a:t>
            </a:r>
            <a:r>
              <a:rPr sz="1700" dirty="0">
                <a:solidFill>
                  <a:srgbClr val="545B67"/>
                </a:solidFill>
                <a:latin typeface="Arial" panose="020B0604020202020204"/>
                <a:cs typeface="Arial" panose="020B0604020202020204"/>
              </a:rPr>
              <a:t>components,</a:t>
            </a:r>
            <a:r>
              <a:rPr sz="1700" spc="375" dirty="0">
                <a:solidFill>
                  <a:srgbClr val="545B67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50" dirty="0">
                <a:solidFill>
                  <a:srgbClr val="545B67"/>
                </a:solidFill>
                <a:latin typeface="Arial" panose="020B0604020202020204"/>
                <a:cs typeface="Arial" panose="020B0604020202020204"/>
              </a:rPr>
              <a:t>or</a:t>
            </a:r>
            <a:r>
              <a:rPr sz="1700" spc="170" dirty="0">
                <a:solidFill>
                  <a:srgbClr val="545B67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55" dirty="0">
                <a:solidFill>
                  <a:srgbClr val="545B67"/>
                </a:solidFill>
                <a:latin typeface="Arial" panose="020B0604020202020204"/>
                <a:cs typeface="Arial" panose="020B0604020202020204"/>
              </a:rPr>
              <a:t>contain</a:t>
            </a:r>
            <a:r>
              <a:rPr sz="1700" spc="160" dirty="0">
                <a:solidFill>
                  <a:srgbClr val="545B67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10" dirty="0">
                <a:solidFill>
                  <a:srgbClr val="545B67"/>
                </a:solidFill>
                <a:latin typeface="Arial" panose="020B0604020202020204"/>
                <a:cs typeface="Arial" panose="020B0604020202020204"/>
              </a:rPr>
              <a:t>ambiguous </a:t>
            </a:r>
            <a:r>
              <a:rPr sz="1700" spc="50" dirty="0">
                <a:solidFill>
                  <a:srgbClr val="545B67"/>
                </a:solidFill>
                <a:latin typeface="Arial" panose="020B0604020202020204"/>
                <a:cs typeface="Arial" panose="020B0604020202020204"/>
              </a:rPr>
              <a:t>contracts.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814319" y="7627691"/>
            <a:ext cx="4502150" cy="687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4445">
              <a:lnSpc>
                <a:spcPct val="136000"/>
              </a:lnSpc>
              <a:spcBef>
                <a:spcPts val="95"/>
              </a:spcBef>
            </a:pPr>
            <a:r>
              <a:rPr sz="1600" i="1" dirty="0">
                <a:solidFill>
                  <a:srgbClr val="777E89"/>
                </a:solidFill>
                <a:latin typeface="Arial" panose="020B0604020202020204"/>
                <a:cs typeface="Arial" panose="020B0604020202020204"/>
              </a:rPr>
              <a:t>Result:</a:t>
            </a:r>
            <a:r>
              <a:rPr sz="1600" i="1" spc="300" dirty="0">
                <a:solidFill>
                  <a:srgbClr val="777E8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i="1" spc="75" dirty="0">
                <a:solidFill>
                  <a:srgbClr val="777E89"/>
                </a:solidFill>
                <a:latin typeface="Arial" panose="020B0604020202020204"/>
                <a:cs typeface="Arial" panose="020B0604020202020204"/>
              </a:rPr>
              <a:t>Over-</a:t>
            </a:r>
            <a:r>
              <a:rPr sz="1600" i="1" spc="70" dirty="0">
                <a:solidFill>
                  <a:srgbClr val="777E89"/>
                </a:solidFill>
                <a:latin typeface="Arial" panose="020B0604020202020204"/>
                <a:cs typeface="Arial" panose="020B0604020202020204"/>
              </a:rPr>
              <a:t>engineering</a:t>
            </a:r>
            <a:r>
              <a:rPr sz="1600" i="1" spc="250" dirty="0">
                <a:solidFill>
                  <a:srgbClr val="777E8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i="1" dirty="0">
                <a:solidFill>
                  <a:srgbClr val="777E89"/>
                </a:solidFill>
                <a:latin typeface="Arial" panose="020B0604020202020204"/>
                <a:cs typeface="Arial" panose="020B0604020202020204"/>
              </a:rPr>
              <a:t>that</a:t>
            </a:r>
            <a:r>
              <a:rPr sz="1600" i="1" spc="130" dirty="0">
                <a:solidFill>
                  <a:srgbClr val="777E8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i="1" dirty="0">
                <a:solidFill>
                  <a:srgbClr val="777E89"/>
                </a:solidFill>
                <a:latin typeface="Arial" panose="020B0604020202020204"/>
                <a:cs typeface="Arial" panose="020B0604020202020204"/>
              </a:rPr>
              <a:t>complicates</a:t>
            </a:r>
            <a:r>
              <a:rPr sz="1600" i="1" spc="375" dirty="0">
                <a:solidFill>
                  <a:srgbClr val="777E8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i="1" spc="40" dirty="0">
                <a:solidFill>
                  <a:srgbClr val="777E89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1600" i="1" spc="40" dirty="0">
                <a:solidFill>
                  <a:srgbClr val="777E8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i="1" spc="65" dirty="0">
                <a:solidFill>
                  <a:srgbClr val="777E89"/>
                </a:solidFill>
                <a:latin typeface="Arial" panose="020B0604020202020204"/>
                <a:cs typeface="Arial" panose="020B0604020202020204"/>
              </a:rPr>
              <a:t>hierarchy</a:t>
            </a:r>
            <a:r>
              <a:rPr sz="1600" i="1" spc="270" dirty="0">
                <a:solidFill>
                  <a:srgbClr val="777E8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i="1" spc="75" dirty="0">
                <a:solidFill>
                  <a:srgbClr val="777E89"/>
                </a:solidFill>
                <a:latin typeface="Arial" panose="020B0604020202020204"/>
                <a:cs typeface="Arial" panose="020B0604020202020204"/>
              </a:rPr>
              <a:t>without</a:t>
            </a:r>
            <a:r>
              <a:rPr sz="1600" i="1" spc="60" dirty="0">
                <a:solidFill>
                  <a:srgbClr val="777E8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i="1" spc="65" dirty="0">
                <a:solidFill>
                  <a:srgbClr val="777E89"/>
                </a:solidFill>
                <a:latin typeface="Arial" panose="020B0604020202020204"/>
                <a:cs typeface="Arial" panose="020B0604020202020204"/>
              </a:rPr>
              <a:t>adding</a:t>
            </a:r>
            <a:r>
              <a:rPr sz="1600" i="1" spc="229" dirty="0">
                <a:solidFill>
                  <a:srgbClr val="777E8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i="1" dirty="0">
                <a:solidFill>
                  <a:srgbClr val="777E89"/>
                </a:solidFill>
                <a:latin typeface="Arial" panose="020B0604020202020204"/>
                <a:cs typeface="Arial" panose="020B0604020202020204"/>
              </a:rPr>
              <a:t>structural</a:t>
            </a:r>
            <a:r>
              <a:rPr sz="1600" i="1" spc="229" dirty="0">
                <a:solidFill>
                  <a:srgbClr val="777E8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i="1" spc="-10" dirty="0">
                <a:solidFill>
                  <a:srgbClr val="777E89"/>
                </a:solidFill>
                <a:latin typeface="Arial" panose="020B0604020202020204"/>
                <a:cs typeface="Arial" panose="020B0604020202020204"/>
              </a:rPr>
              <a:t>behavior.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830810" y="5417185"/>
            <a:ext cx="4296410" cy="172720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800" b="1" spc="125" dirty="0">
                <a:solidFill>
                  <a:srgbClr val="0E1526"/>
                </a:solidFill>
                <a:latin typeface="Arial" panose="020B0604020202020204"/>
                <a:cs typeface="Arial" panose="020B0604020202020204"/>
              </a:rPr>
              <a:t>Over-Defensive</a:t>
            </a:r>
            <a:r>
              <a:rPr sz="2800" b="1" spc="-245" dirty="0">
                <a:solidFill>
                  <a:srgbClr val="0E152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b="1" spc="95" dirty="0">
                <a:solidFill>
                  <a:srgbClr val="0E1526"/>
                </a:solidFill>
                <a:latin typeface="Arial" panose="020B0604020202020204"/>
                <a:cs typeface="Arial" panose="020B0604020202020204"/>
              </a:rPr>
              <a:t>Code</a:t>
            </a:r>
            <a:endParaRPr sz="2800">
              <a:latin typeface="Arial" panose="020B0604020202020204"/>
              <a:cs typeface="Arial" panose="020B0604020202020204"/>
            </a:endParaRPr>
          </a:p>
          <a:p>
            <a:pPr marL="19685" marR="5080" indent="-2540">
              <a:lnSpc>
                <a:spcPct val="138000"/>
              </a:lnSpc>
              <a:spcBef>
                <a:spcPts val="1545"/>
              </a:spcBef>
            </a:pPr>
            <a:r>
              <a:rPr sz="1700" dirty="0">
                <a:solidFill>
                  <a:srgbClr val="545B67"/>
                </a:solidFill>
                <a:latin typeface="Arial" panose="020B0604020202020204"/>
                <a:cs typeface="Arial" panose="020B0604020202020204"/>
              </a:rPr>
              <a:t>Flooding</a:t>
            </a:r>
            <a:r>
              <a:rPr sz="1700" spc="180" dirty="0">
                <a:solidFill>
                  <a:srgbClr val="545B67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545B67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1700" spc="265" dirty="0">
                <a:solidFill>
                  <a:srgbClr val="545B67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60" dirty="0">
                <a:solidFill>
                  <a:srgbClr val="545B67"/>
                </a:solidFill>
                <a:latin typeface="Arial" panose="020B0604020202020204"/>
                <a:cs typeface="Arial" panose="020B0604020202020204"/>
              </a:rPr>
              <a:t>system</a:t>
            </a:r>
            <a:r>
              <a:rPr sz="1700" spc="140" dirty="0">
                <a:solidFill>
                  <a:srgbClr val="545B67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90" dirty="0">
                <a:solidFill>
                  <a:srgbClr val="545B67"/>
                </a:solidFill>
                <a:latin typeface="Arial" panose="020B0604020202020204"/>
                <a:cs typeface="Arial" panose="020B0604020202020204"/>
              </a:rPr>
              <a:t>with</a:t>
            </a:r>
            <a:r>
              <a:rPr sz="1700" spc="-55" dirty="0">
                <a:solidFill>
                  <a:srgbClr val="545B67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60" dirty="0">
                <a:solidFill>
                  <a:srgbClr val="3F5470"/>
                </a:solidFill>
                <a:latin typeface="Arial" panose="020B0604020202020204"/>
                <a:cs typeface="Arial" panose="020B0604020202020204"/>
              </a:rPr>
              <a:t>redundant</a:t>
            </a:r>
            <a:r>
              <a:rPr sz="1700" spc="204" dirty="0">
                <a:solidFill>
                  <a:srgbClr val="3F547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60" dirty="0">
                <a:solidFill>
                  <a:srgbClr val="545B67"/>
                </a:solidFill>
                <a:latin typeface="Arial" panose="020B0604020202020204"/>
                <a:cs typeface="Arial" panose="020B0604020202020204"/>
              </a:rPr>
              <a:t>tests and</a:t>
            </a:r>
            <a:r>
              <a:rPr sz="1700" spc="80" dirty="0">
                <a:solidFill>
                  <a:srgbClr val="545B67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50" dirty="0">
                <a:solidFill>
                  <a:srgbClr val="545B67"/>
                </a:solidFill>
                <a:latin typeface="Arial" panose="020B0604020202020204"/>
                <a:cs typeface="Arial" panose="020B0604020202020204"/>
              </a:rPr>
              <a:t>validation</a:t>
            </a:r>
            <a:r>
              <a:rPr sz="1700" spc="10" dirty="0">
                <a:solidFill>
                  <a:srgbClr val="545B67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65" dirty="0">
                <a:solidFill>
                  <a:srgbClr val="3F5470"/>
                </a:solidFill>
                <a:latin typeface="Arial" panose="020B0604020202020204"/>
                <a:cs typeface="Arial" panose="020B0604020202020204"/>
              </a:rPr>
              <a:t>loops</a:t>
            </a:r>
            <a:r>
              <a:rPr sz="1700" spc="15" dirty="0">
                <a:solidFill>
                  <a:srgbClr val="3F547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50" dirty="0">
                <a:solidFill>
                  <a:srgbClr val="545B67"/>
                </a:solidFill>
                <a:latin typeface="Arial" panose="020B0604020202020204"/>
                <a:cs typeface="Arial" panose="020B0604020202020204"/>
              </a:rPr>
              <a:t>at</a:t>
            </a:r>
            <a:r>
              <a:rPr sz="1700" spc="90" dirty="0">
                <a:solidFill>
                  <a:srgbClr val="545B67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120" dirty="0">
                <a:solidFill>
                  <a:srgbClr val="545B67"/>
                </a:solidFill>
                <a:latin typeface="Arial" panose="020B0604020202020204"/>
                <a:cs typeface="Arial" panose="020B0604020202020204"/>
              </a:rPr>
              <a:t>both</a:t>
            </a:r>
            <a:r>
              <a:rPr sz="1700" spc="-20" dirty="0">
                <a:solidFill>
                  <a:srgbClr val="545B67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545B67"/>
                </a:solidFill>
                <a:latin typeface="Arial" panose="020B0604020202020204"/>
                <a:cs typeface="Arial" panose="020B0604020202020204"/>
              </a:rPr>
              <a:t>client</a:t>
            </a:r>
            <a:r>
              <a:rPr sz="1700" spc="140" dirty="0">
                <a:solidFill>
                  <a:srgbClr val="545B67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35" dirty="0">
                <a:solidFill>
                  <a:srgbClr val="545B67"/>
                </a:solidFill>
                <a:latin typeface="Arial" panose="020B0604020202020204"/>
                <a:cs typeface="Arial" panose="020B0604020202020204"/>
              </a:rPr>
              <a:t>and </a:t>
            </a:r>
            <a:r>
              <a:rPr sz="1700" dirty="0">
                <a:solidFill>
                  <a:srgbClr val="545B67"/>
                </a:solidFill>
                <a:latin typeface="Arial" panose="020B0604020202020204"/>
                <a:cs typeface="Arial" panose="020B0604020202020204"/>
              </a:rPr>
              <a:t>server</a:t>
            </a:r>
            <a:r>
              <a:rPr sz="1700" spc="240" dirty="0">
                <a:solidFill>
                  <a:srgbClr val="545B67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60" dirty="0">
                <a:solidFill>
                  <a:srgbClr val="545B67"/>
                </a:solidFill>
                <a:latin typeface="Arial" panose="020B0604020202020204"/>
                <a:cs typeface="Arial" panose="020B0604020202020204"/>
              </a:rPr>
              <a:t>call</a:t>
            </a:r>
            <a:r>
              <a:rPr sz="1700" spc="10" dirty="0">
                <a:solidFill>
                  <a:srgbClr val="545B67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10" dirty="0">
                <a:solidFill>
                  <a:srgbClr val="545B67"/>
                </a:solidFill>
                <a:latin typeface="Arial" panose="020B0604020202020204"/>
                <a:cs typeface="Arial" panose="020B0604020202020204"/>
              </a:rPr>
              <a:t>boundaries.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837195" y="7257567"/>
            <a:ext cx="4425950" cy="7029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6985">
              <a:lnSpc>
                <a:spcPct val="139000"/>
              </a:lnSpc>
              <a:spcBef>
                <a:spcPts val="95"/>
              </a:spcBef>
            </a:pPr>
            <a:r>
              <a:rPr sz="1600" i="1" dirty="0">
                <a:solidFill>
                  <a:srgbClr val="777E89"/>
                </a:solidFill>
                <a:latin typeface="Arial" panose="020B0604020202020204"/>
                <a:cs typeface="Arial" panose="020B0604020202020204"/>
              </a:rPr>
              <a:t>Result:</a:t>
            </a:r>
            <a:r>
              <a:rPr sz="1600" i="1" spc="125" dirty="0">
                <a:solidFill>
                  <a:srgbClr val="777E8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i="1" spc="45" dirty="0">
                <a:solidFill>
                  <a:srgbClr val="777E89"/>
                </a:solidFill>
                <a:latin typeface="Arial" panose="020B0604020202020204"/>
                <a:cs typeface="Arial" panose="020B0604020202020204"/>
              </a:rPr>
              <a:t>Massive</a:t>
            </a:r>
            <a:r>
              <a:rPr sz="1600" i="1" spc="195" dirty="0">
                <a:solidFill>
                  <a:srgbClr val="777E8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i="1" spc="80" dirty="0">
                <a:solidFill>
                  <a:srgbClr val="777E89"/>
                </a:solidFill>
                <a:latin typeface="Arial" panose="020B0604020202020204"/>
                <a:cs typeface="Arial" panose="020B0604020202020204"/>
              </a:rPr>
              <a:t>code</a:t>
            </a:r>
            <a:r>
              <a:rPr sz="1600" i="1" spc="175" dirty="0">
                <a:solidFill>
                  <a:srgbClr val="777E8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i="1" spc="50" dirty="0">
                <a:solidFill>
                  <a:srgbClr val="777E89"/>
                </a:solidFill>
                <a:latin typeface="Arial" panose="020B0604020202020204"/>
                <a:cs typeface="Arial" panose="020B0604020202020204"/>
              </a:rPr>
              <a:t>bloat</a:t>
            </a:r>
            <a:r>
              <a:rPr sz="1600" i="1" spc="100" dirty="0">
                <a:solidFill>
                  <a:srgbClr val="777E8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i="1" dirty="0">
                <a:solidFill>
                  <a:srgbClr val="777E89"/>
                </a:solidFill>
                <a:latin typeface="Arial" panose="020B0604020202020204"/>
                <a:cs typeface="Arial" panose="020B0604020202020204"/>
              </a:rPr>
              <a:t>that</a:t>
            </a:r>
            <a:r>
              <a:rPr sz="1600" i="1" spc="85" dirty="0">
                <a:solidFill>
                  <a:srgbClr val="777E8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i="1" dirty="0">
                <a:solidFill>
                  <a:srgbClr val="777E89"/>
                </a:solidFill>
                <a:latin typeface="Arial" panose="020B0604020202020204"/>
                <a:cs typeface="Arial" panose="020B0604020202020204"/>
              </a:rPr>
              <a:t>masks</a:t>
            </a:r>
            <a:r>
              <a:rPr sz="1600" i="1" spc="135" dirty="0">
                <a:solidFill>
                  <a:srgbClr val="777E8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i="1" spc="-10" dirty="0">
                <a:solidFill>
                  <a:srgbClr val="777E89"/>
                </a:solidFill>
                <a:latin typeface="Arial" panose="020B0604020202020204"/>
                <a:cs typeface="Arial" panose="020B0604020202020204"/>
              </a:rPr>
              <a:t>critical</a:t>
            </a:r>
            <a:r>
              <a:rPr sz="1600" i="1" spc="-10" dirty="0">
                <a:solidFill>
                  <a:srgbClr val="777E8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i="1" spc="45" dirty="0">
                <a:solidFill>
                  <a:srgbClr val="777E89"/>
                </a:solidFill>
                <a:latin typeface="Arial" panose="020B0604020202020204"/>
                <a:cs typeface="Arial" panose="020B0604020202020204"/>
              </a:rPr>
              <a:t>architectural</a:t>
            </a:r>
            <a:r>
              <a:rPr sz="1600" i="1" spc="70" dirty="0">
                <a:solidFill>
                  <a:srgbClr val="777E89"/>
                </a:solidFill>
                <a:latin typeface="Arial" panose="020B0604020202020204"/>
                <a:cs typeface="Arial" panose="020B0604020202020204"/>
              </a:rPr>
              <a:t> design</a:t>
            </a:r>
            <a:r>
              <a:rPr sz="1600" i="1" spc="204" dirty="0">
                <a:solidFill>
                  <a:srgbClr val="777E8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i="1" spc="50" dirty="0">
                <a:solidFill>
                  <a:srgbClr val="777E89"/>
                </a:solidFill>
                <a:latin typeface="Arial" panose="020B0604020202020204"/>
                <a:cs typeface="Arial" panose="020B0604020202020204"/>
              </a:rPr>
              <a:t>flaws.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647382" y="1118337"/>
            <a:ext cx="361810" cy="51974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7588" y="4630575"/>
            <a:ext cx="660696" cy="51974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074531" y="4662074"/>
            <a:ext cx="487656" cy="44099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282065" y="4126573"/>
            <a:ext cx="0" cy="4583430"/>
          </a:xfrm>
          <a:custGeom>
            <a:avLst/>
            <a:gdLst/>
            <a:ahLst/>
            <a:cxnLst/>
            <a:rect l="l" t="t" r="r" b="b"/>
            <a:pathLst>
              <a:path h="4583430">
                <a:moveTo>
                  <a:pt x="0" y="4583238"/>
                </a:moveTo>
                <a:lnTo>
                  <a:pt x="0" y="0"/>
                </a:lnTo>
              </a:path>
            </a:pathLst>
          </a:custGeom>
          <a:ln w="5505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0563273" y="4126573"/>
            <a:ext cx="0" cy="4583430"/>
          </a:xfrm>
          <a:custGeom>
            <a:avLst/>
            <a:gdLst/>
            <a:ahLst/>
            <a:cxnLst/>
            <a:rect l="l" t="t" r="r" b="b"/>
            <a:pathLst>
              <a:path h="4583430">
                <a:moveTo>
                  <a:pt x="0" y="4583238"/>
                </a:moveTo>
                <a:lnTo>
                  <a:pt x="0" y="0"/>
                </a:lnTo>
              </a:path>
            </a:pathLst>
          </a:custGeom>
          <a:ln w="5505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242738" y="1834954"/>
            <a:ext cx="960119" cy="0"/>
          </a:xfrm>
          <a:custGeom>
            <a:avLst/>
            <a:gdLst/>
            <a:ahLst/>
            <a:cxnLst/>
            <a:rect l="l" t="t" r="r" b="b"/>
            <a:pathLst>
              <a:path w="960119">
                <a:moveTo>
                  <a:pt x="0" y="0"/>
                </a:moveTo>
                <a:lnTo>
                  <a:pt x="959582" y="0"/>
                </a:lnTo>
              </a:path>
            </a:pathLst>
          </a:custGeom>
          <a:ln w="551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5"/>
              </a:spcBef>
              <a:tabLst>
                <a:tab pos="4786630" algn="l"/>
              </a:tabLst>
            </a:pPr>
            <a:r>
              <a:rPr spc="400" dirty="0"/>
              <a:t>Re-</a:t>
            </a:r>
            <a:r>
              <a:rPr spc="330" dirty="0"/>
              <a:t>architectin</a:t>
            </a:r>
            <a:r>
              <a:rPr dirty="0"/>
              <a:t>	</a:t>
            </a:r>
            <a:r>
              <a:rPr b="0" spc="210" dirty="0">
                <a:latin typeface="Arial" panose="020B0604020202020204"/>
                <a:cs typeface="Arial" panose="020B0604020202020204"/>
              </a:rPr>
              <a:t>:</a:t>
            </a:r>
            <a:r>
              <a:rPr b="0" spc="-95" dirty="0">
                <a:latin typeface="Arial" panose="020B0604020202020204"/>
                <a:cs typeface="Arial" panose="020B0604020202020204"/>
              </a:rPr>
              <a:t> </a:t>
            </a:r>
            <a:r>
              <a:rPr spc="180" dirty="0"/>
              <a:t>The</a:t>
            </a:r>
            <a:r>
              <a:rPr spc="-229" dirty="0"/>
              <a:t> </a:t>
            </a:r>
            <a:r>
              <a:rPr spc="275" dirty="0"/>
              <a:t>Core</a:t>
            </a:r>
            <a:r>
              <a:rPr spc="20" dirty="0"/>
              <a:t> </a:t>
            </a:r>
            <a:r>
              <a:rPr spc="185" dirty="0"/>
              <a:t>Abstractions</a:t>
            </a:r>
            <a:endParaRPr spc="185" dirty="0"/>
          </a:p>
        </p:txBody>
      </p:sp>
      <p:sp>
        <p:nvSpPr>
          <p:cNvPr id="9" name="object 9"/>
          <p:cNvSpPr txBox="1"/>
          <p:nvPr/>
        </p:nvSpPr>
        <p:spPr>
          <a:xfrm>
            <a:off x="1769937" y="5523496"/>
            <a:ext cx="7079615" cy="1420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50" b="1" spc="80" dirty="0">
                <a:solidFill>
                  <a:srgbClr val="0E1526"/>
                </a:solidFill>
                <a:latin typeface="Arial" panose="020B0604020202020204"/>
                <a:cs typeface="Arial" panose="020B0604020202020204"/>
              </a:rPr>
              <a:t>HotWaterSource</a:t>
            </a:r>
            <a:endParaRPr sz="2850">
              <a:latin typeface="Arial" panose="020B0604020202020204"/>
              <a:cs typeface="Arial" panose="020B0604020202020204"/>
            </a:endParaRPr>
          </a:p>
          <a:p>
            <a:pPr marL="23495" marR="5080" indent="-3175">
              <a:lnSpc>
                <a:spcPct val="133000"/>
              </a:lnSpc>
              <a:spcBef>
                <a:spcPts val="1485"/>
              </a:spcBef>
            </a:pPr>
            <a:r>
              <a:rPr sz="1800" b="1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Conceptual</a:t>
            </a:r>
            <a:r>
              <a:rPr sz="1800" b="1" spc="27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Boundary:</a:t>
            </a:r>
            <a:r>
              <a:rPr sz="1800" b="1" spc="14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Encapsulates</a:t>
            </a:r>
            <a:r>
              <a:rPr sz="1900" spc="39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water</a:t>
            </a:r>
            <a:r>
              <a:rPr sz="1900" spc="22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spc="5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boiling</a:t>
            </a:r>
            <a:r>
              <a:rPr sz="1900" spc="4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1900" spc="3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spc="-1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delivery behavior.</a:t>
            </a:r>
            <a:endParaRPr sz="19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73949" y="7103217"/>
            <a:ext cx="7080250" cy="10966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 indent="1905">
              <a:lnSpc>
                <a:spcPct val="137000"/>
              </a:lnSpc>
              <a:spcBef>
                <a:spcPts val="155"/>
              </a:spcBef>
            </a:pPr>
            <a:r>
              <a:rPr sz="170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In</a:t>
            </a:r>
            <a:r>
              <a:rPr sz="1700" spc="12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1700" spc="29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9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Mark</a:t>
            </a:r>
            <a:r>
              <a:rPr sz="1700" spc="14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IV,</a:t>
            </a:r>
            <a:r>
              <a:rPr sz="1700" spc="-8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1700" spc="254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7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physical</a:t>
            </a:r>
            <a:r>
              <a:rPr sz="1700" spc="3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boiler</a:t>
            </a:r>
            <a:r>
              <a:rPr sz="1700" spc="20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sensor,</a:t>
            </a:r>
            <a:r>
              <a:rPr sz="1700" spc="10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6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valve</a:t>
            </a:r>
            <a:r>
              <a:rPr sz="1700" spc="4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mechanism,</a:t>
            </a:r>
            <a:r>
              <a:rPr sz="1700" spc="24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3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and </a:t>
            </a:r>
            <a:r>
              <a:rPr sz="1700" spc="5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heating</a:t>
            </a:r>
            <a:r>
              <a:rPr sz="1700" spc="16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coils</a:t>
            </a:r>
            <a:r>
              <a:rPr sz="1700" spc="6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are</a:t>
            </a:r>
            <a:r>
              <a:rPr sz="1700" spc="-1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4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unified</a:t>
            </a:r>
            <a:r>
              <a:rPr sz="1700" spc="11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5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behind</a:t>
            </a:r>
            <a:r>
              <a:rPr sz="1700" spc="16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5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this</a:t>
            </a:r>
            <a:r>
              <a:rPr sz="1700" spc="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6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logical</a:t>
            </a:r>
            <a:r>
              <a:rPr sz="1700" spc="-4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5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interface.</a:t>
            </a:r>
            <a:r>
              <a:rPr sz="1700" spc="8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It</a:t>
            </a:r>
            <a:r>
              <a:rPr sz="1700" spc="14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6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is</a:t>
            </a:r>
            <a:r>
              <a:rPr sz="1700" spc="-5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1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responsible </a:t>
            </a:r>
            <a:r>
              <a:rPr sz="170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1700" spc="21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5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heating,</a:t>
            </a:r>
            <a:r>
              <a:rPr sz="1700" spc="8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5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pausing,</a:t>
            </a:r>
            <a:r>
              <a:rPr sz="1700" spc="16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6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1700" spc="8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resuming</a:t>
            </a:r>
            <a:r>
              <a:rPr sz="1700" spc="21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boiling</a:t>
            </a:r>
            <a:r>
              <a:rPr sz="1700" spc="23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8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cycles</a:t>
            </a:r>
            <a:r>
              <a:rPr sz="1700" spc="5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3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cleanly</a:t>
            </a:r>
            <a:r>
              <a:rPr sz="1700" spc="35" dirty="0">
                <a:solidFill>
                  <a:srgbClr val="4B5989"/>
                </a:solidFill>
                <a:latin typeface="Arial" panose="020B0604020202020204"/>
                <a:cs typeface="Arial" panose="020B0604020202020204"/>
              </a:rPr>
              <a:t>.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052691" y="5523496"/>
            <a:ext cx="7088505" cy="1412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50" b="1" spc="90" dirty="0">
                <a:solidFill>
                  <a:srgbClr val="0E1526"/>
                </a:solidFill>
                <a:latin typeface="Arial" panose="020B0604020202020204"/>
                <a:cs typeface="Arial" panose="020B0604020202020204"/>
              </a:rPr>
              <a:t>ContainmentVessel</a:t>
            </a:r>
            <a:endParaRPr sz="2850">
              <a:latin typeface="Arial" panose="020B0604020202020204"/>
              <a:cs typeface="Arial" panose="020B0604020202020204"/>
            </a:endParaRPr>
          </a:p>
          <a:p>
            <a:pPr marL="19685" marR="5080" indent="-1905">
              <a:lnSpc>
                <a:spcPct val="131000"/>
              </a:lnSpc>
              <a:spcBef>
                <a:spcPts val="1550"/>
              </a:spcBef>
            </a:pPr>
            <a:r>
              <a:rPr sz="1800" b="1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Conceptual</a:t>
            </a:r>
            <a:r>
              <a:rPr sz="1800" b="1" spc="38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Boundary:</a:t>
            </a:r>
            <a:r>
              <a:rPr sz="1800" b="1" spc="229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Encapsulates</a:t>
            </a:r>
            <a:r>
              <a:rPr sz="1900" spc="-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190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warm-keeping</a:t>
            </a:r>
            <a:r>
              <a:rPr sz="1900" spc="22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1900" spc="9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spc="8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coffee </a:t>
            </a:r>
            <a:r>
              <a:rPr sz="190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containment</a:t>
            </a:r>
            <a:r>
              <a:rPr sz="1900" spc="2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1900" spc="-1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behavior.</a:t>
            </a:r>
            <a:endParaRPr sz="19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057080" y="7103217"/>
            <a:ext cx="6725920" cy="108902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5240" marR="5080" indent="-3175" algn="just">
              <a:lnSpc>
                <a:spcPct val="135000"/>
              </a:lnSpc>
              <a:spcBef>
                <a:spcPts val="185"/>
              </a:spcBef>
            </a:pPr>
            <a:r>
              <a:rPr sz="170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In</a:t>
            </a:r>
            <a:r>
              <a:rPr sz="1700" spc="7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1700" spc="229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9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Mark</a:t>
            </a:r>
            <a:r>
              <a:rPr sz="1700" spc="9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IV,</a:t>
            </a:r>
            <a:r>
              <a:rPr sz="1700" spc="-4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7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this</a:t>
            </a:r>
            <a:r>
              <a:rPr sz="1700" spc="-3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9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wraps</a:t>
            </a:r>
            <a:r>
              <a:rPr sz="170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6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1700" spc="16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warmer</a:t>
            </a:r>
            <a:r>
              <a:rPr sz="1700" spc="8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plate</a:t>
            </a:r>
            <a:r>
              <a:rPr sz="1700" spc="-3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8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1700" spc="12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sensor.</a:t>
            </a:r>
            <a:r>
              <a:rPr sz="1700" spc="4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It</a:t>
            </a:r>
            <a:r>
              <a:rPr sz="1700" spc="27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6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checks </a:t>
            </a:r>
            <a:r>
              <a:rPr sz="1700" spc="6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safety</a:t>
            </a:r>
            <a:r>
              <a:rPr sz="1700" spc="14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5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states,</a:t>
            </a:r>
            <a:r>
              <a:rPr sz="1700" spc="3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6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decides</a:t>
            </a:r>
            <a:r>
              <a:rPr sz="1700" spc="4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if</a:t>
            </a:r>
            <a:r>
              <a:rPr sz="1700" spc="17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6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coffee</a:t>
            </a:r>
            <a:r>
              <a:rPr sz="1700" spc="-2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6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is</a:t>
            </a:r>
            <a:r>
              <a:rPr sz="1700" spc="-6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7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ready</a:t>
            </a:r>
            <a:r>
              <a:rPr sz="1700" spc="13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5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or</a:t>
            </a:r>
            <a:r>
              <a:rPr sz="1700" spc="3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6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empty,</a:t>
            </a:r>
            <a:r>
              <a:rPr sz="1700" spc="6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6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1700" spc="9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signals</a:t>
            </a:r>
            <a:r>
              <a:rPr sz="1700" spc="9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2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the </a:t>
            </a:r>
            <a:r>
              <a:rPr sz="1700" spc="4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HotWaterSource</a:t>
            </a:r>
            <a:r>
              <a:rPr sz="1700" spc="-1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6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when</a:t>
            </a:r>
            <a:r>
              <a:rPr sz="1700" spc="-2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1700" spc="12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50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halt</a:t>
            </a:r>
            <a:r>
              <a:rPr sz="1700" spc="10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65" dirty="0">
                <a:solidFill>
                  <a:srgbClr val="545762"/>
                </a:solidFill>
                <a:latin typeface="Arial" panose="020B0604020202020204"/>
                <a:cs typeface="Arial" panose="020B0604020202020204"/>
              </a:rPr>
              <a:t>extraction</a:t>
            </a:r>
            <a:r>
              <a:rPr sz="1700" spc="65" dirty="0">
                <a:solidFill>
                  <a:srgbClr val="2D4656"/>
                </a:solidFill>
                <a:latin typeface="Arial" panose="020B0604020202020204"/>
                <a:cs typeface="Arial" panose="020B0604020202020204"/>
              </a:rPr>
              <a:t>.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570907" y="1118337"/>
            <a:ext cx="361810" cy="51974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05756" y="976588"/>
            <a:ext cx="9060980" cy="66149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85476" y="5323572"/>
            <a:ext cx="582042" cy="149624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03482" y="5292073"/>
            <a:ext cx="1116891" cy="155924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609144" y="5292073"/>
            <a:ext cx="1164083" cy="152774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914806" y="5355072"/>
            <a:ext cx="849466" cy="755997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242738" y="1834954"/>
            <a:ext cx="960119" cy="0"/>
          </a:xfrm>
          <a:custGeom>
            <a:avLst/>
            <a:gdLst/>
            <a:ahLst/>
            <a:cxnLst/>
            <a:rect l="l" t="t" r="r" b="b"/>
            <a:pathLst>
              <a:path w="960119">
                <a:moveTo>
                  <a:pt x="0" y="0"/>
                </a:moveTo>
                <a:lnTo>
                  <a:pt x="959582" y="0"/>
                </a:lnTo>
              </a:path>
            </a:pathLst>
          </a:custGeom>
          <a:ln w="551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5"/>
              </a:spcBef>
            </a:pPr>
            <a:r>
              <a:rPr spc="100" dirty="0"/>
              <a:t>lnvert</a:t>
            </a:r>
            <a:r>
              <a:rPr spc="-1140" dirty="0"/>
              <a:t>1</a:t>
            </a:r>
            <a:r>
              <a:rPr sz="4950" b="0" spc="270" baseline="35000" dirty="0">
                <a:latin typeface="Arial" panose="020B0604020202020204"/>
                <a:cs typeface="Arial" panose="020B0604020202020204"/>
              </a:rPr>
              <a:t>•</a:t>
            </a:r>
            <a:r>
              <a:rPr sz="4450" spc="100" dirty="0"/>
              <a:t>n</a:t>
            </a:r>
            <a:endParaRPr sz="4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767506" y="4464312"/>
            <a:ext cx="8801735" cy="483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000" b="1" spc="90" dirty="0">
                <a:solidFill>
                  <a:srgbClr val="0E1526"/>
                </a:solidFill>
                <a:latin typeface="Arial" panose="020B0604020202020204"/>
                <a:cs typeface="Arial" panose="020B0604020202020204"/>
              </a:rPr>
              <a:t>Software</a:t>
            </a:r>
            <a:r>
              <a:rPr sz="3000" b="1" spc="55" dirty="0">
                <a:solidFill>
                  <a:srgbClr val="0E152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000" b="1" dirty="0">
                <a:solidFill>
                  <a:srgbClr val="0E1526"/>
                </a:solidFill>
                <a:latin typeface="Arial" panose="020B0604020202020204"/>
                <a:cs typeface="Arial" panose="020B0604020202020204"/>
              </a:rPr>
              <a:t>Associations</a:t>
            </a:r>
            <a:r>
              <a:rPr sz="3000" b="1" spc="114" dirty="0">
                <a:solidFill>
                  <a:srgbClr val="0E152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000" b="1" dirty="0">
                <a:solidFill>
                  <a:srgbClr val="0E1526"/>
                </a:solidFill>
                <a:latin typeface="Arial" panose="020B0604020202020204"/>
                <a:cs typeface="Arial" panose="020B0604020202020204"/>
              </a:rPr>
              <a:t>are</a:t>
            </a:r>
            <a:r>
              <a:rPr sz="3000" b="1" spc="470" dirty="0">
                <a:solidFill>
                  <a:srgbClr val="0E152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000" b="1" dirty="0">
                <a:solidFill>
                  <a:srgbClr val="0E1526"/>
                </a:solidFill>
                <a:latin typeface="Arial" panose="020B0604020202020204"/>
                <a:cs typeface="Arial" panose="020B0604020202020204"/>
              </a:rPr>
              <a:t>NOT</a:t>
            </a:r>
            <a:r>
              <a:rPr sz="3000" b="1" spc="65" dirty="0">
                <a:solidFill>
                  <a:srgbClr val="0E152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000" b="1" spc="55" dirty="0">
                <a:solidFill>
                  <a:srgbClr val="0E1526"/>
                </a:solidFill>
                <a:latin typeface="Arial" panose="020B0604020202020204"/>
                <a:cs typeface="Arial" panose="020B0604020202020204"/>
              </a:rPr>
              <a:t>Physical</a:t>
            </a:r>
            <a:r>
              <a:rPr sz="3000" b="1" spc="185" dirty="0">
                <a:solidFill>
                  <a:srgbClr val="0E152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000" b="1" spc="-10" dirty="0">
                <a:solidFill>
                  <a:srgbClr val="0E1526"/>
                </a:solidFill>
                <a:latin typeface="Arial" panose="020B0604020202020204"/>
                <a:cs typeface="Arial" panose="020B0604020202020204"/>
              </a:rPr>
              <a:t>Flows</a:t>
            </a:r>
            <a:endParaRPr sz="3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764553" y="5157310"/>
            <a:ext cx="9325610" cy="188404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 indent="635" algn="just">
              <a:lnSpc>
                <a:spcPct val="132000"/>
              </a:lnSpc>
              <a:spcBef>
                <a:spcPts val="155"/>
              </a:spcBef>
            </a:pPr>
            <a:r>
              <a:rPr sz="2000" dirty="0">
                <a:solidFill>
                  <a:srgbClr val="3F4854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000" spc="185" dirty="0">
                <a:solidFill>
                  <a:srgbClr val="3F485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spc="70" dirty="0">
                <a:solidFill>
                  <a:srgbClr val="3F4854"/>
                </a:solidFill>
                <a:latin typeface="Arial" panose="020B0604020202020204"/>
                <a:cs typeface="Arial" panose="020B0604020202020204"/>
              </a:rPr>
              <a:t>common</a:t>
            </a:r>
            <a:r>
              <a:rPr sz="2000" spc="185" dirty="0">
                <a:solidFill>
                  <a:srgbClr val="3F485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3F4854"/>
                </a:solidFill>
                <a:latin typeface="Arial" panose="020B0604020202020204"/>
                <a:cs typeface="Arial" panose="020B0604020202020204"/>
              </a:rPr>
              <a:t>beginner</a:t>
            </a:r>
            <a:r>
              <a:rPr sz="2000" spc="295" dirty="0">
                <a:solidFill>
                  <a:srgbClr val="3F485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3F4854"/>
                </a:solidFill>
                <a:latin typeface="Arial" panose="020B0604020202020204"/>
                <a:cs typeface="Arial" panose="020B0604020202020204"/>
              </a:rPr>
              <a:t>mistake</a:t>
            </a:r>
            <a:r>
              <a:rPr sz="2000" spc="310" dirty="0">
                <a:solidFill>
                  <a:srgbClr val="3F485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3F4854"/>
                </a:solidFill>
                <a:latin typeface="Arial" panose="020B0604020202020204"/>
                <a:cs typeface="Arial" panose="020B0604020202020204"/>
              </a:rPr>
              <a:t>(called</a:t>
            </a:r>
            <a:r>
              <a:rPr sz="2000" spc="370" dirty="0">
                <a:solidFill>
                  <a:srgbClr val="3F485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b="1" dirty="0">
                <a:solidFill>
                  <a:srgbClr val="3F4854"/>
                </a:solidFill>
                <a:latin typeface="Arial" panose="020B0604020202020204"/>
                <a:cs typeface="Arial" panose="020B0604020202020204"/>
              </a:rPr>
              <a:t>"Crossed</a:t>
            </a:r>
            <a:r>
              <a:rPr sz="1900" b="1" spc="190" dirty="0">
                <a:solidFill>
                  <a:srgbClr val="3F485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b="1" dirty="0">
                <a:solidFill>
                  <a:srgbClr val="3F4854"/>
                </a:solidFill>
                <a:latin typeface="Arial" panose="020B0604020202020204"/>
                <a:cs typeface="Arial" panose="020B0604020202020204"/>
              </a:rPr>
              <a:t>Wires")</a:t>
            </a:r>
            <a:r>
              <a:rPr sz="1900" b="1" spc="370" dirty="0">
                <a:solidFill>
                  <a:srgbClr val="3F485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3F4854"/>
                </a:solidFill>
                <a:latin typeface="Arial" panose="020B0604020202020204"/>
                <a:cs typeface="Arial" panose="020B0604020202020204"/>
              </a:rPr>
              <a:t>is</a:t>
            </a:r>
            <a:r>
              <a:rPr sz="2000" spc="235" dirty="0">
                <a:solidFill>
                  <a:srgbClr val="3F485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spc="55" dirty="0">
                <a:solidFill>
                  <a:srgbClr val="3F4854"/>
                </a:solidFill>
                <a:latin typeface="Arial" panose="020B0604020202020204"/>
                <a:cs typeface="Arial" panose="020B0604020202020204"/>
              </a:rPr>
              <a:t>drawing</a:t>
            </a:r>
            <a:r>
              <a:rPr sz="2000" spc="275" dirty="0">
                <a:solidFill>
                  <a:srgbClr val="3F485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spc="-10" dirty="0">
                <a:solidFill>
                  <a:srgbClr val="3F4854"/>
                </a:solidFill>
                <a:latin typeface="Arial" panose="020B0604020202020204"/>
                <a:cs typeface="Arial" panose="020B0604020202020204"/>
              </a:rPr>
              <a:t>dependency </a:t>
            </a:r>
            <a:r>
              <a:rPr sz="2000" spc="50" dirty="0">
                <a:solidFill>
                  <a:srgbClr val="3F4854"/>
                </a:solidFill>
                <a:latin typeface="Arial" panose="020B0604020202020204"/>
                <a:cs typeface="Arial" panose="020B0604020202020204"/>
              </a:rPr>
              <a:t>directions</a:t>
            </a:r>
            <a:r>
              <a:rPr sz="2000" spc="135" dirty="0">
                <a:solidFill>
                  <a:srgbClr val="3F485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spc="114" dirty="0">
                <a:solidFill>
                  <a:srgbClr val="3F4854"/>
                </a:solidFill>
                <a:latin typeface="Arial" panose="020B0604020202020204"/>
                <a:cs typeface="Arial" panose="020B0604020202020204"/>
              </a:rPr>
              <a:t>from</a:t>
            </a:r>
            <a:r>
              <a:rPr sz="2000" spc="90" dirty="0">
                <a:solidFill>
                  <a:srgbClr val="3F485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3F4854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2000" spc="55" dirty="0">
                <a:solidFill>
                  <a:srgbClr val="3F485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3F4854"/>
                </a:solidFill>
                <a:latin typeface="Arial" panose="020B0604020202020204"/>
                <a:cs typeface="Arial" panose="020B0604020202020204"/>
              </a:rPr>
              <a:t>Water</a:t>
            </a:r>
            <a:r>
              <a:rPr sz="2000" spc="265" dirty="0">
                <a:solidFill>
                  <a:srgbClr val="3F485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3F4854"/>
                </a:solidFill>
                <a:latin typeface="Arial" panose="020B0604020202020204"/>
                <a:cs typeface="Arial" panose="020B0604020202020204"/>
              </a:rPr>
              <a:t>Source</a:t>
            </a:r>
            <a:r>
              <a:rPr sz="2000" spc="110" dirty="0">
                <a:solidFill>
                  <a:srgbClr val="3F485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3F4854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2000" spc="265" dirty="0">
                <a:solidFill>
                  <a:srgbClr val="3F485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3F4854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2000" spc="75" dirty="0">
                <a:solidFill>
                  <a:srgbClr val="3F485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3F4854"/>
                </a:solidFill>
                <a:latin typeface="Arial" panose="020B0604020202020204"/>
                <a:cs typeface="Arial" panose="020B0604020202020204"/>
              </a:rPr>
              <a:t>Vessel,</a:t>
            </a:r>
            <a:r>
              <a:rPr sz="2000" spc="229" dirty="0">
                <a:solidFill>
                  <a:srgbClr val="3F485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3F4854"/>
                </a:solidFill>
                <a:latin typeface="Arial" panose="020B0604020202020204"/>
                <a:cs typeface="Arial" panose="020B0604020202020204"/>
              </a:rPr>
              <a:t>because</a:t>
            </a:r>
            <a:r>
              <a:rPr sz="2000" spc="155" dirty="0">
                <a:solidFill>
                  <a:srgbClr val="3F485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3F4854"/>
                </a:solidFill>
                <a:latin typeface="Arial" panose="020B0604020202020204"/>
                <a:cs typeface="Arial" panose="020B0604020202020204"/>
              </a:rPr>
              <a:t>physical</a:t>
            </a:r>
            <a:r>
              <a:rPr sz="2000" spc="229" dirty="0">
                <a:solidFill>
                  <a:srgbClr val="3F485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spc="75" dirty="0">
                <a:solidFill>
                  <a:srgbClr val="3F4854"/>
                </a:solidFill>
                <a:latin typeface="Arial" panose="020B0604020202020204"/>
                <a:cs typeface="Arial" panose="020B0604020202020204"/>
              </a:rPr>
              <a:t>coffee </a:t>
            </a:r>
            <a:r>
              <a:rPr sz="2000" spc="105" dirty="0">
                <a:solidFill>
                  <a:srgbClr val="3F4854"/>
                </a:solidFill>
                <a:latin typeface="Arial" panose="020B0604020202020204"/>
                <a:cs typeface="Arial" panose="020B0604020202020204"/>
              </a:rPr>
              <a:t>flows </a:t>
            </a:r>
            <a:r>
              <a:rPr sz="2000" spc="60" dirty="0">
                <a:solidFill>
                  <a:srgbClr val="3F4854"/>
                </a:solidFill>
                <a:latin typeface="Arial" panose="020B0604020202020204"/>
                <a:cs typeface="Arial" panose="020B0604020202020204"/>
              </a:rPr>
              <a:t>downward.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2000">
              <a:latin typeface="Arial" panose="020B0604020202020204"/>
              <a:cs typeface="Arial" panose="020B0604020202020204"/>
            </a:endParaRPr>
          </a:p>
          <a:p>
            <a:pPr marL="15240" algn="just">
              <a:lnSpc>
                <a:spcPct val="100000"/>
              </a:lnSpc>
            </a:pPr>
            <a:r>
              <a:rPr sz="2000" spc="65" dirty="0">
                <a:solidFill>
                  <a:srgbClr val="3F4854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2000" spc="-140" dirty="0">
                <a:solidFill>
                  <a:srgbClr val="3F485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3F4854"/>
                </a:solidFill>
                <a:latin typeface="Arial" panose="020B0604020202020204"/>
                <a:cs typeface="Arial" panose="020B0604020202020204"/>
              </a:rPr>
              <a:t>Rule:</a:t>
            </a:r>
            <a:r>
              <a:rPr sz="2000" spc="75" dirty="0">
                <a:solidFill>
                  <a:srgbClr val="3F485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spc="65" dirty="0">
                <a:solidFill>
                  <a:srgbClr val="3F4854"/>
                </a:solidFill>
                <a:latin typeface="Arial" panose="020B0604020202020204"/>
                <a:cs typeface="Arial" panose="020B0604020202020204"/>
              </a:rPr>
              <a:t>Associations</a:t>
            </a:r>
            <a:r>
              <a:rPr sz="2000" spc="204" dirty="0">
                <a:solidFill>
                  <a:srgbClr val="3F485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3F4854"/>
                </a:solidFill>
                <a:latin typeface="Arial" panose="020B0604020202020204"/>
                <a:cs typeface="Arial" panose="020B0604020202020204"/>
              </a:rPr>
              <a:t>map</a:t>
            </a:r>
            <a:r>
              <a:rPr sz="2000" spc="70" dirty="0">
                <a:solidFill>
                  <a:srgbClr val="3F485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spc="90" dirty="0">
                <a:solidFill>
                  <a:srgbClr val="3F4854"/>
                </a:solidFill>
                <a:latin typeface="Arial" panose="020B0604020202020204"/>
                <a:cs typeface="Arial" panose="020B0604020202020204"/>
              </a:rPr>
              <a:t>control</a:t>
            </a:r>
            <a:r>
              <a:rPr sz="2000" spc="5" dirty="0">
                <a:solidFill>
                  <a:srgbClr val="3F485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3F4854"/>
                </a:solidFill>
                <a:latin typeface="Arial" panose="020B0604020202020204"/>
                <a:cs typeface="Arial" panose="020B0604020202020204"/>
              </a:rPr>
              <a:t>messages,</a:t>
            </a:r>
            <a:r>
              <a:rPr sz="2000" spc="110" dirty="0">
                <a:solidFill>
                  <a:srgbClr val="3F485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3F4854"/>
                </a:solidFill>
                <a:latin typeface="Arial" panose="020B0604020202020204"/>
                <a:cs typeface="Arial" panose="020B0604020202020204"/>
              </a:rPr>
              <a:t>not</a:t>
            </a:r>
            <a:r>
              <a:rPr sz="2000" spc="200" dirty="0">
                <a:solidFill>
                  <a:srgbClr val="3F485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spc="75" dirty="0">
                <a:solidFill>
                  <a:srgbClr val="3F4854"/>
                </a:solidFill>
                <a:latin typeface="Arial" panose="020B0604020202020204"/>
                <a:cs typeface="Arial" panose="020B0604020202020204"/>
              </a:rPr>
              <a:t>physical</a:t>
            </a:r>
            <a:r>
              <a:rPr sz="2000" spc="25" dirty="0">
                <a:solidFill>
                  <a:srgbClr val="3F485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spc="60" dirty="0">
                <a:solidFill>
                  <a:srgbClr val="3F4854"/>
                </a:solidFill>
                <a:latin typeface="Arial" panose="020B0604020202020204"/>
                <a:cs typeface="Arial" panose="020B0604020202020204"/>
              </a:rPr>
              <a:t>liquids.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30305" y="7338679"/>
            <a:ext cx="4152265" cy="398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50" b="1" spc="100" dirty="0">
                <a:solidFill>
                  <a:srgbClr val="0E1526"/>
                </a:solidFill>
                <a:latin typeface="Arial" panose="020B0604020202020204"/>
                <a:cs typeface="Arial" panose="020B0604020202020204"/>
              </a:rPr>
              <a:t>INVERSION</a:t>
            </a:r>
            <a:r>
              <a:rPr sz="2450" b="1" spc="305" dirty="0">
                <a:solidFill>
                  <a:srgbClr val="0E152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50" b="1" dirty="0">
                <a:solidFill>
                  <a:srgbClr val="0E1526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2450" b="1" spc="175" dirty="0">
                <a:solidFill>
                  <a:srgbClr val="0E152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50" b="1" spc="50" dirty="0">
                <a:solidFill>
                  <a:srgbClr val="0E1526"/>
                </a:solidFill>
                <a:latin typeface="Arial" panose="020B0604020202020204"/>
                <a:cs typeface="Arial" panose="020B0604020202020204"/>
              </a:rPr>
              <a:t>CONTROL</a:t>
            </a:r>
            <a:endParaRPr sz="2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761349" y="7169367"/>
            <a:ext cx="9599930" cy="11518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 indent="5715">
              <a:lnSpc>
                <a:spcPct val="133000"/>
              </a:lnSpc>
              <a:spcBef>
                <a:spcPts val="125"/>
              </a:spcBef>
            </a:pPr>
            <a:r>
              <a:rPr sz="1850" spc="70" dirty="0">
                <a:solidFill>
                  <a:srgbClr val="6E7582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1850" spc="5" dirty="0">
                <a:solidFill>
                  <a:srgbClr val="6E758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50" spc="50" dirty="0">
                <a:solidFill>
                  <a:srgbClr val="6E7582"/>
                </a:solidFill>
                <a:latin typeface="Arial" panose="020B0604020202020204"/>
                <a:cs typeface="Arial" panose="020B0604020202020204"/>
              </a:rPr>
              <a:t>ContainmentVessel</a:t>
            </a:r>
            <a:r>
              <a:rPr sz="1850" spc="5" dirty="0">
                <a:solidFill>
                  <a:srgbClr val="6E758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50" spc="75" dirty="0">
                <a:solidFill>
                  <a:srgbClr val="6E7582"/>
                </a:solidFill>
                <a:latin typeface="Arial" panose="020B0604020202020204"/>
                <a:cs typeface="Arial" panose="020B0604020202020204"/>
              </a:rPr>
              <a:t>must</a:t>
            </a:r>
            <a:r>
              <a:rPr sz="1850" spc="70" dirty="0">
                <a:solidFill>
                  <a:srgbClr val="6E758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50" spc="80" dirty="0">
                <a:solidFill>
                  <a:srgbClr val="6E7582"/>
                </a:solidFill>
                <a:latin typeface="Arial" panose="020B0604020202020204"/>
                <a:cs typeface="Arial" panose="020B0604020202020204"/>
              </a:rPr>
              <a:t>query</a:t>
            </a:r>
            <a:r>
              <a:rPr sz="1850" spc="-30" dirty="0">
                <a:solidFill>
                  <a:srgbClr val="6E758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50" dirty="0">
                <a:solidFill>
                  <a:srgbClr val="6E7582"/>
                </a:solidFill>
                <a:latin typeface="Arial" panose="020B0604020202020204"/>
                <a:cs typeface="Arial" panose="020B0604020202020204"/>
              </a:rPr>
              <a:t>if</a:t>
            </a:r>
            <a:r>
              <a:rPr sz="1850" spc="295" dirty="0">
                <a:solidFill>
                  <a:srgbClr val="6E758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50" spc="70" dirty="0">
                <a:solidFill>
                  <a:srgbClr val="6E7582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1850" spc="85" dirty="0">
                <a:solidFill>
                  <a:srgbClr val="6E758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50" spc="65" dirty="0">
                <a:solidFill>
                  <a:srgbClr val="6E7582"/>
                </a:solidFill>
                <a:latin typeface="Arial" panose="020B0604020202020204"/>
                <a:cs typeface="Arial" panose="020B0604020202020204"/>
              </a:rPr>
              <a:t>system</a:t>
            </a:r>
            <a:r>
              <a:rPr sz="1850" spc="-30" dirty="0">
                <a:solidFill>
                  <a:srgbClr val="6E758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50" dirty="0">
                <a:solidFill>
                  <a:srgbClr val="6E7582"/>
                </a:solidFill>
                <a:latin typeface="Arial" panose="020B0604020202020204"/>
                <a:cs typeface="Arial" panose="020B0604020202020204"/>
              </a:rPr>
              <a:t>is</a:t>
            </a:r>
            <a:r>
              <a:rPr sz="1850" spc="70" dirty="0">
                <a:solidFill>
                  <a:srgbClr val="6E7582"/>
                </a:solidFill>
                <a:latin typeface="Arial" panose="020B0604020202020204"/>
                <a:cs typeface="Arial" panose="020B0604020202020204"/>
              </a:rPr>
              <a:t> ready</a:t>
            </a:r>
            <a:r>
              <a:rPr sz="1850" spc="5" dirty="0">
                <a:solidFill>
                  <a:srgbClr val="6E758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50" dirty="0">
                <a:solidFill>
                  <a:srgbClr val="6E7582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1850" spc="-10" dirty="0">
                <a:solidFill>
                  <a:srgbClr val="6E758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50" spc="75" dirty="0">
                <a:solidFill>
                  <a:srgbClr val="6E7582"/>
                </a:solidFill>
                <a:latin typeface="Arial" panose="020B0604020202020204"/>
                <a:cs typeface="Arial" panose="020B0604020202020204"/>
              </a:rPr>
              <a:t>send</a:t>
            </a:r>
            <a:r>
              <a:rPr sz="1850" spc="-5" dirty="0">
                <a:solidFill>
                  <a:srgbClr val="6E758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50" spc="40" dirty="0">
                <a:solidFill>
                  <a:srgbClr val="6E7582"/>
                </a:solidFill>
                <a:latin typeface="Arial" panose="020B0604020202020204"/>
                <a:cs typeface="Arial" panose="020B0604020202020204"/>
              </a:rPr>
              <a:t>pause/resume </a:t>
            </a:r>
            <a:r>
              <a:rPr sz="1850" spc="80" dirty="0">
                <a:solidFill>
                  <a:srgbClr val="6E7582"/>
                </a:solidFill>
                <a:latin typeface="Arial" panose="020B0604020202020204"/>
                <a:cs typeface="Arial" panose="020B0604020202020204"/>
              </a:rPr>
              <a:t>triggers</a:t>
            </a:r>
            <a:r>
              <a:rPr sz="1850" spc="25" dirty="0">
                <a:solidFill>
                  <a:srgbClr val="6E758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50" spc="85" dirty="0">
                <a:solidFill>
                  <a:srgbClr val="6E7582"/>
                </a:solidFill>
                <a:latin typeface="Arial" panose="020B0604020202020204"/>
                <a:cs typeface="Arial" panose="020B0604020202020204"/>
              </a:rPr>
              <a:t>back</a:t>
            </a:r>
            <a:r>
              <a:rPr sz="1850" spc="-50" dirty="0">
                <a:solidFill>
                  <a:srgbClr val="6E758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50" spc="65" dirty="0">
                <a:solidFill>
                  <a:srgbClr val="6E7582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1850" spc="45" dirty="0">
                <a:solidFill>
                  <a:srgbClr val="6E758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50" spc="70" dirty="0">
                <a:solidFill>
                  <a:srgbClr val="6E7582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1850" spc="30" dirty="0">
                <a:solidFill>
                  <a:srgbClr val="6E758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50" spc="70" dirty="0">
                <a:solidFill>
                  <a:srgbClr val="6E7582"/>
                </a:solidFill>
                <a:latin typeface="Arial" panose="020B0604020202020204"/>
                <a:cs typeface="Arial" panose="020B0604020202020204"/>
              </a:rPr>
              <a:t>HotWaterSource.</a:t>
            </a:r>
            <a:r>
              <a:rPr sz="1850" spc="-95" dirty="0">
                <a:solidFill>
                  <a:srgbClr val="6E758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50" spc="85" dirty="0">
                <a:solidFill>
                  <a:srgbClr val="6E7582"/>
                </a:solidFill>
                <a:latin typeface="Arial" panose="020B0604020202020204"/>
                <a:cs typeface="Arial" panose="020B0604020202020204"/>
              </a:rPr>
              <a:t>Therefore,</a:t>
            </a:r>
            <a:r>
              <a:rPr sz="1850" spc="-80" dirty="0">
                <a:solidFill>
                  <a:srgbClr val="6E758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50" spc="90" dirty="0">
                <a:solidFill>
                  <a:srgbClr val="6E7582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1850" spc="70" dirty="0">
                <a:solidFill>
                  <a:srgbClr val="6E758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50" spc="80" dirty="0">
                <a:solidFill>
                  <a:srgbClr val="6E7582"/>
                </a:solidFill>
                <a:latin typeface="Arial" panose="020B0604020202020204"/>
                <a:cs typeface="Arial" panose="020B0604020202020204"/>
              </a:rPr>
              <a:t>dependency</a:t>
            </a:r>
            <a:r>
              <a:rPr sz="1850" spc="90" dirty="0">
                <a:solidFill>
                  <a:srgbClr val="6E758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50" spc="55" dirty="0">
                <a:solidFill>
                  <a:srgbClr val="6E7582"/>
                </a:solidFill>
                <a:latin typeface="Arial" panose="020B0604020202020204"/>
                <a:cs typeface="Arial" panose="020B0604020202020204"/>
              </a:rPr>
              <a:t>must</a:t>
            </a:r>
            <a:r>
              <a:rPr sz="1850" spc="70" dirty="0">
                <a:solidFill>
                  <a:srgbClr val="6E7582"/>
                </a:solidFill>
                <a:latin typeface="Arial" panose="020B0604020202020204"/>
                <a:cs typeface="Arial" panose="020B0604020202020204"/>
              </a:rPr>
              <a:t> logically</a:t>
            </a:r>
            <a:r>
              <a:rPr sz="1850" spc="30" dirty="0">
                <a:solidFill>
                  <a:srgbClr val="6E758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50" spc="55" dirty="0">
                <a:solidFill>
                  <a:srgbClr val="6E7582"/>
                </a:solidFill>
                <a:latin typeface="Arial" panose="020B0604020202020204"/>
                <a:cs typeface="Arial" panose="020B0604020202020204"/>
              </a:rPr>
              <a:t>point </a:t>
            </a:r>
            <a:r>
              <a:rPr sz="1850" spc="60" dirty="0">
                <a:solidFill>
                  <a:srgbClr val="6E7582"/>
                </a:solidFill>
                <a:latin typeface="Arial" panose="020B0604020202020204"/>
                <a:cs typeface="Arial" panose="020B0604020202020204"/>
              </a:rPr>
              <a:t>upstream</a:t>
            </a:r>
            <a:r>
              <a:rPr sz="1850" spc="60" dirty="0">
                <a:solidFill>
                  <a:srgbClr val="5B5E67"/>
                </a:solidFill>
                <a:latin typeface="Arial" panose="020B0604020202020204"/>
                <a:cs typeface="Arial" panose="020B0604020202020204"/>
              </a:rPr>
              <a:t>.</a:t>
            </a:r>
            <a:endParaRPr sz="185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303482" y="1118337"/>
            <a:ext cx="361810" cy="50399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46268" y="1118337"/>
            <a:ext cx="346079" cy="50399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027342" y="992333"/>
            <a:ext cx="912390" cy="62999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128496" y="897836"/>
            <a:ext cx="204501" cy="69299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324047" y="897836"/>
            <a:ext cx="220232" cy="6929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42738" y="6882818"/>
            <a:ext cx="267424" cy="1889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42738" y="7827815"/>
            <a:ext cx="267424" cy="1889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523954" y="3417830"/>
            <a:ext cx="8353088" cy="6000733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242738" y="1834954"/>
            <a:ext cx="960119" cy="0"/>
          </a:xfrm>
          <a:custGeom>
            <a:avLst/>
            <a:gdLst/>
            <a:ahLst/>
            <a:cxnLst/>
            <a:rect l="l" t="t" r="r" b="b"/>
            <a:pathLst>
              <a:path w="960119">
                <a:moveTo>
                  <a:pt x="0" y="0"/>
                </a:moveTo>
                <a:lnTo>
                  <a:pt x="959582" y="0"/>
                </a:lnTo>
              </a:path>
            </a:pathLst>
          </a:custGeom>
          <a:ln w="551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1241349" y="885134"/>
            <a:ext cx="20097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204" dirty="0">
                <a:solidFill>
                  <a:srgbClr val="0F1626"/>
                </a:solidFill>
              </a:rPr>
              <a:t>The</a:t>
            </a:r>
            <a:r>
              <a:rPr sz="4400" spc="-245" dirty="0">
                <a:solidFill>
                  <a:srgbClr val="0F1626"/>
                </a:solidFill>
              </a:rPr>
              <a:t> </a:t>
            </a:r>
            <a:r>
              <a:rPr sz="4400" spc="195" dirty="0">
                <a:solidFill>
                  <a:srgbClr val="0F1626"/>
                </a:solidFill>
              </a:rPr>
              <a:t>De</a:t>
            </a:r>
            <a:endParaRPr sz="4400"/>
          </a:p>
        </p:txBody>
      </p:sp>
      <p:sp>
        <p:nvSpPr>
          <p:cNvPr id="12" name="object 12"/>
          <p:cNvSpPr txBox="1"/>
          <p:nvPr/>
        </p:nvSpPr>
        <p:spPr>
          <a:xfrm>
            <a:off x="3658318" y="885134"/>
            <a:ext cx="227330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spc="340" dirty="0">
                <a:solidFill>
                  <a:srgbClr val="0F1626"/>
                </a:solidFill>
                <a:latin typeface="Arial" panose="020B0604020202020204"/>
                <a:cs typeface="Arial" panose="020B0604020202020204"/>
              </a:rPr>
              <a:t>endenc</a:t>
            </a:r>
            <a:endParaRPr sz="4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381447" y="885134"/>
            <a:ext cx="464502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4400" b="1" spc="175" dirty="0">
                <a:solidFill>
                  <a:srgbClr val="0F1626"/>
                </a:solidFill>
                <a:latin typeface="Arial" panose="020B0604020202020204"/>
                <a:cs typeface="Arial" panose="020B0604020202020204"/>
              </a:rPr>
              <a:t>Invers</a:t>
            </a:r>
            <a:r>
              <a:rPr sz="4400" b="1" spc="-755" dirty="0">
                <a:solidFill>
                  <a:srgbClr val="0F1626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4800" spc="-104" baseline="37000" dirty="0">
                <a:solidFill>
                  <a:srgbClr val="0F1626"/>
                </a:solidFill>
                <a:latin typeface="Arial" panose="020B0604020202020204"/>
                <a:cs typeface="Arial" panose="020B0604020202020204"/>
              </a:rPr>
              <a:t>•</a:t>
            </a:r>
            <a:r>
              <a:rPr sz="4400" b="1" spc="175" dirty="0">
                <a:solidFill>
                  <a:srgbClr val="0F1626"/>
                </a:solidFill>
                <a:latin typeface="Arial" panose="020B0604020202020204"/>
                <a:cs typeface="Arial" panose="020B0604020202020204"/>
              </a:rPr>
              <a:t>o</a:t>
            </a:r>
            <a:r>
              <a:rPr sz="4400" b="1" spc="180" dirty="0">
                <a:solidFill>
                  <a:srgbClr val="0F1626"/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4400" b="1" spc="80" dirty="0">
                <a:solidFill>
                  <a:srgbClr val="0F162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400" b="1" spc="-120" dirty="0">
                <a:solidFill>
                  <a:srgbClr val="0F1626"/>
                </a:solidFill>
                <a:latin typeface="Arial" panose="020B0604020202020204"/>
                <a:cs typeface="Arial" panose="020B0604020202020204"/>
              </a:rPr>
              <a:t>Pr</a:t>
            </a:r>
            <a:r>
              <a:rPr sz="4400" b="1" spc="-1814" dirty="0">
                <a:solidFill>
                  <a:srgbClr val="0F1626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4950" spc="-165" baseline="36000" dirty="0">
                <a:solidFill>
                  <a:srgbClr val="0F1626"/>
                </a:solidFill>
                <a:latin typeface="Arial" panose="020B0604020202020204"/>
                <a:cs typeface="Arial" panose="020B0604020202020204"/>
              </a:rPr>
              <a:t>•</a:t>
            </a:r>
            <a:r>
              <a:rPr sz="4950" spc="-855" baseline="36000" dirty="0">
                <a:solidFill>
                  <a:srgbClr val="0F162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400" b="1" spc="-150" dirty="0">
                <a:solidFill>
                  <a:srgbClr val="0F1626"/>
                </a:solidFill>
                <a:latin typeface="Arial" panose="020B0604020202020204"/>
                <a:cs typeface="Arial" panose="020B0604020202020204"/>
              </a:rPr>
              <a:t>nc</a:t>
            </a:r>
            <a:r>
              <a:rPr sz="4400" b="1" spc="-1735" dirty="0">
                <a:solidFill>
                  <a:srgbClr val="0F1626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4800" spc="-209" baseline="37000" dirty="0">
                <a:solidFill>
                  <a:srgbClr val="0F1626"/>
                </a:solidFill>
                <a:latin typeface="Arial" panose="020B0604020202020204"/>
                <a:cs typeface="Arial" panose="020B0604020202020204"/>
              </a:rPr>
              <a:t>•</a:t>
            </a:r>
            <a:endParaRPr sz="4800" baseline="37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326725" y="893010"/>
            <a:ext cx="1001394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spc="65" dirty="0">
                <a:solidFill>
                  <a:srgbClr val="0F1626"/>
                </a:solidFill>
                <a:latin typeface="Arial" panose="020B0604020202020204"/>
                <a:cs typeface="Arial" panose="020B0604020202020204"/>
              </a:rPr>
              <a:t>DIP</a:t>
            </a:r>
            <a:endParaRPr sz="4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41836" y="4243813"/>
            <a:ext cx="8304530" cy="4090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sz="2200" b="1" dirty="0">
                <a:solidFill>
                  <a:srgbClr val="0F1626"/>
                </a:solidFill>
                <a:latin typeface="Arial" panose="020B0604020202020204"/>
                <a:cs typeface="Arial" panose="020B0604020202020204"/>
              </a:rPr>
              <a:t>Isolate</a:t>
            </a:r>
            <a:r>
              <a:rPr sz="2200" b="1" spc="204" dirty="0">
                <a:solidFill>
                  <a:srgbClr val="0F162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b="1" dirty="0">
                <a:solidFill>
                  <a:srgbClr val="0F1626"/>
                </a:solidFill>
                <a:latin typeface="Arial" panose="020B0604020202020204"/>
                <a:cs typeface="Arial" panose="020B0604020202020204"/>
              </a:rPr>
              <a:t>High-Level</a:t>
            </a:r>
            <a:r>
              <a:rPr sz="2200" b="1" spc="235" dirty="0">
                <a:solidFill>
                  <a:srgbClr val="0F162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b="1" dirty="0">
                <a:solidFill>
                  <a:srgbClr val="0F1626"/>
                </a:solidFill>
                <a:latin typeface="Arial" panose="020B0604020202020204"/>
                <a:cs typeface="Arial" panose="020B0604020202020204"/>
              </a:rPr>
              <a:t>Policies</a:t>
            </a:r>
            <a:r>
              <a:rPr sz="2200" b="1" spc="220" dirty="0">
                <a:solidFill>
                  <a:srgbClr val="0F162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b="1" dirty="0">
                <a:solidFill>
                  <a:srgbClr val="0F1626"/>
                </a:solidFill>
                <a:latin typeface="Arial" panose="020B0604020202020204"/>
                <a:cs typeface="Arial" panose="020B0604020202020204"/>
              </a:rPr>
              <a:t>from</a:t>
            </a:r>
            <a:r>
              <a:rPr sz="2200" b="1" spc="110" dirty="0">
                <a:solidFill>
                  <a:srgbClr val="0F162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b="1" spc="-10" dirty="0">
                <a:solidFill>
                  <a:srgbClr val="0F1626"/>
                </a:solidFill>
                <a:latin typeface="Arial" panose="020B0604020202020204"/>
                <a:cs typeface="Arial" panose="020B0604020202020204"/>
              </a:rPr>
              <a:t>Details</a:t>
            </a:r>
            <a:endParaRPr sz="2200">
              <a:latin typeface="Arial" panose="020B0604020202020204"/>
              <a:cs typeface="Arial" panose="020B0604020202020204"/>
            </a:endParaRPr>
          </a:p>
          <a:p>
            <a:pPr marL="12700" marR="5080" indent="6350">
              <a:lnSpc>
                <a:spcPct val="135000"/>
              </a:lnSpc>
              <a:spcBef>
                <a:spcPts val="1955"/>
              </a:spcBef>
            </a:pPr>
            <a:r>
              <a:rPr sz="1850" spc="70" dirty="0">
                <a:solidFill>
                  <a:srgbClr val="525962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1850" spc="5" dirty="0">
                <a:solidFill>
                  <a:srgbClr val="5259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50" spc="110" dirty="0">
                <a:solidFill>
                  <a:srgbClr val="525962"/>
                </a:solidFill>
                <a:latin typeface="Arial" panose="020B0604020202020204"/>
                <a:cs typeface="Arial" panose="020B0604020202020204"/>
              </a:rPr>
              <a:t>core</a:t>
            </a:r>
            <a:r>
              <a:rPr sz="1850" spc="10" dirty="0">
                <a:solidFill>
                  <a:srgbClr val="5259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50" spc="50" dirty="0">
                <a:solidFill>
                  <a:srgbClr val="525962"/>
                </a:solidFill>
                <a:latin typeface="Arial" panose="020B0604020202020204"/>
                <a:cs typeface="Arial" panose="020B0604020202020204"/>
              </a:rPr>
              <a:t>abstract</a:t>
            </a:r>
            <a:r>
              <a:rPr sz="1850" spc="30" dirty="0">
                <a:solidFill>
                  <a:srgbClr val="5259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50" spc="85" dirty="0">
                <a:solidFill>
                  <a:srgbClr val="525962"/>
                </a:solidFill>
                <a:latin typeface="Arial" panose="020B0604020202020204"/>
                <a:cs typeface="Arial" panose="020B0604020202020204"/>
              </a:rPr>
              <a:t>triad</a:t>
            </a:r>
            <a:r>
              <a:rPr sz="1850" spc="45" dirty="0">
                <a:solidFill>
                  <a:srgbClr val="5259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50" spc="75" dirty="0">
                <a:solidFill>
                  <a:srgbClr val="525962"/>
                </a:solidFill>
                <a:latin typeface="Arial" panose="020B0604020202020204"/>
                <a:cs typeface="Arial" panose="020B0604020202020204"/>
              </a:rPr>
              <a:t>(Userlnterface,</a:t>
            </a:r>
            <a:r>
              <a:rPr sz="1850" spc="-110" dirty="0">
                <a:solidFill>
                  <a:srgbClr val="5259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50" spc="60" dirty="0">
                <a:solidFill>
                  <a:srgbClr val="3F444D"/>
                </a:solidFill>
                <a:latin typeface="Arial" panose="020B0604020202020204"/>
                <a:cs typeface="Arial" panose="020B0604020202020204"/>
              </a:rPr>
              <a:t>HotWaterSource, </a:t>
            </a:r>
            <a:r>
              <a:rPr sz="1850" spc="50" dirty="0">
                <a:solidFill>
                  <a:srgbClr val="525962"/>
                </a:solidFill>
                <a:latin typeface="Arial" panose="020B0604020202020204"/>
                <a:cs typeface="Arial" panose="020B0604020202020204"/>
              </a:rPr>
              <a:t>ContainmentVessel)</a:t>
            </a:r>
            <a:r>
              <a:rPr sz="1850" spc="-10" dirty="0">
                <a:solidFill>
                  <a:srgbClr val="5259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50" spc="80" dirty="0">
                <a:solidFill>
                  <a:srgbClr val="525962"/>
                </a:solidFill>
                <a:latin typeface="Arial" panose="020B0604020202020204"/>
                <a:cs typeface="Arial" panose="020B0604020202020204"/>
              </a:rPr>
              <a:t>constitutes</a:t>
            </a:r>
            <a:r>
              <a:rPr sz="1850" spc="55" dirty="0">
                <a:solidFill>
                  <a:srgbClr val="5259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50" spc="80" dirty="0">
                <a:solidFill>
                  <a:srgbClr val="525962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1850" spc="35" dirty="0">
                <a:solidFill>
                  <a:srgbClr val="5259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50" spc="85" dirty="0">
                <a:solidFill>
                  <a:srgbClr val="525962"/>
                </a:solidFill>
                <a:latin typeface="Arial" panose="020B0604020202020204"/>
                <a:cs typeface="Arial" panose="020B0604020202020204"/>
              </a:rPr>
              <a:t>high-</a:t>
            </a:r>
            <a:r>
              <a:rPr sz="1850" spc="75" dirty="0">
                <a:solidFill>
                  <a:srgbClr val="525962"/>
                </a:solidFill>
                <a:latin typeface="Arial" panose="020B0604020202020204"/>
                <a:cs typeface="Arial" panose="020B0604020202020204"/>
              </a:rPr>
              <a:t>level</a:t>
            </a:r>
            <a:r>
              <a:rPr sz="1850" spc="150" dirty="0">
                <a:solidFill>
                  <a:srgbClr val="5259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50" spc="90" dirty="0">
                <a:solidFill>
                  <a:srgbClr val="525962"/>
                </a:solidFill>
                <a:latin typeface="Arial" panose="020B0604020202020204"/>
                <a:cs typeface="Arial" panose="020B0604020202020204"/>
              </a:rPr>
              <a:t>policy</a:t>
            </a:r>
            <a:r>
              <a:rPr sz="1850" spc="-5" dirty="0">
                <a:solidFill>
                  <a:srgbClr val="5259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50" spc="70" dirty="0">
                <a:solidFill>
                  <a:srgbClr val="525962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1850" spc="120" dirty="0">
                <a:solidFill>
                  <a:srgbClr val="5259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50" spc="80" dirty="0">
                <a:solidFill>
                  <a:srgbClr val="525962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1850" spc="20" dirty="0">
                <a:solidFill>
                  <a:srgbClr val="5259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50" spc="110" dirty="0">
                <a:solidFill>
                  <a:srgbClr val="525962"/>
                </a:solidFill>
                <a:latin typeface="Arial" panose="020B0604020202020204"/>
                <a:cs typeface="Arial" panose="020B0604020202020204"/>
              </a:rPr>
              <a:t>coffee</a:t>
            </a:r>
            <a:r>
              <a:rPr sz="1850" spc="60" dirty="0">
                <a:solidFill>
                  <a:srgbClr val="5259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50" spc="-10" dirty="0">
                <a:solidFill>
                  <a:srgbClr val="525962"/>
                </a:solidFill>
                <a:latin typeface="Arial" panose="020B0604020202020204"/>
                <a:cs typeface="Arial" panose="020B0604020202020204"/>
              </a:rPr>
              <a:t>maker</a:t>
            </a:r>
            <a:r>
              <a:rPr sz="1850" spc="-10" dirty="0">
                <a:solidFill>
                  <a:srgbClr val="6B6E70"/>
                </a:solidFill>
                <a:latin typeface="Arial" panose="020B0604020202020204"/>
                <a:cs typeface="Arial" panose="020B0604020202020204"/>
              </a:rPr>
              <a:t>. </a:t>
            </a:r>
            <a:r>
              <a:rPr sz="1850" spc="60" dirty="0">
                <a:solidFill>
                  <a:srgbClr val="3F444D"/>
                </a:solidFill>
                <a:latin typeface="Arial" panose="020B0604020202020204"/>
                <a:cs typeface="Arial" panose="020B0604020202020204"/>
              </a:rPr>
              <a:t>Under</a:t>
            </a:r>
            <a:r>
              <a:rPr sz="1850" spc="105" dirty="0">
                <a:solidFill>
                  <a:srgbClr val="3F444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50" dirty="0">
                <a:solidFill>
                  <a:srgbClr val="525962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1850" spc="155" dirty="0">
                <a:solidFill>
                  <a:srgbClr val="5259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50" spc="-40" dirty="0">
                <a:solidFill>
                  <a:srgbClr val="525962"/>
                </a:solidFill>
                <a:latin typeface="Arial" panose="020B0604020202020204"/>
                <a:cs typeface="Arial" panose="020B0604020202020204"/>
              </a:rPr>
              <a:t>DIP,</a:t>
            </a:r>
            <a:r>
              <a:rPr sz="1850" spc="-90" dirty="0">
                <a:solidFill>
                  <a:srgbClr val="5259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50" spc="90" dirty="0">
                <a:solidFill>
                  <a:srgbClr val="525962"/>
                </a:solidFill>
                <a:latin typeface="Arial" panose="020B0604020202020204"/>
                <a:cs typeface="Arial" panose="020B0604020202020204"/>
              </a:rPr>
              <a:t>this</a:t>
            </a:r>
            <a:r>
              <a:rPr sz="1850" spc="70" dirty="0">
                <a:solidFill>
                  <a:srgbClr val="5259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50" spc="90" dirty="0">
                <a:solidFill>
                  <a:srgbClr val="525962"/>
                </a:solidFill>
                <a:latin typeface="Arial" panose="020B0604020202020204"/>
                <a:cs typeface="Arial" panose="020B0604020202020204"/>
              </a:rPr>
              <a:t>policy</a:t>
            </a:r>
            <a:r>
              <a:rPr sz="1850" spc="-35" dirty="0">
                <a:solidFill>
                  <a:srgbClr val="5259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50" spc="75" dirty="0">
                <a:solidFill>
                  <a:srgbClr val="525962"/>
                </a:solidFill>
                <a:latin typeface="Arial" panose="020B0604020202020204"/>
                <a:cs typeface="Arial" panose="020B0604020202020204"/>
              </a:rPr>
              <a:t>must</a:t>
            </a:r>
            <a:r>
              <a:rPr sz="1850" spc="80" dirty="0">
                <a:solidFill>
                  <a:srgbClr val="5259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50" spc="60" dirty="0">
                <a:solidFill>
                  <a:srgbClr val="525962"/>
                </a:solidFill>
                <a:latin typeface="Arial" panose="020B0604020202020204"/>
                <a:cs typeface="Arial" panose="020B0604020202020204"/>
              </a:rPr>
              <a:t>never</a:t>
            </a:r>
            <a:r>
              <a:rPr sz="1850" spc="135" dirty="0">
                <a:solidFill>
                  <a:srgbClr val="5259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50" spc="70" dirty="0">
                <a:solidFill>
                  <a:srgbClr val="525962"/>
                </a:solidFill>
                <a:latin typeface="Arial" panose="020B0604020202020204"/>
                <a:cs typeface="Arial" panose="020B0604020202020204"/>
              </a:rPr>
              <a:t>know</a:t>
            </a:r>
            <a:r>
              <a:rPr sz="1850" spc="90" dirty="0">
                <a:solidFill>
                  <a:srgbClr val="5259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50" dirty="0">
                <a:solidFill>
                  <a:srgbClr val="525962"/>
                </a:solidFill>
                <a:latin typeface="Arial" panose="020B0604020202020204"/>
                <a:cs typeface="Arial" panose="020B0604020202020204"/>
              </a:rPr>
              <a:t>about</a:t>
            </a:r>
            <a:r>
              <a:rPr sz="1850" spc="114" dirty="0">
                <a:solidFill>
                  <a:srgbClr val="5259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50" spc="100" dirty="0">
                <a:solidFill>
                  <a:srgbClr val="525962"/>
                </a:solidFill>
                <a:latin typeface="Arial" panose="020B0604020202020204"/>
                <a:cs typeface="Arial" panose="020B0604020202020204"/>
              </a:rPr>
              <a:t>specific</a:t>
            </a:r>
            <a:r>
              <a:rPr sz="1850" spc="145" dirty="0">
                <a:solidFill>
                  <a:srgbClr val="52596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50" spc="40" dirty="0">
                <a:solidFill>
                  <a:srgbClr val="525962"/>
                </a:solidFill>
                <a:latin typeface="Arial" panose="020B0604020202020204"/>
                <a:cs typeface="Arial" panose="020B0604020202020204"/>
              </a:rPr>
              <a:t>hardware </a:t>
            </a:r>
            <a:r>
              <a:rPr sz="1850" spc="-10" dirty="0">
                <a:solidFill>
                  <a:srgbClr val="525962"/>
                </a:solidFill>
                <a:latin typeface="Arial" panose="020B0604020202020204"/>
                <a:cs typeface="Arial" panose="020B0604020202020204"/>
              </a:rPr>
              <a:t>details.</a:t>
            </a:r>
            <a:endParaRPr sz="185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endParaRPr sz="1850">
              <a:latin typeface="Arial" panose="020B0604020202020204"/>
              <a:cs typeface="Arial" panose="020B0604020202020204"/>
            </a:endParaRPr>
          </a:p>
          <a:p>
            <a:pPr marL="567055" marR="107315" indent="-8255">
              <a:lnSpc>
                <a:spcPct val="134000"/>
              </a:lnSpc>
              <a:spcBef>
                <a:spcPts val="5"/>
              </a:spcBef>
            </a:pPr>
            <a:r>
              <a:rPr sz="1700" b="1" spc="50" dirty="0">
                <a:solidFill>
                  <a:srgbClr val="3F444D"/>
                </a:solidFill>
                <a:latin typeface="Arial" panose="020B0604020202020204"/>
                <a:cs typeface="Arial" panose="020B0604020202020204"/>
              </a:rPr>
              <a:t>Pure</a:t>
            </a:r>
            <a:r>
              <a:rPr sz="1700" b="1" spc="55" dirty="0">
                <a:solidFill>
                  <a:srgbClr val="3F444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solidFill>
                  <a:srgbClr val="3F444D"/>
                </a:solidFill>
                <a:latin typeface="Arial" panose="020B0604020202020204"/>
                <a:cs typeface="Arial" panose="020B0604020202020204"/>
              </a:rPr>
              <a:t>Abstract</a:t>
            </a:r>
            <a:r>
              <a:rPr sz="1700" b="1" spc="155" dirty="0">
                <a:solidFill>
                  <a:srgbClr val="3F444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solidFill>
                  <a:srgbClr val="3F444D"/>
                </a:solidFill>
                <a:latin typeface="Arial" panose="020B0604020202020204"/>
                <a:cs typeface="Arial" panose="020B0604020202020204"/>
              </a:rPr>
              <a:t>Rules:</a:t>
            </a:r>
            <a:r>
              <a:rPr sz="1700" b="1" spc="-25" dirty="0">
                <a:solidFill>
                  <a:srgbClr val="3F444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3F444D"/>
                </a:solidFill>
                <a:latin typeface="Arial" panose="020B0604020202020204"/>
                <a:cs typeface="Arial" panose="020B0604020202020204"/>
              </a:rPr>
              <a:t>Decisions</a:t>
            </a:r>
            <a:r>
              <a:rPr sz="1700" spc="135" dirty="0">
                <a:solidFill>
                  <a:srgbClr val="3F444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60" dirty="0">
                <a:solidFill>
                  <a:srgbClr val="3F444D"/>
                </a:solidFill>
                <a:latin typeface="Arial" panose="020B0604020202020204"/>
                <a:cs typeface="Arial" panose="020B0604020202020204"/>
              </a:rPr>
              <a:t>like</a:t>
            </a:r>
            <a:r>
              <a:rPr sz="1700" spc="90" dirty="0">
                <a:solidFill>
                  <a:srgbClr val="3F444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70" dirty="0">
                <a:solidFill>
                  <a:srgbClr val="3F444D"/>
                </a:solidFill>
                <a:latin typeface="Arial" panose="020B0604020202020204"/>
                <a:cs typeface="Arial" panose="020B0604020202020204"/>
              </a:rPr>
              <a:t>"Only</a:t>
            </a:r>
            <a:r>
              <a:rPr sz="1700" spc="160" dirty="0">
                <a:solidFill>
                  <a:srgbClr val="3F444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60" dirty="0">
                <a:solidFill>
                  <a:srgbClr val="3F444D"/>
                </a:solidFill>
                <a:latin typeface="Arial" panose="020B0604020202020204"/>
                <a:cs typeface="Arial" panose="020B0604020202020204"/>
              </a:rPr>
              <a:t>start</a:t>
            </a:r>
            <a:r>
              <a:rPr sz="1700" spc="135" dirty="0">
                <a:solidFill>
                  <a:srgbClr val="3F444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55" dirty="0">
                <a:solidFill>
                  <a:srgbClr val="3F444D"/>
                </a:solidFill>
                <a:latin typeface="Arial" panose="020B0604020202020204"/>
                <a:cs typeface="Arial" panose="020B0604020202020204"/>
              </a:rPr>
              <a:t>brewing</a:t>
            </a:r>
            <a:r>
              <a:rPr sz="1700" spc="155" dirty="0">
                <a:solidFill>
                  <a:srgbClr val="3F444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3F444D"/>
                </a:solidFill>
                <a:latin typeface="Arial" panose="020B0604020202020204"/>
                <a:cs typeface="Arial" panose="020B0604020202020204"/>
              </a:rPr>
              <a:t>if</a:t>
            </a:r>
            <a:r>
              <a:rPr sz="1700" spc="285" dirty="0">
                <a:solidFill>
                  <a:srgbClr val="3F444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55" dirty="0">
                <a:solidFill>
                  <a:srgbClr val="3F444D"/>
                </a:solidFill>
                <a:latin typeface="Arial" panose="020B0604020202020204"/>
                <a:cs typeface="Arial" panose="020B0604020202020204"/>
              </a:rPr>
              <a:t>water </a:t>
            </a:r>
            <a:r>
              <a:rPr sz="1700" dirty="0">
                <a:solidFill>
                  <a:srgbClr val="3F444D"/>
                </a:solidFill>
                <a:latin typeface="Arial" panose="020B0604020202020204"/>
                <a:cs typeface="Arial" panose="020B0604020202020204"/>
              </a:rPr>
              <a:t>is</a:t>
            </a:r>
            <a:r>
              <a:rPr sz="1700" spc="-20" dirty="0">
                <a:solidFill>
                  <a:srgbClr val="3F444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10" dirty="0">
                <a:solidFill>
                  <a:srgbClr val="3F444D"/>
                </a:solidFill>
                <a:latin typeface="Arial" panose="020B0604020202020204"/>
                <a:cs typeface="Arial" panose="020B0604020202020204"/>
              </a:rPr>
              <a:t>present </a:t>
            </a:r>
            <a:r>
              <a:rPr sz="1700" spc="60" dirty="0">
                <a:solidFill>
                  <a:srgbClr val="3F444D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1700" spc="5" dirty="0">
                <a:solidFill>
                  <a:srgbClr val="3F444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50" dirty="0">
                <a:solidFill>
                  <a:srgbClr val="3F444D"/>
                </a:solidFill>
                <a:latin typeface="Arial" panose="020B0604020202020204"/>
                <a:cs typeface="Arial" panose="020B0604020202020204"/>
              </a:rPr>
              <a:t>pot</a:t>
            </a:r>
            <a:r>
              <a:rPr sz="1700" spc="204" dirty="0">
                <a:solidFill>
                  <a:srgbClr val="3F444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60" dirty="0">
                <a:solidFill>
                  <a:srgbClr val="3F444D"/>
                </a:solidFill>
                <a:latin typeface="Arial" panose="020B0604020202020204"/>
                <a:cs typeface="Arial" panose="020B0604020202020204"/>
              </a:rPr>
              <a:t>is</a:t>
            </a:r>
            <a:r>
              <a:rPr sz="1700" spc="-40" dirty="0">
                <a:solidFill>
                  <a:srgbClr val="3F444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100" dirty="0">
                <a:solidFill>
                  <a:srgbClr val="3F444D"/>
                </a:solidFill>
                <a:latin typeface="Arial" panose="020B0604020202020204"/>
                <a:cs typeface="Arial" panose="020B0604020202020204"/>
              </a:rPr>
              <a:t>empty"</a:t>
            </a:r>
            <a:r>
              <a:rPr sz="1700" spc="190" dirty="0">
                <a:solidFill>
                  <a:srgbClr val="3F444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60" dirty="0">
                <a:solidFill>
                  <a:srgbClr val="3F444D"/>
                </a:solidFill>
                <a:latin typeface="Arial" panose="020B0604020202020204"/>
                <a:cs typeface="Arial" panose="020B0604020202020204"/>
              </a:rPr>
              <a:t>live</a:t>
            </a:r>
            <a:r>
              <a:rPr sz="1700" spc="-60" dirty="0">
                <a:solidFill>
                  <a:srgbClr val="3F444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60" dirty="0">
                <a:solidFill>
                  <a:srgbClr val="3F444D"/>
                </a:solidFill>
                <a:latin typeface="Arial" panose="020B0604020202020204"/>
                <a:cs typeface="Arial" panose="020B0604020202020204"/>
              </a:rPr>
              <a:t>in</a:t>
            </a:r>
            <a:r>
              <a:rPr sz="1700" spc="-45" dirty="0">
                <a:solidFill>
                  <a:srgbClr val="3F444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65" dirty="0">
                <a:solidFill>
                  <a:srgbClr val="3F444D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1700" spc="5" dirty="0">
                <a:solidFill>
                  <a:srgbClr val="3F444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65" dirty="0">
                <a:solidFill>
                  <a:srgbClr val="3F444D"/>
                </a:solidFill>
                <a:latin typeface="Arial" panose="020B0604020202020204"/>
                <a:cs typeface="Arial" panose="020B0604020202020204"/>
              </a:rPr>
              <a:t>parent</a:t>
            </a:r>
            <a:r>
              <a:rPr sz="1700" spc="95" dirty="0">
                <a:solidFill>
                  <a:srgbClr val="3F444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10" dirty="0">
                <a:solidFill>
                  <a:srgbClr val="3F444D"/>
                </a:solidFill>
                <a:latin typeface="Arial" panose="020B0604020202020204"/>
                <a:cs typeface="Arial" panose="020B0604020202020204"/>
              </a:rPr>
              <a:t>classes.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560705" marR="139700" indent="3810">
              <a:lnSpc>
                <a:spcPct val="134000"/>
              </a:lnSpc>
              <a:spcBef>
                <a:spcPts val="1920"/>
              </a:spcBef>
            </a:pPr>
            <a:r>
              <a:rPr sz="1700" b="1" dirty="0">
                <a:solidFill>
                  <a:srgbClr val="3F444D"/>
                </a:solidFill>
                <a:latin typeface="Arial" panose="020B0604020202020204"/>
                <a:cs typeface="Arial" panose="020B0604020202020204"/>
              </a:rPr>
              <a:t>Concrete</a:t>
            </a:r>
            <a:r>
              <a:rPr sz="1700" b="1" spc="165" dirty="0">
                <a:solidFill>
                  <a:srgbClr val="3F444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solidFill>
                  <a:srgbClr val="3F444D"/>
                </a:solidFill>
                <a:latin typeface="Arial" panose="020B0604020202020204"/>
                <a:cs typeface="Arial" panose="020B0604020202020204"/>
              </a:rPr>
              <a:t>Derivatives:</a:t>
            </a:r>
            <a:r>
              <a:rPr sz="1700" b="1" spc="185" dirty="0">
                <a:solidFill>
                  <a:srgbClr val="3F444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3F444D"/>
                </a:solidFill>
                <a:latin typeface="Arial" panose="020B0604020202020204"/>
                <a:cs typeface="Arial" panose="020B0604020202020204"/>
              </a:rPr>
              <a:t>Physical</a:t>
            </a:r>
            <a:r>
              <a:rPr sz="1700" spc="225" dirty="0">
                <a:solidFill>
                  <a:srgbClr val="3F444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3F444D"/>
                </a:solidFill>
                <a:latin typeface="Arial" panose="020B0604020202020204"/>
                <a:cs typeface="Arial" panose="020B0604020202020204"/>
              </a:rPr>
              <a:t>api</a:t>
            </a:r>
            <a:r>
              <a:rPr sz="1700" spc="340" dirty="0">
                <a:solidFill>
                  <a:srgbClr val="3F444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50" dirty="0">
                <a:solidFill>
                  <a:srgbClr val="3F444D"/>
                </a:solidFill>
                <a:latin typeface="Arial" panose="020B0604020202020204"/>
                <a:cs typeface="Arial" panose="020B0604020202020204"/>
              </a:rPr>
              <a:t>commands</a:t>
            </a:r>
            <a:r>
              <a:rPr sz="1700" spc="395" dirty="0">
                <a:solidFill>
                  <a:srgbClr val="3F444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3F444D"/>
                </a:solidFill>
                <a:latin typeface="Arial" panose="020B0604020202020204"/>
                <a:cs typeface="Arial" panose="020B0604020202020204"/>
              </a:rPr>
              <a:t>are</a:t>
            </a:r>
            <a:r>
              <a:rPr sz="1700" spc="130" dirty="0">
                <a:solidFill>
                  <a:srgbClr val="3F444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3F444D"/>
                </a:solidFill>
                <a:latin typeface="Arial" panose="020B0604020202020204"/>
                <a:cs typeface="Arial" panose="020B0604020202020204"/>
              </a:rPr>
              <a:t>isolated</a:t>
            </a:r>
            <a:r>
              <a:rPr sz="1700" spc="310" dirty="0">
                <a:solidFill>
                  <a:srgbClr val="3F444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3F444D"/>
                </a:solidFill>
                <a:latin typeface="Arial" panose="020B0604020202020204"/>
                <a:cs typeface="Arial" panose="020B0604020202020204"/>
              </a:rPr>
              <a:t>inside</a:t>
            </a:r>
            <a:r>
              <a:rPr sz="1700" spc="260" dirty="0">
                <a:solidFill>
                  <a:srgbClr val="3F444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60" dirty="0">
                <a:solidFill>
                  <a:srgbClr val="3F444D"/>
                </a:solidFill>
                <a:latin typeface="Arial" panose="020B0604020202020204"/>
                <a:cs typeface="Arial" panose="020B0604020202020204"/>
              </a:rPr>
              <a:t>specific </a:t>
            </a:r>
            <a:r>
              <a:rPr sz="1700" spc="70" dirty="0">
                <a:solidFill>
                  <a:srgbClr val="3F444D"/>
                </a:solidFill>
                <a:latin typeface="Arial" panose="020B0604020202020204"/>
                <a:cs typeface="Arial" panose="020B0604020202020204"/>
              </a:rPr>
              <a:t>boundary</a:t>
            </a:r>
            <a:r>
              <a:rPr sz="1700" spc="165" dirty="0">
                <a:solidFill>
                  <a:srgbClr val="3F444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65" dirty="0">
                <a:solidFill>
                  <a:srgbClr val="3F444D"/>
                </a:solidFill>
                <a:latin typeface="Arial" panose="020B0604020202020204"/>
                <a:cs typeface="Arial" panose="020B0604020202020204"/>
              </a:rPr>
              <a:t>components</a:t>
            </a:r>
            <a:r>
              <a:rPr sz="1700" spc="100" dirty="0">
                <a:solidFill>
                  <a:srgbClr val="3F444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80" dirty="0">
                <a:solidFill>
                  <a:srgbClr val="3F444D"/>
                </a:solidFill>
                <a:latin typeface="Arial" panose="020B0604020202020204"/>
                <a:cs typeface="Arial" panose="020B0604020202020204"/>
              </a:rPr>
              <a:t>(M4Userlnterface,</a:t>
            </a:r>
            <a:r>
              <a:rPr sz="1700" spc="-110" dirty="0">
                <a:solidFill>
                  <a:srgbClr val="3F444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55" dirty="0">
                <a:solidFill>
                  <a:srgbClr val="3F444D"/>
                </a:solidFill>
                <a:latin typeface="Arial" panose="020B0604020202020204"/>
                <a:cs typeface="Arial" panose="020B0604020202020204"/>
              </a:rPr>
              <a:t>M4HotWaterSource,</a:t>
            </a:r>
            <a:r>
              <a:rPr sz="1700" spc="25" dirty="0">
                <a:solidFill>
                  <a:srgbClr val="3F444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55" dirty="0">
                <a:solidFill>
                  <a:srgbClr val="3F444D"/>
                </a:solidFill>
                <a:latin typeface="Arial" panose="020B0604020202020204"/>
                <a:cs typeface="Arial" panose="020B0604020202020204"/>
              </a:rPr>
              <a:t>etc.).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202321" y="1464835"/>
            <a:ext cx="330348" cy="17324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01394" y="1118337"/>
            <a:ext cx="361810" cy="51974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242738" y="1834954"/>
            <a:ext cx="960119" cy="0"/>
          </a:xfrm>
          <a:custGeom>
            <a:avLst/>
            <a:gdLst/>
            <a:ahLst/>
            <a:cxnLst/>
            <a:rect l="l" t="t" r="r" b="b"/>
            <a:pathLst>
              <a:path w="960119">
                <a:moveTo>
                  <a:pt x="0" y="0"/>
                </a:moveTo>
                <a:lnTo>
                  <a:pt x="959582" y="0"/>
                </a:lnTo>
              </a:path>
            </a:pathLst>
          </a:custGeom>
          <a:ln w="551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1249544" y="877259"/>
            <a:ext cx="6834505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1304925" algn="l"/>
              </a:tabLst>
            </a:pPr>
            <a:r>
              <a:rPr spc="-25" dirty="0">
                <a:solidFill>
                  <a:srgbClr val="0E1626"/>
                </a:solidFill>
              </a:rPr>
              <a:t>Sin</a:t>
            </a:r>
            <a:r>
              <a:rPr dirty="0">
                <a:solidFill>
                  <a:srgbClr val="0E1626"/>
                </a:solidFill>
              </a:rPr>
              <a:t>	</a:t>
            </a:r>
            <a:r>
              <a:rPr spc="285" dirty="0">
                <a:solidFill>
                  <a:srgbClr val="0E1626"/>
                </a:solidFill>
              </a:rPr>
              <a:t>le-</a:t>
            </a:r>
            <a:r>
              <a:rPr spc="420" dirty="0">
                <a:solidFill>
                  <a:srgbClr val="0E1626"/>
                </a:solidFill>
              </a:rPr>
              <a:t>Threaded</a:t>
            </a:r>
            <a:r>
              <a:rPr spc="-30" dirty="0">
                <a:solidFill>
                  <a:srgbClr val="0E1626"/>
                </a:solidFill>
              </a:rPr>
              <a:t> </a:t>
            </a:r>
            <a:r>
              <a:rPr spc="85" dirty="0">
                <a:solidFill>
                  <a:srgbClr val="0E1626"/>
                </a:solidFill>
              </a:rPr>
              <a:t>Pollin</a:t>
            </a:r>
            <a:endParaRPr spc="85" dirty="0">
              <a:solidFill>
                <a:srgbClr val="0E1626"/>
              </a:solidFill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97941" y="877259"/>
            <a:ext cx="3408679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4450" b="1" spc="300" dirty="0">
                <a:solidFill>
                  <a:srgbClr val="0E1626"/>
                </a:solidFill>
                <a:latin typeface="Arial" panose="020B0604020202020204"/>
                <a:cs typeface="Arial" panose="020B0604020202020204"/>
              </a:rPr>
              <a:t>Framework</a:t>
            </a:r>
            <a:endParaRPr sz="4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41691" y="4105212"/>
            <a:ext cx="17196435" cy="8763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4605" marR="5080" indent="-2540">
              <a:lnSpc>
                <a:spcPct val="133000"/>
              </a:lnSpc>
              <a:spcBef>
                <a:spcPts val="90"/>
              </a:spcBef>
            </a:pPr>
            <a:r>
              <a:rPr sz="2100" spc="50" dirty="0">
                <a:solidFill>
                  <a:srgbClr val="465466"/>
                </a:solidFill>
                <a:latin typeface="Arial" panose="020B0604020202020204"/>
                <a:cs typeface="Arial" panose="020B0604020202020204"/>
              </a:rPr>
              <a:t>Because</a:t>
            </a:r>
            <a:r>
              <a:rPr sz="2100" spc="320" dirty="0">
                <a:solidFill>
                  <a:srgbClr val="4654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dirty="0">
                <a:solidFill>
                  <a:srgbClr val="465466"/>
                </a:solidFill>
                <a:latin typeface="Arial" panose="020B0604020202020204"/>
                <a:cs typeface="Arial" panose="020B0604020202020204"/>
              </a:rPr>
              <a:t>small</a:t>
            </a:r>
            <a:r>
              <a:rPr sz="2100" spc="90" dirty="0">
                <a:solidFill>
                  <a:srgbClr val="4654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spc="65" dirty="0">
                <a:solidFill>
                  <a:srgbClr val="465466"/>
                </a:solidFill>
                <a:latin typeface="Arial" panose="020B0604020202020204"/>
                <a:cs typeface="Arial" panose="020B0604020202020204"/>
              </a:rPr>
              <a:t>embedded</a:t>
            </a:r>
            <a:r>
              <a:rPr sz="2100" spc="135" dirty="0">
                <a:solidFill>
                  <a:srgbClr val="4654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spc="80" dirty="0">
                <a:solidFill>
                  <a:srgbClr val="465466"/>
                </a:solidFill>
                <a:latin typeface="Arial" panose="020B0604020202020204"/>
                <a:cs typeface="Arial" panose="020B0604020202020204"/>
              </a:rPr>
              <a:t>microcontrollers</a:t>
            </a:r>
            <a:r>
              <a:rPr sz="2100" spc="70" dirty="0">
                <a:solidFill>
                  <a:srgbClr val="4654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spc="90" dirty="0">
                <a:solidFill>
                  <a:srgbClr val="465466"/>
                </a:solidFill>
                <a:latin typeface="Arial" panose="020B0604020202020204"/>
                <a:cs typeface="Arial" panose="020B0604020202020204"/>
              </a:rPr>
              <a:t>lack</a:t>
            </a:r>
            <a:r>
              <a:rPr sz="2100" spc="80" dirty="0">
                <a:solidFill>
                  <a:srgbClr val="4654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spc="75" dirty="0">
                <a:solidFill>
                  <a:srgbClr val="465466"/>
                </a:solidFill>
                <a:latin typeface="Arial" panose="020B0604020202020204"/>
                <a:cs typeface="Arial" panose="020B0604020202020204"/>
              </a:rPr>
              <a:t>multithreading</a:t>
            </a:r>
            <a:r>
              <a:rPr sz="2100" spc="60" dirty="0">
                <a:solidFill>
                  <a:srgbClr val="4654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dirty="0">
                <a:solidFill>
                  <a:srgbClr val="465466"/>
                </a:solidFill>
                <a:latin typeface="Arial" panose="020B0604020202020204"/>
                <a:cs typeface="Arial" panose="020B0604020202020204"/>
              </a:rPr>
              <a:t>support,</a:t>
            </a:r>
            <a:r>
              <a:rPr sz="2100" spc="180" dirty="0">
                <a:solidFill>
                  <a:srgbClr val="4654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spc="100" dirty="0">
                <a:solidFill>
                  <a:srgbClr val="465466"/>
                </a:solidFill>
                <a:latin typeface="Arial" panose="020B0604020202020204"/>
                <a:cs typeface="Arial" panose="020B0604020202020204"/>
              </a:rPr>
              <a:t>the </a:t>
            </a:r>
            <a:r>
              <a:rPr sz="2100" spc="75" dirty="0">
                <a:solidFill>
                  <a:srgbClr val="465466"/>
                </a:solidFill>
                <a:latin typeface="Arial" panose="020B0604020202020204"/>
                <a:cs typeface="Arial" panose="020B0604020202020204"/>
              </a:rPr>
              <a:t>execution</a:t>
            </a:r>
            <a:r>
              <a:rPr sz="2100" spc="210" dirty="0">
                <a:solidFill>
                  <a:srgbClr val="4654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spc="50" dirty="0">
                <a:solidFill>
                  <a:srgbClr val="465466"/>
                </a:solidFill>
                <a:latin typeface="Arial" panose="020B0604020202020204"/>
                <a:cs typeface="Arial" panose="020B0604020202020204"/>
              </a:rPr>
              <a:t>loops</a:t>
            </a:r>
            <a:r>
              <a:rPr sz="2100" spc="175" dirty="0">
                <a:solidFill>
                  <a:srgbClr val="4654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spc="60" dirty="0">
                <a:solidFill>
                  <a:srgbClr val="465466"/>
                </a:solidFill>
                <a:latin typeface="Arial" panose="020B0604020202020204"/>
                <a:cs typeface="Arial" panose="020B0604020202020204"/>
              </a:rPr>
              <a:t>must</a:t>
            </a:r>
            <a:r>
              <a:rPr sz="2100" spc="210" dirty="0">
                <a:solidFill>
                  <a:srgbClr val="4654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spc="70" dirty="0">
                <a:solidFill>
                  <a:srgbClr val="465466"/>
                </a:solidFill>
                <a:latin typeface="Arial" panose="020B0604020202020204"/>
                <a:cs typeface="Arial" panose="020B0604020202020204"/>
              </a:rPr>
              <a:t>process</a:t>
            </a:r>
            <a:r>
              <a:rPr sz="2100" spc="180" dirty="0">
                <a:solidFill>
                  <a:srgbClr val="4654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spc="65" dirty="0">
                <a:solidFill>
                  <a:srgbClr val="465466"/>
                </a:solidFill>
                <a:latin typeface="Arial" panose="020B0604020202020204"/>
                <a:cs typeface="Arial" panose="020B0604020202020204"/>
              </a:rPr>
              <a:t>asynchronous</a:t>
            </a:r>
            <a:r>
              <a:rPr sz="2100" spc="505" dirty="0">
                <a:solidFill>
                  <a:srgbClr val="4654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dirty="0">
                <a:solidFill>
                  <a:srgbClr val="465466"/>
                </a:solidFill>
                <a:latin typeface="Arial" panose="020B0604020202020204"/>
                <a:cs typeface="Arial" panose="020B0604020202020204"/>
              </a:rPr>
              <a:t>signals</a:t>
            </a:r>
            <a:r>
              <a:rPr sz="2100" spc="270" dirty="0">
                <a:solidFill>
                  <a:srgbClr val="4654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spc="60" dirty="0">
                <a:solidFill>
                  <a:srgbClr val="465466"/>
                </a:solidFill>
                <a:latin typeface="Arial" panose="020B0604020202020204"/>
                <a:cs typeface="Arial" panose="020B0604020202020204"/>
              </a:rPr>
              <a:t>without </a:t>
            </a:r>
            <a:r>
              <a:rPr sz="2100" spc="45" dirty="0">
                <a:solidFill>
                  <a:srgbClr val="465466"/>
                </a:solidFill>
                <a:latin typeface="Arial" panose="020B0604020202020204"/>
                <a:cs typeface="Arial" panose="020B0604020202020204"/>
              </a:rPr>
              <a:t>blocking:</a:t>
            </a:r>
            <a:endParaRPr sz="21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57556" y="5425059"/>
            <a:ext cx="14417040" cy="3803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62255" indent="-249555">
              <a:lnSpc>
                <a:spcPct val="100000"/>
              </a:lnSpc>
              <a:spcBef>
                <a:spcPts val="125"/>
              </a:spcBef>
              <a:buClr>
                <a:srgbClr val="3B424F"/>
              </a:buClr>
              <a:buChar char="•"/>
              <a:tabLst>
                <a:tab pos="262255" algn="l"/>
                <a:tab pos="854710" algn="l"/>
              </a:tabLst>
            </a:pPr>
            <a:r>
              <a:rPr sz="1900" spc="60" dirty="0">
                <a:solidFill>
                  <a:srgbClr val="B1520C"/>
                </a:solidFill>
                <a:latin typeface="Arial" panose="020B0604020202020204"/>
                <a:cs typeface="Arial" panose="020B0604020202020204"/>
              </a:rPr>
              <a:t>✓</a:t>
            </a:r>
            <a:r>
              <a:rPr sz="1900" dirty="0">
                <a:solidFill>
                  <a:srgbClr val="B1520C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300" b="1" spc="55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t1</a:t>
            </a:r>
            <a:r>
              <a:rPr sz="2300" b="1" spc="-130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b="1" spc="50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1900" b="1" spc="105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b="1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Pollable</a:t>
            </a:r>
            <a:r>
              <a:rPr sz="1900" b="1" spc="-15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b="1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Interface:</a:t>
            </a:r>
            <a:r>
              <a:rPr sz="1900" b="1" spc="215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50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Defines</a:t>
            </a:r>
            <a:r>
              <a:rPr sz="2050" spc="190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50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050" spc="150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50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clean</a:t>
            </a:r>
            <a:r>
              <a:rPr sz="2050" spc="85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50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contract</a:t>
            </a:r>
            <a:r>
              <a:rPr sz="2050" spc="250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50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requiring</a:t>
            </a:r>
            <a:r>
              <a:rPr sz="2050" spc="295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50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concrete</a:t>
            </a:r>
            <a:r>
              <a:rPr sz="2050" spc="215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50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derivatives</a:t>
            </a:r>
            <a:r>
              <a:rPr sz="2050" spc="254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50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2050" spc="250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50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implement</a:t>
            </a:r>
            <a:r>
              <a:rPr sz="2050" spc="320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50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050" spc="165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50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lightweight</a:t>
            </a:r>
            <a:r>
              <a:rPr sz="2050" spc="260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pol</a:t>
            </a:r>
            <a:r>
              <a:rPr sz="1900" spc="-260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spc="-25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1()</a:t>
            </a:r>
            <a:endParaRPr sz="19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512290" y="5460496"/>
            <a:ext cx="989965" cy="3378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50" spc="-10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method.</a:t>
            </a:r>
            <a:endParaRPr sz="20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57556" y="6138651"/>
            <a:ext cx="17833975" cy="206121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269875" marR="386080" indent="-257810">
              <a:lnSpc>
                <a:spcPct val="124000"/>
              </a:lnSpc>
              <a:spcBef>
                <a:spcPts val="180"/>
              </a:spcBef>
              <a:buClr>
                <a:srgbClr val="3B424F"/>
              </a:buClr>
              <a:buChar char="•"/>
              <a:tabLst>
                <a:tab pos="838835" algn="l"/>
                <a:tab pos="848360" algn="l"/>
              </a:tabLst>
            </a:pPr>
            <a:r>
              <a:rPr sz="1900" spc="25" dirty="0">
                <a:solidFill>
                  <a:srgbClr val="B1520C"/>
                </a:solidFill>
                <a:latin typeface="Arial" panose="020B0604020202020204"/>
                <a:cs typeface="Arial" panose="020B0604020202020204"/>
              </a:rPr>
              <a:t>✓</a:t>
            </a:r>
            <a:r>
              <a:rPr sz="1900" dirty="0">
                <a:solidFill>
                  <a:srgbClr val="B1520C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300" b="1" spc="-95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oo</a:t>
            </a:r>
            <a:r>
              <a:rPr sz="2300" b="1" spc="-65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b="1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Centralized</a:t>
            </a:r>
            <a:r>
              <a:rPr sz="1900" b="1" spc="170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b="1" spc="100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Main</a:t>
            </a:r>
            <a:r>
              <a:rPr sz="1900" b="1" spc="-15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b="1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Loop:</a:t>
            </a:r>
            <a:r>
              <a:rPr sz="1900" b="1" spc="110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50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An</a:t>
            </a:r>
            <a:r>
              <a:rPr sz="2050" spc="-55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50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infinite</a:t>
            </a:r>
            <a:r>
              <a:rPr sz="2050" spc="140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50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execution</a:t>
            </a:r>
            <a:r>
              <a:rPr sz="2050" spc="185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50" spc="70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loop</a:t>
            </a:r>
            <a:r>
              <a:rPr sz="2050" spc="114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50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inside</a:t>
            </a:r>
            <a:r>
              <a:rPr sz="2050" spc="135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50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2050" spc="90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50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system</a:t>
            </a:r>
            <a:r>
              <a:rPr sz="2050" spc="165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50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entry</a:t>
            </a:r>
            <a:r>
              <a:rPr sz="2050" spc="229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50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point</a:t>
            </a:r>
            <a:r>
              <a:rPr sz="2050" spc="105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50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constantly</a:t>
            </a:r>
            <a:r>
              <a:rPr sz="2050" spc="325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50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executes</a:t>
            </a:r>
            <a:r>
              <a:rPr sz="2050" spc="190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50" spc="65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poll</a:t>
            </a:r>
            <a:r>
              <a:rPr sz="2050" spc="135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50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commands</a:t>
            </a:r>
            <a:r>
              <a:rPr sz="2050" spc="260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50" spc="85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on</a:t>
            </a:r>
            <a:r>
              <a:rPr sz="2050" spc="-15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50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each</a:t>
            </a:r>
            <a:r>
              <a:rPr sz="2050" spc="70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50" spc="-10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component, </a:t>
            </a:r>
            <a:r>
              <a:rPr sz="2050" spc="-10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		</a:t>
            </a:r>
            <a:r>
              <a:rPr sz="2050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catching</a:t>
            </a:r>
            <a:r>
              <a:rPr sz="2050" spc="180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50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hardware</a:t>
            </a:r>
            <a:r>
              <a:rPr sz="2050" spc="215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50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state</a:t>
            </a:r>
            <a:r>
              <a:rPr sz="2050" spc="35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50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transitions</a:t>
            </a:r>
            <a:r>
              <a:rPr sz="2050" spc="150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50" dirty="0">
                <a:solidFill>
                  <a:srgbClr val="465466"/>
                </a:solidFill>
                <a:latin typeface="Arial" panose="020B0604020202020204"/>
                <a:cs typeface="Arial" panose="020B0604020202020204"/>
              </a:rPr>
              <a:t>in</a:t>
            </a:r>
            <a:r>
              <a:rPr sz="2050" spc="75" dirty="0">
                <a:solidFill>
                  <a:srgbClr val="4654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50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real</a:t>
            </a:r>
            <a:r>
              <a:rPr sz="2050" spc="90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50" spc="-10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time.</a:t>
            </a:r>
            <a:endParaRPr sz="205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420"/>
              </a:spcBef>
              <a:buClr>
                <a:srgbClr val="3B424F"/>
              </a:buClr>
              <a:buFont typeface="Arial" panose="020B0604020202020204"/>
              <a:buChar char="•"/>
            </a:pPr>
            <a:endParaRPr sz="2050">
              <a:latin typeface="Arial" panose="020B0604020202020204"/>
              <a:cs typeface="Arial" panose="020B0604020202020204"/>
            </a:endParaRPr>
          </a:p>
          <a:p>
            <a:pPr marL="269875" marR="5080" indent="-257810">
              <a:lnSpc>
                <a:spcPct val="121000"/>
              </a:lnSpc>
              <a:buClr>
                <a:srgbClr val="3B424F"/>
              </a:buClr>
              <a:buChar char="•"/>
              <a:tabLst>
                <a:tab pos="838835" algn="l"/>
                <a:tab pos="854075" algn="l"/>
              </a:tabLst>
            </a:pPr>
            <a:r>
              <a:rPr sz="1900" spc="45" dirty="0">
                <a:solidFill>
                  <a:srgbClr val="B1520C"/>
                </a:solidFill>
                <a:latin typeface="Arial" panose="020B0604020202020204"/>
                <a:cs typeface="Arial" panose="020B0604020202020204"/>
              </a:rPr>
              <a:t>✓</a:t>
            </a:r>
            <a:r>
              <a:rPr sz="1900" dirty="0">
                <a:solidFill>
                  <a:srgbClr val="B1520C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50" b="1" spc="70" dirty="0">
                <a:solidFill>
                  <a:srgbClr val="3B424F"/>
                </a:solidFill>
                <a:latin typeface="Times New Roman" panose="02020603050405020304"/>
                <a:cs typeface="Times New Roman" panose="02020603050405020304"/>
              </a:rPr>
              <a:t>C</a:t>
            </a:r>
            <a:r>
              <a:rPr sz="2450" b="1" spc="320" dirty="0">
                <a:solidFill>
                  <a:srgbClr val="3B424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900" b="1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Asynchronous</a:t>
            </a:r>
            <a:r>
              <a:rPr sz="1900" b="1" spc="325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b="1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Decoupling:</a:t>
            </a:r>
            <a:r>
              <a:rPr sz="1900" b="1" spc="220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50" dirty="0">
                <a:solidFill>
                  <a:srgbClr val="313D75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2050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solating</a:t>
            </a:r>
            <a:r>
              <a:rPr sz="2050" spc="195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50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how</a:t>
            </a:r>
            <a:r>
              <a:rPr sz="2050" spc="160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50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data</a:t>
            </a:r>
            <a:r>
              <a:rPr sz="2050" spc="85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50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is</a:t>
            </a:r>
            <a:r>
              <a:rPr sz="2050" spc="175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50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retrieved</a:t>
            </a:r>
            <a:r>
              <a:rPr sz="2050" spc="335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50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(polling</a:t>
            </a:r>
            <a:r>
              <a:rPr sz="2050" spc="254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50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vs</a:t>
            </a:r>
            <a:r>
              <a:rPr sz="2050" spc="50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50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threading)</a:t>
            </a:r>
            <a:r>
              <a:rPr sz="2050" spc="430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50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ensures</a:t>
            </a:r>
            <a:r>
              <a:rPr sz="2050" spc="170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50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that</a:t>
            </a:r>
            <a:r>
              <a:rPr sz="2050" spc="95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50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changing</a:t>
            </a:r>
            <a:r>
              <a:rPr sz="2050" spc="210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50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2050" spc="60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50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hardware</a:t>
            </a:r>
            <a:r>
              <a:rPr sz="2050" spc="175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50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interface</a:t>
            </a:r>
            <a:r>
              <a:rPr sz="2050" spc="140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50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later</a:t>
            </a:r>
            <a:r>
              <a:rPr sz="2050" spc="250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50" spc="-10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requires </a:t>
            </a:r>
            <a:r>
              <a:rPr sz="2050" spc="-10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		</a:t>
            </a:r>
            <a:r>
              <a:rPr sz="2050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zero</a:t>
            </a:r>
            <a:r>
              <a:rPr sz="2050" spc="240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50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modifications</a:t>
            </a:r>
            <a:r>
              <a:rPr sz="2050" spc="295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50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2050" spc="305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50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our</a:t>
            </a:r>
            <a:r>
              <a:rPr sz="2050" spc="285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50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high-level</a:t>
            </a:r>
            <a:r>
              <a:rPr sz="2050" spc="380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50" spc="-10" dirty="0">
                <a:solidFill>
                  <a:srgbClr val="3B424F"/>
                </a:solidFill>
                <a:latin typeface="Arial" panose="020B0604020202020204"/>
                <a:cs typeface="Arial" panose="020B0604020202020204"/>
              </a:rPr>
              <a:t>policies.</a:t>
            </a:r>
            <a:endParaRPr sz="205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386732" y="1464835"/>
            <a:ext cx="330348" cy="17324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96801" y="4725074"/>
            <a:ext cx="3460791" cy="64574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96801" y="5670071"/>
            <a:ext cx="13780245" cy="64574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242738" y="1834954"/>
            <a:ext cx="960119" cy="0"/>
          </a:xfrm>
          <a:custGeom>
            <a:avLst/>
            <a:gdLst/>
            <a:ahLst/>
            <a:cxnLst/>
            <a:rect l="l" t="t" r="r" b="b"/>
            <a:pathLst>
              <a:path w="960119">
                <a:moveTo>
                  <a:pt x="0" y="0"/>
                </a:moveTo>
                <a:lnTo>
                  <a:pt x="959582" y="0"/>
                </a:lnTo>
              </a:path>
            </a:pathLst>
          </a:custGeom>
          <a:ln w="551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261500" y="877259"/>
            <a:ext cx="5087620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pc="225" dirty="0">
                <a:solidFill>
                  <a:srgbClr val="0F1523"/>
                </a:solidFill>
              </a:rPr>
              <a:t>Architectural</a:t>
            </a:r>
            <a:r>
              <a:rPr spc="195" dirty="0">
                <a:solidFill>
                  <a:srgbClr val="0F1523"/>
                </a:solidFill>
              </a:rPr>
              <a:t> </a:t>
            </a:r>
            <a:r>
              <a:rPr spc="229" dirty="0">
                <a:solidFill>
                  <a:srgbClr val="0F1523"/>
                </a:solidFill>
              </a:rPr>
              <a:t>Pra</a:t>
            </a:r>
            <a:endParaRPr spc="229" dirty="0">
              <a:solidFill>
                <a:srgbClr val="0F1523"/>
              </a:solidFill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32193" y="877259"/>
            <a:ext cx="5729605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4450" b="1" spc="459" dirty="0">
                <a:solidFill>
                  <a:srgbClr val="0F1523"/>
                </a:solidFill>
                <a:latin typeface="Arial" panose="020B0604020202020204"/>
                <a:cs typeface="Arial" panose="020B0604020202020204"/>
              </a:rPr>
              <a:t>matism</a:t>
            </a:r>
            <a:r>
              <a:rPr sz="4450" b="1" spc="50" dirty="0">
                <a:solidFill>
                  <a:srgbClr val="0F1523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450" b="1" spc="120" dirty="0">
                <a:solidFill>
                  <a:srgbClr val="0F1523"/>
                </a:solidFill>
                <a:latin typeface="Arial" panose="020B0604020202020204"/>
                <a:cs typeface="Arial" panose="020B0604020202020204"/>
              </a:rPr>
              <a:t>vs.</a:t>
            </a:r>
            <a:r>
              <a:rPr sz="4450" b="1" spc="-215" dirty="0">
                <a:solidFill>
                  <a:srgbClr val="0F1523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450" b="1" spc="145" dirty="0">
                <a:solidFill>
                  <a:srgbClr val="0F1523"/>
                </a:solidFill>
                <a:latin typeface="Arial" panose="020B0604020202020204"/>
                <a:cs typeface="Arial" panose="020B0604020202020204"/>
              </a:rPr>
              <a:t>Overkill</a:t>
            </a:r>
            <a:endParaRPr sz="4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25743" y="4713948"/>
            <a:ext cx="2914650" cy="160147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295"/>
              </a:spcBef>
            </a:pPr>
            <a:r>
              <a:rPr sz="1900" b="1" dirty="0">
                <a:solidFill>
                  <a:srgbClr val="0F1523"/>
                </a:solidFill>
                <a:latin typeface="Arial" panose="020B0604020202020204"/>
                <a:cs typeface="Arial" panose="020B0604020202020204"/>
              </a:rPr>
              <a:t>Procedural</a:t>
            </a:r>
            <a:r>
              <a:rPr sz="1900" b="1" spc="45" dirty="0">
                <a:solidFill>
                  <a:srgbClr val="0F1523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b="1" spc="80" dirty="0">
                <a:solidFill>
                  <a:srgbClr val="0F1523"/>
                </a:solidFill>
                <a:latin typeface="Arial" panose="020B0604020202020204"/>
                <a:cs typeface="Arial" panose="020B0604020202020204"/>
              </a:rPr>
              <a:t>FSM</a:t>
            </a:r>
            <a:r>
              <a:rPr sz="1900" b="1" spc="70" dirty="0">
                <a:solidFill>
                  <a:srgbClr val="0F1523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b="1" spc="50" dirty="0">
                <a:solidFill>
                  <a:srgbClr val="0F1523"/>
                </a:solidFill>
                <a:latin typeface="Arial" panose="020B0604020202020204"/>
                <a:cs typeface="Arial" panose="020B0604020202020204"/>
              </a:rPr>
              <a:t>State</a:t>
            </a:r>
            <a:endParaRPr sz="1900">
              <a:latin typeface="Arial" panose="020B0604020202020204"/>
              <a:cs typeface="Arial" panose="020B0604020202020204"/>
            </a:endParaRPr>
          </a:p>
          <a:p>
            <a:pPr marR="16510" algn="r">
              <a:lnSpc>
                <a:spcPct val="100000"/>
              </a:lnSpc>
              <a:spcBef>
                <a:spcPts val="200"/>
              </a:spcBef>
            </a:pPr>
            <a:r>
              <a:rPr sz="1900" b="1" spc="60" dirty="0">
                <a:solidFill>
                  <a:srgbClr val="0F1523"/>
                </a:solidFill>
                <a:latin typeface="Arial" panose="020B0604020202020204"/>
                <a:cs typeface="Arial" panose="020B0604020202020204"/>
              </a:rPr>
              <a:t>Machine</a:t>
            </a:r>
            <a:endParaRPr sz="19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435"/>
              </a:spcBef>
            </a:pPr>
            <a:endParaRPr sz="1900">
              <a:latin typeface="Arial" panose="020B0604020202020204"/>
              <a:cs typeface="Arial" panose="020B0604020202020204"/>
            </a:endParaRPr>
          </a:p>
          <a:p>
            <a:pPr marR="26035" algn="r">
              <a:lnSpc>
                <a:spcPct val="100000"/>
              </a:lnSpc>
            </a:pPr>
            <a:r>
              <a:rPr sz="1900" b="1" dirty="0">
                <a:solidFill>
                  <a:srgbClr val="0F1523"/>
                </a:solidFill>
                <a:latin typeface="Arial" panose="020B0604020202020204"/>
                <a:cs typeface="Arial" panose="020B0604020202020204"/>
              </a:rPr>
              <a:t>Polymorphic</a:t>
            </a:r>
            <a:r>
              <a:rPr sz="1900" b="1" spc="295" dirty="0">
                <a:solidFill>
                  <a:srgbClr val="0F1523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b="1" spc="-10" dirty="0">
                <a:solidFill>
                  <a:srgbClr val="0F1523"/>
                </a:solidFill>
                <a:latin typeface="Arial" panose="020B0604020202020204"/>
                <a:cs typeface="Arial" panose="020B0604020202020204"/>
              </a:rPr>
              <a:t>Decoupled</a:t>
            </a:r>
            <a:endParaRPr sz="1900">
              <a:latin typeface="Arial" panose="020B0604020202020204"/>
              <a:cs typeface="Arial" panose="020B0604020202020204"/>
            </a:endParaRPr>
          </a:p>
          <a:p>
            <a:pPr marR="109220" algn="r">
              <a:lnSpc>
                <a:spcPct val="100000"/>
              </a:lnSpc>
              <a:spcBef>
                <a:spcPts val="210"/>
              </a:spcBef>
            </a:pPr>
            <a:r>
              <a:rPr sz="1950" b="1" spc="-25" dirty="0">
                <a:solidFill>
                  <a:srgbClr val="0F1523"/>
                </a:solidFill>
                <a:latin typeface="Arial" panose="020B0604020202020204"/>
                <a:cs typeface="Arial" panose="020B0604020202020204"/>
              </a:rPr>
              <a:t>00D</a:t>
            </a:r>
            <a:endParaRPr sz="19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45965" y="6799243"/>
            <a:ext cx="15641319" cy="125476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35"/>
              </a:spcBef>
            </a:pPr>
            <a:r>
              <a:rPr sz="1950" dirty="0">
                <a:solidFill>
                  <a:srgbClr val="6B7582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1950" spc="114" dirty="0">
                <a:solidFill>
                  <a:srgbClr val="6B758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50" spc="55" dirty="0">
                <a:solidFill>
                  <a:srgbClr val="6B7582"/>
                </a:solidFill>
                <a:latin typeface="Arial" panose="020B0604020202020204"/>
                <a:cs typeface="Arial" panose="020B0604020202020204"/>
              </a:rPr>
              <a:t>"OOverkill"</a:t>
            </a:r>
            <a:r>
              <a:rPr sz="1950" spc="235" dirty="0">
                <a:solidFill>
                  <a:srgbClr val="6B758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50" spc="-10" dirty="0">
                <a:solidFill>
                  <a:srgbClr val="6B7582"/>
                </a:solidFill>
                <a:latin typeface="Arial" panose="020B0604020202020204"/>
                <a:cs typeface="Arial" panose="020B0604020202020204"/>
              </a:rPr>
              <a:t>Phenomenon</a:t>
            </a:r>
            <a:endParaRPr sz="1950">
              <a:latin typeface="Arial" panose="020B0604020202020204"/>
              <a:cs typeface="Arial" panose="020B0604020202020204"/>
            </a:endParaRPr>
          </a:p>
          <a:p>
            <a:pPr marL="12700" marR="5080" algn="ctr">
              <a:lnSpc>
                <a:spcPct val="131000"/>
              </a:lnSpc>
              <a:spcBef>
                <a:spcPts val="1355"/>
              </a:spcBef>
            </a:pPr>
            <a:r>
              <a:rPr sz="1900" spc="65" dirty="0">
                <a:solidFill>
                  <a:srgbClr val="505966"/>
                </a:solidFill>
                <a:latin typeface="Arial" panose="020B0604020202020204"/>
                <a:cs typeface="Arial" panose="020B0604020202020204"/>
              </a:rPr>
              <a:t>In</a:t>
            </a:r>
            <a:r>
              <a:rPr sz="1900" spc="-125" dirty="0">
                <a:solidFill>
                  <a:srgbClr val="5059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505966"/>
                </a:solidFill>
                <a:latin typeface="Arial" panose="020B0604020202020204"/>
                <a:cs typeface="Arial" panose="020B0604020202020204"/>
              </a:rPr>
              <a:t>tiny,</a:t>
            </a:r>
            <a:r>
              <a:rPr sz="1900" spc="25" dirty="0">
                <a:solidFill>
                  <a:srgbClr val="5059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spc="55" dirty="0">
                <a:solidFill>
                  <a:srgbClr val="574D4F"/>
                </a:solidFill>
                <a:latin typeface="Arial" panose="020B0604020202020204"/>
                <a:cs typeface="Arial" panose="020B0604020202020204"/>
              </a:rPr>
              <a:t>low-</a:t>
            </a:r>
            <a:r>
              <a:rPr sz="1900" spc="60" dirty="0">
                <a:solidFill>
                  <a:srgbClr val="574D4F"/>
                </a:solidFill>
                <a:latin typeface="Arial" panose="020B0604020202020204"/>
                <a:cs typeface="Arial" panose="020B0604020202020204"/>
              </a:rPr>
              <a:t>resource</a:t>
            </a:r>
            <a:r>
              <a:rPr sz="1900" spc="375" dirty="0">
                <a:solidFill>
                  <a:srgbClr val="574D4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505966"/>
                </a:solidFill>
                <a:latin typeface="Arial" panose="020B0604020202020204"/>
                <a:cs typeface="Arial" panose="020B0604020202020204"/>
              </a:rPr>
              <a:t>systems,</a:t>
            </a:r>
            <a:r>
              <a:rPr sz="1900" spc="140" dirty="0">
                <a:solidFill>
                  <a:srgbClr val="5059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505966"/>
                </a:solidFill>
                <a:latin typeface="Arial" panose="020B0604020202020204"/>
                <a:cs typeface="Arial" panose="020B0604020202020204"/>
              </a:rPr>
              <a:t>00D</a:t>
            </a:r>
            <a:r>
              <a:rPr sz="1900" spc="85" dirty="0">
                <a:solidFill>
                  <a:srgbClr val="505966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1900" dirty="0">
                <a:solidFill>
                  <a:srgbClr val="505966"/>
                </a:solidFill>
                <a:latin typeface="Arial" panose="020B0604020202020204"/>
                <a:cs typeface="Arial" panose="020B0604020202020204"/>
              </a:rPr>
              <a:t>boilerplate</a:t>
            </a:r>
            <a:r>
              <a:rPr sz="1900" spc="305" dirty="0">
                <a:solidFill>
                  <a:srgbClr val="5059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505966"/>
                </a:solidFill>
                <a:latin typeface="Arial" panose="020B0604020202020204"/>
                <a:cs typeface="Arial" panose="020B0604020202020204"/>
              </a:rPr>
              <a:t>might</a:t>
            </a:r>
            <a:r>
              <a:rPr sz="1900" spc="160" dirty="0">
                <a:solidFill>
                  <a:srgbClr val="5059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505966"/>
                </a:solidFill>
                <a:latin typeface="Arial" panose="020B0604020202020204"/>
                <a:cs typeface="Arial" panose="020B0604020202020204"/>
              </a:rPr>
              <a:t>be</a:t>
            </a:r>
            <a:r>
              <a:rPr sz="1900" spc="85" dirty="0">
                <a:solidFill>
                  <a:srgbClr val="5059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505966"/>
                </a:solidFill>
                <a:latin typeface="Arial" panose="020B0604020202020204"/>
                <a:cs typeface="Arial" panose="020B0604020202020204"/>
              </a:rPr>
              <a:t>overkill.</a:t>
            </a:r>
            <a:r>
              <a:rPr sz="1900" spc="85" dirty="0">
                <a:solidFill>
                  <a:srgbClr val="5059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505966"/>
                </a:solidFill>
                <a:latin typeface="Arial" panose="020B0604020202020204"/>
                <a:cs typeface="Arial" panose="020B0604020202020204"/>
              </a:rPr>
              <a:t>However,</a:t>
            </a:r>
            <a:r>
              <a:rPr sz="1900" spc="125" dirty="0">
                <a:solidFill>
                  <a:srgbClr val="5059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505966"/>
                </a:solidFill>
                <a:latin typeface="Arial" panose="020B0604020202020204"/>
                <a:cs typeface="Arial" panose="020B0604020202020204"/>
              </a:rPr>
              <a:t>as</a:t>
            </a:r>
            <a:r>
              <a:rPr sz="1900" spc="45" dirty="0">
                <a:solidFill>
                  <a:srgbClr val="5059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505966"/>
                </a:solidFill>
                <a:latin typeface="Arial" panose="020B0604020202020204"/>
                <a:cs typeface="Arial" panose="020B0604020202020204"/>
              </a:rPr>
              <a:t>business</a:t>
            </a:r>
            <a:r>
              <a:rPr sz="1900" spc="254" dirty="0">
                <a:solidFill>
                  <a:srgbClr val="5059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505966"/>
                </a:solidFill>
                <a:latin typeface="Arial" panose="020B0604020202020204"/>
                <a:cs typeface="Arial" panose="020B0604020202020204"/>
              </a:rPr>
              <a:t>variance</a:t>
            </a:r>
            <a:r>
              <a:rPr sz="1900" spc="190" dirty="0">
                <a:solidFill>
                  <a:srgbClr val="5059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505966"/>
                </a:solidFill>
                <a:latin typeface="Arial" panose="020B0604020202020204"/>
                <a:cs typeface="Arial" panose="020B0604020202020204"/>
              </a:rPr>
              <a:t>scale</a:t>
            </a:r>
            <a:r>
              <a:rPr sz="1900" spc="260" dirty="0">
                <a:solidFill>
                  <a:srgbClr val="5059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spc="-20" dirty="0">
                <a:solidFill>
                  <a:srgbClr val="505966"/>
                </a:solidFill>
                <a:latin typeface="Arial" panose="020B0604020202020204"/>
                <a:cs typeface="Arial" panose="020B0604020202020204"/>
              </a:rPr>
              <a:t>(e.g.,</a:t>
            </a:r>
            <a:r>
              <a:rPr sz="1900" spc="-35" dirty="0">
                <a:solidFill>
                  <a:srgbClr val="5059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spc="55" dirty="0">
                <a:solidFill>
                  <a:srgbClr val="505966"/>
                </a:solidFill>
                <a:latin typeface="Arial" panose="020B0604020202020204"/>
                <a:cs typeface="Arial" panose="020B0604020202020204"/>
              </a:rPr>
              <a:t>modifying</a:t>
            </a:r>
            <a:r>
              <a:rPr sz="1900" spc="25" dirty="0">
                <a:solidFill>
                  <a:srgbClr val="5059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spc="65" dirty="0">
                <a:solidFill>
                  <a:srgbClr val="505966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1900" spc="185" dirty="0">
                <a:solidFill>
                  <a:srgbClr val="5059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spc="65" dirty="0">
                <a:solidFill>
                  <a:srgbClr val="505966"/>
                </a:solidFill>
                <a:latin typeface="Arial" panose="020B0604020202020204"/>
                <a:cs typeface="Arial" panose="020B0604020202020204"/>
              </a:rPr>
              <a:t>drip</a:t>
            </a:r>
            <a:r>
              <a:rPr sz="1900" spc="50" dirty="0">
                <a:solidFill>
                  <a:srgbClr val="5059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505966"/>
                </a:solidFill>
                <a:latin typeface="Arial" panose="020B0604020202020204"/>
                <a:cs typeface="Arial" panose="020B0604020202020204"/>
              </a:rPr>
              <a:t>machine</a:t>
            </a:r>
            <a:r>
              <a:rPr sz="1900" spc="170" dirty="0">
                <a:solidFill>
                  <a:srgbClr val="5059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spc="55" dirty="0">
                <a:solidFill>
                  <a:srgbClr val="574D4F"/>
                </a:solidFill>
                <a:latin typeface="Arial" panose="020B0604020202020204"/>
                <a:cs typeface="Arial" panose="020B0604020202020204"/>
              </a:rPr>
              <a:t>into </a:t>
            </a:r>
            <a:r>
              <a:rPr sz="1900" dirty="0">
                <a:solidFill>
                  <a:srgbClr val="505966"/>
                </a:solidFill>
                <a:latin typeface="Arial" panose="020B0604020202020204"/>
                <a:cs typeface="Arial" panose="020B0604020202020204"/>
              </a:rPr>
              <a:t>an</a:t>
            </a:r>
            <a:r>
              <a:rPr sz="1900" spc="50" dirty="0">
                <a:solidFill>
                  <a:srgbClr val="5059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505966"/>
                </a:solidFill>
                <a:latin typeface="Arial" panose="020B0604020202020204"/>
                <a:cs typeface="Arial" panose="020B0604020202020204"/>
              </a:rPr>
              <a:t>automated</a:t>
            </a:r>
            <a:r>
              <a:rPr sz="1900" spc="240" dirty="0">
                <a:solidFill>
                  <a:srgbClr val="5059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505966"/>
                </a:solidFill>
                <a:latin typeface="Arial" panose="020B0604020202020204"/>
                <a:cs typeface="Arial" panose="020B0604020202020204"/>
              </a:rPr>
              <a:t>soup</a:t>
            </a:r>
            <a:r>
              <a:rPr sz="1900" spc="10" dirty="0">
                <a:solidFill>
                  <a:srgbClr val="5059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505966"/>
                </a:solidFill>
                <a:latin typeface="Arial" panose="020B0604020202020204"/>
                <a:cs typeface="Arial" panose="020B0604020202020204"/>
              </a:rPr>
              <a:t>maker),</a:t>
            </a:r>
            <a:r>
              <a:rPr sz="1900" spc="140" dirty="0">
                <a:solidFill>
                  <a:srgbClr val="5059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505966"/>
                </a:solidFill>
                <a:latin typeface="Arial" panose="020B0604020202020204"/>
                <a:cs typeface="Arial" panose="020B0604020202020204"/>
              </a:rPr>
              <a:t>dependency</a:t>
            </a:r>
            <a:r>
              <a:rPr sz="1900" spc="245" dirty="0">
                <a:solidFill>
                  <a:srgbClr val="5059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505966"/>
                </a:solidFill>
                <a:latin typeface="Arial" panose="020B0604020202020204"/>
                <a:cs typeface="Arial" panose="020B0604020202020204"/>
              </a:rPr>
              <a:t>decoupling</a:t>
            </a:r>
            <a:r>
              <a:rPr sz="1900" spc="250" dirty="0">
                <a:solidFill>
                  <a:srgbClr val="5059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spc="60" dirty="0">
                <a:solidFill>
                  <a:srgbClr val="505966"/>
                </a:solidFill>
                <a:latin typeface="Arial" panose="020B0604020202020204"/>
                <a:cs typeface="Arial" panose="020B0604020202020204"/>
              </a:rPr>
              <a:t>completely</a:t>
            </a:r>
            <a:r>
              <a:rPr sz="1900" spc="80" dirty="0">
                <a:solidFill>
                  <a:srgbClr val="5059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505966"/>
                </a:solidFill>
                <a:latin typeface="Arial" panose="020B0604020202020204"/>
                <a:cs typeface="Arial" panose="020B0604020202020204"/>
              </a:rPr>
              <a:t>pays</a:t>
            </a:r>
            <a:r>
              <a:rPr sz="1900" spc="130" dirty="0">
                <a:solidFill>
                  <a:srgbClr val="5059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505966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1900" spc="459" dirty="0">
                <a:solidFill>
                  <a:srgbClr val="5059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spc="50" dirty="0">
                <a:solidFill>
                  <a:srgbClr val="505966"/>
                </a:solidFill>
                <a:latin typeface="Arial" panose="020B0604020202020204"/>
                <a:cs typeface="Arial" panose="020B0604020202020204"/>
              </a:rPr>
              <a:t>itself.</a:t>
            </a:r>
            <a:endParaRPr sz="19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310258" y="1118337"/>
            <a:ext cx="346079" cy="503998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242738" y="1834954"/>
            <a:ext cx="960119" cy="0"/>
          </a:xfrm>
          <a:custGeom>
            <a:avLst/>
            <a:gdLst/>
            <a:ahLst/>
            <a:cxnLst/>
            <a:rect l="l" t="t" r="r" b="b"/>
            <a:pathLst>
              <a:path w="960119">
                <a:moveTo>
                  <a:pt x="0" y="0"/>
                </a:moveTo>
                <a:lnTo>
                  <a:pt x="959582" y="0"/>
                </a:lnTo>
              </a:path>
            </a:pathLst>
          </a:custGeom>
          <a:ln w="551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234883" y="877259"/>
            <a:ext cx="3072765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pc="365" dirty="0">
                <a:solidFill>
                  <a:srgbClr val="0E1626"/>
                </a:solidFill>
              </a:rPr>
              <a:t>Case</a:t>
            </a:r>
            <a:r>
              <a:rPr spc="-70" dirty="0">
                <a:solidFill>
                  <a:srgbClr val="0E1626"/>
                </a:solidFill>
              </a:rPr>
              <a:t> </a:t>
            </a:r>
            <a:r>
              <a:rPr spc="170" dirty="0">
                <a:solidFill>
                  <a:srgbClr val="0E1626"/>
                </a:solidFill>
              </a:rPr>
              <a:t>Stud</a:t>
            </a:r>
            <a:endParaRPr spc="170" dirty="0">
              <a:solidFill>
                <a:srgbClr val="0E1626"/>
              </a:solidFill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78923" y="877259"/>
            <a:ext cx="6661784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4450" b="1" spc="55" dirty="0">
                <a:solidFill>
                  <a:srgbClr val="0E1626"/>
                </a:solidFill>
                <a:latin typeface="Arial" panose="020B0604020202020204"/>
                <a:cs typeface="Arial" panose="020B0604020202020204"/>
              </a:rPr>
              <a:t>2:</a:t>
            </a:r>
            <a:r>
              <a:rPr sz="4450" b="1" spc="-350" dirty="0">
                <a:solidFill>
                  <a:srgbClr val="0E162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450" b="1" spc="150" dirty="0">
                <a:solidFill>
                  <a:srgbClr val="0E1626"/>
                </a:solidFill>
                <a:latin typeface="Arial" panose="020B0604020202020204"/>
                <a:cs typeface="Arial" panose="020B0604020202020204"/>
              </a:rPr>
              <a:t>Towers</a:t>
            </a:r>
            <a:r>
              <a:rPr sz="4450" b="1" spc="-15" dirty="0">
                <a:solidFill>
                  <a:srgbClr val="0E162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450" b="1" spc="80" dirty="0">
                <a:solidFill>
                  <a:srgbClr val="0E1626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4450" b="1" spc="-114" dirty="0">
                <a:solidFill>
                  <a:srgbClr val="0E162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450" b="1" spc="290" dirty="0">
                <a:solidFill>
                  <a:srgbClr val="0E1626"/>
                </a:solidFill>
                <a:latin typeface="Arial" panose="020B0604020202020204"/>
                <a:cs typeface="Arial" panose="020B0604020202020204"/>
              </a:rPr>
              <a:t>Hanoi</a:t>
            </a:r>
            <a:r>
              <a:rPr sz="4450" b="1" spc="-204" dirty="0">
                <a:solidFill>
                  <a:srgbClr val="0E162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450" b="1" spc="295" dirty="0">
                <a:solidFill>
                  <a:srgbClr val="0E1626"/>
                </a:solidFill>
                <a:latin typeface="Arial" panose="020B0604020202020204"/>
                <a:cs typeface="Arial" panose="020B0604020202020204"/>
              </a:rPr>
              <a:t>00D</a:t>
            </a:r>
            <a:endParaRPr sz="4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41305" y="3007443"/>
            <a:ext cx="10462895" cy="3327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000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Refining</a:t>
            </a:r>
            <a:r>
              <a:rPr sz="2000" spc="300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2000" spc="125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classical</a:t>
            </a:r>
            <a:r>
              <a:rPr sz="2000" spc="335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Towers</a:t>
            </a:r>
            <a:r>
              <a:rPr sz="2000" spc="260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2000" spc="450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Hanoi</a:t>
            </a:r>
            <a:r>
              <a:rPr sz="2000" spc="120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spc="60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into</a:t>
            </a:r>
            <a:r>
              <a:rPr sz="2000" spc="210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000" spc="165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decentralized</a:t>
            </a:r>
            <a:r>
              <a:rPr sz="2000" spc="400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spc="50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model</a:t>
            </a:r>
            <a:r>
              <a:rPr sz="2000" spc="265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2000" spc="365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interacting</a:t>
            </a:r>
            <a:r>
              <a:rPr sz="2000" spc="300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spc="-10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objects: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460658" y="4480062"/>
            <a:ext cx="5204460" cy="19875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255" algn="ctr">
              <a:lnSpc>
                <a:spcPct val="100000"/>
              </a:lnSpc>
              <a:spcBef>
                <a:spcPts val="95"/>
              </a:spcBef>
            </a:pPr>
            <a:r>
              <a:rPr sz="2600" b="1" spc="-85" dirty="0">
                <a:solidFill>
                  <a:srgbClr val="AE500E"/>
                </a:solidFill>
                <a:latin typeface="Arial" panose="020B0604020202020204"/>
                <a:cs typeface="Arial" panose="020B0604020202020204"/>
              </a:rPr>
              <a:t>Ring</a:t>
            </a:r>
            <a:r>
              <a:rPr sz="2600" b="1" spc="-95" dirty="0">
                <a:solidFill>
                  <a:srgbClr val="AE500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700" b="1" spc="60" dirty="0">
                <a:solidFill>
                  <a:srgbClr val="AE500E"/>
                </a:solidFill>
                <a:latin typeface="Times New Roman" panose="02020603050405020304"/>
                <a:cs typeface="Times New Roman" panose="02020603050405020304"/>
              </a:rPr>
              <a:t>l</a:t>
            </a:r>
            <a:r>
              <a:rPr sz="2700" b="1" spc="85" dirty="0">
                <a:solidFill>
                  <a:srgbClr val="AE500E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125" dirty="0">
                <a:solidFill>
                  <a:srgbClr val="AE500E"/>
                </a:solidFill>
                <a:latin typeface="Arial" panose="020B0604020202020204"/>
                <a:cs typeface="Arial" panose="020B0604020202020204"/>
              </a:rPr>
              <a:t>as</a:t>
            </a:r>
            <a:r>
              <a:rPr sz="2600" b="1" spc="-195" dirty="0">
                <a:solidFill>
                  <a:srgbClr val="AE500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spc="-65" dirty="0">
                <a:solidFill>
                  <a:srgbClr val="9E5221"/>
                </a:solidFill>
                <a:latin typeface="Arial" panose="020B0604020202020204"/>
                <a:cs typeface="Arial" panose="020B0604020202020204"/>
              </a:rPr>
              <a:t>''The</a:t>
            </a:r>
            <a:r>
              <a:rPr sz="2600" b="1" spc="-45" dirty="0">
                <a:solidFill>
                  <a:srgbClr val="9E52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spc="-10" dirty="0">
                <a:solidFill>
                  <a:srgbClr val="AE500E"/>
                </a:solidFill>
                <a:latin typeface="Arial" panose="020B0604020202020204"/>
                <a:cs typeface="Arial" panose="020B0604020202020204"/>
              </a:rPr>
              <a:t>Pacer··</a:t>
            </a:r>
            <a:endParaRPr sz="2600">
              <a:latin typeface="Arial" panose="020B0604020202020204"/>
              <a:cs typeface="Arial" panose="020B0604020202020204"/>
            </a:endParaRPr>
          </a:p>
          <a:p>
            <a:pPr marL="12700" marR="5080" indent="12700" algn="ctr">
              <a:lnSpc>
                <a:spcPct val="136000"/>
              </a:lnSpc>
              <a:spcBef>
                <a:spcPts val="1125"/>
              </a:spcBef>
            </a:pPr>
            <a:r>
              <a:rPr sz="1700" spc="50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Instead</a:t>
            </a:r>
            <a:r>
              <a:rPr sz="1700" spc="215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65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1700" spc="155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1700" spc="125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60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global</a:t>
            </a:r>
            <a:r>
              <a:rPr sz="1700" spc="65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50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orchestrator</a:t>
            </a:r>
            <a:r>
              <a:rPr sz="1700" spc="225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calculating</a:t>
            </a:r>
            <a:r>
              <a:rPr sz="1700" spc="200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65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math </a:t>
            </a:r>
            <a:r>
              <a:rPr sz="1700" spc="45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arrays,</a:t>
            </a:r>
            <a:r>
              <a:rPr sz="1700" spc="-25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1700" spc="235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smallest</a:t>
            </a:r>
            <a:r>
              <a:rPr sz="1700" spc="190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Ring</a:t>
            </a:r>
            <a:r>
              <a:rPr sz="1700" spc="155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(Size</a:t>
            </a:r>
            <a:r>
              <a:rPr sz="1700" spc="-80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3F5670"/>
                </a:solidFill>
                <a:latin typeface="Arial" panose="020B0604020202020204"/>
                <a:cs typeface="Arial" panose="020B0604020202020204"/>
              </a:rPr>
              <a:t>1)</a:t>
            </a:r>
            <a:r>
              <a:rPr sz="1700" spc="175" dirty="0">
                <a:solidFill>
                  <a:srgbClr val="3F567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85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acts</a:t>
            </a:r>
            <a:r>
              <a:rPr sz="1700" spc="20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as</a:t>
            </a:r>
            <a:r>
              <a:rPr sz="1700" spc="20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80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an</a:t>
            </a:r>
            <a:r>
              <a:rPr sz="1700" spc="-55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55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active </a:t>
            </a:r>
            <a:r>
              <a:rPr sz="1700" spc="70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pacing</a:t>
            </a:r>
            <a:r>
              <a:rPr sz="1700" spc="145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60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object</a:t>
            </a:r>
            <a:r>
              <a:rPr sz="1700" spc="114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60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executing</a:t>
            </a:r>
            <a:r>
              <a:rPr sz="1700" spc="90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60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moves</a:t>
            </a:r>
            <a:r>
              <a:rPr sz="1700" spc="50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80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on</a:t>
            </a:r>
            <a:r>
              <a:rPr sz="1700" spc="-75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70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every</a:t>
            </a:r>
            <a:r>
              <a:rPr sz="1700" spc="15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40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alternate </a:t>
            </a:r>
            <a:r>
              <a:rPr sz="1700" spc="50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turn.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765872" y="4338312"/>
            <a:ext cx="4921250" cy="16014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35"/>
              </a:spcBef>
            </a:pPr>
            <a:r>
              <a:rPr sz="2600" b="1" dirty="0">
                <a:solidFill>
                  <a:srgbClr val="AE500E"/>
                </a:solidFill>
                <a:latin typeface="Arial" panose="020B0604020202020204"/>
                <a:cs typeface="Arial" panose="020B0604020202020204"/>
              </a:rPr>
              <a:t>Decentralized</a:t>
            </a:r>
            <a:r>
              <a:rPr sz="2600" b="1" spc="610" dirty="0">
                <a:solidFill>
                  <a:srgbClr val="AE500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spc="-10" dirty="0">
                <a:solidFill>
                  <a:srgbClr val="AE500E"/>
                </a:solidFill>
                <a:latin typeface="Arial" panose="020B0604020202020204"/>
                <a:cs typeface="Arial" panose="020B0604020202020204"/>
              </a:rPr>
              <a:t>Logic</a:t>
            </a:r>
            <a:endParaRPr sz="2600">
              <a:latin typeface="Arial" panose="020B0604020202020204"/>
              <a:cs typeface="Arial" panose="020B0604020202020204"/>
            </a:endParaRPr>
          </a:p>
          <a:p>
            <a:pPr marL="12700" marR="5080" algn="ctr">
              <a:lnSpc>
                <a:spcPct val="132000"/>
              </a:lnSpc>
              <a:spcBef>
                <a:spcPts val="1150"/>
              </a:spcBef>
            </a:pPr>
            <a:r>
              <a:rPr sz="1700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Rings</a:t>
            </a:r>
            <a:r>
              <a:rPr sz="1700" spc="30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105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know</a:t>
            </a:r>
            <a:r>
              <a:rPr sz="1700" spc="95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50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their</a:t>
            </a:r>
            <a:r>
              <a:rPr sz="1700" spc="110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immutable</a:t>
            </a:r>
            <a:r>
              <a:rPr sz="1700" spc="270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size</a:t>
            </a:r>
            <a:r>
              <a:rPr sz="1700" spc="50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80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1700" spc="140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40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movement </a:t>
            </a:r>
            <a:r>
              <a:rPr sz="1700" spc="50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direction.</a:t>
            </a:r>
            <a:r>
              <a:rPr sz="1700" spc="75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Poles</a:t>
            </a:r>
            <a:r>
              <a:rPr sz="1700" spc="10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act</a:t>
            </a:r>
            <a:r>
              <a:rPr sz="1700" spc="335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70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as</a:t>
            </a:r>
            <a:r>
              <a:rPr sz="1700" spc="-75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50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validating</a:t>
            </a:r>
            <a:r>
              <a:rPr sz="1700" spc="175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85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stacks</a:t>
            </a:r>
            <a:r>
              <a:rPr sz="1700" spc="-90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70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that </a:t>
            </a:r>
            <a:r>
              <a:rPr sz="1700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defensively</a:t>
            </a:r>
            <a:r>
              <a:rPr sz="1700" spc="340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80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check</a:t>
            </a:r>
            <a:r>
              <a:rPr sz="1700" spc="160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60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ring</a:t>
            </a:r>
            <a:r>
              <a:rPr sz="1700" spc="215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55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stacking</a:t>
            </a:r>
            <a:r>
              <a:rPr sz="1700" spc="229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10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legality.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76287" y="6736243"/>
            <a:ext cx="5224145" cy="256603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R="462280" algn="ctr">
              <a:lnSpc>
                <a:spcPct val="100000"/>
              </a:lnSpc>
              <a:spcBef>
                <a:spcPts val="115"/>
              </a:spcBef>
            </a:pPr>
            <a:r>
              <a:rPr sz="4450" b="1" spc="145" dirty="0">
                <a:solidFill>
                  <a:srgbClr val="AE500E"/>
                </a:solidFill>
                <a:latin typeface="Arial" panose="020B0604020202020204"/>
                <a:cs typeface="Arial" panose="020B0604020202020204"/>
              </a:rPr>
              <a:t>0</a:t>
            </a:r>
            <a:endParaRPr sz="4450">
              <a:latin typeface="Arial" panose="020B0604020202020204"/>
              <a:cs typeface="Arial" panose="020B0604020202020204"/>
            </a:endParaRPr>
          </a:p>
          <a:p>
            <a:pPr marL="6350" algn="ctr">
              <a:lnSpc>
                <a:spcPct val="100000"/>
              </a:lnSpc>
              <a:spcBef>
                <a:spcPts val="2090"/>
              </a:spcBef>
            </a:pPr>
            <a:r>
              <a:rPr sz="2600" b="1" dirty="0">
                <a:solidFill>
                  <a:srgbClr val="AE500E"/>
                </a:solidFill>
                <a:latin typeface="Arial" panose="020B0604020202020204"/>
                <a:cs typeface="Arial" panose="020B0604020202020204"/>
              </a:rPr>
              <a:t>Circular</a:t>
            </a:r>
            <a:r>
              <a:rPr sz="2600" b="1" spc="-40" dirty="0">
                <a:solidFill>
                  <a:srgbClr val="AE500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spc="-60" dirty="0">
                <a:solidFill>
                  <a:srgbClr val="AE500E"/>
                </a:solidFill>
                <a:latin typeface="Arial" panose="020B0604020202020204"/>
                <a:cs typeface="Arial" panose="020B0604020202020204"/>
              </a:rPr>
              <a:t>Linked</a:t>
            </a:r>
            <a:r>
              <a:rPr sz="2600" b="1" spc="-20" dirty="0">
                <a:solidFill>
                  <a:srgbClr val="AE500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spc="-10" dirty="0">
                <a:solidFill>
                  <a:srgbClr val="AE500E"/>
                </a:solidFill>
                <a:latin typeface="Arial" panose="020B0604020202020204"/>
                <a:cs typeface="Arial" panose="020B0604020202020204"/>
              </a:rPr>
              <a:t>Poles</a:t>
            </a:r>
            <a:endParaRPr sz="2600">
              <a:latin typeface="Arial" panose="020B0604020202020204"/>
              <a:cs typeface="Arial" panose="020B0604020202020204"/>
            </a:endParaRPr>
          </a:p>
          <a:p>
            <a:pPr marL="12065" marR="5080" indent="27940" algn="ctr">
              <a:lnSpc>
                <a:spcPct val="137000"/>
              </a:lnSpc>
              <a:spcBef>
                <a:spcPts val="1060"/>
              </a:spcBef>
            </a:pPr>
            <a:r>
              <a:rPr sz="1700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Connecting</a:t>
            </a:r>
            <a:r>
              <a:rPr sz="1700" spc="400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Pole</a:t>
            </a:r>
            <a:r>
              <a:rPr sz="1700" spc="65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3F5670"/>
                </a:solidFill>
                <a:latin typeface="Arial" panose="020B0604020202020204"/>
                <a:cs typeface="Arial" panose="020B0604020202020204"/>
              </a:rPr>
              <a:t>instances</a:t>
            </a:r>
            <a:r>
              <a:rPr sz="1700" spc="185" dirty="0">
                <a:solidFill>
                  <a:srgbClr val="3F567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70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together</a:t>
            </a:r>
            <a:r>
              <a:rPr sz="1700" spc="215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60" dirty="0">
                <a:solidFill>
                  <a:srgbClr val="3F5670"/>
                </a:solidFill>
                <a:latin typeface="Arial" panose="020B0604020202020204"/>
                <a:cs typeface="Arial" panose="020B0604020202020204"/>
              </a:rPr>
              <a:t>in</a:t>
            </a:r>
            <a:r>
              <a:rPr sz="1700" spc="30" dirty="0">
                <a:solidFill>
                  <a:srgbClr val="3F567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100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1700" spc="165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40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spatial </a:t>
            </a:r>
            <a:r>
              <a:rPr sz="1700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circular</a:t>
            </a:r>
            <a:r>
              <a:rPr sz="1700" spc="90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60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ring</a:t>
            </a:r>
            <a:r>
              <a:rPr sz="1700" spc="120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60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structure</a:t>
            </a:r>
            <a:r>
              <a:rPr sz="1700" spc="90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(Pole</a:t>
            </a:r>
            <a:r>
              <a:rPr sz="1700" spc="-125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1700" spc="204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f""7</a:t>
            </a:r>
            <a:r>
              <a:rPr sz="1400" spc="220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Pole</a:t>
            </a:r>
            <a:r>
              <a:rPr sz="1700" spc="40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2</a:t>
            </a:r>
            <a:r>
              <a:rPr sz="1700" spc="375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f""7</a:t>
            </a:r>
            <a:r>
              <a:rPr sz="1400" spc="225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Pole</a:t>
            </a:r>
            <a:r>
              <a:rPr sz="1700" spc="15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25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3), </a:t>
            </a:r>
            <a:r>
              <a:rPr sz="1700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allowing</a:t>
            </a:r>
            <a:r>
              <a:rPr sz="1700" spc="370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automatic</a:t>
            </a:r>
            <a:r>
              <a:rPr sz="1700" spc="360" dirty="0">
                <a:solidFill>
                  <a:srgbClr val="54596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55" dirty="0">
                <a:solidFill>
                  <a:srgbClr val="3F5670"/>
                </a:solidFill>
                <a:latin typeface="Arial" panose="020B0604020202020204"/>
                <a:cs typeface="Arial" panose="020B0604020202020204"/>
              </a:rPr>
              <a:t>neighbor</a:t>
            </a:r>
            <a:r>
              <a:rPr sz="1700" spc="254" dirty="0">
                <a:solidFill>
                  <a:srgbClr val="3F567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10" dirty="0">
                <a:solidFill>
                  <a:srgbClr val="3F5670"/>
                </a:solidFill>
                <a:latin typeface="Arial" panose="020B0604020202020204"/>
                <a:cs typeface="Arial" panose="020B0604020202020204"/>
              </a:rPr>
              <a:t>resolution</a:t>
            </a:r>
            <a:r>
              <a:rPr sz="1700" spc="-10" dirty="0">
                <a:solidFill>
                  <a:srgbClr val="6B6E77"/>
                </a:solidFill>
                <a:latin typeface="Arial" panose="020B0604020202020204"/>
                <a:cs typeface="Arial" panose="020B0604020202020204"/>
              </a:rPr>
              <a:t>.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636867" y="6736243"/>
            <a:ext cx="365760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4450" b="1" spc="145" dirty="0">
                <a:solidFill>
                  <a:srgbClr val="AE500E"/>
                </a:solidFill>
                <a:latin typeface="Arial" panose="020B0604020202020204"/>
                <a:cs typeface="Arial" panose="020B0604020202020204"/>
              </a:rPr>
              <a:t>0</a:t>
            </a:r>
            <a:endParaRPr sz="4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803368" y="6736243"/>
            <a:ext cx="365760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4450" b="1" spc="145" dirty="0">
                <a:solidFill>
                  <a:srgbClr val="AE500E"/>
                </a:solidFill>
                <a:latin typeface="Arial" panose="020B0604020202020204"/>
                <a:cs typeface="Arial" panose="020B0604020202020204"/>
              </a:rPr>
              <a:t>0</a:t>
            </a:r>
            <a:endParaRPr sz="4450">
              <a:latin typeface="Arial" panose="020B0604020202020204"/>
              <a:cs typeface="Arial" panose="020B0604020202020204"/>
            </a:endParaRPr>
          </a:p>
        </p:txBody>
      </p:sp>
      <p:cxnSp>
        <p:nvCxnSpPr>
          <p:cNvPr id="12" name="Straight Connector 11"/>
          <p:cNvCxnSpPr/>
          <p:nvPr/>
        </p:nvCxnSpPr>
        <p:spPr>
          <a:xfrm>
            <a:off x="0" y="6774815"/>
            <a:ext cx="20110450" cy="228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564131" y="992333"/>
            <a:ext cx="1651741" cy="64574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04738" y="897836"/>
            <a:ext cx="204501" cy="69299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30629" y="897836"/>
            <a:ext cx="204501" cy="69299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242738" y="1834954"/>
            <a:ext cx="944244" cy="0"/>
          </a:xfrm>
          <a:custGeom>
            <a:avLst/>
            <a:gdLst/>
            <a:ahLst/>
            <a:cxnLst/>
            <a:rect l="l" t="t" r="r" b="b"/>
            <a:pathLst>
              <a:path w="944244">
                <a:moveTo>
                  <a:pt x="0" y="0"/>
                </a:moveTo>
                <a:lnTo>
                  <a:pt x="943851" y="0"/>
                </a:lnTo>
              </a:path>
            </a:pathLst>
          </a:custGeom>
          <a:ln w="551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210490" y="877259"/>
            <a:ext cx="1373505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5"/>
              </a:spcBef>
            </a:pPr>
            <a:r>
              <a:rPr spc="195" dirty="0">
                <a:solidFill>
                  <a:srgbClr val="0E1626"/>
                </a:solidFill>
              </a:rPr>
              <a:t>Des</a:t>
            </a:r>
            <a:r>
              <a:rPr spc="-869" dirty="0">
                <a:solidFill>
                  <a:srgbClr val="0E1626"/>
                </a:solidFill>
              </a:rPr>
              <a:t>i</a:t>
            </a:r>
            <a:r>
              <a:rPr sz="4950" b="0" spc="300" baseline="35000" dirty="0">
                <a:solidFill>
                  <a:srgbClr val="0E1626"/>
                </a:solidFill>
                <a:latin typeface="Arial" panose="020B0604020202020204"/>
                <a:cs typeface="Arial" panose="020B0604020202020204"/>
              </a:rPr>
              <a:t>•</a:t>
            </a:r>
            <a:endParaRPr sz="4950" baseline="35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33865" y="877259"/>
            <a:ext cx="4408805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3081020" algn="l"/>
              </a:tabLst>
            </a:pPr>
            <a:r>
              <a:rPr sz="4450" b="1" spc="285" dirty="0">
                <a:solidFill>
                  <a:srgbClr val="0E1626"/>
                </a:solidFill>
                <a:latin typeface="Arial" panose="020B0604020202020204"/>
                <a:cs typeface="Arial" panose="020B0604020202020204"/>
              </a:rPr>
              <a:t>Contract</a:t>
            </a:r>
            <a:r>
              <a:rPr sz="4450" b="1" dirty="0">
                <a:solidFill>
                  <a:srgbClr val="0E1626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4450" b="1" spc="365" dirty="0">
                <a:solidFill>
                  <a:srgbClr val="0E1626"/>
                </a:solidFill>
                <a:latin typeface="Arial" panose="020B0604020202020204"/>
                <a:cs typeface="Arial" panose="020B0604020202020204"/>
              </a:rPr>
              <a:t>DbC</a:t>
            </a:r>
            <a:endParaRPr sz="4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33339" y="4196767"/>
            <a:ext cx="2367915" cy="321945"/>
          </a:xfrm>
          <a:prstGeom prst="rect">
            <a:avLst/>
          </a:prstGeom>
          <a:solidFill>
            <a:srgbClr val="0F1526"/>
          </a:solidFill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5"/>
              </a:spcBef>
            </a:pPr>
            <a:r>
              <a:rPr sz="1750" b="1" spc="60" dirty="0">
                <a:solidFill>
                  <a:srgbClr val="F6F9F6"/>
                </a:solidFill>
                <a:latin typeface="Arial" panose="020B0604020202020204"/>
                <a:cs typeface="Arial" panose="020B0604020202020204"/>
              </a:rPr>
              <a:t>Contract</a:t>
            </a:r>
            <a:r>
              <a:rPr sz="1750" b="1" spc="65" dirty="0">
                <a:solidFill>
                  <a:srgbClr val="F6F9F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50" b="1" spc="40" dirty="0">
                <a:solidFill>
                  <a:srgbClr val="F6F9F6"/>
                </a:solidFill>
                <a:latin typeface="Arial" panose="020B0604020202020204"/>
                <a:cs typeface="Arial" panose="020B0604020202020204"/>
              </a:rPr>
              <a:t>Component</a:t>
            </a:r>
            <a:endParaRPr sz="17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40017" y="4196767"/>
            <a:ext cx="1792605" cy="321945"/>
          </a:xfrm>
          <a:prstGeom prst="rect">
            <a:avLst/>
          </a:prstGeom>
          <a:solidFill>
            <a:srgbClr val="0F1526"/>
          </a:solidFill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5"/>
              </a:spcBef>
            </a:pPr>
            <a:r>
              <a:rPr sz="1750" b="1" spc="-10" dirty="0">
                <a:solidFill>
                  <a:srgbClr val="F6F9F6"/>
                </a:solidFill>
                <a:latin typeface="Arial" panose="020B0604020202020204"/>
                <a:cs typeface="Arial" panose="020B0604020202020204"/>
              </a:rPr>
              <a:t>Responsibilities</a:t>
            </a:r>
            <a:endParaRPr sz="17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215014" y="4196767"/>
            <a:ext cx="2184400" cy="321945"/>
          </a:xfrm>
          <a:prstGeom prst="rect">
            <a:avLst/>
          </a:prstGeom>
          <a:solidFill>
            <a:srgbClr val="0F1526"/>
          </a:solidFill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5"/>
              </a:spcBef>
            </a:pPr>
            <a:r>
              <a:rPr sz="1750" b="1" dirty="0">
                <a:solidFill>
                  <a:srgbClr val="F6F9F6"/>
                </a:solidFill>
                <a:latin typeface="Arial" panose="020B0604020202020204"/>
                <a:cs typeface="Arial" panose="020B0604020202020204"/>
              </a:rPr>
              <a:t>Violations</a:t>
            </a:r>
            <a:r>
              <a:rPr sz="1750" b="1" spc="390" dirty="0">
                <a:solidFill>
                  <a:srgbClr val="F6F9F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50" b="1" spc="-10" dirty="0">
                <a:solidFill>
                  <a:srgbClr val="F6F9F6"/>
                </a:solidFill>
                <a:latin typeface="Arial" panose="020B0604020202020204"/>
                <a:cs typeface="Arial" panose="020B0604020202020204"/>
              </a:rPr>
              <a:t>Indicator</a:t>
            </a:r>
            <a:endParaRPr sz="17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22677" y="5204559"/>
            <a:ext cx="1720214" cy="2952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750" b="1" spc="60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Pre-</a:t>
            </a:r>
            <a:r>
              <a:rPr sz="1750" b="1" spc="55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conditions</a:t>
            </a:r>
            <a:endParaRPr sz="17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24304" y="5028161"/>
            <a:ext cx="5239385" cy="640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 marR="5080" indent="-3175">
              <a:lnSpc>
                <a:spcPct val="106000"/>
              </a:lnSpc>
              <a:spcBef>
                <a:spcPts val="100"/>
              </a:spcBef>
            </a:pPr>
            <a:r>
              <a:rPr sz="1900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Obligations</a:t>
            </a:r>
            <a:r>
              <a:rPr sz="1900" spc="210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spc="50" dirty="0">
                <a:solidFill>
                  <a:srgbClr val="49383B"/>
                </a:solidFill>
                <a:latin typeface="Arial" panose="020B0604020202020204"/>
                <a:cs typeface="Arial" panose="020B0604020202020204"/>
              </a:rPr>
              <a:t>placed </a:t>
            </a:r>
            <a:r>
              <a:rPr sz="1900" spc="60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on</a:t>
            </a:r>
            <a:r>
              <a:rPr sz="1900" spc="-35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spc="65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1900" spc="30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Client</a:t>
            </a:r>
            <a:r>
              <a:rPr sz="1900" spc="215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(caller)</a:t>
            </a:r>
            <a:r>
              <a:rPr sz="1900" spc="155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spc="-25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to </a:t>
            </a:r>
            <a:r>
              <a:rPr sz="1900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ensure</a:t>
            </a:r>
            <a:r>
              <a:rPr sz="1900" spc="114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spc="75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correct</a:t>
            </a:r>
            <a:r>
              <a:rPr sz="1900" spc="185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state</a:t>
            </a:r>
            <a:r>
              <a:rPr sz="1900" spc="10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spc="75" dirty="0">
                <a:solidFill>
                  <a:srgbClr val="49383B"/>
                </a:solidFill>
                <a:latin typeface="Arial" panose="020B0604020202020204"/>
                <a:cs typeface="Arial" panose="020B0604020202020204"/>
              </a:rPr>
              <a:t>before</a:t>
            </a:r>
            <a:r>
              <a:rPr sz="1900" spc="40" dirty="0">
                <a:solidFill>
                  <a:srgbClr val="49383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spc="50" dirty="0">
                <a:solidFill>
                  <a:srgbClr val="49383B"/>
                </a:solidFill>
                <a:latin typeface="Arial" panose="020B0604020202020204"/>
                <a:cs typeface="Arial" panose="020B0604020202020204"/>
              </a:rPr>
              <a:t>routine</a:t>
            </a:r>
            <a:r>
              <a:rPr sz="1900" spc="130" dirty="0">
                <a:solidFill>
                  <a:srgbClr val="49383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spc="-10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execution.</a:t>
            </a:r>
            <a:endParaRPr sz="19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14811" y="6543306"/>
            <a:ext cx="1837055" cy="2952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750" b="1" spc="55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Post-</a:t>
            </a:r>
            <a:r>
              <a:rPr sz="1750" b="1" spc="45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conditions</a:t>
            </a:r>
            <a:endParaRPr sz="17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024304" y="6209407"/>
            <a:ext cx="5175250" cy="93916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5240" marR="5080" indent="-3175">
              <a:lnSpc>
                <a:spcPct val="105000"/>
              </a:lnSpc>
              <a:spcBef>
                <a:spcPts val="130"/>
              </a:spcBef>
            </a:pPr>
            <a:r>
              <a:rPr sz="1900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Obligations</a:t>
            </a:r>
            <a:r>
              <a:rPr sz="1900" spc="215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spc="50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placed</a:t>
            </a:r>
            <a:r>
              <a:rPr sz="1900" spc="55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spc="60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on</a:t>
            </a:r>
            <a:r>
              <a:rPr sz="1900" spc="-30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spc="65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1900" spc="50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Supplier</a:t>
            </a:r>
            <a:r>
              <a:rPr sz="1900" spc="345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(routine)</a:t>
            </a:r>
            <a:r>
              <a:rPr sz="1900" spc="140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spc="-25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to </a:t>
            </a:r>
            <a:r>
              <a:rPr sz="1900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ensure</a:t>
            </a:r>
            <a:r>
              <a:rPr sz="1900" spc="240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clean</a:t>
            </a:r>
            <a:r>
              <a:rPr sz="1900" spc="175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output</a:t>
            </a:r>
            <a:r>
              <a:rPr sz="1900" spc="275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state</a:t>
            </a:r>
            <a:r>
              <a:rPr sz="1900" spc="185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after</a:t>
            </a:r>
            <a:r>
              <a:rPr sz="1900" spc="280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spc="55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successful </a:t>
            </a:r>
            <a:r>
              <a:rPr sz="1900" spc="-10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execution.</a:t>
            </a:r>
            <a:endParaRPr sz="19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620640" y="8031677"/>
            <a:ext cx="1843405" cy="2952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750" b="1" spc="50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Class</a:t>
            </a:r>
            <a:r>
              <a:rPr sz="1750" b="1" spc="5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50" b="1" spc="-10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Invariants</a:t>
            </a:r>
            <a:endParaRPr sz="17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024784" y="7708803"/>
            <a:ext cx="4754245" cy="92011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4605" marR="5080" indent="-2540">
              <a:lnSpc>
                <a:spcPct val="103000"/>
              </a:lnSpc>
              <a:spcBef>
                <a:spcPts val="15"/>
              </a:spcBef>
            </a:pPr>
            <a:r>
              <a:rPr sz="1900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State</a:t>
            </a:r>
            <a:r>
              <a:rPr sz="1900" spc="105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spc="65" dirty="0">
                <a:solidFill>
                  <a:srgbClr val="49383B"/>
                </a:solidFill>
                <a:latin typeface="Arial" panose="020B0604020202020204"/>
                <a:cs typeface="Arial" panose="020B0604020202020204"/>
              </a:rPr>
              <a:t>integrity</a:t>
            </a:r>
            <a:r>
              <a:rPr sz="1900" spc="130" dirty="0">
                <a:solidFill>
                  <a:srgbClr val="49383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assertions</a:t>
            </a:r>
            <a:r>
              <a:rPr sz="1900" spc="225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that</a:t>
            </a:r>
            <a:r>
              <a:rPr sz="1900" spc="150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must</a:t>
            </a:r>
            <a:r>
              <a:rPr sz="1900" spc="150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spc="40" dirty="0">
                <a:solidFill>
                  <a:srgbClr val="49383B"/>
                </a:solidFill>
                <a:latin typeface="Arial" panose="020B0604020202020204"/>
                <a:cs typeface="Arial" panose="020B0604020202020204"/>
              </a:rPr>
              <a:t>persist </a:t>
            </a:r>
            <a:r>
              <a:rPr sz="1900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across</a:t>
            </a:r>
            <a:r>
              <a:rPr sz="1900" spc="250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all</a:t>
            </a:r>
            <a:r>
              <a:rPr sz="1900" spc="135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externally</a:t>
            </a:r>
            <a:r>
              <a:rPr sz="1900" spc="260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observable</a:t>
            </a:r>
            <a:r>
              <a:rPr sz="1900" spc="315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spc="-10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transition</a:t>
            </a:r>
            <a:endParaRPr sz="1900">
              <a:latin typeface="Arial" panose="020B0604020202020204"/>
              <a:cs typeface="Arial" panose="020B0604020202020204"/>
            </a:endParaRPr>
          </a:p>
          <a:p>
            <a:pPr marL="15875">
              <a:lnSpc>
                <a:spcPct val="100000"/>
              </a:lnSpc>
              <a:spcBef>
                <a:spcPts val="140"/>
              </a:spcBef>
            </a:pPr>
            <a:r>
              <a:rPr sz="1900" spc="-10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states.</a:t>
            </a:r>
            <a:endParaRPr sz="19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187873" y="5196685"/>
            <a:ext cx="6181090" cy="3136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00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Indicates</a:t>
            </a:r>
            <a:r>
              <a:rPr sz="1900" spc="175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1900" spc="-25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spc="65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critical</a:t>
            </a:r>
            <a:r>
              <a:rPr sz="1900" spc="185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bug</a:t>
            </a:r>
            <a:r>
              <a:rPr sz="1900" spc="-40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49383B"/>
                </a:solidFill>
                <a:latin typeface="Arial" panose="020B0604020202020204"/>
                <a:cs typeface="Arial" panose="020B0604020202020204"/>
              </a:rPr>
              <a:t>inside</a:t>
            </a:r>
            <a:r>
              <a:rPr sz="1900" spc="110" dirty="0">
                <a:solidFill>
                  <a:srgbClr val="49383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spc="65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1900" spc="80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spc="45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calling</a:t>
            </a:r>
            <a:r>
              <a:rPr sz="1900" spc="55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spc="60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client</a:t>
            </a:r>
            <a:r>
              <a:rPr sz="1900" spc="170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spc="-10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module.</a:t>
            </a:r>
            <a:endParaRPr sz="19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186483" y="6351156"/>
            <a:ext cx="5616575" cy="640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70">
              <a:lnSpc>
                <a:spcPct val="106000"/>
              </a:lnSpc>
              <a:spcBef>
                <a:spcPts val="100"/>
              </a:spcBef>
            </a:pPr>
            <a:r>
              <a:rPr sz="1900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Indicates</a:t>
            </a:r>
            <a:r>
              <a:rPr sz="1900" spc="220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1900" spc="10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spc="65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critical</a:t>
            </a:r>
            <a:r>
              <a:rPr sz="1900" spc="229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bug </a:t>
            </a:r>
            <a:r>
              <a:rPr sz="1900" dirty="0">
                <a:solidFill>
                  <a:srgbClr val="49383B"/>
                </a:solidFill>
                <a:latin typeface="Arial" panose="020B0604020202020204"/>
                <a:cs typeface="Arial" panose="020B0604020202020204"/>
              </a:rPr>
              <a:t>inside</a:t>
            </a:r>
            <a:r>
              <a:rPr sz="1900" spc="150" dirty="0">
                <a:solidFill>
                  <a:srgbClr val="49383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spc="65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1900" spc="140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supplier</a:t>
            </a:r>
            <a:r>
              <a:rPr sz="1900" spc="335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spc="-10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method </a:t>
            </a:r>
            <a:r>
              <a:rPr sz="1900" spc="-10" dirty="0">
                <a:solidFill>
                  <a:srgbClr val="49383B"/>
                </a:solidFill>
                <a:latin typeface="Arial" panose="020B0604020202020204"/>
                <a:cs typeface="Arial" panose="020B0604020202020204"/>
              </a:rPr>
              <a:t>implementation.</a:t>
            </a:r>
            <a:endParaRPr sz="19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187873" y="7831652"/>
            <a:ext cx="6092825" cy="640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80" marR="5080" indent="-5715">
              <a:lnSpc>
                <a:spcPct val="106000"/>
              </a:lnSpc>
              <a:spcBef>
                <a:spcPts val="100"/>
              </a:spcBef>
            </a:pPr>
            <a:r>
              <a:rPr sz="1900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Indicates</a:t>
            </a:r>
            <a:r>
              <a:rPr sz="1900" spc="250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spc="60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corruption</a:t>
            </a:r>
            <a:r>
              <a:rPr sz="1900" spc="240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spc="50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1900" spc="370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system</a:t>
            </a:r>
            <a:r>
              <a:rPr sz="1900" spc="195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state;</a:t>
            </a:r>
            <a:r>
              <a:rPr sz="1900" spc="175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49383B"/>
                </a:solidFill>
                <a:latin typeface="Arial" panose="020B0604020202020204"/>
                <a:cs typeface="Arial" panose="020B0604020202020204"/>
              </a:rPr>
              <a:t>requires</a:t>
            </a:r>
            <a:r>
              <a:rPr sz="1900" spc="305" dirty="0">
                <a:solidFill>
                  <a:srgbClr val="49383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spc="65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fail-fast </a:t>
            </a:r>
            <a:r>
              <a:rPr sz="1900" spc="50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exception</a:t>
            </a:r>
            <a:r>
              <a:rPr sz="1900" spc="45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spc="50" dirty="0">
                <a:solidFill>
                  <a:srgbClr val="49383B"/>
                </a:solidFill>
                <a:latin typeface="Arial" panose="020B0604020202020204"/>
                <a:cs typeface="Arial" panose="020B0604020202020204"/>
              </a:rPr>
              <a:t>rescue</a:t>
            </a:r>
            <a:r>
              <a:rPr sz="1900" spc="40" dirty="0">
                <a:solidFill>
                  <a:srgbClr val="49383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spc="45" dirty="0">
                <a:solidFill>
                  <a:srgbClr val="3F4652"/>
                </a:solidFill>
                <a:latin typeface="Arial" panose="020B0604020202020204"/>
                <a:cs typeface="Arial" panose="020B0604020202020204"/>
              </a:rPr>
              <a:t>actions</a:t>
            </a:r>
            <a:r>
              <a:rPr sz="1900" spc="45" dirty="0">
                <a:solidFill>
                  <a:srgbClr val="2F2F2F"/>
                </a:solidFill>
                <a:latin typeface="Arial" panose="020B0604020202020204"/>
                <a:cs typeface="Arial" panose="020B0604020202020204"/>
              </a:rPr>
              <a:t>.</a:t>
            </a:r>
            <a:endParaRPr sz="19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5704</Words>
  <Application>WPS Presentation</Application>
  <PresentationFormat>On-screen Show (4:3)</PresentationFormat>
  <Paragraphs>159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SimSun</vt:lpstr>
      <vt:lpstr>Wingdings</vt:lpstr>
      <vt:lpstr>Arial</vt:lpstr>
      <vt:lpstr>Times New Roman</vt:lpstr>
      <vt:lpstr>Microsoft YaHei</vt:lpstr>
      <vt:lpstr>Arial Unicode MS</vt:lpstr>
      <vt:lpstr>Calibri</vt:lpstr>
      <vt:lpstr>Office Theme</vt:lpstr>
      <vt:lpstr>PowerPoint 演示文稿</vt:lpstr>
      <vt:lpstr>Case Stud	: Mark IV Coffee Maker</vt:lpstr>
      <vt:lpstr>Anal	Zin</vt:lpstr>
      <vt:lpstr>The Three Architectural Sins</vt:lpstr>
      <vt:lpstr>Re-architectin	: The Core Abstractions</vt:lpstr>
      <vt:lpstr>lnvert1•n</vt:lpstr>
      <vt:lpstr>The De</vt:lpstr>
      <vt:lpstr>Sin	le-Threaded Pollin</vt:lpstr>
      <vt:lpstr>Architectural Pra</vt:lpstr>
      <vt:lpstr>Case Stud</vt:lpstr>
      <vt:lpstr>Desi•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/>
  <cp:lastModifiedBy>WPS_1768210363</cp:lastModifiedBy>
  <cp:revision>2</cp:revision>
  <dcterms:created xsi:type="dcterms:W3CDTF">2026-06-22T04:56:55Z</dcterms:created>
  <dcterms:modified xsi:type="dcterms:W3CDTF">2026-06-22T04:57:03Z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2026-06-22T07:00:00Z</vt:filetime>
  </property>
  <property fmtid="{D5CDD505-2E9C-101B-9397-08002B2CF9AE}" pid="3" name="LastSaved">
    <vt:filetime>2026-06-22T07:00:00Z</vt:filetime>
  </property>
  <property fmtid="{D5CDD505-2E9C-101B-9397-08002B2CF9AE}" pid="4" name="ICV">
    <vt:lpwstr>543CF63F94BA49D7994556586B2EBC17_12</vt:lpwstr>
  </property>
  <property fmtid="{D5CDD505-2E9C-101B-9397-08002B2CF9AE}" pid="5" name="KSOProductBuildVer">
    <vt:lpwstr>1033-12.1.0.26880</vt:lpwstr>
  </property>
</Properties>
</file>