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  <p:sldMasterId id="2147483803" r:id="rId5"/>
  </p:sldMasterIdLst>
  <p:notesMasterIdLst>
    <p:notesMasterId r:id="rId78"/>
  </p:notesMasterIdLst>
  <p:handoutMasterIdLst>
    <p:handoutMasterId r:id="rId79"/>
  </p:handoutMasterIdLst>
  <p:sldIdLst>
    <p:sldId id="481" r:id="rId6"/>
    <p:sldId id="529" r:id="rId7"/>
    <p:sldId id="530" r:id="rId8"/>
    <p:sldId id="537" r:id="rId9"/>
    <p:sldId id="536" r:id="rId10"/>
    <p:sldId id="361" r:id="rId11"/>
    <p:sldId id="482" r:id="rId12"/>
    <p:sldId id="532" r:id="rId13"/>
    <p:sldId id="483" r:id="rId14"/>
    <p:sldId id="348" r:id="rId15"/>
    <p:sldId id="541" r:id="rId16"/>
    <p:sldId id="533" r:id="rId17"/>
    <p:sldId id="475" r:id="rId18"/>
    <p:sldId id="491" r:id="rId19"/>
    <p:sldId id="357" r:id="rId20"/>
    <p:sldId id="294" r:id="rId21"/>
    <p:sldId id="461" r:id="rId22"/>
    <p:sldId id="386" r:id="rId23"/>
    <p:sldId id="448" r:id="rId24"/>
    <p:sldId id="449" r:id="rId25"/>
    <p:sldId id="295" r:id="rId26"/>
    <p:sldId id="492" r:id="rId27"/>
    <p:sldId id="471" r:id="rId28"/>
    <p:sldId id="459" r:id="rId29"/>
    <p:sldId id="462" r:id="rId30"/>
    <p:sldId id="463" r:id="rId31"/>
    <p:sldId id="421" r:id="rId32"/>
    <p:sldId id="465" r:id="rId33"/>
    <p:sldId id="464" r:id="rId34"/>
    <p:sldId id="473" r:id="rId35"/>
    <p:sldId id="493" r:id="rId36"/>
    <p:sldId id="431" r:id="rId37"/>
    <p:sldId id="496" r:id="rId38"/>
    <p:sldId id="497" r:id="rId39"/>
    <p:sldId id="494" r:id="rId40"/>
    <p:sldId id="513" r:id="rId41"/>
    <p:sldId id="488" r:id="rId42"/>
    <p:sldId id="489" r:id="rId43"/>
    <p:sldId id="490" r:id="rId44"/>
    <p:sldId id="501" r:id="rId45"/>
    <p:sldId id="502" r:id="rId46"/>
    <p:sldId id="503" r:id="rId47"/>
    <p:sldId id="504" r:id="rId48"/>
    <p:sldId id="505" r:id="rId49"/>
    <p:sldId id="506" r:id="rId50"/>
    <p:sldId id="507" r:id="rId51"/>
    <p:sldId id="508" r:id="rId52"/>
    <p:sldId id="509" r:id="rId53"/>
    <p:sldId id="510" r:id="rId54"/>
    <p:sldId id="511" r:id="rId55"/>
    <p:sldId id="512" r:id="rId56"/>
    <p:sldId id="514" r:id="rId57"/>
    <p:sldId id="515" r:id="rId58"/>
    <p:sldId id="527" r:id="rId59"/>
    <p:sldId id="525" r:id="rId60"/>
    <p:sldId id="526" r:id="rId61"/>
    <p:sldId id="495" r:id="rId62"/>
    <p:sldId id="499" r:id="rId63"/>
    <p:sldId id="516" r:id="rId64"/>
    <p:sldId id="517" r:id="rId65"/>
    <p:sldId id="518" r:id="rId66"/>
    <p:sldId id="519" r:id="rId67"/>
    <p:sldId id="520" r:id="rId68"/>
    <p:sldId id="521" r:id="rId69"/>
    <p:sldId id="522" r:id="rId70"/>
    <p:sldId id="523" r:id="rId71"/>
    <p:sldId id="528" r:id="rId72"/>
    <p:sldId id="500" r:id="rId73"/>
    <p:sldId id="539" r:id="rId74"/>
    <p:sldId id="538" r:id="rId75"/>
    <p:sldId id="540" r:id="rId76"/>
    <p:sldId id="531" r:id="rId77"/>
  </p:sldIdLst>
  <p:sldSz cx="9144000" cy="6858000" type="screen4x3"/>
  <p:notesSz cx="6797675" cy="99282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9866CC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olman" initials="a" lastIdx="1" clrIdx="0"/>
  <p:cmAuthor id="1" name="Alan" initials="A" lastIdx="4" clrIdx="1"/>
  <p:cmAuthor id="2" name="Alan" initials="AC" lastIdx="5" clrIdx="2"/>
  <p:cmAuthor id="3" name="Alan Colman" initials="AC" lastIdx="1" clrIdx="3"/>
  <p:cmAuthor id="4" name="Alan Colman" initials="ac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B47F"/>
    <a:srgbClr val="8B60FF"/>
    <a:srgbClr val="F5B659"/>
    <a:srgbClr val="F5B76E"/>
    <a:srgbClr val="FF0000"/>
    <a:srgbClr val="CF2226"/>
    <a:srgbClr val="FF53A9"/>
    <a:srgbClr val="FFFA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7CC98-47AE-461D-A1A5-DB9931FD0F58}" v="1" dt="2023-05-03T06:35:44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45" autoAdjust="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tableStyles" Target="tableStyle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commentAuthors" Target="commentAuthors.xml"/><Relationship Id="rId85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61" Type="http://schemas.openxmlformats.org/officeDocument/2006/relationships/slide" Target="slides/slide56.xml"/><Relationship Id="rId8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Han" userId="8aacc029-7e41-4d49-9628-1f9ebc80f0c9" providerId="ADAL" clId="{6DF7CC98-47AE-461D-A1A5-DB9931FD0F58}"/>
    <pc:docChg chg="modSld">
      <pc:chgData name="Jun Han" userId="8aacc029-7e41-4d49-9628-1f9ebc80f0c9" providerId="ADAL" clId="{6DF7CC98-47AE-461D-A1A5-DB9931FD0F58}" dt="2023-05-10T23:23:26.199" v="90" actId="20577"/>
      <pc:docMkLst>
        <pc:docMk/>
      </pc:docMkLst>
      <pc:sldChg chg="modSp mod">
        <pc:chgData name="Jun Han" userId="8aacc029-7e41-4d49-9628-1f9ebc80f0c9" providerId="ADAL" clId="{6DF7CC98-47AE-461D-A1A5-DB9931FD0F58}" dt="2023-05-10T08:02:30.412" v="59" actId="20577"/>
        <pc:sldMkLst>
          <pc:docMk/>
          <pc:sldMk cId="0" sldId="361"/>
        </pc:sldMkLst>
        <pc:spChg chg="mod">
          <ac:chgData name="Jun Han" userId="8aacc029-7e41-4d49-9628-1f9ebc80f0c9" providerId="ADAL" clId="{6DF7CC98-47AE-461D-A1A5-DB9931FD0F58}" dt="2023-05-10T08:02:30.412" v="59" actId="20577"/>
          <ac:spMkLst>
            <pc:docMk/>
            <pc:sldMk cId="0" sldId="361"/>
            <ac:spMk id="4100" creationId="{00000000-0000-0000-0000-000000000000}"/>
          </ac:spMkLst>
        </pc:spChg>
      </pc:sldChg>
      <pc:sldChg chg="modSp mod">
        <pc:chgData name="Jun Han" userId="8aacc029-7e41-4d49-9628-1f9ebc80f0c9" providerId="ADAL" clId="{6DF7CC98-47AE-461D-A1A5-DB9931FD0F58}" dt="2023-05-10T23:23:26.199" v="90" actId="20577"/>
        <pc:sldMkLst>
          <pc:docMk/>
          <pc:sldMk cId="3454784017" sldId="529"/>
        </pc:sldMkLst>
        <pc:spChg chg="mod">
          <ac:chgData name="Jun Han" userId="8aacc029-7e41-4d49-9628-1f9ebc80f0c9" providerId="ADAL" clId="{6DF7CC98-47AE-461D-A1A5-DB9931FD0F58}" dt="2023-05-10T23:23:26.199" v="90" actId="20577"/>
          <ac:spMkLst>
            <pc:docMk/>
            <pc:sldMk cId="3454784017" sldId="529"/>
            <ac:spMk id="6" creationId="{00000000-0000-0000-0000-000000000000}"/>
          </ac:spMkLst>
        </pc:spChg>
      </pc:sldChg>
      <pc:sldChg chg="modSp mod">
        <pc:chgData name="Jun Han" userId="8aacc029-7e41-4d49-9628-1f9ebc80f0c9" providerId="ADAL" clId="{6DF7CC98-47AE-461D-A1A5-DB9931FD0F58}" dt="2023-05-10T08:32:38.657" v="79" actId="20577"/>
        <pc:sldMkLst>
          <pc:docMk/>
          <pc:sldMk cId="2875044985" sldId="531"/>
        </pc:sldMkLst>
        <pc:spChg chg="mod">
          <ac:chgData name="Jun Han" userId="8aacc029-7e41-4d49-9628-1f9ebc80f0c9" providerId="ADAL" clId="{6DF7CC98-47AE-461D-A1A5-DB9931FD0F58}" dt="2023-05-10T08:32:38.657" v="79" actId="20577"/>
          <ac:spMkLst>
            <pc:docMk/>
            <pc:sldMk cId="2875044985" sldId="531"/>
            <ac:spMk id="729091" creationId="{00000000-0000-0000-0000-000000000000}"/>
          </ac:spMkLst>
        </pc:spChg>
      </pc:sldChg>
      <pc:sldChg chg="modSp mod">
        <pc:chgData name="Jun Han" userId="8aacc029-7e41-4d49-9628-1f9ebc80f0c9" providerId="ADAL" clId="{6DF7CC98-47AE-461D-A1A5-DB9931FD0F58}" dt="2023-05-10T08:04:17.843" v="61" actId="20577"/>
        <pc:sldMkLst>
          <pc:docMk/>
          <pc:sldMk cId="2918588425" sldId="532"/>
        </pc:sldMkLst>
        <pc:spChg chg="mod">
          <ac:chgData name="Jun Han" userId="8aacc029-7e41-4d49-9628-1f9ebc80f0c9" providerId="ADAL" clId="{6DF7CC98-47AE-461D-A1A5-DB9931FD0F58}" dt="2023-05-10T08:04:17.843" v="61" actId="20577"/>
          <ac:spMkLst>
            <pc:docMk/>
            <pc:sldMk cId="2918588425" sldId="532"/>
            <ac:spMk id="3" creationId="{00000000-0000-0000-0000-000000000000}"/>
          </ac:spMkLst>
        </pc:spChg>
      </pc:sldChg>
      <pc:sldChg chg="modSp mod">
        <pc:chgData name="Jun Han" userId="8aacc029-7e41-4d49-9628-1f9ebc80f0c9" providerId="ADAL" clId="{6DF7CC98-47AE-461D-A1A5-DB9931FD0F58}" dt="2023-05-10T08:06:47.693" v="63" actId="20577"/>
        <pc:sldMkLst>
          <pc:docMk/>
          <pc:sldMk cId="1473390602" sldId="541"/>
        </pc:sldMkLst>
        <pc:spChg chg="mod">
          <ac:chgData name="Jun Han" userId="8aacc029-7e41-4d49-9628-1f9ebc80f0c9" providerId="ADAL" clId="{6DF7CC98-47AE-461D-A1A5-DB9931FD0F58}" dt="2023-05-10T08:06:47.693" v="63" actId="20577"/>
          <ac:spMkLst>
            <pc:docMk/>
            <pc:sldMk cId="1473390602" sldId="541"/>
            <ac:spMk id="2150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89" cy="49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830">
              <a:defRPr sz="1300">
                <a:latin typeface="Tahoma" charset="0"/>
              </a:defRPr>
            </a:lvl1pPr>
          </a:lstStyle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487" y="0"/>
            <a:ext cx="2946188" cy="49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830">
              <a:defRPr sz="1300"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3083"/>
            <a:ext cx="2946189" cy="49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830">
              <a:defRPr sz="1300">
                <a:latin typeface="Tahoma" charset="0"/>
              </a:defRPr>
            </a:lvl1pPr>
          </a:lstStyle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487" y="9433083"/>
            <a:ext cx="2946188" cy="49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830">
              <a:defRPr sz="1300">
                <a:latin typeface="Tahoma" charset="0"/>
              </a:defRPr>
            </a:lvl1pPr>
          </a:lstStyle>
          <a:p>
            <a:pPr>
              <a:defRPr/>
            </a:pPr>
            <a:fld id="{301281F7-EA47-4F82-A3E8-44B7BAF318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11589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89" cy="49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defTabSz="955830">
              <a:defRPr sz="1300">
                <a:latin typeface="Tahoma" charset="0"/>
              </a:defRPr>
            </a:lvl1pPr>
          </a:lstStyle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87" y="0"/>
            <a:ext cx="2946188" cy="49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 defTabSz="955830">
              <a:defRPr sz="1300">
                <a:latin typeface="Tahoma" charset="0"/>
              </a:defRPr>
            </a:lvl1pPr>
          </a:lstStyle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2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298" y="4714955"/>
            <a:ext cx="4987079" cy="4467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3083"/>
            <a:ext cx="2946189" cy="49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defTabSz="955830">
              <a:defRPr sz="1300">
                <a:latin typeface="Tahoma" charset="0"/>
              </a:defRPr>
            </a:lvl1pPr>
          </a:lstStyle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87" y="9433083"/>
            <a:ext cx="2946188" cy="495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defTabSz="955830">
              <a:defRPr sz="1300">
                <a:latin typeface="Tahoma" charset="0"/>
              </a:defRPr>
            </a:lvl1pPr>
          </a:lstStyle>
          <a:p>
            <a:pPr>
              <a:defRPr/>
            </a:pPr>
            <a:fld id="{E7F97851-8661-442C-BB3F-EF9CF6BE5C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15259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rPr>
              <a:t>SWE30003 Software Architectures and Design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S1 2023</a:t>
            </a:r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+mn-cs"/>
              </a:rPr>
              <a:t>© Swinburne University of Technology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E2CABA-34E4-4CEA-A90A-DFE5628FA697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/>
          </a:extLst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7947" tIns="43973" rIns="87947" bIns="43973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486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5695" indent="-298344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93376" indent="-238674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70727" indent="-238674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48076" indent="-238674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625427" indent="-23867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102778" indent="-23867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80126" indent="-23867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4057477" indent="-23867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AU" altLang="en-US" sz="1200">
                <a:latin typeface="Times New Roman" panose="02020603050405020304" pitchFamily="18" charset="0"/>
              </a:rPr>
              <a:t>SWE30003 Software Architectures and Design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75695" indent="-298344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93376" indent="-238674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70727" indent="-238674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148076" indent="-238674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625427" indent="-23867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102778" indent="-23867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580126" indent="-23867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4057477" indent="-238674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200">
                <a:latin typeface="Times New Roman" panose="02020603050405020304" pitchFamily="18" charset="0"/>
              </a:rPr>
              <a:t>S1 2023</a:t>
            </a:r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19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805529" indent="-309948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239785" indent="-246963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735368" indent="-246963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232608" indent="-246963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709957" indent="-24696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187308" indent="-24696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664658" indent="-24696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4142008" indent="-24696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AU" altLang="en-US" sz="1200">
                <a:latin typeface="Times New Roman" panose="02020603050405020304" pitchFamily="18" charset="0"/>
              </a:rPr>
              <a:t>© Swinburne University of Technology</a:t>
            </a:r>
          </a:p>
        </p:txBody>
      </p:sp>
      <p:sp>
        <p:nvSpPr>
          <p:cNvPr id="819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805529" indent="-309948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239785" indent="-246963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735368" indent="-246963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232608" indent="-246963"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709957" indent="-24696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3187308" indent="-24696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664658" indent="-24696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4142008" indent="-24696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051AE316-03EB-4DB0-BC0E-50C3BE04CF22}" type="slidenum">
              <a:rPr lang="en-AU" altLang="en-US" sz="1200">
                <a:latin typeface="Times New Roman" panose="02020603050405020304" pitchFamily="18" charset="0"/>
              </a:rPr>
              <a:pPr>
                <a:defRPr/>
              </a:pPr>
              <a:t>2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81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2988" y="800100"/>
            <a:ext cx="5340350" cy="4005263"/>
          </a:xfrm>
          <a:solidFill>
            <a:srgbClr val="FFFFFF"/>
          </a:solidFill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9013" y="5072063"/>
            <a:ext cx="5445125" cy="480536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103397" tIns="51698" rIns="103397" bIns="51698"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456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AU" sz="1200">
                <a:latin typeface="Times New Roman" pitchFamily="18" charset="0"/>
              </a:rPr>
              <a:t>© Swinburne University of Technology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30697573-215B-4A06-9954-42927F5F5DCD}" type="slidenum">
              <a:rPr lang="en-AU" altLang="en-US" sz="1200" smtClean="0">
                <a:latin typeface="Times New Roman" panose="02020603050405020304" pitchFamily="18" charset="0"/>
              </a:rPr>
              <a:pPr>
                <a:defRPr/>
              </a:pPr>
              <a:t>3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2704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/>
          </a:extLst>
        </p:spPr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7947" tIns="43973" rIns="87947" bIns="43973"/>
          <a:lstStyle/>
          <a:p>
            <a:pPr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892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AU" sz="1200">
                <a:latin typeface="Times New Roman" pitchFamily="18" charset="0"/>
              </a:rPr>
              <a:t>© Swinburne University of Technology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7F17B193-9394-4F01-A8AB-B3B69BCDBA4E}" type="slidenum">
              <a:rPr lang="en-AU" altLang="en-US" sz="1200" smtClean="0">
                <a:latin typeface="Times New Roman" panose="02020603050405020304" pitchFamily="18" charset="0"/>
              </a:rPr>
              <a:pPr>
                <a:defRPr/>
              </a:pPr>
              <a:t>4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3011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/>
          </a:extLst>
        </p:spPr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7947" tIns="43973" rIns="87947" bIns="43973"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704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22595C00-FE0B-4249-B0FB-2266DCC67860}" type="slidenum">
              <a:rPr lang="en-GB" sz="1300" smtClean="0"/>
              <a:pPr eaLnBrk="1" hangingPunct="1"/>
              <a:t>13</a:t>
            </a:fld>
            <a:endParaRPr lang="en-GB" sz="13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768" y="4714955"/>
            <a:ext cx="5438140" cy="446738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C28B49C5-B58A-4282-A2E2-0116C81341ED}" type="slidenum">
              <a:rPr lang="en-GB" sz="1300" smtClean="0"/>
              <a:pPr eaLnBrk="1" hangingPunct="1"/>
              <a:t>16</a:t>
            </a:fld>
            <a:endParaRPr lang="en-GB" sz="13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757975BB-6DA3-463B-B32C-1D47D536456E}" type="slidenum">
              <a:rPr lang="en-GB" sz="1300" smtClean="0"/>
              <a:pPr eaLnBrk="1" hangingPunct="1"/>
              <a:t>17</a:t>
            </a:fld>
            <a:endParaRPr lang="en-GB" sz="13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6D370DF1-C2AF-439C-A469-52FABEAC09A2}" type="slidenum">
              <a:rPr lang="en-GB" sz="1300" smtClean="0"/>
              <a:pPr eaLnBrk="1" hangingPunct="1"/>
              <a:t>18</a:t>
            </a:fld>
            <a:endParaRPr lang="en-GB" sz="13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5A59D3BD-F69A-4518-BE72-951D62851FC2}" type="slidenum">
              <a:rPr lang="en-GB" sz="1300" smtClean="0"/>
              <a:pPr eaLnBrk="1" hangingPunct="1"/>
              <a:t>19</a:t>
            </a:fld>
            <a:endParaRPr lang="en-GB" sz="13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757975BB-6DA3-463B-B32C-1D47D536456E}" type="slidenum">
              <a:rPr lang="en-GB" sz="1300" smtClean="0"/>
              <a:pPr eaLnBrk="1" hangingPunct="1"/>
              <a:t>21</a:t>
            </a:fld>
            <a:endParaRPr lang="en-GB" sz="13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BB6337FD-9042-493E-9783-9ED088E8F0DF}" type="slidenum">
              <a:rPr lang="en-GB" sz="1300" smtClean="0"/>
              <a:pPr eaLnBrk="1" hangingPunct="1"/>
              <a:t>23</a:t>
            </a:fld>
            <a:endParaRPr lang="en-GB" sz="13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1320FE7D-10AD-4331-9AA0-ADF5E996205B}" type="slidenum">
              <a:rPr lang="en-GB" sz="1300" smtClean="0"/>
              <a:pPr eaLnBrk="1" hangingPunct="1"/>
              <a:t>25</a:t>
            </a:fld>
            <a:endParaRPr lang="en-GB" sz="13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299" eaLnBrk="0" hangingPunct="0">
              <a:defRPr sz="1900">
                <a:solidFill>
                  <a:srgbClr val="9866CC"/>
                </a:solidFill>
                <a:latin typeface="Tahoma" pitchFamily="34" charset="0"/>
              </a:defRPr>
            </a:lvl1pPr>
            <a:lvl2pPr marL="716872" indent="-275720" defTabSz="954299" eaLnBrk="0" hangingPunct="0">
              <a:defRPr sz="1900">
                <a:solidFill>
                  <a:srgbClr val="9866CC"/>
                </a:solidFill>
                <a:latin typeface="Tahoma" pitchFamily="34" charset="0"/>
              </a:defRPr>
            </a:lvl2pPr>
            <a:lvl3pPr marL="1102881" indent="-220576" defTabSz="954299" eaLnBrk="0" hangingPunct="0">
              <a:defRPr sz="1900">
                <a:solidFill>
                  <a:srgbClr val="9866CC"/>
                </a:solidFill>
                <a:latin typeface="Tahoma" pitchFamily="34" charset="0"/>
              </a:defRPr>
            </a:lvl3pPr>
            <a:lvl4pPr marL="1544033" indent="-220576" defTabSz="954299" eaLnBrk="0" hangingPunct="0">
              <a:defRPr sz="1900">
                <a:solidFill>
                  <a:srgbClr val="9866CC"/>
                </a:solidFill>
                <a:latin typeface="Tahoma" pitchFamily="34" charset="0"/>
              </a:defRPr>
            </a:lvl4pPr>
            <a:lvl5pPr marL="1985185" indent="-220576" defTabSz="954299" eaLnBrk="0" hangingPunct="0">
              <a:defRPr sz="1900">
                <a:solidFill>
                  <a:srgbClr val="9866CC"/>
                </a:solidFill>
                <a:latin typeface="Tahoma" pitchFamily="34" charset="0"/>
              </a:defRPr>
            </a:lvl5pPr>
            <a:lvl6pPr marL="2426338" indent="-220576" defTabSz="954299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9866CC"/>
                </a:solidFill>
                <a:latin typeface="Tahoma" pitchFamily="34" charset="0"/>
              </a:defRPr>
            </a:lvl6pPr>
            <a:lvl7pPr marL="2867490" indent="-220576" defTabSz="954299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9866CC"/>
                </a:solidFill>
                <a:latin typeface="Tahoma" pitchFamily="34" charset="0"/>
              </a:defRPr>
            </a:lvl7pPr>
            <a:lvl8pPr marL="3308642" indent="-220576" defTabSz="954299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9866CC"/>
                </a:solidFill>
                <a:latin typeface="Tahoma" pitchFamily="34" charset="0"/>
              </a:defRPr>
            </a:lvl8pPr>
            <a:lvl9pPr marL="3749794" indent="-220576" defTabSz="954299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449EDDC0-1959-42A3-B2D7-77BD7B9E0331}" type="slidenum">
              <a:rPr lang="en-GB" sz="1300"/>
              <a:pPr eaLnBrk="1" hangingPunct="1"/>
              <a:t>26</a:t>
            </a:fld>
            <a:endParaRPr lang="en-GB" sz="13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defTabSz="955675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/>
            <a:fld id="{75D29634-8FC2-4FCA-80AE-11EE2392ED6F}" type="slidenum">
              <a:rPr lang="en-GB" sz="1300" smtClean="0"/>
              <a:pPr eaLnBrk="1" hangingPunct="1"/>
              <a:t>27</a:t>
            </a:fld>
            <a:endParaRPr lang="en-GB" sz="13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F97851-8661-442C-BB3F-EF9CF6BE5CF5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© Swinburne University of Technology</a:t>
            </a: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664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fld id="{9E2DF427-679B-4DCE-927E-C8F98F84C94E}" type="slidenum">
              <a:rPr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 eaLnBrk="1" hangingPunct="1"/>
              <a:t>37</a:t>
            </a:fld>
            <a:endParaRPr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951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fld id="{62414CBF-73CF-4626-9DC0-855DBAD2F50E}" type="slidenum">
              <a:rPr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 eaLnBrk="1" hangingPunct="1"/>
              <a:t>42</a:t>
            </a:fld>
            <a:endParaRPr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9534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EAE49456-B436-4F20-A490-57444E269AED}" type="slidenum">
              <a:rPr lang="en-GB" altLang="en-US" sz="1300">
                <a:latin typeface="Times New Roman" panose="02020603050405020304" pitchFamily="18" charset="0"/>
              </a:rPr>
              <a:pPr/>
              <a:t>43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4925" cy="38354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48047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398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28D63975-E2EB-4374-9619-334B7C24DA93}" type="slidenum">
              <a:rPr lang="en-GB" altLang="en-US" sz="1300">
                <a:latin typeface="Times New Roman" panose="02020603050405020304" pitchFamily="18" charset="0"/>
              </a:rPr>
              <a:pPr/>
              <a:t>44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4925" cy="38354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909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fld id="{05E14D0C-D144-4ADE-A2AC-C54F1ACDF681}" type="slidenum">
              <a:rPr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 eaLnBrk="1" hangingPunct="1"/>
              <a:t>45</a:t>
            </a:fld>
            <a:endParaRPr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69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fld id="{03695C66-3051-4040-9C18-86F402D30E7A}" type="slidenum">
              <a:rPr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 eaLnBrk="1" hangingPunct="1"/>
              <a:t>46</a:t>
            </a:fld>
            <a:endParaRPr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25330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D38BC7-6AB4-4F9D-B930-DD7649B38476}" type="slidenum">
              <a:rPr kumimoji="0"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48</a:t>
            </a:fld>
            <a:endParaRPr kumimoji="0"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28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0972D9F-38D4-4828-8869-C82ADEE3D682}" type="slidenum">
              <a:rPr kumimoji="0"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49</a:t>
            </a:fld>
            <a:endParaRPr kumimoji="0"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1379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62319E-1133-4B26-988D-BEE9F098F449}" type="slidenum">
              <a:rPr kumimoji="0"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50</a:t>
            </a:fld>
            <a:endParaRPr kumimoji="0"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4838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1127FD-48C3-4051-A700-8B2677EBBA2A}" type="slidenum">
              <a:rPr kumimoji="0"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51</a:t>
            </a:fld>
            <a:endParaRPr kumimoji="0"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440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C1AE1B6-4A90-40A1-A9EF-6DEEC86EB083}" type="slidenum">
              <a:rPr kumimoji="0"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52</a:t>
            </a:fld>
            <a:endParaRPr kumimoji="0"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663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2AE70B-C3F7-45E7-850F-46B689835E40}" type="slidenum">
              <a:rPr kumimoji="0" lang="en-GB" altLang="en-US" sz="1300">
                <a:solidFill>
                  <a:srgbClr val="9866CC"/>
                </a:solidFill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53</a:t>
            </a:fld>
            <a:endParaRPr kumimoji="0" lang="en-GB" altLang="en-US" sz="1300">
              <a:solidFill>
                <a:srgbClr val="9866CC"/>
              </a:solidFill>
              <a:latin typeface="Tahom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5160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AU" sz="1200">
                <a:latin typeface="Times New Roman" pitchFamily="18" charset="0"/>
              </a:rPr>
              <a:t>© Swinburne University of Technology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30697573-215B-4A06-9954-42927F5F5DCD}" type="slidenum">
              <a:rPr lang="en-AU" altLang="en-US" sz="1200" smtClean="0">
                <a:latin typeface="Times New Roman" panose="02020603050405020304" pitchFamily="18" charset="0"/>
              </a:rPr>
              <a:pPr>
                <a:defRPr/>
              </a:pPr>
              <a:t>71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2704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/>
          </a:extLst>
        </p:spPr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7947" tIns="43973" rIns="87947" bIns="43973"/>
          <a:lstStyle/>
          <a:p>
            <a:pPr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5052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AU"/>
              <a:t>SWE30003 Software Architectures and Design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S1 2023</a:t>
            </a: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AU" sz="1200">
                <a:latin typeface="Times New Roman" pitchFamily="18" charset="0"/>
              </a:rPr>
              <a:t>© Swinburne University of Technology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41151E27-20BB-4095-A8BA-4F8F1A181445}" type="slidenum">
              <a:rPr lang="en-AU" altLang="en-US" sz="1200" smtClean="0">
                <a:latin typeface="Times New Roman" panose="02020603050405020304" pitchFamily="18" charset="0"/>
              </a:rPr>
              <a:pPr>
                <a:defRPr/>
              </a:pPr>
              <a:t>72</a:t>
            </a:fld>
            <a:endParaRPr lang="en-AU" altLang="en-US" sz="1200">
              <a:latin typeface="Times New Roman" panose="02020603050405020304" pitchFamily="18" charset="0"/>
            </a:endParaRPr>
          </a:p>
        </p:txBody>
      </p:sp>
      <p:sp>
        <p:nvSpPr>
          <p:cNvPr id="73011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/>
          </a:extLst>
        </p:spPr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7947" tIns="43973" rIns="87947" bIns="43973"/>
          <a:lstStyle/>
          <a:p>
            <a:pPr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72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59000" y="0"/>
            <a:ext cx="2159000" cy="2159000"/>
          </a:xfrm>
          <a:prstGeom prst="rect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6985000" y="4699000"/>
            <a:ext cx="2159000" cy="2159000"/>
          </a:xfrm>
          <a:prstGeom prst="rect">
            <a:avLst/>
          </a:pr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AU"/>
          </a:p>
        </p:txBody>
      </p:sp>
      <p:pic>
        <p:nvPicPr>
          <p:cNvPr id="6" name="Picture 9" descr="crest_30p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4800600"/>
            <a:ext cx="14319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corpV_3 300_lz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60588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6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0" y="2438400"/>
            <a:ext cx="5562600" cy="1143000"/>
          </a:xfrm>
        </p:spPr>
        <p:txBody>
          <a:bodyPr lIns="91440" tIns="45720" rIns="91440" bIns="45720"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49664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3733800"/>
            <a:ext cx="4419600" cy="990600"/>
          </a:xfrm>
        </p:spPr>
        <p:txBody>
          <a:bodyPr lIns="91440" tIns="45720" rIns="91440" bIns="45720"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22224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FF4BA-C1E7-4541-A44C-35CE9F212FB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199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BC9D6-2D88-43F0-9FE8-DAC1F1EC34D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710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0" y="1143000"/>
            <a:ext cx="3695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7600" y="1143000"/>
            <a:ext cx="3695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FF63F-2F89-499B-975C-3A062A9DA0D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3625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DCA15-7ACB-4A24-A238-50C03948AD4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585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95F92-FBD1-4FD4-830C-C6EA85617B8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255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0D367-4E71-4456-AB82-FD5B2592BC8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25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E07F29-668A-4318-BD43-B3471415762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87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3C1F1-D000-48CC-B9E1-3B451329FFB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45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2C399-9E77-429C-A27E-31FD5B29DD6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99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50" y="358775"/>
            <a:ext cx="1885950" cy="5584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9500" y="358775"/>
            <a:ext cx="5505450" cy="5584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238B75-4686-4A14-8472-35331614791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5812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358775"/>
            <a:ext cx="69977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79500" y="1143000"/>
            <a:ext cx="36957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7600" y="1143000"/>
            <a:ext cx="36957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608F9B-E373-4616-832E-92ACAEED32F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960494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358775"/>
            <a:ext cx="69977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79500" y="1143000"/>
            <a:ext cx="36957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927600" y="1143000"/>
            <a:ext cx="3695700" cy="48006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5C5D3-F5F0-4252-A10E-F19C2CAB12A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374303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159000" y="0"/>
            <a:ext cx="2159000" cy="2159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6985000" y="4699000"/>
            <a:ext cx="2159000" cy="2159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6" name="Picture 66" descr="crest_30p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4800600"/>
            <a:ext cx="14319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8" descr="corpV_3 300_lzw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60588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38400" y="2438400"/>
            <a:ext cx="5562600" cy="1143000"/>
          </a:xfrm>
        </p:spPr>
        <p:txBody>
          <a:bodyPr lIns="91440" tIns="45720" rIns="91440" bIns="45720"/>
          <a:lstStyle>
            <a:lvl1pPr>
              <a:defRPr/>
            </a:lvl1pPr>
          </a:lstStyle>
          <a:p>
            <a:pPr lvl="0"/>
            <a:r>
              <a:rPr lang="en-AU" noProof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3733800"/>
            <a:ext cx="4419600" cy="990600"/>
          </a:xfrm>
        </p:spPr>
        <p:txBody>
          <a:bodyPr lIns="91440" tIns="45720" rIns="91440" bIns="45720"/>
          <a:lstStyle>
            <a:lvl1pPr marL="0" indent="0">
              <a:buFont typeface="Wingdings" charset="0"/>
              <a:buNone/>
              <a:defRPr/>
            </a:lvl1pPr>
          </a:lstStyle>
          <a:p>
            <a:pPr lvl="0"/>
            <a:r>
              <a:rPr lang="en-AU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318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C7EB33-4E8A-4E2A-82A8-4237FBF0F8C8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19612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C3212E-C395-4F7E-B29E-8916FD2A9BAF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322673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0" y="1143000"/>
            <a:ext cx="3695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7600" y="1143000"/>
            <a:ext cx="3695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488B2-470A-41F5-9A58-CD4561D0D7FC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941672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4DDDA7-E92D-42B1-9D2F-48B588BC23C2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89004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DF3A9A-2921-4FED-A943-81497A9FEEFA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20826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4BDD9A-0EC0-4A54-A347-C4087B89C180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2724467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0A92A-75DA-4A67-8C30-67C4CB6CDFD1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47006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D1C5FF-99DD-40BD-8F29-4429C4C7D332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665283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C5A36E-BE38-4A16-B00A-006D1BF5DF68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614756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50" y="358775"/>
            <a:ext cx="1885950" cy="55848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9500" y="358775"/>
            <a:ext cx="5505450" cy="55848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35E7DC-DD3A-4B64-856F-252AFA52A450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247797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79500" y="358775"/>
            <a:ext cx="6997700" cy="6858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9500" y="1143000"/>
            <a:ext cx="3695700" cy="23241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27600" y="1143000"/>
            <a:ext cx="3695700" cy="23241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079500" y="3619500"/>
            <a:ext cx="3695700" cy="23241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7600" y="3619500"/>
            <a:ext cx="3695700" cy="23241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0D214A-00A6-459C-8BA3-7FC9B3501B2D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0825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358775"/>
            <a:ext cx="69977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4956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80BD1EE-58CE-4673-AC3B-0CA7C4CCB75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1143000" y="9906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9" name="Picture 5" descr="crest_100pc bit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163" y="228600"/>
            <a:ext cx="498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11430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</p:txBody>
      </p:sp>
      <p:pic>
        <p:nvPicPr>
          <p:cNvPr id="1031" name="Picture 7" descr="corpH_3_300_lzw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10275"/>
            <a:ext cx="16922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16" r:id="rId12"/>
    <p:sldLayoutId id="214748381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pitchFamily="34" charset="0"/>
        </a:defRPr>
      </a:lvl9pPr>
    </p:titleStyle>
    <p:bodyStyle>
      <a:lvl1pPr marL="285750" indent="-285750" algn="l" rtl="0" eaLnBrk="0" fontAlgn="base" hangingPunct="0">
        <a:spcBef>
          <a:spcPct val="40000"/>
        </a:spcBef>
        <a:spcAft>
          <a:spcPct val="0"/>
        </a:spcAft>
        <a:buSzPct val="7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28575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¨"/>
        <a:defRPr sz="2400">
          <a:solidFill>
            <a:schemeClr val="tx1"/>
          </a:solidFill>
          <a:latin typeface="+mn-lt"/>
        </a:defRPr>
      </a:lvl2pPr>
      <a:lvl3pPr marL="12763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3pPr>
      <a:lvl4pPr marL="16954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¨"/>
        <a:defRPr>
          <a:solidFill>
            <a:schemeClr val="tx1"/>
          </a:solidFill>
          <a:latin typeface="+mn-lt"/>
        </a:defRPr>
      </a:lvl4pPr>
      <a:lvl5pPr marL="21145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5pPr>
      <a:lvl6pPr marL="25717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6pPr>
      <a:lvl7pPr marL="30289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7pPr>
      <a:lvl8pPr marL="34861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8pPr>
      <a:lvl9pPr marL="39433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358775"/>
            <a:ext cx="6997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F8A90D5A-A655-464B-997D-E19108387EAD}" type="slidenum">
              <a:rPr lang="en-AU" altLang="en-US"/>
              <a:pPr/>
              <a:t>‹#›</a:t>
            </a:fld>
            <a:endParaRPr lang="en-AU" altLang="en-US"/>
          </a:p>
          <a:p>
            <a:endParaRPr lang="en-AU" alt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1143000" y="990600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 Narrow" charset="0"/>
              <a:ea typeface="ＭＳ Ｐゴシック" charset="0"/>
            </a:endParaRPr>
          </a:p>
        </p:txBody>
      </p:sp>
      <p:pic>
        <p:nvPicPr>
          <p:cNvPr id="1029" name="Picture 14" descr="crest_100pc bit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0643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1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0" y="1143000"/>
            <a:ext cx="7543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173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panose="020B0600070205080204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 Narrow" charset="0"/>
          <a:ea typeface="ＭＳ Ｐゴシック" charset="0"/>
        </a:defRPr>
      </a:lvl9pPr>
    </p:titleStyle>
    <p:bodyStyle>
      <a:lvl1pPr marL="285750" indent="-285750" algn="l" rtl="0" eaLnBrk="0" fontAlgn="base" hangingPunct="0">
        <a:spcBef>
          <a:spcPct val="40000"/>
        </a:spcBef>
        <a:spcAft>
          <a:spcPct val="0"/>
        </a:spcAft>
        <a:buSzPct val="7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762000" indent="-28575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¨"/>
        <a:defRPr sz="2400">
          <a:solidFill>
            <a:schemeClr val="tx1"/>
          </a:solidFill>
          <a:latin typeface="+mn-lt"/>
          <a:ea typeface="ＭＳ Ｐゴシック" panose="020B0600070205080204" pitchFamily="34" charset="-128"/>
        </a:defRPr>
      </a:lvl2pPr>
      <a:lvl3pPr marL="12763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16954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¨"/>
        <a:defRPr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21145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¨"/>
        <a:defRPr sz="1600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25717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charset="0"/>
        <a:buChar char="¨"/>
        <a:defRPr sz="1600">
          <a:solidFill>
            <a:schemeClr val="tx1"/>
          </a:solidFill>
          <a:latin typeface="+mn-lt"/>
          <a:ea typeface="+mn-ea"/>
        </a:defRPr>
      </a:lvl6pPr>
      <a:lvl7pPr marL="30289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charset="0"/>
        <a:buChar char="¨"/>
        <a:defRPr sz="1600">
          <a:solidFill>
            <a:schemeClr val="tx1"/>
          </a:solidFill>
          <a:latin typeface="+mn-lt"/>
          <a:ea typeface="+mn-ea"/>
        </a:defRPr>
      </a:lvl7pPr>
      <a:lvl8pPr marL="34861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charset="0"/>
        <a:buChar char="¨"/>
        <a:defRPr sz="1600">
          <a:solidFill>
            <a:schemeClr val="tx1"/>
          </a:solidFill>
          <a:latin typeface="+mn-lt"/>
          <a:ea typeface="+mn-ea"/>
        </a:defRPr>
      </a:lvl8pPr>
      <a:lvl9pPr marL="3943350" indent="-228600" algn="l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SzPct val="85000"/>
        <a:buFont typeface="Wingdings" charset="0"/>
        <a:buChar char="¨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140778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ieeexplore.ieee.org/stamp/stamp.jsp?tp=&amp;arnumber=8354433" TargetMode="External"/><Relationship Id="rId5" Type="http://schemas.openxmlformats.org/officeDocument/2006/relationships/hyperlink" Target="https://www.infoq.com/articles/microservices-intro/" TargetMode="External"/><Relationship Id="rId4" Type="http://schemas.openxmlformats.org/officeDocument/2006/relationships/hyperlink" Target="https://www.infoq.com/articles/rest-introductio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oq.com/" TargetMode="External"/><Relationship Id="rId2" Type="http://schemas.openxmlformats.org/officeDocument/2006/relationships/hyperlink" Target="http://it-ebooks.info/book/393/" TargetMode="Externa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514600" y="3733800"/>
            <a:ext cx="6454775" cy="2143125"/>
          </a:xfrm>
        </p:spPr>
        <p:txBody>
          <a:bodyPr lIns="0" tIns="0" rIns="0" bIns="0"/>
          <a:lstStyle/>
          <a:p>
            <a:pPr>
              <a:defRPr/>
            </a:pPr>
            <a:r>
              <a:rPr lang="en-AU" dirty="0">
                <a:ea typeface="+mn-ea"/>
                <a:cs typeface="+mn-cs"/>
              </a:rPr>
              <a:t>Lecture 10</a:t>
            </a:r>
            <a:br>
              <a:rPr lang="en-AU" dirty="0">
                <a:ea typeface="+mn-ea"/>
                <a:cs typeface="+mn-cs"/>
              </a:rPr>
            </a:br>
            <a:r>
              <a:rPr lang="en-AU" dirty="0">
                <a:ea typeface="+mn-ea"/>
                <a:cs typeface="+mn-cs"/>
              </a:rPr>
              <a:t>Service Oriented Architectures (SOA) and </a:t>
            </a:r>
            <a:br>
              <a:rPr lang="en-AU" dirty="0">
                <a:ea typeface="+mn-ea"/>
                <a:cs typeface="+mn-cs"/>
              </a:rPr>
            </a:br>
            <a:r>
              <a:rPr lang="en-AU" dirty="0">
                <a:ea typeface="+mn-ea"/>
                <a:cs typeface="+mn-cs"/>
              </a:rPr>
              <a:t>Web Services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38400" y="2438400"/>
            <a:ext cx="5791200" cy="1143000"/>
          </a:xfrm>
        </p:spPr>
        <p:txBody>
          <a:bodyPr/>
          <a:lstStyle/>
          <a:p>
            <a:pPr>
              <a:defRPr/>
            </a:pPr>
            <a:r>
              <a:rPr lang="en-AU" sz="3200" dirty="0">
                <a:ea typeface="+mj-ea"/>
                <a:cs typeface="+mj-cs"/>
              </a:rPr>
              <a:t>SWE30003</a:t>
            </a:r>
            <a:br>
              <a:rPr lang="en-AU" sz="3200" dirty="0">
                <a:ea typeface="+mj-ea"/>
                <a:cs typeface="+mj-cs"/>
              </a:rPr>
            </a:br>
            <a:r>
              <a:rPr lang="en-AU" sz="3200" dirty="0">
                <a:ea typeface="+mj-ea"/>
                <a:cs typeface="+mj-cs"/>
              </a:rPr>
              <a:t>Software Architectures and Design</a:t>
            </a:r>
          </a:p>
        </p:txBody>
      </p:sp>
    </p:spTree>
    <p:extLst>
      <p:ext uri="{BB962C8B-B14F-4D97-AF65-F5344CB8AC3E}">
        <p14:creationId xmlns:p14="http://schemas.microsoft.com/office/powerpoint/2010/main" val="57701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6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Logistical matters</a:t>
            </a:r>
          </a:p>
        </p:txBody>
      </p:sp>
      <p:sp>
        <p:nvSpPr>
          <p:cNvPr id="335878" name="Rectangle 4"/>
          <p:cNvSpPr>
            <a:spLocks noChangeArrowheads="1"/>
          </p:cNvSpPr>
          <p:nvPr/>
        </p:nvSpPr>
        <p:spPr bwMode="auto">
          <a:xfrm>
            <a:off x="914400" y="1371600"/>
            <a:ext cx="69977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eaLnBrk="1" hangingPunct="1">
              <a:defRPr/>
            </a:pPr>
            <a:endParaRPr lang="en-US" sz="3600" b="1" dirty="0">
              <a:solidFill>
                <a:schemeClr val="tx2"/>
              </a:solidFill>
              <a:latin typeface="Arial Narrow" charset="0"/>
              <a:ea typeface="ＭＳ Ｐゴシック" charset="0"/>
            </a:endParaRPr>
          </a:p>
        </p:txBody>
      </p:sp>
      <p:sp>
        <p:nvSpPr>
          <p:cNvPr id="335880" name="Rectangle 8"/>
          <p:cNvSpPr>
            <a:spLocks noChangeArrowheads="1"/>
          </p:cNvSpPr>
          <p:nvPr/>
        </p:nvSpPr>
        <p:spPr bwMode="auto">
          <a:xfrm>
            <a:off x="1036638" y="692150"/>
            <a:ext cx="7669212" cy="424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eaLnBrk="1" hangingPunct="1">
              <a:spcBef>
                <a:spcPct val="40000"/>
              </a:spcBef>
              <a:buSzPct val="75000"/>
              <a:defRPr/>
            </a:pPr>
            <a:endParaRPr lang="en-US" sz="2800" dirty="0">
              <a:latin typeface="Arial Narrow" charset="0"/>
              <a:ea typeface="ＭＳ Ｐゴシック" charset="0"/>
            </a:endParaRPr>
          </a:p>
          <a:p>
            <a:pPr marL="285750" indent="-285750" eaLnBrk="1" hangingPunct="1">
              <a:spcBef>
                <a:spcPct val="40000"/>
              </a:spcBef>
              <a:buSzPct val="75000"/>
              <a:buFont typeface="Wingdings" charset="0"/>
              <a:buChar char="n"/>
              <a:defRPr/>
            </a:pPr>
            <a:endParaRPr lang="en-US" sz="2800" dirty="0">
              <a:latin typeface="Arial Narrow" charset="0"/>
              <a:ea typeface="ＭＳ Ｐゴシック" charset="0"/>
            </a:endParaRPr>
          </a:p>
        </p:txBody>
      </p:sp>
      <p:sp>
        <p:nvSpPr>
          <p:cNvPr id="7173" name="Slide Number Placeholder 1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  <a:defRPr/>
            </a:pPr>
            <a:fld id="{CB5EEFD8-1613-4720-9E96-78B17572CE98}" type="slidenum">
              <a:rPr lang="en-AU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  <a:defRPr/>
              </a:pPr>
              <a:t>2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SzTx/>
              <a:buFontTx/>
              <a:buNone/>
              <a:defRPr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79500" y="1143000"/>
            <a:ext cx="7543800" cy="5382344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6200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276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6954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21145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5717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charset="0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30289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charset="0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861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charset="0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943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charset="0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AU" kern="0" dirty="0"/>
              <a:t>Weekly submissions – A &amp; Q</a:t>
            </a:r>
          </a:p>
          <a:p>
            <a:pPr lvl="1">
              <a:defRPr/>
            </a:pPr>
            <a:r>
              <a:rPr lang="en-AU" sz="2000" dirty="0"/>
              <a:t>Week 2: 104 &amp; 101 out of 119;</a:t>
            </a:r>
          </a:p>
          <a:p>
            <a:pPr lvl="1">
              <a:defRPr/>
            </a:pPr>
            <a:r>
              <a:rPr lang="en-AU" sz="2000" dirty="0"/>
              <a:t>Week 3: 101 &amp; 98 out of 118;</a:t>
            </a:r>
          </a:p>
          <a:p>
            <a:pPr lvl="1">
              <a:defRPr/>
            </a:pPr>
            <a:r>
              <a:rPr lang="en-AU" sz="2000" kern="0" dirty="0"/>
              <a:t>Week 4: 102 &amp; 101 out of 118;</a:t>
            </a:r>
          </a:p>
          <a:p>
            <a:pPr lvl="1">
              <a:defRPr/>
            </a:pPr>
            <a:r>
              <a:rPr lang="en-AU" sz="2000" kern="0" dirty="0"/>
              <a:t>Week 5: 98 &amp; 98 out of 118;</a:t>
            </a:r>
          </a:p>
          <a:p>
            <a:pPr lvl="1">
              <a:defRPr/>
            </a:pPr>
            <a:r>
              <a:rPr lang="en-AU" sz="2000" kern="0" dirty="0"/>
              <a:t>Week 6: 88 &amp; 84 out of 117;</a:t>
            </a:r>
          </a:p>
          <a:p>
            <a:pPr lvl="1">
              <a:defRPr/>
            </a:pPr>
            <a:r>
              <a:rPr lang="en-AU" sz="2000" kern="0" dirty="0"/>
              <a:t>Week 7: 108 &amp; 104 out of 117;</a:t>
            </a:r>
          </a:p>
          <a:p>
            <a:pPr lvl="1">
              <a:defRPr/>
            </a:pPr>
            <a:r>
              <a:rPr lang="en-AU" sz="2000" kern="0" dirty="0"/>
              <a:t>Week 8: 91 &amp; 93 out of 117;</a:t>
            </a:r>
          </a:p>
          <a:p>
            <a:pPr lvl="1">
              <a:defRPr/>
            </a:pPr>
            <a:r>
              <a:rPr lang="en-AU" sz="2000" kern="0" dirty="0"/>
              <a:t>Week 9: 103 &amp; 98 out of 117;</a:t>
            </a:r>
          </a:p>
          <a:p>
            <a:pPr lvl="1">
              <a:defRPr/>
            </a:pPr>
            <a:r>
              <a:rPr lang="en-AU" altLang="en-US" sz="2000" kern="0" dirty="0"/>
              <a:t>Week 10: 97</a:t>
            </a:r>
            <a:r>
              <a:rPr lang="en-AU" sz="2000" kern="0" dirty="0"/>
              <a:t> &amp; 94 out </a:t>
            </a:r>
            <a:r>
              <a:rPr lang="en-AU" sz="2000" kern="0"/>
              <a:t>of 117;</a:t>
            </a:r>
            <a:endParaRPr lang="en-AU" altLang="en-US" sz="2000" dirty="0"/>
          </a:p>
          <a:p>
            <a:pPr lvl="1">
              <a:defRPr/>
            </a:pPr>
            <a:r>
              <a:rPr lang="en-AU" altLang="en-US" sz="2000" b="1" u="sng" dirty="0"/>
              <a:t>No late submission, hurdle requirement</a:t>
            </a:r>
          </a:p>
          <a:p>
            <a:pPr>
              <a:defRPr/>
            </a:pPr>
            <a:r>
              <a:rPr lang="en-AU" kern="0" dirty="0"/>
              <a:t>Assignment 3: Questions?</a:t>
            </a:r>
          </a:p>
          <a:p>
            <a:pPr marL="476250" lvl="1" indent="0">
              <a:buNone/>
              <a:defRPr/>
            </a:pPr>
            <a:endParaRPr lang="en-AU" alt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345478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Question to Answer – Week 9</a:t>
            </a:r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82563" indent="-182563">
              <a:buFont typeface="Wingdings" charset="0"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182563" indent="-182563">
              <a:buFont typeface="Wingdings" charset="0"/>
              <a:buNone/>
              <a:defRPr/>
            </a:pPr>
            <a:r>
              <a:rPr lang="en-US" dirty="0">
                <a:ea typeface="+mn-ea"/>
                <a:cs typeface="+mn-cs"/>
              </a:rPr>
              <a:t>	Discuss the differences, advantages, and disadvantages of data-</a:t>
            </a:r>
            <a:r>
              <a:rPr lang="en-US" dirty="0" err="1">
                <a:ea typeface="+mn-ea"/>
                <a:cs typeface="+mn-cs"/>
              </a:rPr>
              <a:t>centred</a:t>
            </a:r>
            <a:r>
              <a:rPr lang="en-US" dirty="0">
                <a:ea typeface="+mn-ea"/>
                <a:cs typeface="+mn-cs"/>
              </a:rPr>
              <a:t> and data-flow architectures. Give examples where either of these two styles would be applicable.</a:t>
            </a:r>
            <a:endParaRPr lang="en-US" dirty="0"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18EB07F9-02F3-426F-9DEA-F9BC5DAA76B8}" type="slidenum">
              <a:rPr lang="en-AU" altLang="en-US" sz="1400" smtClean="0">
                <a:latin typeface="Times New Roman" panose="02020603050405020304" pitchFamily="18" charset="0"/>
              </a:rPr>
              <a:pPr>
                <a:defRPr/>
              </a:pPr>
              <a:t>3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defRPr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05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ea typeface="+mj-ea"/>
                <a:cs typeface="+mj-cs"/>
              </a:rPr>
              <a:t>Required Readings - Week 10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AU" sz="2400" u="sng" dirty="0"/>
              <a:t>Service Oriented Architectures (SOAP, REST, and Micro-Services)</a:t>
            </a:r>
          </a:p>
          <a:p>
            <a:pPr>
              <a:defRPr/>
            </a:pPr>
            <a:r>
              <a:rPr lang="en-AU" sz="2400" dirty="0"/>
              <a:t>Michael N. </a:t>
            </a:r>
            <a:r>
              <a:rPr lang="en-AU" sz="2400" dirty="0" err="1"/>
              <a:t>Huhns</a:t>
            </a:r>
            <a:r>
              <a:rPr lang="en-AU" sz="2400" dirty="0"/>
              <a:t>, </a:t>
            </a:r>
            <a:r>
              <a:rPr lang="en-AU" sz="2400" dirty="0" err="1"/>
              <a:t>Munindar</a:t>
            </a:r>
            <a:r>
              <a:rPr lang="en-AU" sz="2400" dirty="0"/>
              <a:t> P. Singh: Service-Oriented Computing: Key Concepts and Principles. IEEE Internet Comput.9(1): 75-81 (2005) (</a:t>
            </a:r>
            <a:r>
              <a:rPr lang="en-AU" sz="2400" u="sng" dirty="0">
                <a:hlinkClick r:id="rId3"/>
              </a:rPr>
              <a:t>Link to an external site)</a:t>
            </a:r>
            <a:endParaRPr lang="en-AU" sz="2400" dirty="0"/>
          </a:p>
          <a:p>
            <a:pPr>
              <a:defRPr/>
            </a:pPr>
            <a:r>
              <a:rPr lang="en-AU" sz="2400" dirty="0"/>
              <a:t>Stefan </a:t>
            </a:r>
            <a:r>
              <a:rPr lang="en-AU" sz="2400" dirty="0" err="1"/>
              <a:t>Tilkov</a:t>
            </a:r>
            <a:r>
              <a:rPr lang="en-AU" sz="2400" dirty="0"/>
              <a:t>: A Brief Introduction to REST. </a:t>
            </a:r>
            <a:r>
              <a:rPr lang="en-AU" sz="2400" dirty="0" err="1"/>
              <a:t>InfoQ</a:t>
            </a:r>
            <a:r>
              <a:rPr lang="en-AU" sz="2400" dirty="0"/>
              <a:t> (2007) </a:t>
            </a:r>
            <a:r>
              <a:rPr lang="en-AU" sz="2400" u="sng" dirty="0">
                <a:hlinkClick r:id="rId4"/>
              </a:rPr>
              <a:t>(Link to an external site)</a:t>
            </a:r>
            <a:endParaRPr lang="en-AU" sz="2400" dirty="0"/>
          </a:p>
          <a:p>
            <a:pPr>
              <a:defRPr/>
            </a:pPr>
            <a:r>
              <a:rPr lang="en-AU" sz="2400" dirty="0"/>
              <a:t>Chris Richardson: </a:t>
            </a:r>
            <a:r>
              <a:rPr lang="en-AU" sz="2400" dirty="0" err="1"/>
              <a:t>Microservices</a:t>
            </a:r>
            <a:r>
              <a:rPr lang="en-AU" sz="2400" dirty="0"/>
              <a:t>: Decomposing Applications for </a:t>
            </a:r>
            <a:r>
              <a:rPr lang="en-AU" sz="2400" dirty="0" err="1"/>
              <a:t>Deployability</a:t>
            </a:r>
            <a:r>
              <a:rPr lang="en-AU" sz="2400" dirty="0"/>
              <a:t> and Scalability. </a:t>
            </a:r>
            <a:r>
              <a:rPr lang="en-AU" sz="2400" dirty="0" err="1"/>
              <a:t>InfoQ</a:t>
            </a:r>
            <a:r>
              <a:rPr lang="en-AU" sz="2400" dirty="0"/>
              <a:t> (2014) </a:t>
            </a:r>
            <a:r>
              <a:rPr lang="en-AU" sz="2400" u="sng" dirty="0">
                <a:hlinkClick r:id="rId5"/>
              </a:rPr>
              <a:t>(Link to an external site)</a:t>
            </a:r>
            <a:endParaRPr lang="en-AU" sz="2400" dirty="0"/>
          </a:p>
          <a:p>
            <a:pPr>
              <a:defRPr/>
            </a:pPr>
            <a:r>
              <a:rPr lang="en-AU" sz="2400" dirty="0"/>
              <a:t>P </a:t>
            </a:r>
            <a:r>
              <a:rPr lang="en-AU" sz="2400" dirty="0" err="1"/>
              <a:t>Jamshidi</a:t>
            </a:r>
            <a:r>
              <a:rPr lang="en-AU" sz="2400" dirty="0"/>
              <a:t>, C </a:t>
            </a:r>
            <a:r>
              <a:rPr lang="en-AU" sz="2400" dirty="0" err="1"/>
              <a:t>Pahl</a:t>
            </a:r>
            <a:r>
              <a:rPr lang="en-AU" sz="2400" dirty="0"/>
              <a:t>, NC </a:t>
            </a:r>
            <a:r>
              <a:rPr lang="en-AU" sz="2400" dirty="0" err="1"/>
              <a:t>Mendonça</a:t>
            </a:r>
            <a:r>
              <a:rPr lang="en-AU" sz="2400" dirty="0"/>
              <a:t>, J Lewis, S </a:t>
            </a:r>
            <a:r>
              <a:rPr lang="en-AU" sz="2400" dirty="0" err="1"/>
              <a:t>Tilkov</a:t>
            </a:r>
            <a:r>
              <a:rPr lang="en-AU" sz="2400" dirty="0"/>
              <a:t>: </a:t>
            </a:r>
            <a:r>
              <a:rPr lang="en-AU" sz="2400" dirty="0" err="1"/>
              <a:t>Microservices</a:t>
            </a:r>
            <a:r>
              <a:rPr lang="en-AU" sz="2400" dirty="0"/>
              <a:t>: The journey so far and challenges ahead. IEEE Software (2018) </a:t>
            </a:r>
            <a:r>
              <a:rPr lang="en-AU" sz="2400" u="sng" dirty="0">
                <a:hlinkClick r:id="rId6"/>
              </a:rPr>
              <a:t>(Link to an external site)</a:t>
            </a:r>
            <a:endParaRPr lang="en-AU" sz="2400" dirty="0"/>
          </a:p>
          <a:p>
            <a:pPr>
              <a:buFont typeface="Wingdings" charset="0"/>
              <a:buNone/>
              <a:defRPr/>
            </a:pPr>
            <a:endParaRPr lang="en-GB" dirty="0"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34DAF16E-E410-4A13-BFDF-47866F2DFC11}" type="slidenum">
              <a:rPr lang="en-AU" altLang="en-US" sz="1400" smtClean="0">
                <a:latin typeface="Times New Roman" panose="02020603050405020304" pitchFamily="18" charset="0"/>
              </a:rPr>
              <a:pPr>
                <a:defRPr/>
              </a:pPr>
              <a:t>4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defRPr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85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Additional Resources/Readings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143000"/>
            <a:ext cx="8064896" cy="4800600"/>
          </a:xfrm>
        </p:spPr>
        <p:txBody>
          <a:bodyPr/>
          <a:lstStyle/>
          <a:p>
            <a:r>
              <a:rPr lang="en-AU" dirty="0"/>
              <a:t>Follow the links provided …</a:t>
            </a:r>
          </a:p>
          <a:p>
            <a:r>
              <a:rPr lang="en-AU" dirty="0"/>
              <a:t>Michael </a:t>
            </a:r>
            <a:r>
              <a:rPr lang="en-AU" dirty="0" err="1"/>
              <a:t>Papazoglou</a:t>
            </a:r>
            <a:r>
              <a:rPr lang="en-AU" dirty="0"/>
              <a:t>: </a:t>
            </a:r>
            <a:r>
              <a:rPr lang="en-AU" i="1" dirty="0"/>
              <a:t>Web Services: Principles and Technology</a:t>
            </a:r>
            <a:r>
              <a:rPr lang="en-AU" dirty="0"/>
              <a:t>, Pearson/Prentice Hall, 2008. Chapters 1 &amp; 2 (and more)</a:t>
            </a:r>
          </a:p>
          <a:p>
            <a:r>
              <a:rPr lang="en-AU" dirty="0"/>
              <a:t>Leonard Richardson and Sam Ruby: </a:t>
            </a:r>
            <a:r>
              <a:rPr lang="en-AU" i="1" dirty="0"/>
              <a:t>RESTful Web Services,</a:t>
            </a:r>
            <a:r>
              <a:rPr lang="en-AU" dirty="0"/>
              <a:t> O’Reilly, 2007. Chapter 1 (and more)</a:t>
            </a:r>
          </a:p>
          <a:p>
            <a:r>
              <a:rPr lang="en-AU" dirty="0"/>
              <a:t>Webber, </a:t>
            </a:r>
            <a:r>
              <a:rPr lang="en-AU" dirty="0" err="1"/>
              <a:t>Parastatidis</a:t>
            </a:r>
            <a:r>
              <a:rPr lang="en-AU" dirty="0"/>
              <a:t>, Robinson: </a:t>
            </a:r>
            <a:r>
              <a:rPr lang="en-AU" i="1" dirty="0"/>
              <a:t>REST in Practice</a:t>
            </a:r>
            <a:r>
              <a:rPr lang="en-AU" dirty="0"/>
              <a:t>, O’Reilly, 2010 (Free download </a:t>
            </a:r>
            <a:r>
              <a:rPr lang="en-AU" dirty="0">
                <a:hlinkClick r:id="rId2"/>
              </a:rPr>
              <a:t>http://it-ebooks.info/book/393/</a:t>
            </a:r>
            <a:r>
              <a:rPr lang="en-AU" dirty="0"/>
              <a:t>)</a:t>
            </a:r>
          </a:p>
          <a:p>
            <a:r>
              <a:rPr lang="en-AU" dirty="0" err="1"/>
              <a:t>InfoQ</a:t>
            </a:r>
            <a:r>
              <a:rPr lang="en-AU" dirty="0"/>
              <a:t> (</a:t>
            </a:r>
            <a:r>
              <a:rPr lang="en-AU" dirty="0">
                <a:hlinkClick r:id="rId3"/>
              </a:rPr>
              <a:t>http://www.infoq.com</a:t>
            </a:r>
            <a:r>
              <a:rPr lang="en-AU" dirty="0"/>
              <a:t>): SOA, Web services, REST, </a:t>
            </a:r>
            <a:r>
              <a:rPr lang="en-AU" dirty="0" err="1"/>
              <a:t>Microservices</a:t>
            </a:r>
            <a:r>
              <a:rPr lang="en-AU" dirty="0"/>
              <a:t>, Enterprise Architecture,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543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D8ED4257-24D9-455C-8EB8-1410481EFCB1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6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0"/>
              <a:t>Content</a:t>
            </a:r>
            <a:endParaRPr lang="en-US" b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b="1" dirty="0"/>
          </a:p>
          <a:p>
            <a:r>
              <a:rPr lang="en-AU" b="1" dirty="0"/>
              <a:t>Software services &amp; web services</a:t>
            </a:r>
          </a:p>
          <a:p>
            <a:r>
              <a:rPr lang="en-AU" dirty="0"/>
              <a:t>Some concepts you need to understand</a:t>
            </a:r>
          </a:p>
          <a:p>
            <a:r>
              <a:rPr lang="en-AU" dirty="0"/>
              <a:t>Service oriented architecture (SOA)</a:t>
            </a:r>
          </a:p>
          <a:p>
            <a:r>
              <a:rPr lang="en-AU" dirty="0"/>
              <a:t>Web application architectural styles and middleware</a:t>
            </a:r>
          </a:p>
          <a:p>
            <a:r>
              <a:rPr lang="en-AU" dirty="0"/>
              <a:t>WS* (SOAP) approach</a:t>
            </a:r>
          </a:p>
          <a:p>
            <a:r>
              <a:rPr lang="en-AU" dirty="0"/>
              <a:t>REST approach</a:t>
            </a:r>
          </a:p>
          <a:p>
            <a:r>
              <a:rPr lang="en-AU" dirty="0" err="1"/>
              <a:t>Microservices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dirty="0"/>
              <a:t>Initially, </a:t>
            </a:r>
            <a:r>
              <a:rPr lang="en-AU" b="1" u="sng" dirty="0"/>
              <a:t>documents</a:t>
            </a:r>
            <a:r>
              <a:rPr lang="en-AU" dirty="0"/>
              <a:t> – for sharing between humans: </a:t>
            </a:r>
            <a:r>
              <a:rPr lang="en-AU" dirty="0">
                <a:solidFill>
                  <a:srgbClr val="006600"/>
                </a:solidFill>
              </a:rPr>
              <a:t>documents on the web</a:t>
            </a:r>
          </a:p>
          <a:p>
            <a:pPr lvl="1"/>
            <a:r>
              <a:rPr lang="en-AU" dirty="0"/>
              <a:t>Web Server: hosting documents</a:t>
            </a:r>
          </a:p>
          <a:p>
            <a:pPr lvl="1"/>
            <a:r>
              <a:rPr lang="en-AU" dirty="0"/>
              <a:t>Web Client (Brower): reading/using documents</a:t>
            </a:r>
          </a:p>
          <a:p>
            <a:r>
              <a:rPr lang="en-AU" dirty="0"/>
              <a:t>Distributed</a:t>
            </a:r>
            <a:r>
              <a:rPr lang="en-AU" b="1" dirty="0"/>
              <a:t> </a:t>
            </a:r>
          </a:p>
          <a:p>
            <a:r>
              <a:rPr lang="en-AU" dirty="0"/>
              <a:t>Searchable/addressable </a:t>
            </a:r>
          </a:p>
          <a:p>
            <a:r>
              <a:rPr lang="en-AU" dirty="0"/>
              <a:t>Extensible/unbounded</a:t>
            </a:r>
          </a:p>
          <a:p>
            <a:r>
              <a:rPr lang="en-AU" dirty="0"/>
              <a:t>…</a:t>
            </a:r>
          </a:p>
          <a:p>
            <a:pPr lvl="1"/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10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Enterprise (Software)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0" y="1143000"/>
            <a:ext cx="7543800" cy="5029200"/>
          </a:xfrm>
        </p:spPr>
        <p:txBody>
          <a:bodyPr/>
          <a:lstStyle/>
          <a:p>
            <a:r>
              <a:rPr lang="en-AU" dirty="0"/>
              <a:t>Distributed</a:t>
            </a:r>
          </a:p>
          <a:p>
            <a:r>
              <a:rPr lang="en-AU" dirty="0"/>
              <a:t>Integration (vs greenfield decomposition)</a:t>
            </a:r>
          </a:p>
          <a:p>
            <a:r>
              <a:rPr lang="en-AU" dirty="0"/>
              <a:t>Business process</a:t>
            </a:r>
          </a:p>
          <a:p>
            <a:r>
              <a:rPr lang="en-AU" dirty="0"/>
              <a:t>Cross-organisation, cross-geography</a:t>
            </a:r>
          </a:p>
          <a:p>
            <a:r>
              <a:rPr lang="en-AU" dirty="0"/>
              <a:t>Large-scale</a:t>
            </a:r>
          </a:p>
          <a:p>
            <a:r>
              <a:rPr lang="en-AU" dirty="0"/>
              <a:t>Addressable</a:t>
            </a:r>
          </a:p>
          <a:p>
            <a:r>
              <a:rPr lang="en-AU" dirty="0"/>
              <a:t>Then, </a:t>
            </a:r>
            <a:r>
              <a:rPr lang="en-AU" b="1" u="sng" dirty="0"/>
              <a:t>software</a:t>
            </a:r>
            <a:r>
              <a:rPr lang="en-AU" dirty="0"/>
              <a:t> – for sharing between machines (&amp; between humans): </a:t>
            </a:r>
            <a:r>
              <a:rPr lang="en-AU" dirty="0">
                <a:solidFill>
                  <a:srgbClr val="006600"/>
                </a:solidFill>
              </a:rPr>
              <a:t>software on the web</a:t>
            </a:r>
          </a:p>
          <a:p>
            <a:pPr lvl="1"/>
            <a:r>
              <a:rPr lang="en-AU" dirty="0"/>
              <a:t>How? … make software a “</a:t>
            </a:r>
            <a:r>
              <a:rPr lang="en-AU" b="1" u="sng" dirty="0"/>
              <a:t>service</a:t>
            </a:r>
            <a:r>
              <a:rPr lang="en-AU" dirty="0"/>
              <a:t>” deployable on the web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858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358775"/>
            <a:ext cx="7236916" cy="685800"/>
          </a:xfrm>
        </p:spPr>
        <p:txBody>
          <a:bodyPr/>
          <a:lstStyle/>
          <a:p>
            <a:r>
              <a:rPr lang="en-AU" dirty="0"/>
              <a:t>Service / Software Service / Web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500" y="1143000"/>
            <a:ext cx="7812980" cy="4800600"/>
          </a:xfrm>
        </p:spPr>
        <p:txBody>
          <a:bodyPr/>
          <a:lstStyle/>
          <a:p>
            <a:pPr marL="0" indent="0">
              <a:buNone/>
            </a:pPr>
            <a:r>
              <a:rPr lang="en-AU" b="1" u="sng" dirty="0"/>
              <a:t>A (software) service </a:t>
            </a:r>
            <a:r>
              <a:rPr lang="en-AU" dirty="0"/>
              <a:t>– </a:t>
            </a:r>
            <a:r>
              <a:rPr lang="en-AU" dirty="0">
                <a:solidFill>
                  <a:srgbClr val="006600"/>
                </a:solidFill>
              </a:rPr>
              <a:t>beyond component:</a:t>
            </a:r>
          </a:p>
          <a:p>
            <a:r>
              <a:rPr lang="en-AU" dirty="0"/>
              <a:t>Independently deployable,</a:t>
            </a:r>
          </a:p>
          <a:p>
            <a:r>
              <a:rPr lang="en-AU" dirty="0"/>
              <a:t>Self-contained,</a:t>
            </a:r>
          </a:p>
          <a:p>
            <a:r>
              <a:rPr lang="en-AU" dirty="0"/>
              <a:t>Self-describing, </a:t>
            </a:r>
          </a:p>
          <a:p>
            <a:r>
              <a:rPr lang="en-AU" dirty="0"/>
              <a:t>Discoverable (open),</a:t>
            </a:r>
          </a:p>
          <a:p>
            <a:r>
              <a:rPr lang="en-AU" dirty="0" err="1"/>
              <a:t>Composable</a:t>
            </a:r>
            <a:r>
              <a:rPr lang="en-AU" dirty="0"/>
              <a:t>,</a:t>
            </a:r>
          </a:p>
          <a:p>
            <a:r>
              <a:rPr lang="en-AU" dirty="0"/>
              <a:t>Software system (component).</a:t>
            </a:r>
          </a:p>
          <a:p>
            <a:pPr marL="0" indent="0">
              <a:buNone/>
            </a:pPr>
            <a:r>
              <a:rPr lang="en-AU" dirty="0"/>
              <a:t>Not necessarily on the Web … </a:t>
            </a:r>
          </a:p>
          <a:p>
            <a:pPr marL="0" indent="0" algn="ctr">
              <a:buNone/>
            </a:pPr>
            <a:r>
              <a:rPr lang="en-AU" b="1" dirty="0"/>
              <a:t>        </a:t>
            </a:r>
            <a:r>
              <a:rPr lang="en-AU" b="1" u="sng" dirty="0"/>
              <a:t>web service = service + web:</a:t>
            </a:r>
            <a:r>
              <a:rPr lang="en-AU" dirty="0"/>
              <a:t> a service deployed on the web using web technology.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5671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4E57FB9A-312F-4C61-9D99-318B52E26EBC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10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Web Services: W3C Definition 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268413"/>
            <a:ext cx="7620000" cy="4800600"/>
          </a:xfrm>
        </p:spPr>
        <p:txBody>
          <a:bodyPr/>
          <a:lstStyle/>
          <a:p>
            <a:pPr marL="342900" indent="-342900"/>
            <a:r>
              <a:rPr lang="en-US" dirty="0"/>
              <a:t>A Web service is a software system </a:t>
            </a:r>
            <a:r>
              <a:rPr lang="en-US" i="1" dirty="0"/>
              <a:t>identified</a:t>
            </a:r>
            <a:r>
              <a:rPr lang="en-US" dirty="0"/>
              <a:t> by a URL, whose public interfaces and bindings are </a:t>
            </a:r>
            <a:r>
              <a:rPr lang="en-US" i="1" dirty="0"/>
              <a:t>defined</a:t>
            </a:r>
            <a:r>
              <a:rPr lang="en-US" dirty="0"/>
              <a:t> and </a:t>
            </a:r>
            <a:r>
              <a:rPr lang="en-US" i="1" dirty="0"/>
              <a:t>described</a:t>
            </a:r>
            <a:r>
              <a:rPr lang="en-US" dirty="0"/>
              <a:t> using XML. </a:t>
            </a:r>
          </a:p>
          <a:p>
            <a:pPr marL="342900" indent="-342900"/>
            <a:r>
              <a:rPr lang="en-US" dirty="0"/>
              <a:t>Its definition can be </a:t>
            </a:r>
            <a:r>
              <a:rPr lang="en-US" i="1" dirty="0"/>
              <a:t>discovered</a:t>
            </a:r>
            <a:r>
              <a:rPr lang="en-US" dirty="0"/>
              <a:t> by other software systems </a:t>
            </a:r>
          </a:p>
          <a:p>
            <a:pPr marL="342900" indent="-342900"/>
            <a:r>
              <a:rPr lang="en-US" dirty="0"/>
              <a:t>These systems may then interact with the Web service using XML based messages conveyed by Internet protocols (not necessarily Web protocols!)</a:t>
            </a:r>
          </a:p>
        </p:txBody>
      </p:sp>
      <p:sp>
        <p:nvSpPr>
          <p:cNvPr id="12293" name="Text Box 7"/>
          <p:cNvSpPr txBox="1">
            <a:spLocks noChangeArrowheads="1"/>
          </p:cNvSpPr>
          <p:nvPr/>
        </p:nvSpPr>
        <p:spPr bwMode="auto">
          <a:xfrm>
            <a:off x="0" y="0"/>
            <a:ext cx="3995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>
                <a:solidFill>
                  <a:srgbClr val="FF0000"/>
                </a:solidFill>
              </a:rPr>
              <a:t>Web Services in the Enterprise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2627784" y="2348880"/>
            <a:ext cx="1512168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2123728" y="4437112"/>
            <a:ext cx="288032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699792" y="4869160"/>
            <a:ext cx="396044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2339752" y="5445224"/>
            <a:ext cx="47185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W3C definition does not apply to </a:t>
            </a:r>
            <a:br>
              <a:rPr lang="en-AU" sz="2400" dirty="0">
                <a:solidFill>
                  <a:srgbClr val="FF0000"/>
                </a:solidFill>
              </a:rPr>
            </a:br>
            <a:r>
              <a:rPr lang="en-AU" sz="2400" dirty="0" err="1">
                <a:solidFill>
                  <a:srgbClr val="FF0000"/>
                </a:solidFill>
              </a:rPr>
              <a:t>RESTful</a:t>
            </a:r>
            <a:r>
              <a:rPr lang="en-AU" sz="2400" dirty="0">
                <a:solidFill>
                  <a:srgbClr val="FF0000"/>
                </a:solidFill>
              </a:rPr>
              <a:t> ‘Web services’!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768" y="3207967"/>
            <a:ext cx="3091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?? Maybe if WADL is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695FF1-BFBA-4542-9818-104567A065F2}" type="slidenum">
              <a:rPr kumimoji="0" lang="en-AU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7720012" cy="685800"/>
          </a:xfrm>
        </p:spPr>
        <p:txBody>
          <a:bodyPr/>
          <a:lstStyle/>
          <a:p>
            <a:r>
              <a:rPr lang="en-AU" sz="2800" b="0" dirty="0"/>
              <a:t>Need to make an existing business process more  flexible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724525" y="6237288"/>
            <a:ext cx="2324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Example from IBM Rational</a:t>
            </a:r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-1" y="0"/>
            <a:ext cx="766834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Web Services in the Enterprise – Example (business/sales process management)</a:t>
            </a:r>
          </a:p>
        </p:txBody>
      </p:sp>
      <p:pic>
        <p:nvPicPr>
          <p:cNvPr id="2151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48381"/>
            <a:ext cx="7777162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3390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8BA53C09-0F8E-4FEC-BA3C-408FAFA6B03B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12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41300"/>
            <a:ext cx="8064500" cy="605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7532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B03C01C4-234C-4DD0-8630-A15649FC6B97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13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1042988" y="188913"/>
            <a:ext cx="7162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eaLnBrk="0" hangingPunct="0"/>
            <a:r>
              <a:rPr lang="en-GB" sz="3600" dirty="0">
                <a:solidFill>
                  <a:schemeClr val="tx2"/>
                </a:solidFill>
                <a:latin typeface="Arial Narrow" pitchFamily="34" charset="0"/>
              </a:rPr>
              <a:t>Advantages of Web Services for Business</a:t>
            </a:r>
            <a:endParaRPr lang="en-GB" sz="4400" dirty="0">
              <a:solidFill>
                <a:schemeClr val="tx2"/>
              </a:solidFill>
              <a:latin typeface="Arial Narrow" pitchFamily="34" charset="0"/>
            </a:endParaRPr>
          </a:p>
        </p:txBody>
      </p:sp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0" y="0"/>
            <a:ext cx="3995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>
                <a:solidFill>
                  <a:srgbClr val="FF0000"/>
                </a:solidFill>
              </a:rPr>
              <a:t>Web Services in the Enterprise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619672" y="1052513"/>
            <a:ext cx="7128792" cy="5105400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200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+mn-lt"/>
              </a:defRPr>
            </a:lvl2pPr>
            <a:lvl3pPr marL="1276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3pPr>
            <a:lvl4pPr marL="16954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+mn-lt"/>
              </a:defRPr>
            </a:lvl4pPr>
            <a:lvl5pPr marL="21145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5pPr>
            <a:lvl6pPr marL="25717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6pPr>
            <a:lvl7pPr marL="30289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7pPr>
            <a:lvl8pPr marL="34861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8pPr>
            <a:lvl9pPr marL="3943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000" dirty="0">
                <a:solidFill>
                  <a:srgbClr val="FF0000"/>
                </a:solidFill>
              </a:rPr>
              <a:t>Within an enterprise (Enterprise Application Integration)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Accelerate and reduce the cost of integration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Save on infrastructure deployment &amp; management costs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Reduce skill requirements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Improve reuse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Improve flexibility leads quicker response to market opportunities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rgbClr val="FF0000"/>
                </a:solidFill>
              </a:rPr>
              <a:t>Between enterprises (e-Business integration)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Providing service to a company’s customers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e.g., an Insurance company wishes to link its systems to the systems of a new institutional customer (IAG for RACV, NRMA </a:t>
            </a:r>
            <a:r>
              <a:rPr lang="en-US" sz="1800" dirty="0" err="1"/>
              <a:t>etc</a:t>
            </a:r>
            <a:r>
              <a:rPr lang="en-US" sz="1800" dirty="0"/>
              <a:t>)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Accessing services from a company’s partners and suppliers</a:t>
            </a:r>
          </a:p>
          <a:p>
            <a:pPr lvl="1">
              <a:spcBef>
                <a:spcPts val="600"/>
              </a:spcBef>
            </a:pPr>
            <a:r>
              <a:rPr lang="en-US" sz="1800" dirty="0"/>
              <a:t>e.g., dynamically link to new partners and suppliers to offer their services to complement the value the company provides (Master Card from Coles)</a:t>
            </a:r>
          </a:p>
          <a:p>
            <a:pPr>
              <a:spcBef>
                <a:spcPts val="600"/>
              </a:spcBef>
            </a:pPr>
            <a:r>
              <a:rPr lang="en-US" sz="2000" i="1" dirty="0">
                <a:solidFill>
                  <a:srgbClr val="002060"/>
                </a:solidFill>
              </a:rPr>
              <a:t>Standards and common infrastructure reduce the barriers</a:t>
            </a:r>
          </a:p>
          <a:p>
            <a:pPr>
              <a:spcBef>
                <a:spcPts val="600"/>
              </a:spcBef>
            </a:pPr>
            <a:r>
              <a:rPr lang="en-US" sz="2000" i="1" dirty="0">
                <a:solidFill>
                  <a:srgbClr val="002060"/>
                </a:solidFill>
              </a:rPr>
              <a:t>Simplicity and reuse accelerates deployment</a:t>
            </a:r>
          </a:p>
          <a:p>
            <a:pPr>
              <a:spcBef>
                <a:spcPts val="600"/>
              </a:spcBef>
            </a:pPr>
            <a:r>
              <a:rPr lang="en-US" sz="2000" i="1" dirty="0">
                <a:solidFill>
                  <a:srgbClr val="002060"/>
                </a:solidFill>
              </a:rPr>
              <a:t>Dynamics opens new business opportunities</a:t>
            </a:r>
          </a:p>
        </p:txBody>
      </p:sp>
    </p:spTree>
    <p:extLst>
      <p:ext uri="{BB962C8B-B14F-4D97-AF65-F5344CB8AC3E}">
        <p14:creationId xmlns:p14="http://schemas.microsoft.com/office/powerpoint/2010/main" val="24481888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D8ED4257-24D9-455C-8EB8-1410481EFCB1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14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0"/>
              <a:t>Content</a:t>
            </a:r>
            <a:endParaRPr lang="en-US" b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b="1" dirty="0"/>
          </a:p>
          <a:p>
            <a:r>
              <a:rPr lang="en-AU" dirty="0"/>
              <a:t>Software services / web services</a:t>
            </a:r>
          </a:p>
          <a:p>
            <a:r>
              <a:rPr lang="en-AU" b="1" dirty="0"/>
              <a:t>Some concepts you need to understand</a:t>
            </a:r>
          </a:p>
          <a:p>
            <a:r>
              <a:rPr lang="en-AU" dirty="0"/>
              <a:t>Service oriented architecture (SOA)</a:t>
            </a:r>
          </a:p>
          <a:p>
            <a:r>
              <a:rPr lang="en-AU" dirty="0"/>
              <a:t>Web application architectural styles and middleware</a:t>
            </a:r>
          </a:p>
          <a:p>
            <a:r>
              <a:rPr lang="en-AU" dirty="0"/>
              <a:t>WS* (SOAP) approach</a:t>
            </a:r>
          </a:p>
          <a:p>
            <a:r>
              <a:rPr lang="en-AU" dirty="0"/>
              <a:t>REST approach</a:t>
            </a:r>
          </a:p>
          <a:p>
            <a:r>
              <a:rPr lang="en-AU" dirty="0" err="1"/>
              <a:t>Microservices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6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4603A936-BC8E-4247-B5E6-A914ABBB3519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15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Some underlying concepts …</a:t>
            </a:r>
            <a:endParaRPr lang="en-US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Functional and non-functional properties</a:t>
            </a:r>
          </a:p>
          <a:p>
            <a:r>
              <a:rPr lang="en-AU" dirty="0"/>
              <a:t>Stateless and </a:t>
            </a:r>
            <a:r>
              <a:rPr lang="en-AU" dirty="0" err="1"/>
              <a:t>stateful</a:t>
            </a:r>
            <a:r>
              <a:rPr lang="en-AU" dirty="0"/>
              <a:t> services</a:t>
            </a:r>
          </a:p>
          <a:p>
            <a:r>
              <a:rPr lang="en-AU" dirty="0"/>
              <a:t>Granularity</a:t>
            </a:r>
          </a:p>
          <a:p>
            <a:r>
              <a:rPr lang="en-AU" dirty="0"/>
              <a:t>Synchronicity</a:t>
            </a:r>
          </a:p>
          <a:p>
            <a:r>
              <a:rPr lang="en-AU" dirty="0"/>
              <a:t>Separation of interfaces and implementation</a:t>
            </a:r>
          </a:p>
          <a:p>
            <a:r>
              <a:rPr lang="en-AU" dirty="0"/>
              <a:t>Loose coupling</a:t>
            </a:r>
          </a:p>
          <a:p>
            <a:endParaRPr lang="en-AU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3A933BFA-9652-4C57-BEB7-0D56B662F6FB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16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Service Properties &amp; State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219200"/>
            <a:ext cx="7804150" cy="5105400"/>
          </a:xfrm>
        </p:spPr>
        <p:txBody>
          <a:bodyPr/>
          <a:lstStyle/>
          <a:p>
            <a:r>
              <a:rPr lang="en-US" sz="2400" dirty="0"/>
              <a:t>Functional &amp; non-functional properties:</a:t>
            </a:r>
          </a:p>
          <a:p>
            <a:pPr lvl="1"/>
            <a:r>
              <a:rPr lang="en-US" sz="2000" dirty="0"/>
              <a:t>The </a:t>
            </a:r>
            <a:r>
              <a:rPr lang="en-US" sz="2000" i="1" dirty="0">
                <a:solidFill>
                  <a:srgbClr val="FF0000"/>
                </a:solidFill>
              </a:rPr>
              <a:t>functional</a:t>
            </a:r>
            <a:r>
              <a:rPr lang="en-US" sz="2000" dirty="0"/>
              <a:t> service description details the operational characteristics that define the overall behavior of the service,</a:t>
            </a:r>
          </a:p>
          <a:p>
            <a:pPr lvl="1"/>
            <a:r>
              <a:rPr lang="en-US" sz="2000" dirty="0"/>
              <a:t>The </a:t>
            </a:r>
            <a:r>
              <a:rPr lang="en-US" sz="2000" i="1" dirty="0">
                <a:solidFill>
                  <a:srgbClr val="FF0000"/>
                </a:solidFill>
              </a:rPr>
              <a:t>non-functional </a:t>
            </a:r>
            <a:r>
              <a:rPr lang="en-US" sz="2000" dirty="0"/>
              <a:t>description targets service quality attributes, e.g., service metering and cost, performance metrics (response time or accuracy), security, authorization, authentication, scalability, &amp; availability, etc.</a:t>
            </a:r>
          </a:p>
          <a:p>
            <a:r>
              <a:rPr lang="en-US" sz="2400" dirty="0"/>
              <a:t>Stateless or </a:t>
            </a:r>
            <a:r>
              <a:rPr lang="en-US" sz="2400" dirty="0" err="1"/>
              <a:t>stateful</a:t>
            </a:r>
            <a:r>
              <a:rPr lang="en-US" sz="2400" dirty="0"/>
              <a:t> services:</a:t>
            </a:r>
          </a:p>
          <a:p>
            <a:pPr lvl="1"/>
            <a:r>
              <a:rPr lang="en-US" sz="2000" dirty="0"/>
              <a:t> Services that can be invoked repeatedly without having to maintain context or state are called </a:t>
            </a:r>
            <a:r>
              <a:rPr lang="en-US" sz="2000" i="1" dirty="0">
                <a:solidFill>
                  <a:srgbClr val="FF0000"/>
                </a:solidFill>
              </a:rPr>
              <a:t>stateless</a:t>
            </a:r>
            <a:r>
              <a:rPr lang="en-US" sz="2000" dirty="0"/>
              <a:t>.</a:t>
            </a:r>
          </a:p>
          <a:p>
            <a:pPr lvl="2"/>
            <a:r>
              <a:rPr lang="en-US" sz="1800" dirty="0"/>
              <a:t>Simple informational services are stateless.</a:t>
            </a:r>
          </a:p>
          <a:p>
            <a:pPr lvl="1"/>
            <a:r>
              <a:rPr lang="en-US" sz="2000" dirty="0"/>
              <a:t> Services that require their context to be preserved from one invocation to the next are called </a:t>
            </a:r>
            <a:r>
              <a:rPr lang="en-US" sz="2000" i="1" dirty="0" err="1">
                <a:solidFill>
                  <a:srgbClr val="FF0000"/>
                </a:solidFill>
              </a:rPr>
              <a:t>stateful</a:t>
            </a:r>
            <a:r>
              <a:rPr lang="en-US" sz="2000" dirty="0"/>
              <a:t>. </a:t>
            </a:r>
          </a:p>
          <a:p>
            <a:pPr lvl="2"/>
            <a:r>
              <a:rPr lang="en-US" sz="1800" dirty="0"/>
              <a:t>Complex services (business processes) typically involve </a:t>
            </a:r>
            <a:r>
              <a:rPr lang="en-US" sz="1800" dirty="0" err="1"/>
              <a:t>stateful</a:t>
            </a:r>
            <a:r>
              <a:rPr lang="en-US" sz="1800" dirty="0"/>
              <a:t> interactions.</a:t>
            </a:r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0" y="0"/>
            <a:ext cx="3995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>
                <a:solidFill>
                  <a:srgbClr val="FF0000"/>
                </a:solidFill>
              </a:rPr>
              <a:t>Some concepts …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5A94D97B-5732-4CF6-BA69-F538D920F78C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17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Granularity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25538"/>
            <a:ext cx="7934325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Service granularity: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Simple services are discrete in nature, exhibit normally a request/reply mode of operation &amp; are of fine granularity, i.e., they are atomic in nature.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Complex services are coarse-grained, e.g., a </a:t>
            </a:r>
            <a:r>
              <a:rPr lang="en-US" dirty="0" err="1"/>
              <a:t>PurchaseOrder</a:t>
            </a:r>
            <a:r>
              <a:rPr lang="en-US" dirty="0"/>
              <a:t>. These involve interactions with other services and possibly end-users in a single or multiple sessions.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Coarse-grained communication implies larger and richer data structures, (viz. those supported by XML).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</p:txBody>
      </p:sp>
      <p:sp>
        <p:nvSpPr>
          <p:cNvPr id="38917" name="Text Box 4"/>
          <p:cNvSpPr txBox="1">
            <a:spLocks noChangeArrowheads="1"/>
          </p:cNvSpPr>
          <p:nvPr/>
        </p:nvSpPr>
        <p:spPr bwMode="auto">
          <a:xfrm>
            <a:off x="0" y="0"/>
            <a:ext cx="3995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>
                <a:solidFill>
                  <a:srgbClr val="FF0000"/>
                </a:solidFill>
              </a:rPr>
              <a:t>Some concepts …</a:t>
            </a:r>
          </a:p>
        </p:txBody>
      </p:sp>
    </p:spTree>
    <p:extLst>
      <p:ext uri="{BB962C8B-B14F-4D97-AF65-F5344CB8AC3E}">
        <p14:creationId xmlns:p14="http://schemas.microsoft.com/office/powerpoint/2010/main" val="420796714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F25F8C0F-F63B-4F44-B1BA-38B8C978C198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18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04813"/>
            <a:ext cx="6913563" cy="509587"/>
          </a:xfrm>
        </p:spPr>
        <p:txBody>
          <a:bodyPr/>
          <a:lstStyle/>
          <a:p>
            <a:r>
              <a:rPr lang="en-US" sz="3200" b="0">
                <a:solidFill>
                  <a:schemeClr val="tx1"/>
                </a:solidFill>
              </a:rPr>
              <a:t>Synchronous &amp; asynchronous communication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4953000" cy="5184775"/>
          </a:xfrm>
          <a:noFill/>
        </p:spPr>
        <p:txBody>
          <a:bodyPr/>
          <a:lstStyle/>
          <a:p>
            <a:r>
              <a:rPr lang="en-US" sz="2000"/>
              <a:t>Synchronous communication which is synchronized between two communicating application systems, which must both up and running. </a:t>
            </a:r>
          </a:p>
          <a:p>
            <a:pPr lvl="1"/>
            <a:r>
              <a:rPr lang="en-US" sz="1800"/>
              <a:t>Execution flow at the client</a:t>
            </a:r>
            <a:r>
              <a:rPr lang="en-US" sz="1800">
                <a:latin typeface="Arial" charset="0"/>
              </a:rPr>
              <a:t>’</a:t>
            </a:r>
            <a:r>
              <a:rPr lang="en-US" sz="1800"/>
              <a:t>s side is interrupted to execute the call.</a:t>
            </a:r>
            <a:endParaRPr lang="en-US"/>
          </a:p>
          <a:p>
            <a:r>
              <a:rPr lang="en-US" sz="2000"/>
              <a:t>Asynchronous communication where</a:t>
            </a:r>
            <a:br>
              <a:rPr lang="en-US" sz="2000"/>
            </a:br>
            <a:r>
              <a:rPr lang="en-US" sz="2000"/>
              <a:t> the caller employs a send and forget approach that allows it to continue to execute after it sends the message.</a:t>
            </a:r>
          </a:p>
          <a:p>
            <a:pPr lvl="1"/>
            <a:r>
              <a:rPr lang="en-US" sz="1800"/>
              <a:t>Here an application sends a request to another while it continues its own processing activities. </a:t>
            </a:r>
          </a:p>
        </p:txBody>
      </p:sp>
      <p:grpSp>
        <p:nvGrpSpPr>
          <p:cNvPr id="40965" name="Group 4"/>
          <p:cNvGrpSpPr>
            <a:grpSpLocks/>
          </p:cNvGrpSpPr>
          <p:nvPr/>
        </p:nvGrpSpPr>
        <p:grpSpPr bwMode="auto">
          <a:xfrm>
            <a:off x="4572000" y="1196975"/>
            <a:ext cx="4454525" cy="3429000"/>
            <a:chOff x="644" y="374"/>
            <a:chExt cx="2717" cy="1935"/>
          </a:xfrm>
        </p:grpSpPr>
        <p:grpSp>
          <p:nvGrpSpPr>
            <p:cNvPr id="40967" name="Group 5"/>
            <p:cNvGrpSpPr>
              <a:grpSpLocks/>
            </p:cNvGrpSpPr>
            <p:nvPr/>
          </p:nvGrpSpPr>
          <p:grpSpPr bwMode="auto">
            <a:xfrm>
              <a:off x="644" y="1378"/>
              <a:ext cx="672" cy="155"/>
              <a:chOff x="617" y="1382"/>
              <a:chExt cx="672" cy="155"/>
            </a:xfrm>
          </p:grpSpPr>
          <p:sp>
            <p:nvSpPr>
              <p:cNvPr id="40983" name="Line 6"/>
              <p:cNvSpPr>
                <a:spLocks noChangeShapeType="1"/>
              </p:cNvSpPr>
              <p:nvPr/>
            </p:nvSpPr>
            <p:spPr bwMode="auto">
              <a:xfrm>
                <a:off x="617" y="1473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84" name="Text Box 7"/>
              <p:cNvSpPr txBox="1">
                <a:spLocks noChangeArrowheads="1"/>
              </p:cNvSpPr>
              <p:nvPr/>
            </p:nvSpPr>
            <p:spPr bwMode="auto">
              <a:xfrm>
                <a:off x="758" y="1382"/>
                <a:ext cx="330" cy="1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GB" sz="1200" b="1">
                    <a:solidFill>
                      <a:schemeClr val="tx1"/>
                    </a:solidFill>
                    <a:latin typeface="Times New Roman" pitchFamily="18" charset="0"/>
                    <a:ea typeface="ＭＳ Ｐゴシック" pitchFamily="34" charset="-128"/>
                  </a:rPr>
                  <a:t>block</a:t>
                </a:r>
                <a:endParaRPr lang="en-GB" sz="24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40968" name="Line 8"/>
            <p:cNvSpPr>
              <a:spLocks noChangeShapeType="1"/>
            </p:cNvSpPr>
            <p:nvPr/>
          </p:nvSpPr>
          <p:spPr bwMode="auto">
            <a:xfrm>
              <a:off x="1338" y="1574"/>
              <a:ext cx="1494" cy="458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69" name="Line 9"/>
            <p:cNvSpPr>
              <a:spLocks noChangeShapeType="1"/>
            </p:cNvSpPr>
            <p:nvPr/>
          </p:nvSpPr>
          <p:spPr bwMode="auto">
            <a:xfrm>
              <a:off x="1338" y="1580"/>
              <a:ext cx="0" cy="7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0" name="Line 10"/>
            <p:cNvSpPr>
              <a:spLocks noChangeShapeType="1"/>
            </p:cNvSpPr>
            <p:nvPr/>
          </p:nvSpPr>
          <p:spPr bwMode="auto">
            <a:xfrm flipV="1">
              <a:off x="1338" y="1032"/>
              <a:ext cx="1494" cy="44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Line 11"/>
            <p:cNvSpPr>
              <a:spLocks noChangeShapeType="1"/>
            </p:cNvSpPr>
            <p:nvPr/>
          </p:nvSpPr>
          <p:spPr bwMode="auto">
            <a:xfrm flipV="1">
              <a:off x="1338" y="672"/>
              <a:ext cx="0" cy="8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Line 12"/>
            <p:cNvSpPr>
              <a:spLocks noChangeShapeType="1"/>
            </p:cNvSpPr>
            <p:nvPr/>
          </p:nvSpPr>
          <p:spPr bwMode="auto">
            <a:xfrm>
              <a:off x="2831" y="1027"/>
              <a:ext cx="0" cy="9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 flipV="1">
              <a:off x="2829" y="672"/>
              <a:ext cx="0" cy="3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Line 14"/>
            <p:cNvSpPr>
              <a:spLocks noChangeShapeType="1"/>
            </p:cNvSpPr>
            <p:nvPr/>
          </p:nvSpPr>
          <p:spPr bwMode="auto">
            <a:xfrm flipV="1">
              <a:off x="2829" y="1972"/>
              <a:ext cx="0" cy="3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Text Box 15"/>
            <p:cNvSpPr txBox="1">
              <a:spLocks noChangeArrowheads="1"/>
            </p:cNvSpPr>
            <p:nvPr/>
          </p:nvSpPr>
          <p:spPr bwMode="auto">
            <a:xfrm>
              <a:off x="1081" y="374"/>
              <a:ext cx="54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9pPr>
            </a:lstStyle>
            <a:p>
              <a:r>
                <a:rPr lang="en-US" sz="1200" b="1" i="1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rPr>
                <a:t>sending </a:t>
              </a:r>
            </a:p>
            <a:p>
              <a:r>
                <a:rPr lang="en-US" sz="1200" b="1" i="1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rPr>
                <a:t>application</a:t>
              </a:r>
              <a:endParaRPr lang="en-GB" sz="1200" b="1" i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40976" name="Text Box 16"/>
            <p:cNvSpPr txBox="1">
              <a:spLocks noChangeArrowheads="1"/>
            </p:cNvSpPr>
            <p:nvPr/>
          </p:nvSpPr>
          <p:spPr bwMode="auto">
            <a:xfrm>
              <a:off x="2562" y="374"/>
              <a:ext cx="54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9pPr>
            </a:lstStyle>
            <a:p>
              <a:r>
                <a:rPr lang="en-US" sz="1200" b="1" i="1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rPr>
                <a:t>receiving </a:t>
              </a:r>
            </a:p>
            <a:p>
              <a:r>
                <a:rPr lang="en-US" sz="1200" b="1" i="1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rPr>
                <a:t>application</a:t>
              </a:r>
              <a:endParaRPr lang="en-GB" sz="1200" b="1" i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457745" name="Text Box 17"/>
            <p:cNvSpPr txBox="1">
              <a:spLocks noChangeArrowheads="1"/>
            </p:cNvSpPr>
            <p:nvPr/>
          </p:nvSpPr>
          <p:spPr bwMode="auto">
            <a:xfrm rot="-907501">
              <a:off x="1802" y="1186"/>
              <a:ext cx="407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1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ＭＳ Ｐゴシック" pitchFamily="34" charset="-128"/>
                </a:rPr>
                <a:t>request</a:t>
              </a:r>
              <a:endParaRPr lang="en-GB" sz="12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endParaRPr>
            </a:p>
          </p:txBody>
        </p:sp>
        <p:sp>
          <p:nvSpPr>
            <p:cNvPr id="457746" name="Text Box 18"/>
            <p:cNvSpPr txBox="1">
              <a:spLocks noChangeArrowheads="1"/>
            </p:cNvSpPr>
            <p:nvPr/>
          </p:nvSpPr>
          <p:spPr bwMode="auto">
            <a:xfrm rot="1156462">
              <a:off x="1814" y="1685"/>
              <a:ext cx="504" cy="1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en-US" sz="1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ＭＳ Ｐゴシック" pitchFamily="34" charset="-128"/>
                </a:rPr>
                <a:t>response</a:t>
              </a:r>
              <a:endParaRPr lang="en-GB" sz="1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ＭＳ Ｐゴシック" pitchFamily="34" charset="-128"/>
              </a:endParaRPr>
            </a:p>
          </p:txBody>
        </p:sp>
        <p:grpSp>
          <p:nvGrpSpPr>
            <p:cNvPr id="40979" name="Group 19"/>
            <p:cNvGrpSpPr>
              <a:grpSpLocks/>
            </p:cNvGrpSpPr>
            <p:nvPr/>
          </p:nvGrpSpPr>
          <p:grpSpPr bwMode="auto">
            <a:xfrm>
              <a:off x="644" y="1501"/>
              <a:ext cx="672" cy="155"/>
              <a:chOff x="624" y="1495"/>
              <a:chExt cx="672" cy="155"/>
            </a:xfrm>
          </p:grpSpPr>
          <p:sp>
            <p:nvSpPr>
              <p:cNvPr id="40981" name="Line 20"/>
              <p:cNvSpPr>
                <a:spLocks noChangeShapeType="1"/>
              </p:cNvSpPr>
              <p:nvPr/>
            </p:nvSpPr>
            <p:spPr bwMode="auto">
              <a:xfrm>
                <a:off x="624" y="1578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82" name="Text Box 21"/>
              <p:cNvSpPr txBox="1">
                <a:spLocks noChangeArrowheads="1"/>
              </p:cNvSpPr>
              <p:nvPr/>
            </p:nvSpPr>
            <p:spPr bwMode="auto">
              <a:xfrm>
                <a:off x="712" y="1495"/>
                <a:ext cx="433" cy="15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GB" sz="1200" b="1">
                    <a:solidFill>
                      <a:schemeClr val="tx1"/>
                    </a:solidFill>
                    <a:latin typeface="Times New Roman" pitchFamily="18" charset="0"/>
                    <a:ea typeface="ＭＳ Ｐゴシック" pitchFamily="34" charset="-128"/>
                  </a:rPr>
                  <a:t>unblock</a:t>
                </a:r>
                <a:endParaRPr lang="en-GB" sz="2400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endParaRPr>
              </a:p>
            </p:txBody>
          </p:sp>
        </p:grpSp>
        <p:sp>
          <p:nvSpPr>
            <p:cNvPr id="40980" name="Rectangle 22"/>
            <p:cNvSpPr>
              <a:spLocks noChangeArrowheads="1"/>
            </p:cNvSpPr>
            <p:nvPr/>
          </p:nvSpPr>
          <p:spPr bwMode="auto">
            <a:xfrm>
              <a:off x="2830" y="1361"/>
              <a:ext cx="53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GB" sz="1200" b="1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rPr>
                <a:t>request</a:t>
              </a:r>
            </a:p>
            <a:p>
              <a:pPr eaLnBrk="0" hangingPunct="0"/>
              <a:r>
                <a:rPr lang="en-GB" sz="1200" b="1">
                  <a:solidFill>
                    <a:schemeClr val="tx1"/>
                  </a:solidFill>
                  <a:latin typeface="Times New Roman" pitchFamily="18" charset="0"/>
                  <a:ea typeface="ＭＳ Ｐゴシック" pitchFamily="34" charset="-128"/>
                </a:rPr>
                <a:t>processing</a:t>
              </a:r>
            </a:p>
          </p:txBody>
        </p:sp>
      </p:grpSp>
      <p:sp>
        <p:nvSpPr>
          <p:cNvPr id="40966" name="Text Box 23"/>
          <p:cNvSpPr txBox="1">
            <a:spLocks noChangeArrowheads="1"/>
          </p:cNvSpPr>
          <p:nvPr/>
        </p:nvSpPr>
        <p:spPr bwMode="auto">
          <a:xfrm>
            <a:off x="0" y="0"/>
            <a:ext cx="3995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>
                <a:solidFill>
                  <a:srgbClr val="FF0000"/>
                </a:solidFill>
              </a:rPr>
              <a:t>Some concepts …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D51DBF34-260F-40BC-8D90-E5A2DEAD840F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19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260350"/>
            <a:ext cx="7057404" cy="762000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Service Interface (API) &amp; Implementation 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052513"/>
            <a:ext cx="7804150" cy="5105400"/>
          </a:xfrm>
        </p:spPr>
        <p:txBody>
          <a:bodyPr/>
          <a:lstStyle/>
          <a:p>
            <a:r>
              <a:rPr lang="en-US" sz="2300" dirty="0"/>
              <a:t>The </a:t>
            </a:r>
            <a:r>
              <a:rPr lang="en-US" sz="2300" i="1" dirty="0">
                <a:solidFill>
                  <a:srgbClr val="FF0000"/>
                </a:solidFill>
              </a:rPr>
              <a:t>service interface</a:t>
            </a:r>
            <a:r>
              <a:rPr lang="en-US" sz="2300" dirty="0"/>
              <a:t> defines service functionality visible to the external world and provides the means to access this functionality. </a:t>
            </a:r>
          </a:p>
          <a:p>
            <a:pPr lvl="1"/>
            <a:r>
              <a:rPr lang="en-US" sz="2300" dirty="0"/>
              <a:t>The service describes its own interface characteristics, i.e., the operations available, the parameters, data-typing and the access protocols, in a way that other software modules can determine what it does, how to invoke its functionality, &amp; what result to expect in return.</a:t>
            </a:r>
          </a:p>
          <a:p>
            <a:r>
              <a:rPr lang="en-US" sz="2300" dirty="0"/>
              <a:t>The </a:t>
            </a:r>
            <a:r>
              <a:rPr lang="en-US" sz="2300" i="1" dirty="0">
                <a:solidFill>
                  <a:srgbClr val="FF0000"/>
                </a:solidFill>
              </a:rPr>
              <a:t>service implementation</a:t>
            </a:r>
            <a:r>
              <a:rPr lang="en-US" sz="2300" dirty="0"/>
              <a:t> realizes a specific service interface whose implementation details are hidden from its users. </a:t>
            </a:r>
          </a:p>
          <a:p>
            <a:pPr lvl="1"/>
            <a:r>
              <a:rPr lang="en-US" sz="2300" dirty="0"/>
              <a:t>Different service providers using any programming language of  their choice may implement the same interface. </a:t>
            </a:r>
          </a:p>
        </p:txBody>
      </p:sp>
      <p:sp>
        <p:nvSpPr>
          <p:cNvPr id="47109" name="Text Box 4"/>
          <p:cNvSpPr txBox="1">
            <a:spLocks noChangeArrowheads="1"/>
          </p:cNvSpPr>
          <p:nvPr/>
        </p:nvSpPr>
        <p:spPr bwMode="auto">
          <a:xfrm>
            <a:off x="0" y="0"/>
            <a:ext cx="3995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>
                <a:solidFill>
                  <a:srgbClr val="FF0000"/>
                </a:solidFill>
              </a:rPr>
              <a:t>Some concepts …</a:t>
            </a:r>
          </a:p>
        </p:txBody>
      </p:sp>
    </p:spTree>
    <p:extLst>
      <p:ext uri="{BB962C8B-B14F-4D97-AF65-F5344CB8AC3E}">
        <p14:creationId xmlns:p14="http://schemas.microsoft.com/office/powerpoint/2010/main" val="98147737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47EA74B5-CA26-4A17-BECA-655895DFA91F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20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Perspectives on Web Services</a:t>
            </a:r>
          </a:p>
        </p:txBody>
      </p:sp>
      <p:sp>
        <p:nvSpPr>
          <p:cNvPr id="48132" name="Oval 3"/>
          <p:cNvSpPr>
            <a:spLocks noChangeArrowheads="1"/>
          </p:cNvSpPr>
          <p:nvPr/>
        </p:nvSpPr>
        <p:spPr bwMode="auto">
          <a:xfrm>
            <a:off x="354013" y="1684338"/>
            <a:ext cx="4114800" cy="4038600"/>
          </a:xfrm>
          <a:prstGeom prst="ellipse">
            <a:avLst/>
          </a:prstGeom>
          <a:solidFill>
            <a:srgbClr val="EAEAEA">
              <a:alpha val="50195"/>
            </a:srgbClr>
          </a:solidFill>
          <a:ln w="28575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48133" name="Oval 4"/>
          <p:cNvSpPr>
            <a:spLocks noChangeArrowheads="1"/>
          </p:cNvSpPr>
          <p:nvPr/>
        </p:nvSpPr>
        <p:spPr bwMode="auto">
          <a:xfrm>
            <a:off x="2411413" y="1760538"/>
            <a:ext cx="6477000" cy="4038600"/>
          </a:xfrm>
          <a:prstGeom prst="ellipse">
            <a:avLst/>
          </a:prstGeom>
          <a:solidFill>
            <a:srgbClr val="EAEAEA">
              <a:alpha val="50195"/>
            </a:srgbClr>
          </a:solidFill>
          <a:ln w="28575">
            <a:solidFill>
              <a:schemeClr val="hlink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AU"/>
          </a:p>
        </p:txBody>
      </p:sp>
      <p:sp>
        <p:nvSpPr>
          <p:cNvPr id="48134" name="Text Box 5"/>
          <p:cNvSpPr txBox="1">
            <a:spLocks noChangeArrowheads="1"/>
          </p:cNvSpPr>
          <p:nvPr/>
        </p:nvSpPr>
        <p:spPr bwMode="auto">
          <a:xfrm>
            <a:off x="2716213" y="297973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GB" b="1">
                <a:solidFill>
                  <a:srgbClr val="007CA8"/>
                </a:solidFill>
                <a:latin typeface="Arial" charset="0"/>
              </a:rPr>
              <a:t>Interface</a:t>
            </a:r>
          </a:p>
        </p:txBody>
      </p:sp>
      <p:sp>
        <p:nvSpPr>
          <p:cNvPr id="48135" name="Oval 6"/>
          <p:cNvSpPr>
            <a:spLocks noChangeArrowheads="1"/>
          </p:cNvSpPr>
          <p:nvPr/>
        </p:nvSpPr>
        <p:spPr bwMode="auto">
          <a:xfrm>
            <a:off x="3097213" y="3395663"/>
            <a:ext cx="546100" cy="536575"/>
          </a:xfrm>
          <a:prstGeom prst="ellipse">
            <a:avLst/>
          </a:prstGeom>
          <a:gradFill rotWithShape="0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2000" tIns="0" rIns="72000" bIns="0" anchor="ctr"/>
          <a:lstStyle/>
          <a:p>
            <a:endParaRPr lang="en-AU"/>
          </a:p>
        </p:txBody>
      </p:sp>
      <p:sp>
        <p:nvSpPr>
          <p:cNvPr id="48136" name="Line 7"/>
          <p:cNvSpPr>
            <a:spLocks noChangeShapeType="1"/>
          </p:cNvSpPr>
          <p:nvPr/>
        </p:nvSpPr>
        <p:spPr bwMode="auto">
          <a:xfrm>
            <a:off x="3630613" y="3663950"/>
            <a:ext cx="1676400" cy="0"/>
          </a:xfrm>
          <a:prstGeom prst="line">
            <a:avLst/>
          </a:prstGeom>
          <a:noFill/>
          <a:ln w="38100">
            <a:solidFill>
              <a:srgbClr val="66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48137" name="Rectangle 8"/>
          <p:cNvSpPr>
            <a:spLocks noChangeArrowheads="1"/>
          </p:cNvSpPr>
          <p:nvPr/>
        </p:nvSpPr>
        <p:spPr bwMode="auto">
          <a:xfrm>
            <a:off x="5295900" y="3052763"/>
            <a:ext cx="2068513" cy="122237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0" rIns="72000" bIns="0" anchor="ctr"/>
          <a:lstStyle/>
          <a:p>
            <a:pPr algn="ctr" eaLnBrk="0" hangingPunct="0">
              <a:spcBef>
                <a:spcPct val="20000"/>
              </a:spcBef>
            </a:pPr>
            <a:r>
              <a:rPr lang="en-GB" b="1">
                <a:solidFill>
                  <a:schemeClr val="bg2"/>
                </a:solidFill>
                <a:latin typeface="Arial" charset="0"/>
              </a:rPr>
              <a:t>Implementation</a:t>
            </a:r>
            <a:endParaRPr lang="en-GB" sz="1800" b="1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48138" name="Text Box 9"/>
          <p:cNvSpPr txBox="1">
            <a:spLocks noChangeArrowheads="1"/>
          </p:cNvSpPr>
          <p:nvPr/>
        </p:nvSpPr>
        <p:spPr bwMode="auto">
          <a:xfrm>
            <a:off x="1116013" y="1989138"/>
            <a:ext cx="1600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  <a:buSzPct val="80000"/>
              <a:buFont typeface="Wingdings" pitchFamily="2" charset="2"/>
              <a:buNone/>
            </a:pPr>
            <a:r>
              <a:rPr lang="en-GB" sz="2400" b="1" i="1">
                <a:solidFill>
                  <a:srgbClr val="CC0000"/>
                </a:solidFill>
                <a:latin typeface="Arial" charset="0"/>
              </a:rPr>
              <a:t>What </a:t>
            </a:r>
            <a:r>
              <a:rPr lang="en-US" sz="2400" b="1" i="1">
                <a:solidFill>
                  <a:srgbClr val="CC0000"/>
                </a:solidFill>
                <a:latin typeface="Arial" charset="0"/>
              </a:rPr>
              <a:t>does </a:t>
            </a:r>
            <a:r>
              <a:rPr lang="en-GB" sz="2400" b="1" i="1">
                <a:solidFill>
                  <a:srgbClr val="CC0000"/>
                </a:solidFill>
                <a:latin typeface="Arial" charset="0"/>
              </a:rPr>
              <a:t>it do</a:t>
            </a:r>
            <a:r>
              <a:rPr lang="en-US" sz="2400" b="1" i="1">
                <a:solidFill>
                  <a:srgbClr val="CC0000"/>
                </a:solidFill>
                <a:latin typeface="Arial" charset="0"/>
              </a:rPr>
              <a:t>?</a:t>
            </a:r>
          </a:p>
        </p:txBody>
      </p:sp>
      <p:sp>
        <p:nvSpPr>
          <p:cNvPr id="48139" name="Text Box 10"/>
          <p:cNvSpPr txBox="1">
            <a:spLocks noChangeArrowheads="1"/>
          </p:cNvSpPr>
          <p:nvPr/>
        </p:nvSpPr>
        <p:spPr bwMode="auto">
          <a:xfrm>
            <a:off x="4211638" y="1989138"/>
            <a:ext cx="223202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algn="ctr">
              <a:lnSpc>
                <a:spcPct val="90000"/>
              </a:lnSpc>
              <a:buSzPct val="80000"/>
              <a:buFont typeface="Wingdings" pitchFamily="2" charset="2"/>
              <a:buNone/>
            </a:pPr>
            <a:r>
              <a:rPr lang="en-GB" sz="2400" b="1" i="1">
                <a:solidFill>
                  <a:srgbClr val="2622C9"/>
                </a:solidFill>
                <a:latin typeface="Arial" charset="0"/>
              </a:rPr>
              <a:t>How to represent it?</a:t>
            </a:r>
            <a:endParaRPr lang="en-US" sz="2400" b="1" i="1">
              <a:solidFill>
                <a:srgbClr val="9286CE"/>
              </a:solidFill>
              <a:latin typeface="Arial" charset="0"/>
            </a:endParaRPr>
          </a:p>
        </p:txBody>
      </p:sp>
      <p:sp>
        <p:nvSpPr>
          <p:cNvPr id="48140" name="Text Box 11"/>
          <p:cNvSpPr txBox="1">
            <a:spLocks noChangeArrowheads="1"/>
          </p:cNvSpPr>
          <p:nvPr/>
        </p:nvSpPr>
        <p:spPr bwMode="auto">
          <a:xfrm>
            <a:off x="430213" y="3284538"/>
            <a:ext cx="1600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  <a:buSzPct val="80000"/>
              <a:buFont typeface="Wingdings" pitchFamily="2" charset="2"/>
              <a:buNone/>
            </a:pPr>
            <a:r>
              <a:rPr lang="en-GB" sz="2400" b="1" i="1">
                <a:solidFill>
                  <a:srgbClr val="CC0000"/>
                </a:solidFill>
                <a:latin typeface="Arial" charset="0"/>
              </a:rPr>
              <a:t>How </a:t>
            </a:r>
            <a:r>
              <a:rPr lang="en-US" sz="2400" b="1" i="1">
                <a:solidFill>
                  <a:srgbClr val="CC0000"/>
                </a:solidFill>
                <a:latin typeface="Arial" charset="0"/>
              </a:rPr>
              <a:t>d</a:t>
            </a:r>
            <a:r>
              <a:rPr lang="en-GB" sz="2400" b="1" i="1">
                <a:solidFill>
                  <a:srgbClr val="CC0000"/>
                </a:solidFill>
                <a:latin typeface="Arial" charset="0"/>
              </a:rPr>
              <a:t>o </a:t>
            </a:r>
            <a:r>
              <a:rPr lang="en-US" sz="2400" b="1" i="1">
                <a:solidFill>
                  <a:srgbClr val="CC0000"/>
                </a:solidFill>
                <a:latin typeface="Arial" charset="0"/>
              </a:rPr>
              <a:t>I u</a:t>
            </a:r>
            <a:r>
              <a:rPr lang="en-GB" sz="2400" b="1" i="1">
                <a:solidFill>
                  <a:srgbClr val="CC0000"/>
                </a:solidFill>
                <a:latin typeface="Arial" charset="0"/>
              </a:rPr>
              <a:t>se it</a:t>
            </a:r>
            <a:r>
              <a:rPr lang="en-US" sz="2400" b="1" i="1">
                <a:solidFill>
                  <a:srgbClr val="CC0000"/>
                </a:solidFill>
                <a:latin typeface="Arial" charset="0"/>
              </a:rPr>
              <a:t>?</a:t>
            </a:r>
          </a:p>
        </p:txBody>
      </p:sp>
      <p:sp>
        <p:nvSpPr>
          <p:cNvPr id="48141" name="Text Box 12"/>
          <p:cNvSpPr txBox="1">
            <a:spLocks noChangeArrowheads="1"/>
          </p:cNvSpPr>
          <p:nvPr/>
        </p:nvSpPr>
        <p:spPr bwMode="auto">
          <a:xfrm>
            <a:off x="887413" y="4275138"/>
            <a:ext cx="1600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  <a:buSzPct val="80000"/>
              <a:buFont typeface="Wingdings" pitchFamily="2" charset="2"/>
              <a:buNone/>
            </a:pPr>
            <a:r>
              <a:rPr lang="en-GB" sz="2400" b="1" i="1">
                <a:solidFill>
                  <a:srgbClr val="CC0000"/>
                </a:solidFill>
                <a:latin typeface="Arial" charset="0"/>
              </a:rPr>
              <a:t>Where </a:t>
            </a:r>
            <a:r>
              <a:rPr lang="en-US" sz="2400" b="1" i="1">
                <a:solidFill>
                  <a:srgbClr val="CC0000"/>
                </a:solidFill>
                <a:latin typeface="Arial" charset="0"/>
              </a:rPr>
              <a:t>can I</a:t>
            </a:r>
            <a:r>
              <a:rPr lang="en-GB" sz="2400" b="1" i="1">
                <a:solidFill>
                  <a:srgbClr val="CC0000"/>
                </a:solidFill>
                <a:latin typeface="Arial" charset="0"/>
              </a:rPr>
              <a:t> find it</a:t>
            </a:r>
            <a:r>
              <a:rPr lang="en-US" sz="2400" b="1" i="1">
                <a:solidFill>
                  <a:srgbClr val="CC0000"/>
                </a:solidFill>
                <a:latin typeface="Arial" charset="0"/>
              </a:rPr>
              <a:t>?</a:t>
            </a:r>
          </a:p>
        </p:txBody>
      </p:sp>
      <p:sp>
        <p:nvSpPr>
          <p:cNvPr id="48142" name="Text Box 13"/>
          <p:cNvSpPr txBox="1">
            <a:spLocks noChangeArrowheads="1"/>
          </p:cNvSpPr>
          <p:nvPr/>
        </p:nvSpPr>
        <p:spPr bwMode="auto">
          <a:xfrm>
            <a:off x="5992813" y="4351338"/>
            <a:ext cx="1752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  <a:buSzPct val="80000"/>
              <a:buFont typeface="Wingdings" pitchFamily="2" charset="2"/>
              <a:buNone/>
            </a:pPr>
            <a:r>
              <a:rPr lang="en-GB" sz="2400" b="1" i="1">
                <a:solidFill>
                  <a:srgbClr val="2622C9"/>
                </a:solidFill>
                <a:latin typeface="Arial" charset="0"/>
              </a:rPr>
              <a:t>Where to host it?</a:t>
            </a:r>
            <a:endParaRPr lang="en-US" sz="2400" b="1" i="1">
              <a:solidFill>
                <a:srgbClr val="2622C9"/>
              </a:solidFill>
              <a:latin typeface="Arial" charset="0"/>
            </a:endParaRPr>
          </a:p>
        </p:txBody>
      </p:sp>
      <p:sp>
        <p:nvSpPr>
          <p:cNvPr id="48143" name="Text Box 14"/>
          <p:cNvSpPr txBox="1">
            <a:spLocks noChangeArrowheads="1"/>
          </p:cNvSpPr>
          <p:nvPr/>
        </p:nvSpPr>
        <p:spPr bwMode="auto">
          <a:xfrm>
            <a:off x="4316413" y="4656138"/>
            <a:ext cx="1752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  <a:buSzPct val="80000"/>
              <a:buFont typeface="Wingdings" pitchFamily="2" charset="2"/>
              <a:buNone/>
            </a:pPr>
            <a:r>
              <a:rPr lang="en-GB" sz="2400" b="1" i="1">
                <a:solidFill>
                  <a:srgbClr val="2622C9"/>
                </a:solidFill>
                <a:latin typeface="Arial" charset="0"/>
              </a:rPr>
              <a:t>How to publish it?</a:t>
            </a:r>
            <a:endParaRPr lang="en-US" sz="2400" b="1" i="1">
              <a:solidFill>
                <a:srgbClr val="9286CE"/>
              </a:solidFill>
              <a:latin typeface="Arial" charset="0"/>
            </a:endParaRPr>
          </a:p>
        </p:txBody>
      </p:sp>
      <p:sp>
        <p:nvSpPr>
          <p:cNvPr id="48144" name="Text Box 15"/>
          <p:cNvSpPr txBox="1">
            <a:spLocks noChangeArrowheads="1"/>
          </p:cNvSpPr>
          <p:nvPr/>
        </p:nvSpPr>
        <p:spPr bwMode="auto">
          <a:xfrm>
            <a:off x="6416675" y="2233613"/>
            <a:ext cx="1676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  <a:buSzPct val="80000"/>
              <a:buFont typeface="Wingdings" pitchFamily="2" charset="2"/>
              <a:buNone/>
            </a:pPr>
            <a:r>
              <a:rPr lang="en-GB" sz="2400" b="1" i="1">
                <a:solidFill>
                  <a:srgbClr val="2622C9"/>
                </a:solidFill>
                <a:latin typeface="Arial" charset="0"/>
              </a:rPr>
              <a:t>How to build it?</a:t>
            </a:r>
            <a:endParaRPr lang="en-US" sz="2400" b="1" i="1">
              <a:solidFill>
                <a:srgbClr val="2622C9"/>
              </a:solidFill>
              <a:latin typeface="Arial" charset="0"/>
            </a:endParaRPr>
          </a:p>
        </p:txBody>
      </p:sp>
      <p:sp>
        <p:nvSpPr>
          <p:cNvPr id="48145" name="Text Box 16"/>
          <p:cNvSpPr txBox="1">
            <a:spLocks noChangeArrowheads="1"/>
          </p:cNvSpPr>
          <p:nvPr/>
        </p:nvSpPr>
        <p:spPr bwMode="auto">
          <a:xfrm>
            <a:off x="684213" y="1125538"/>
            <a:ext cx="3167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GB" sz="2400" b="1" i="1">
                <a:solidFill>
                  <a:srgbClr val="FF3300"/>
                </a:solidFill>
                <a:latin typeface="Arial" charset="0"/>
              </a:rPr>
              <a:t>C</a:t>
            </a:r>
            <a:r>
              <a:rPr lang="en-US" sz="2400" b="1" i="1">
                <a:solidFill>
                  <a:srgbClr val="FF3300"/>
                </a:solidFill>
                <a:latin typeface="Arial" charset="0"/>
              </a:rPr>
              <a:t>lient</a:t>
            </a:r>
            <a:r>
              <a:rPr lang="en-GB" sz="2400" b="1" i="1">
                <a:solidFill>
                  <a:srgbClr val="FF3300"/>
                </a:solidFill>
                <a:latin typeface="Arial" charset="0"/>
              </a:rPr>
              <a:t> Perspective</a:t>
            </a:r>
          </a:p>
        </p:txBody>
      </p:sp>
      <p:sp>
        <p:nvSpPr>
          <p:cNvPr id="48146" name="Text Box 17"/>
          <p:cNvSpPr txBox="1">
            <a:spLocks noChangeArrowheads="1"/>
          </p:cNvSpPr>
          <p:nvPr/>
        </p:nvSpPr>
        <p:spPr bwMode="auto">
          <a:xfrm>
            <a:off x="4284663" y="1125538"/>
            <a:ext cx="352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GB" sz="2400" b="1" i="1">
                <a:solidFill>
                  <a:schemeClr val="hlink"/>
                </a:solidFill>
                <a:latin typeface="Arial" charset="0"/>
              </a:rPr>
              <a:t>Provider Perspective</a:t>
            </a:r>
          </a:p>
        </p:txBody>
      </p:sp>
    </p:spTree>
    <p:extLst>
      <p:ext uri="{BB962C8B-B14F-4D97-AF65-F5344CB8AC3E}">
        <p14:creationId xmlns:p14="http://schemas.microsoft.com/office/powerpoint/2010/main" val="250032550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5A94D97B-5732-4CF6-BA69-F538D920F78C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21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Loose Coupling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25538"/>
            <a:ext cx="7934325" cy="51054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/>
              <a:t>Coupling indicates the degree of dependency any two systems have on each other. Some types relevant to enterprise computing include: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sz="1600" dirty="0"/>
          </a:p>
        </p:txBody>
      </p:sp>
      <p:sp>
        <p:nvSpPr>
          <p:cNvPr id="38917" name="Text Box 4"/>
          <p:cNvSpPr txBox="1">
            <a:spLocks noChangeArrowheads="1"/>
          </p:cNvSpPr>
          <p:nvPr/>
        </p:nvSpPr>
        <p:spPr bwMode="auto">
          <a:xfrm>
            <a:off x="0" y="0"/>
            <a:ext cx="3995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600">
                <a:solidFill>
                  <a:srgbClr val="FF0000"/>
                </a:solidFill>
              </a:rPr>
              <a:t>Some concepts 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61981"/>
              </p:ext>
            </p:extLst>
          </p:nvPr>
        </p:nvGraphicFramePr>
        <p:xfrm>
          <a:off x="683568" y="1916832"/>
          <a:ext cx="8064896" cy="483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29">
                <a:tc>
                  <a:txBody>
                    <a:bodyPr/>
                    <a:lstStyle/>
                    <a:p>
                      <a:r>
                        <a:rPr lang="en-AU" sz="1800" dirty="0"/>
                        <a:t>Type of Coupling</a:t>
                      </a:r>
                      <a:endParaRPr lang="en-US" sz="18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Problem Description</a:t>
                      </a:r>
                      <a:endParaRPr lang="en-US" sz="18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Reduced by</a:t>
                      </a:r>
                      <a:endParaRPr lang="en-US" sz="18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Functional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One module relies on the internal workings of others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Well defined interface/API describing inputs and outputs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Interface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Interfaces reflect the implementation</a:t>
                      </a:r>
                      <a:r>
                        <a:rPr lang="en-AU" sz="1700" baseline="0" dirty="0"/>
                        <a:t> details</a:t>
                      </a:r>
                      <a:r>
                        <a:rPr lang="en-AU" sz="1700" dirty="0"/>
                        <a:t> 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Avoid detailed</a:t>
                      </a:r>
                      <a:r>
                        <a:rPr lang="en-AU" sz="1700" baseline="0" dirty="0"/>
                        <a:t> mandatory parameters;</a:t>
                      </a:r>
                    </a:p>
                    <a:p>
                      <a:r>
                        <a:rPr lang="en-AU" sz="1700" baseline="0" dirty="0"/>
                        <a:t>Use more general methods and message passing (do not get too fine-grained)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Data Structure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Data passed</a:t>
                      </a:r>
                      <a:r>
                        <a:rPr lang="en-AU" sz="1700" baseline="0" dirty="0"/>
                        <a:t> between modules </a:t>
                      </a:r>
                      <a:r>
                        <a:rPr lang="en-AU" sz="1700" dirty="0"/>
                        <a:t>reflects internal representations,</a:t>
                      </a:r>
                      <a:br>
                        <a:rPr lang="en-AU" sz="1700" dirty="0"/>
                      </a:br>
                      <a:r>
                        <a:rPr lang="en-AU" sz="1700" dirty="0"/>
                        <a:t> or is over-constrained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Explicitly</a:t>
                      </a:r>
                      <a:r>
                        <a:rPr lang="en-AU" sz="1700" baseline="0" dirty="0"/>
                        <a:t> define formats, </a:t>
                      </a:r>
                      <a:r>
                        <a:rPr lang="en-AU" sz="1700" baseline="0" dirty="0" err="1"/>
                        <a:t>e.g</a:t>
                      </a:r>
                      <a:r>
                        <a:rPr lang="en-AU" sz="1700" baseline="0" dirty="0"/>
                        <a:t> XML in interface;</a:t>
                      </a:r>
                    </a:p>
                    <a:p>
                      <a:r>
                        <a:rPr lang="en-AU" sz="1700" baseline="0" dirty="0"/>
                        <a:t>Allow multiple representations </a:t>
                      </a:r>
                      <a:r>
                        <a:rPr lang="en-AU" sz="1700" baseline="0" dirty="0" err="1"/>
                        <a:t>e.g.mime</a:t>
                      </a:r>
                      <a:r>
                        <a:rPr lang="en-AU" sz="1700" baseline="0" dirty="0"/>
                        <a:t>-types;</a:t>
                      </a:r>
                    </a:p>
                    <a:p>
                      <a:r>
                        <a:rPr lang="en-AU" sz="1700" baseline="0" dirty="0"/>
                        <a:t>‘Vertical’ standards that define semantics of messages 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Temporal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Client</a:t>
                      </a:r>
                      <a:r>
                        <a:rPr lang="en-AU" sz="1700" baseline="0" dirty="0"/>
                        <a:t> blocked while waiting response</a:t>
                      </a:r>
                    </a:p>
                    <a:p>
                      <a:r>
                        <a:rPr lang="en-AU" sz="1700" baseline="0" dirty="0"/>
                        <a:t>Process over-constrained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Asynchronous</a:t>
                      </a:r>
                      <a:r>
                        <a:rPr lang="en-AU" sz="1700" baseline="0" dirty="0"/>
                        <a:t> messages; Explicitly define behaviour in interface e.g. abstract BPEL;</a:t>
                      </a:r>
                    </a:p>
                    <a:p>
                      <a:r>
                        <a:rPr lang="en-AU" sz="1700" baseline="0" dirty="0"/>
                        <a:t>Interaction via events / event-driven processes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Address/URI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Addresses</a:t>
                      </a:r>
                      <a:r>
                        <a:rPr lang="en-AU" sz="1700" baseline="0" dirty="0"/>
                        <a:t> change</a:t>
                      </a:r>
                    </a:p>
                    <a:p>
                      <a:r>
                        <a:rPr lang="en-AU" sz="1700" baseline="0" dirty="0"/>
                        <a:t>Providers change</a:t>
                      </a:r>
                    </a:p>
                    <a:p>
                      <a:r>
                        <a:rPr lang="en-AU" sz="1700" dirty="0"/>
                        <a:t>URI patterns change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Do</a:t>
                      </a:r>
                      <a:r>
                        <a:rPr lang="en-AU" sz="1700" baseline="0" dirty="0"/>
                        <a:t> not hard code references;</a:t>
                      </a:r>
                    </a:p>
                    <a:p>
                      <a:r>
                        <a:rPr lang="en-AU" sz="1700" baseline="0" dirty="0"/>
                        <a:t>Virtualise services;</a:t>
                      </a:r>
                      <a:endParaRPr lang="en-AU" sz="1700" dirty="0"/>
                    </a:p>
                    <a:p>
                      <a:r>
                        <a:rPr lang="en-AU" sz="1700" dirty="0"/>
                        <a:t>Use middleware directory services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D8ED4257-24D9-455C-8EB8-1410481EFCB1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22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0"/>
              <a:t>Content</a:t>
            </a:r>
            <a:endParaRPr lang="en-US" b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b="1" dirty="0"/>
          </a:p>
          <a:p>
            <a:r>
              <a:rPr lang="en-AU" dirty="0"/>
              <a:t>Software services / web services</a:t>
            </a:r>
          </a:p>
          <a:p>
            <a:r>
              <a:rPr lang="en-AU" dirty="0"/>
              <a:t>Some concepts you need to understand</a:t>
            </a:r>
          </a:p>
          <a:p>
            <a:r>
              <a:rPr lang="en-AU" b="1" dirty="0"/>
              <a:t>Service oriented architecture (SOA)</a:t>
            </a:r>
          </a:p>
          <a:p>
            <a:r>
              <a:rPr lang="en-AU" dirty="0"/>
              <a:t>Web Application architectural styles and middleware</a:t>
            </a:r>
          </a:p>
          <a:p>
            <a:r>
              <a:rPr lang="en-AU" dirty="0"/>
              <a:t>WS* (SOAP) approach</a:t>
            </a:r>
          </a:p>
          <a:p>
            <a:r>
              <a:rPr lang="en-AU" dirty="0"/>
              <a:t>REST approach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8017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81800" y="664420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8753DBE7-EC4F-4F02-81B5-50F0E6BDB26C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23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14383" name="Line 15"/>
          <p:cNvSpPr>
            <a:spLocks noChangeShapeType="1"/>
          </p:cNvSpPr>
          <p:nvPr/>
        </p:nvSpPr>
        <p:spPr bwMode="auto">
          <a:xfrm>
            <a:off x="4932363" y="3972446"/>
            <a:ext cx="1511300" cy="1441450"/>
          </a:xfrm>
          <a:prstGeom prst="line">
            <a:avLst/>
          </a:prstGeom>
          <a:noFill/>
          <a:ln w="76200">
            <a:solidFill>
              <a:srgbClr val="FF99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Service Oriented Architecture</a:t>
            </a:r>
          </a:p>
        </p:txBody>
      </p:sp>
      <p:sp>
        <p:nvSpPr>
          <p:cNvPr id="60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124744"/>
            <a:ext cx="7543800" cy="10033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SOA is fundamentally of client-server style, and based on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the interaction between decoupled services and/or end-user applications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associated with messages &amp; governed by policies.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services distributed in a network, via published and discoverable interfaces. </a:t>
            </a:r>
            <a:endParaRPr lang="en-GB" sz="1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314373" name="Line 5"/>
          <p:cNvSpPr>
            <a:spLocks noChangeShapeType="1"/>
          </p:cNvSpPr>
          <p:nvPr/>
        </p:nvSpPr>
        <p:spPr bwMode="auto">
          <a:xfrm flipH="1">
            <a:off x="2771775" y="3972446"/>
            <a:ext cx="1295400" cy="1512887"/>
          </a:xfrm>
          <a:prstGeom prst="line">
            <a:avLst/>
          </a:prstGeom>
          <a:noFill/>
          <a:ln w="76200">
            <a:solidFill>
              <a:srgbClr val="FF99CC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4374" name="AutoShape 6"/>
          <p:cNvSpPr>
            <a:spLocks noChangeArrowheads="1"/>
          </p:cNvSpPr>
          <p:nvPr/>
        </p:nvSpPr>
        <p:spPr bwMode="auto">
          <a:xfrm>
            <a:off x="6299200" y="5556771"/>
            <a:ext cx="1452563" cy="944562"/>
          </a:xfrm>
          <a:prstGeom prst="hexagon">
            <a:avLst>
              <a:gd name="adj" fmla="val 30500"/>
              <a:gd name="vf" fmla="val 115470"/>
            </a:avLst>
          </a:prstGeom>
          <a:solidFill>
            <a:srgbClr val="FFFA3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sz="2400" b="1" i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rPr>
              <a:t>Service</a:t>
            </a:r>
          </a:p>
          <a:p>
            <a:pPr algn="ctr" eaLnBrk="0" hangingPunct="0"/>
            <a:r>
              <a:rPr lang="en-US" sz="2400" b="1" i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rPr>
              <a:t>Registry</a:t>
            </a:r>
            <a:endParaRPr lang="en-GB" sz="2400" b="1" i="1">
              <a:solidFill>
                <a:schemeClr val="tx1"/>
              </a:solidFill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14375" name="AutoShape 7"/>
          <p:cNvSpPr>
            <a:spLocks noChangeArrowheads="1"/>
          </p:cNvSpPr>
          <p:nvPr/>
        </p:nvSpPr>
        <p:spPr bwMode="auto">
          <a:xfrm>
            <a:off x="3779838" y="2892946"/>
            <a:ext cx="1452562" cy="944562"/>
          </a:xfrm>
          <a:prstGeom prst="hexagon">
            <a:avLst>
              <a:gd name="adj" fmla="val 30500"/>
              <a:gd name="vf" fmla="val 115470"/>
            </a:avLst>
          </a:prstGeom>
          <a:solidFill>
            <a:srgbClr val="FFFA3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sz="2400" b="1" i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rPr>
              <a:t>Service</a:t>
            </a:r>
          </a:p>
          <a:p>
            <a:pPr algn="ctr" eaLnBrk="0" hangingPunct="0"/>
            <a:r>
              <a:rPr lang="en-GB" sz="2400" b="1" i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rPr>
              <a:t>Client</a:t>
            </a:r>
          </a:p>
        </p:txBody>
      </p:sp>
      <p:sp>
        <p:nvSpPr>
          <p:cNvPr id="314376" name="AutoShape 8"/>
          <p:cNvSpPr>
            <a:spLocks noChangeArrowheads="1"/>
          </p:cNvSpPr>
          <p:nvPr/>
        </p:nvSpPr>
        <p:spPr bwMode="auto">
          <a:xfrm>
            <a:off x="1509713" y="5683771"/>
            <a:ext cx="1450975" cy="944562"/>
          </a:xfrm>
          <a:prstGeom prst="hexagon">
            <a:avLst>
              <a:gd name="adj" fmla="val 30467"/>
              <a:gd name="vf" fmla="val 115470"/>
            </a:avLst>
          </a:prstGeom>
          <a:solidFill>
            <a:srgbClr val="FFFA3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en-US" sz="2400" b="1" i="1" dirty="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rPr>
              <a:t>Service</a:t>
            </a:r>
          </a:p>
          <a:p>
            <a:pPr algn="ctr" eaLnBrk="0" hangingPunct="0"/>
            <a:r>
              <a:rPr lang="en-GB" sz="2400" b="1" i="1" dirty="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rPr>
              <a:t>Provider</a:t>
            </a:r>
          </a:p>
        </p:txBody>
      </p:sp>
      <p:sp>
        <p:nvSpPr>
          <p:cNvPr id="314377" name="Oval 9"/>
          <p:cNvSpPr>
            <a:spLocks noChangeArrowheads="1"/>
          </p:cNvSpPr>
          <p:nvPr/>
        </p:nvSpPr>
        <p:spPr bwMode="auto">
          <a:xfrm>
            <a:off x="4932363" y="5413896"/>
            <a:ext cx="1571625" cy="444500"/>
          </a:xfrm>
          <a:prstGeom prst="ellipse">
            <a:avLst/>
          </a:prstGeom>
          <a:solidFill>
            <a:srgbClr val="FFFA3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200" b="1" i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34" charset="-128"/>
              </a:rPr>
              <a:t>Service</a:t>
            </a:r>
          </a:p>
          <a:p>
            <a:pPr algn="ctr" eaLnBrk="0" hangingPunct="0">
              <a:defRPr/>
            </a:pPr>
            <a:r>
              <a:rPr lang="en-US" sz="1200" b="1" i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34" charset="-128"/>
              </a:rPr>
              <a:t>Description</a:t>
            </a:r>
            <a:endParaRPr lang="en-GB" sz="1200" b="1" i="1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ea typeface="ＭＳ Ｐゴシック" pitchFamily="34" charset="-128"/>
            </a:endParaRPr>
          </a:p>
        </p:txBody>
      </p:sp>
      <p:sp>
        <p:nvSpPr>
          <p:cNvPr id="314378" name="Oval 10"/>
          <p:cNvSpPr>
            <a:spLocks noChangeArrowheads="1"/>
          </p:cNvSpPr>
          <p:nvPr/>
        </p:nvSpPr>
        <p:spPr bwMode="auto">
          <a:xfrm>
            <a:off x="2627313" y="5556771"/>
            <a:ext cx="1573212" cy="446087"/>
          </a:xfrm>
          <a:prstGeom prst="ellipse">
            <a:avLst/>
          </a:prstGeom>
          <a:solidFill>
            <a:srgbClr val="FFFA3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200" b="1" i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34" charset="-128"/>
              </a:rPr>
              <a:t>Service</a:t>
            </a:r>
            <a:endParaRPr lang="en-GB" sz="1200" b="1" i="1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ea typeface="ＭＳ Ｐゴシック" pitchFamily="34" charset="-128"/>
            </a:endParaRPr>
          </a:p>
        </p:txBody>
      </p:sp>
      <p:sp>
        <p:nvSpPr>
          <p:cNvPr id="314379" name="Oval 11"/>
          <p:cNvSpPr>
            <a:spLocks noChangeArrowheads="1"/>
          </p:cNvSpPr>
          <p:nvPr/>
        </p:nvSpPr>
        <p:spPr bwMode="auto">
          <a:xfrm>
            <a:off x="2698750" y="6277496"/>
            <a:ext cx="1573213" cy="446087"/>
          </a:xfrm>
          <a:prstGeom prst="ellipse">
            <a:avLst/>
          </a:prstGeom>
          <a:solidFill>
            <a:srgbClr val="FFFA3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200" b="1" i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34" charset="-128"/>
              </a:rPr>
              <a:t>Service</a:t>
            </a:r>
          </a:p>
          <a:p>
            <a:pPr algn="ctr" eaLnBrk="0" hangingPunct="0">
              <a:defRPr/>
            </a:pPr>
            <a:r>
              <a:rPr lang="en-US" sz="1200" b="1" i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34" charset="-128"/>
              </a:rPr>
              <a:t>Description</a:t>
            </a:r>
            <a:endParaRPr lang="en-GB" sz="1200" b="1" i="1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  <a:ea typeface="ＭＳ Ｐゴシック" pitchFamily="34" charset="-128"/>
            </a:endParaRPr>
          </a:p>
        </p:txBody>
      </p:sp>
      <p:sp>
        <p:nvSpPr>
          <p:cNvPr id="314380" name="Line 12"/>
          <p:cNvSpPr>
            <a:spLocks noChangeShapeType="1"/>
          </p:cNvSpPr>
          <p:nvPr/>
        </p:nvSpPr>
        <p:spPr bwMode="auto">
          <a:xfrm>
            <a:off x="4067175" y="6060008"/>
            <a:ext cx="2119313" cy="0"/>
          </a:xfrm>
          <a:prstGeom prst="line">
            <a:avLst/>
          </a:prstGeom>
          <a:noFill/>
          <a:ln w="76200">
            <a:solidFill>
              <a:srgbClr val="FF99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4381" name="Text Box 13"/>
          <p:cNvSpPr txBox="1">
            <a:spLocks noChangeArrowheads="1"/>
          </p:cNvSpPr>
          <p:nvPr/>
        </p:nvSpPr>
        <p:spPr bwMode="auto">
          <a:xfrm>
            <a:off x="5003800" y="4261371"/>
            <a:ext cx="755650" cy="2587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16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34" charset="-128"/>
              </a:rPr>
              <a:t>Find</a:t>
            </a:r>
          </a:p>
        </p:txBody>
      </p:sp>
      <p:sp>
        <p:nvSpPr>
          <p:cNvPr id="314382" name="Text Box 14"/>
          <p:cNvSpPr txBox="1">
            <a:spLocks noChangeArrowheads="1"/>
          </p:cNvSpPr>
          <p:nvPr/>
        </p:nvSpPr>
        <p:spPr bwMode="auto">
          <a:xfrm>
            <a:off x="4570413" y="5917133"/>
            <a:ext cx="1089025" cy="257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GB" sz="1600" b="1" i="1">
                <a:solidFill>
                  <a:schemeClr val="tx1"/>
                </a:solidFill>
                <a:latin typeface="Arial" charset="0"/>
                <a:ea typeface="ＭＳ Ｐゴシック" pitchFamily="34" charset="-128"/>
              </a:rPr>
              <a:t>Publish</a:t>
            </a:r>
          </a:p>
        </p:txBody>
      </p:sp>
      <p:sp>
        <p:nvSpPr>
          <p:cNvPr id="314384" name="Text Box 16"/>
          <p:cNvSpPr txBox="1">
            <a:spLocks noChangeArrowheads="1"/>
          </p:cNvSpPr>
          <p:nvPr/>
        </p:nvSpPr>
        <p:spPr bwMode="auto">
          <a:xfrm rot="-2569">
            <a:off x="3059113" y="4477271"/>
            <a:ext cx="833437" cy="3651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1600" b="1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ＭＳ Ｐゴシック" pitchFamily="34" charset="-128"/>
              </a:rPr>
              <a:t>Bind</a:t>
            </a:r>
          </a:p>
        </p:txBody>
      </p:sp>
      <p:sp>
        <p:nvSpPr>
          <p:cNvPr id="314386" name="AutoShape 18"/>
          <p:cNvSpPr>
            <a:spLocks noChangeArrowheads="1"/>
          </p:cNvSpPr>
          <p:nvPr/>
        </p:nvSpPr>
        <p:spPr bwMode="auto">
          <a:xfrm>
            <a:off x="6084888" y="3108846"/>
            <a:ext cx="2808287" cy="1873250"/>
          </a:xfrm>
          <a:prstGeom prst="wedgeRectCallout">
            <a:avLst>
              <a:gd name="adj1" fmla="val 4662"/>
              <a:gd name="adj2" fmla="val 77625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400">
                <a:solidFill>
                  <a:schemeClr val="tx1"/>
                </a:solidFill>
                <a:latin typeface="Times New Roman" pitchFamily="18" charset="0"/>
              </a:rPr>
              <a:t>- Searchable directory where service descriptions can be published and searched. </a:t>
            </a:r>
          </a:p>
          <a:p>
            <a:r>
              <a:rPr lang="en-US" sz="1400">
                <a:solidFill>
                  <a:schemeClr val="tx1"/>
                </a:solidFill>
                <a:latin typeface="Times New Roman" pitchFamily="18" charset="0"/>
              </a:rPr>
              <a:t>- Contains sufficient information  for the service requestor to contact, or bind to, the service provider and thus make use of the services it provides.</a:t>
            </a:r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14387" name="Text Box 19"/>
          <p:cNvSpPr txBox="1">
            <a:spLocks noChangeArrowheads="1"/>
          </p:cNvSpPr>
          <p:nvPr/>
        </p:nvSpPr>
        <p:spPr bwMode="auto">
          <a:xfrm>
            <a:off x="1476375" y="3829571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dirty="0">
                <a:solidFill>
                  <a:schemeClr val="tx1"/>
                </a:solidFill>
              </a:rPr>
              <a:t>Roles</a:t>
            </a:r>
          </a:p>
        </p:txBody>
      </p:sp>
      <p:sp>
        <p:nvSpPr>
          <p:cNvPr id="314388" name="Line 20"/>
          <p:cNvSpPr>
            <a:spLocks noChangeShapeType="1"/>
          </p:cNvSpPr>
          <p:nvPr/>
        </p:nvSpPr>
        <p:spPr bwMode="auto">
          <a:xfrm>
            <a:off x="2052638" y="4405833"/>
            <a:ext cx="71437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14389" name="Line 21"/>
          <p:cNvSpPr>
            <a:spLocks noChangeShapeType="1"/>
          </p:cNvSpPr>
          <p:nvPr/>
        </p:nvSpPr>
        <p:spPr bwMode="auto">
          <a:xfrm flipH="1">
            <a:off x="2339975" y="3685108"/>
            <a:ext cx="8636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14390" name="Oval 22"/>
          <p:cNvSpPr>
            <a:spLocks noChangeArrowheads="1"/>
          </p:cNvSpPr>
          <p:nvPr/>
        </p:nvSpPr>
        <p:spPr bwMode="auto">
          <a:xfrm>
            <a:off x="5003800" y="6206058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AU" sz="14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14391" name="Oval 23"/>
          <p:cNvSpPr>
            <a:spLocks noChangeArrowheads="1"/>
          </p:cNvSpPr>
          <p:nvPr/>
        </p:nvSpPr>
        <p:spPr bwMode="auto">
          <a:xfrm>
            <a:off x="5292725" y="4621733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AU" sz="14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4392" name="Oval 24"/>
          <p:cNvSpPr>
            <a:spLocks noChangeArrowheads="1"/>
          </p:cNvSpPr>
          <p:nvPr/>
        </p:nvSpPr>
        <p:spPr bwMode="auto">
          <a:xfrm>
            <a:off x="3779838" y="4693171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/>
            <a:r>
              <a:rPr lang="en-AU" sz="14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0" y="0"/>
            <a:ext cx="4643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solidFill>
                  <a:srgbClr val="FF0000"/>
                </a:solidFill>
              </a:rPr>
              <a:t>Web Architectural Styles – SOA</a:t>
            </a:r>
          </a:p>
        </p:txBody>
      </p:sp>
    </p:spTree>
    <p:extLst>
      <p:ext uri="{BB962C8B-B14F-4D97-AF65-F5344CB8AC3E}">
        <p14:creationId xmlns:p14="http://schemas.microsoft.com/office/powerpoint/2010/main" val="846966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25 0.0  E" pathEditMode="relative" ptsTypes="">
                                      <p:cBhvr>
                                        <p:cTn id="27" dur="2000" fill="hold"/>
                                        <p:tgtEl>
                                          <p:spTgt spid="3143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83" grpId="0" animBg="1"/>
      <p:bldP spid="314373" grpId="0" animBg="1"/>
      <p:bldP spid="314374" grpId="0" animBg="1"/>
      <p:bldP spid="314375" grpId="0" animBg="1"/>
      <p:bldP spid="314376" grpId="0" animBg="1"/>
      <p:bldP spid="314377" grpId="0" animBg="1"/>
      <p:bldP spid="314379" grpId="0" animBg="1"/>
      <p:bldP spid="314379" grpId="1" animBg="1"/>
      <p:bldP spid="314379" grpId="2" animBg="1"/>
      <p:bldP spid="314380" grpId="0" animBg="1"/>
      <p:bldP spid="314381" grpId="0" animBg="1"/>
      <p:bldP spid="314382" grpId="0" animBg="1"/>
      <p:bldP spid="314384" grpId="0" animBg="1"/>
      <p:bldP spid="314386" grpId="0" animBg="1"/>
      <p:bldP spid="314387" grpId="0"/>
      <p:bldP spid="314388" grpId="0" animBg="1"/>
      <p:bldP spid="314389" grpId="0" animBg="1"/>
      <p:bldP spid="314390" grpId="0" animBg="1"/>
      <p:bldP spid="314391" grpId="0" animBg="1"/>
      <p:bldP spid="31439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AU" dirty="0"/>
              <a:t>Web Architectural Styles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31640" y="1143000"/>
            <a:ext cx="7776864" cy="4800600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u="sng" dirty="0"/>
              <a:t>Fundamentally, client-server</a:t>
            </a:r>
            <a:r>
              <a:rPr lang="en-US" sz="2400" dirty="0"/>
              <a:t>…. Sub-styles:</a:t>
            </a:r>
          </a:p>
          <a:p>
            <a:pPr lvl="0"/>
            <a:r>
              <a:rPr lang="en-US" sz="2400" dirty="0"/>
              <a:t>Method-oriented RPC (Remote Procedure Call)</a:t>
            </a:r>
            <a:endParaRPr lang="en-AU" sz="2400" dirty="0"/>
          </a:p>
          <a:p>
            <a:pPr lvl="1"/>
            <a:r>
              <a:rPr lang="en-US" sz="2000" dirty="0"/>
              <a:t>Interface: Method, parameters</a:t>
            </a:r>
            <a:endParaRPr lang="en-AU" sz="2000" dirty="0"/>
          </a:p>
          <a:p>
            <a:pPr lvl="1"/>
            <a:r>
              <a:rPr lang="en-US" sz="2000" dirty="0"/>
              <a:t>Interaction: synchronous request-response, request-acknowledge</a:t>
            </a:r>
            <a:endParaRPr lang="en-AU" sz="2000" dirty="0"/>
          </a:p>
          <a:p>
            <a:pPr lvl="0"/>
            <a:r>
              <a:rPr lang="en-US" sz="2400" dirty="0"/>
              <a:t>Message-oriented (aka Document style)</a:t>
            </a:r>
            <a:endParaRPr lang="en-AU" sz="2400" dirty="0"/>
          </a:p>
          <a:p>
            <a:pPr lvl="1"/>
            <a:r>
              <a:rPr lang="en-US" sz="2000" dirty="0"/>
              <a:t>Interface: Domain specific operation, Message type</a:t>
            </a:r>
            <a:endParaRPr lang="en-AU" sz="2000" dirty="0"/>
          </a:p>
          <a:p>
            <a:pPr lvl="1"/>
            <a:r>
              <a:rPr lang="en-US" sz="2000" dirty="0"/>
              <a:t>Interaction: Various synch/</a:t>
            </a:r>
            <a:r>
              <a:rPr lang="en-US" sz="2000" dirty="0" err="1"/>
              <a:t>asynch</a:t>
            </a:r>
            <a:r>
              <a:rPr lang="en-US" sz="2000" dirty="0"/>
              <a:t>, request-response, one way, solicit-notify</a:t>
            </a:r>
            <a:endParaRPr lang="en-AU" sz="2000" dirty="0"/>
          </a:p>
          <a:p>
            <a:pPr lvl="0"/>
            <a:r>
              <a:rPr lang="en-US" sz="2400" dirty="0"/>
              <a:t>Resource-oriented</a:t>
            </a:r>
            <a:endParaRPr lang="en-AU" sz="2400" dirty="0"/>
          </a:p>
          <a:p>
            <a:pPr lvl="1"/>
            <a:r>
              <a:rPr lang="en-US" sz="2000" dirty="0"/>
              <a:t>Interface: generic CRUD, Resource id, Media type</a:t>
            </a:r>
            <a:endParaRPr lang="en-AU" sz="2000" dirty="0"/>
          </a:p>
          <a:p>
            <a:pPr lvl="1"/>
            <a:r>
              <a:rPr lang="en-US" sz="2000" dirty="0"/>
              <a:t>Interaction: synchronous request-response, request-acknowledge</a:t>
            </a:r>
            <a:endParaRPr lang="en-AU" sz="2000" dirty="0"/>
          </a:p>
          <a:p>
            <a:pPr lvl="0"/>
            <a:r>
              <a:rPr lang="en-US" sz="2400" dirty="0"/>
              <a:t>Event-oriented</a:t>
            </a:r>
            <a:endParaRPr lang="en-AU" sz="2400" dirty="0"/>
          </a:p>
          <a:p>
            <a:pPr lvl="1"/>
            <a:r>
              <a:rPr lang="en-US" sz="2000" dirty="0"/>
              <a:t>Interface: event type</a:t>
            </a:r>
            <a:endParaRPr lang="en-AU" sz="2000" dirty="0"/>
          </a:p>
          <a:p>
            <a:pPr lvl="1"/>
            <a:r>
              <a:rPr lang="en-US" sz="2000" dirty="0"/>
              <a:t>Interaction: Subscribe-notify, publish-subscribe-notify</a:t>
            </a:r>
            <a:endParaRPr lang="en-AU" sz="2000" dirty="0"/>
          </a:p>
          <a:p>
            <a:pPr>
              <a:lnSpc>
                <a:spcPct val="90000"/>
              </a:lnSpc>
            </a:pPr>
            <a:endParaRPr lang="en-AU" sz="2400" dirty="0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0" y="0"/>
            <a:ext cx="4643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solidFill>
                  <a:srgbClr val="FF0000"/>
                </a:solidFill>
              </a:rPr>
              <a:t>Web Architectural Styles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79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62003B24-AC5A-4692-81C9-B99B08A88F8A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25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58775"/>
            <a:ext cx="8374063" cy="68580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R</a:t>
            </a:r>
            <a:r>
              <a:rPr lang="en-US" sz="3200" b="0" dirty="0">
                <a:solidFill>
                  <a:schemeClr val="tx1"/>
                </a:solidFill>
              </a:rPr>
              <a:t>emote </a:t>
            </a:r>
            <a:r>
              <a:rPr lang="en-US" sz="3200" dirty="0">
                <a:solidFill>
                  <a:schemeClr val="tx1"/>
                </a:solidFill>
              </a:rPr>
              <a:t>P</a:t>
            </a:r>
            <a:r>
              <a:rPr lang="en-US" sz="3200" b="0" dirty="0">
                <a:solidFill>
                  <a:schemeClr val="tx1"/>
                </a:solidFill>
              </a:rPr>
              <a:t>rocedure </a:t>
            </a:r>
            <a:r>
              <a:rPr lang="en-US" sz="3200" dirty="0">
                <a:solidFill>
                  <a:schemeClr val="tx1"/>
                </a:solidFill>
              </a:rPr>
              <a:t>C</a:t>
            </a:r>
            <a:r>
              <a:rPr lang="en-US" sz="3200" b="0" dirty="0">
                <a:solidFill>
                  <a:schemeClr val="tx1"/>
                </a:solidFill>
              </a:rPr>
              <a:t>alls - an </a:t>
            </a:r>
            <a:r>
              <a:rPr lang="en-US" sz="3200" b="0" dirty="0" err="1">
                <a:solidFill>
                  <a:schemeClr val="tx1"/>
                </a:solidFill>
              </a:rPr>
              <a:t>oo</a:t>
            </a:r>
            <a:r>
              <a:rPr lang="en-US" sz="3200" b="0" dirty="0">
                <a:solidFill>
                  <a:schemeClr val="tx1"/>
                </a:solidFill>
              </a:rPr>
              <a:t>/component approach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3960813" cy="38163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Object/component-oriented approach to distributed computing e.g. CORBA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Application elements use a request/wait-for-reply (</a:t>
            </a:r>
            <a:r>
              <a:rPr lang="en-US" sz="2400" b="1" dirty="0"/>
              <a:t>synchronous</a:t>
            </a:r>
            <a:r>
              <a:rPr lang="en-US" sz="2400" dirty="0"/>
              <a:t>) model of communication. 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RPC-style programming</a:t>
            </a:r>
            <a:br>
              <a:rPr lang="en-US" sz="2400" dirty="0"/>
            </a:br>
            <a:r>
              <a:rPr lang="en-US" sz="2400" dirty="0"/>
              <a:t>leads to </a:t>
            </a:r>
            <a:r>
              <a:rPr lang="en-US" sz="2400" i="1" dirty="0"/>
              <a:t>tight coupling</a:t>
            </a:r>
            <a:r>
              <a:rPr lang="en-US" sz="2400" dirty="0"/>
              <a:t> of </a:t>
            </a:r>
            <a:br>
              <a:rPr lang="en-US" sz="2400" dirty="0"/>
            </a:br>
            <a:r>
              <a:rPr lang="en-US" sz="2400" dirty="0"/>
              <a:t>interfaces and applications.</a:t>
            </a:r>
            <a:r>
              <a:rPr lang="en-US" sz="2000" dirty="0"/>
              <a:t> </a:t>
            </a:r>
          </a:p>
        </p:txBody>
      </p:sp>
      <p:grpSp>
        <p:nvGrpSpPr>
          <p:cNvPr id="41989" name="Group 4"/>
          <p:cNvGrpSpPr>
            <a:grpSpLocks/>
          </p:cNvGrpSpPr>
          <p:nvPr/>
        </p:nvGrpSpPr>
        <p:grpSpPr bwMode="auto">
          <a:xfrm>
            <a:off x="3851275" y="1052513"/>
            <a:ext cx="5181600" cy="3505200"/>
            <a:chOff x="1129" y="489"/>
            <a:chExt cx="3855" cy="2522"/>
          </a:xfrm>
        </p:grpSpPr>
        <p:grpSp>
          <p:nvGrpSpPr>
            <p:cNvPr id="41992" name="Group 5"/>
            <p:cNvGrpSpPr>
              <a:grpSpLocks/>
            </p:cNvGrpSpPr>
            <p:nvPr/>
          </p:nvGrpSpPr>
          <p:grpSpPr bwMode="auto">
            <a:xfrm>
              <a:off x="1487" y="489"/>
              <a:ext cx="1257" cy="1655"/>
              <a:chOff x="1147" y="1273"/>
              <a:chExt cx="1257" cy="1655"/>
            </a:xfrm>
          </p:grpSpPr>
          <p:grpSp>
            <p:nvGrpSpPr>
              <p:cNvPr id="42026" name="Group 6"/>
              <p:cNvGrpSpPr>
                <a:grpSpLocks/>
              </p:cNvGrpSpPr>
              <p:nvPr/>
            </p:nvGrpSpPr>
            <p:grpSpPr bwMode="auto">
              <a:xfrm>
                <a:off x="1152" y="1273"/>
                <a:ext cx="1250" cy="1655"/>
                <a:chOff x="1152" y="1344"/>
                <a:chExt cx="1104" cy="1584"/>
              </a:xfrm>
            </p:grpSpPr>
            <p:sp>
              <p:nvSpPr>
                <p:cNvPr id="42032" name="Rectangle 7"/>
                <p:cNvSpPr>
                  <a:spLocks noChangeArrowheads="1"/>
                </p:cNvSpPr>
                <p:nvPr/>
              </p:nvSpPr>
              <p:spPr bwMode="auto">
                <a:xfrm>
                  <a:off x="1152" y="1344"/>
                  <a:ext cx="1104" cy="158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8980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  <p:sp>
              <p:nvSpPr>
                <p:cNvPr id="42033" name="Line 8"/>
                <p:cNvSpPr>
                  <a:spLocks noChangeShapeType="1"/>
                </p:cNvSpPr>
                <p:nvPr/>
              </p:nvSpPr>
              <p:spPr bwMode="auto">
                <a:xfrm>
                  <a:off x="1152" y="1872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34" name="Line 9"/>
                <p:cNvSpPr>
                  <a:spLocks noChangeShapeType="1"/>
                </p:cNvSpPr>
                <p:nvPr/>
              </p:nvSpPr>
              <p:spPr bwMode="auto">
                <a:xfrm>
                  <a:off x="1152" y="2400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027" name="Text Box 10"/>
              <p:cNvSpPr txBox="1">
                <a:spLocks noChangeArrowheads="1"/>
              </p:cNvSpPr>
              <p:nvPr/>
            </p:nvSpPr>
            <p:spPr bwMode="auto">
              <a:xfrm>
                <a:off x="1149" y="1286"/>
                <a:ext cx="537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9pPr>
              </a:lstStyle>
              <a:p>
                <a:pPr eaLnBrk="1" hangingPunct="1"/>
                <a:r>
                  <a:rPr lang="en-US" sz="1000" b="1" i="1">
                    <a:solidFill>
                      <a:schemeClr val="tx1"/>
                    </a:solidFill>
                    <a:latin typeface="Times New Roman" pitchFamily="18" charset="0"/>
                  </a:rPr>
                  <a:t>Client</a:t>
                </a:r>
                <a:endParaRPr lang="en-GB" sz="1000" b="1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28" name="Text Box 11"/>
              <p:cNvSpPr txBox="1">
                <a:spLocks noChangeArrowheads="1"/>
              </p:cNvSpPr>
              <p:nvPr/>
            </p:nvSpPr>
            <p:spPr bwMode="auto">
              <a:xfrm>
                <a:off x="1148" y="1588"/>
                <a:ext cx="583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9pPr>
              </a:lstStyle>
              <a:p>
                <a:pPr eaLnBrk="1" hangingPunct="1"/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Application </a:t>
                </a:r>
              </a:p>
              <a:p>
                <a:pPr eaLnBrk="1" hangingPunct="1"/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code</a:t>
                </a:r>
                <a:endParaRPr lang="en-GB" sz="900" b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29" name="Rectangle 12"/>
              <p:cNvSpPr>
                <a:spLocks noChangeArrowheads="1"/>
              </p:cNvSpPr>
              <p:nvPr/>
            </p:nvSpPr>
            <p:spPr bwMode="auto">
              <a:xfrm>
                <a:off x="1149" y="2198"/>
                <a:ext cx="53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Stub code</a:t>
                </a:r>
                <a:endParaRPr lang="en-GB" sz="900" b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30" name="Rectangle 13"/>
              <p:cNvSpPr>
                <a:spLocks noChangeArrowheads="1"/>
              </p:cNvSpPr>
              <p:nvPr/>
            </p:nvSpPr>
            <p:spPr bwMode="auto">
              <a:xfrm>
                <a:off x="1147" y="2612"/>
                <a:ext cx="700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RPC run-time</a:t>
                </a:r>
              </a:p>
              <a:p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library</a:t>
                </a:r>
                <a:endParaRPr lang="en-GB" sz="900" b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31" name="Rectangle 14"/>
              <p:cNvSpPr>
                <a:spLocks noChangeArrowheads="1"/>
              </p:cNvSpPr>
              <p:nvPr/>
            </p:nvSpPr>
            <p:spPr bwMode="auto">
              <a:xfrm>
                <a:off x="1685" y="1294"/>
                <a:ext cx="71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Remote</a:t>
                </a:r>
              </a:p>
              <a:p>
                <a:pPr algn="ctr"/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procedure  code</a:t>
                </a:r>
                <a:endParaRPr lang="en-GB" sz="900" b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41993" name="Group 15"/>
            <p:cNvGrpSpPr>
              <a:grpSpLocks/>
            </p:cNvGrpSpPr>
            <p:nvPr/>
          </p:nvGrpSpPr>
          <p:grpSpPr bwMode="auto">
            <a:xfrm>
              <a:off x="3120" y="489"/>
              <a:ext cx="1254" cy="1655"/>
              <a:chOff x="1148" y="1273"/>
              <a:chExt cx="1254" cy="1655"/>
            </a:xfrm>
          </p:grpSpPr>
          <p:grpSp>
            <p:nvGrpSpPr>
              <p:cNvPr id="42017" name="Group 16"/>
              <p:cNvGrpSpPr>
                <a:grpSpLocks/>
              </p:cNvGrpSpPr>
              <p:nvPr/>
            </p:nvGrpSpPr>
            <p:grpSpPr bwMode="auto">
              <a:xfrm>
                <a:off x="1152" y="1273"/>
                <a:ext cx="1250" cy="1655"/>
                <a:chOff x="1152" y="1344"/>
                <a:chExt cx="1104" cy="1584"/>
              </a:xfrm>
            </p:grpSpPr>
            <p:sp>
              <p:nvSpPr>
                <p:cNvPr id="42023" name="Rectangle 17"/>
                <p:cNvSpPr>
                  <a:spLocks noChangeArrowheads="1"/>
                </p:cNvSpPr>
                <p:nvPr/>
              </p:nvSpPr>
              <p:spPr bwMode="auto">
                <a:xfrm>
                  <a:off x="1152" y="1344"/>
                  <a:ext cx="1113" cy="158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8980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  <p:sp>
              <p:nvSpPr>
                <p:cNvPr id="42024" name="Line 18"/>
                <p:cNvSpPr>
                  <a:spLocks noChangeShapeType="1"/>
                </p:cNvSpPr>
                <p:nvPr/>
              </p:nvSpPr>
              <p:spPr bwMode="auto">
                <a:xfrm>
                  <a:off x="1152" y="1872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25" name="Line 19"/>
                <p:cNvSpPr>
                  <a:spLocks noChangeShapeType="1"/>
                </p:cNvSpPr>
                <p:nvPr/>
              </p:nvSpPr>
              <p:spPr bwMode="auto">
                <a:xfrm>
                  <a:off x="1152" y="2400"/>
                  <a:ext cx="110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018" name="Text Box 20"/>
              <p:cNvSpPr txBox="1">
                <a:spLocks noChangeArrowheads="1"/>
              </p:cNvSpPr>
              <p:nvPr/>
            </p:nvSpPr>
            <p:spPr bwMode="auto">
              <a:xfrm>
                <a:off x="1148" y="1286"/>
                <a:ext cx="539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9pPr>
              </a:lstStyle>
              <a:p>
                <a:pPr eaLnBrk="1" hangingPunct="1"/>
                <a:r>
                  <a:rPr lang="en-US" sz="1000" b="1" i="1">
                    <a:solidFill>
                      <a:schemeClr val="tx1"/>
                    </a:solidFill>
                    <a:latin typeface="Times New Roman" pitchFamily="18" charset="0"/>
                  </a:rPr>
                  <a:t>Server</a:t>
                </a:r>
                <a:endParaRPr lang="en-GB" sz="1000" b="1" i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19" name="Text Box 21"/>
              <p:cNvSpPr txBox="1">
                <a:spLocks noChangeArrowheads="1"/>
              </p:cNvSpPr>
              <p:nvPr/>
            </p:nvSpPr>
            <p:spPr bwMode="auto">
              <a:xfrm>
                <a:off x="1152" y="1588"/>
                <a:ext cx="583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9866CC"/>
                    </a:solidFill>
                    <a:latin typeface="Tahoma" pitchFamily="34" charset="0"/>
                  </a:defRPr>
                </a:lvl9pPr>
              </a:lstStyle>
              <a:p>
                <a:pPr eaLnBrk="1" hangingPunct="1"/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Application </a:t>
                </a:r>
              </a:p>
              <a:p>
                <a:pPr eaLnBrk="1" hangingPunct="1"/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code</a:t>
                </a:r>
                <a:endParaRPr lang="en-GB" sz="900" b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20" name="Rectangle 22"/>
              <p:cNvSpPr>
                <a:spLocks noChangeArrowheads="1"/>
              </p:cNvSpPr>
              <p:nvPr/>
            </p:nvSpPr>
            <p:spPr bwMode="auto">
              <a:xfrm>
                <a:off x="1148" y="2198"/>
                <a:ext cx="533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Stub code</a:t>
                </a:r>
                <a:endParaRPr lang="en-GB" sz="900" b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21" name="Rectangle 23"/>
              <p:cNvSpPr>
                <a:spLocks noChangeArrowheads="1"/>
              </p:cNvSpPr>
              <p:nvPr/>
            </p:nvSpPr>
            <p:spPr bwMode="auto">
              <a:xfrm>
                <a:off x="1148" y="2612"/>
                <a:ext cx="70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RPC run-time</a:t>
                </a:r>
              </a:p>
              <a:p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library</a:t>
                </a:r>
                <a:endParaRPr lang="en-GB" sz="900" b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22" name="Rectangle 24"/>
              <p:cNvSpPr>
                <a:spLocks noChangeArrowheads="1"/>
              </p:cNvSpPr>
              <p:nvPr/>
            </p:nvSpPr>
            <p:spPr bwMode="auto">
              <a:xfrm>
                <a:off x="1787" y="1294"/>
                <a:ext cx="510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Remote</a:t>
                </a:r>
              </a:p>
              <a:p>
                <a:pPr algn="ctr"/>
                <a:r>
                  <a:rPr lang="en-US" sz="900" b="1">
                    <a:solidFill>
                      <a:schemeClr val="tx1"/>
                    </a:solidFill>
                    <a:latin typeface="Times New Roman" pitchFamily="18" charset="0"/>
                  </a:rPr>
                  <a:t>procedure</a:t>
                </a:r>
                <a:endParaRPr lang="en-GB" sz="900" b="1">
                  <a:solidFill>
                    <a:schemeClr val="tx1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41994" name="Group 25"/>
            <p:cNvGrpSpPr>
              <a:grpSpLocks/>
            </p:cNvGrpSpPr>
            <p:nvPr/>
          </p:nvGrpSpPr>
          <p:grpSpPr bwMode="auto">
            <a:xfrm>
              <a:off x="2282" y="816"/>
              <a:ext cx="0" cy="1728"/>
              <a:chOff x="2016" y="816"/>
              <a:chExt cx="0" cy="1728"/>
            </a:xfrm>
          </p:grpSpPr>
          <p:sp>
            <p:nvSpPr>
              <p:cNvPr id="42015" name="Line 26"/>
              <p:cNvSpPr>
                <a:spLocks noChangeShapeType="1"/>
              </p:cNvSpPr>
              <p:nvPr/>
            </p:nvSpPr>
            <p:spPr bwMode="auto">
              <a:xfrm>
                <a:off x="2016" y="816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16" name="Line 27"/>
              <p:cNvSpPr>
                <a:spLocks noChangeShapeType="1"/>
              </p:cNvSpPr>
              <p:nvPr/>
            </p:nvSpPr>
            <p:spPr bwMode="auto">
              <a:xfrm>
                <a:off x="2016" y="196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995" name="Group 28"/>
            <p:cNvGrpSpPr>
              <a:grpSpLocks/>
            </p:cNvGrpSpPr>
            <p:nvPr/>
          </p:nvGrpSpPr>
          <p:grpSpPr bwMode="auto">
            <a:xfrm flipH="1">
              <a:off x="3966" y="887"/>
              <a:ext cx="0" cy="1646"/>
              <a:chOff x="2016" y="816"/>
              <a:chExt cx="0" cy="1728"/>
            </a:xfrm>
          </p:grpSpPr>
          <p:sp>
            <p:nvSpPr>
              <p:cNvPr id="42013" name="Line 29"/>
              <p:cNvSpPr>
                <a:spLocks noChangeShapeType="1"/>
              </p:cNvSpPr>
              <p:nvPr/>
            </p:nvSpPr>
            <p:spPr bwMode="auto">
              <a:xfrm>
                <a:off x="2016" y="816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14" name="Line 30"/>
              <p:cNvSpPr>
                <a:spLocks noChangeShapeType="1"/>
              </p:cNvSpPr>
              <p:nvPr/>
            </p:nvSpPr>
            <p:spPr bwMode="auto">
              <a:xfrm>
                <a:off x="2016" y="196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996" name="Line 31"/>
            <p:cNvSpPr>
              <a:spLocks noChangeShapeType="1"/>
            </p:cNvSpPr>
            <p:nvPr/>
          </p:nvSpPr>
          <p:spPr bwMode="auto">
            <a:xfrm rot="10800000">
              <a:off x="2532" y="128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7" name="Line 32"/>
            <p:cNvSpPr>
              <a:spLocks noChangeShapeType="1"/>
            </p:cNvSpPr>
            <p:nvPr/>
          </p:nvSpPr>
          <p:spPr bwMode="auto">
            <a:xfrm rot="10800000">
              <a:off x="2532" y="80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998" name="Group 33"/>
            <p:cNvGrpSpPr>
              <a:grpSpLocks/>
            </p:cNvGrpSpPr>
            <p:nvPr/>
          </p:nvGrpSpPr>
          <p:grpSpPr bwMode="auto">
            <a:xfrm flipV="1">
              <a:off x="4163" y="877"/>
              <a:ext cx="47" cy="1646"/>
              <a:chOff x="2016" y="816"/>
              <a:chExt cx="0" cy="1728"/>
            </a:xfrm>
          </p:grpSpPr>
          <p:sp>
            <p:nvSpPr>
              <p:cNvPr id="42011" name="Line 34"/>
              <p:cNvSpPr>
                <a:spLocks noChangeShapeType="1"/>
              </p:cNvSpPr>
              <p:nvPr/>
            </p:nvSpPr>
            <p:spPr bwMode="auto">
              <a:xfrm>
                <a:off x="2016" y="816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12" name="Line 35"/>
              <p:cNvSpPr>
                <a:spLocks noChangeShapeType="1"/>
              </p:cNvSpPr>
              <p:nvPr/>
            </p:nvSpPr>
            <p:spPr bwMode="auto">
              <a:xfrm>
                <a:off x="2016" y="196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999" name="Group 36"/>
            <p:cNvGrpSpPr>
              <a:grpSpLocks/>
            </p:cNvGrpSpPr>
            <p:nvPr/>
          </p:nvGrpSpPr>
          <p:grpSpPr bwMode="auto">
            <a:xfrm>
              <a:off x="1129" y="2482"/>
              <a:ext cx="3855" cy="529"/>
              <a:chOff x="816" y="3360"/>
              <a:chExt cx="3855" cy="529"/>
            </a:xfrm>
          </p:grpSpPr>
          <p:sp>
            <p:nvSpPr>
              <p:cNvPr id="42009" name="AutoShape 37"/>
              <p:cNvSpPr>
                <a:spLocks noChangeArrowheads="1"/>
              </p:cNvSpPr>
              <p:nvPr/>
            </p:nvSpPr>
            <p:spPr bwMode="auto">
              <a:xfrm>
                <a:off x="2736" y="3360"/>
                <a:ext cx="1935" cy="529"/>
              </a:xfrm>
              <a:prstGeom prst="homePlate">
                <a:avLst>
                  <a:gd name="adj" fmla="val 91446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2010" name="AutoShape 38"/>
              <p:cNvSpPr>
                <a:spLocks noChangeArrowheads="1"/>
              </p:cNvSpPr>
              <p:nvPr/>
            </p:nvSpPr>
            <p:spPr bwMode="auto">
              <a:xfrm rot="10800000">
                <a:off x="816" y="3360"/>
                <a:ext cx="1935" cy="529"/>
              </a:xfrm>
              <a:prstGeom prst="homePlate">
                <a:avLst>
                  <a:gd name="adj" fmla="val 91446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42000" name="AutoShape 39"/>
            <p:cNvSpPr>
              <a:spLocks/>
            </p:cNvSpPr>
            <p:nvPr/>
          </p:nvSpPr>
          <p:spPr bwMode="auto">
            <a:xfrm rot="-5400000">
              <a:off x="3123" y="1895"/>
              <a:ext cx="203" cy="1389"/>
            </a:xfrm>
            <a:prstGeom prst="leftBracket">
              <a:avLst>
                <a:gd name="adj" fmla="val 66491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2001" name="AutoShape 40"/>
            <p:cNvSpPr>
              <a:spLocks/>
            </p:cNvSpPr>
            <p:nvPr/>
          </p:nvSpPr>
          <p:spPr bwMode="auto">
            <a:xfrm rot="-5400000">
              <a:off x="3026" y="1735"/>
              <a:ext cx="391" cy="1883"/>
            </a:xfrm>
            <a:prstGeom prst="leftBracket">
              <a:avLst>
                <a:gd name="adj" fmla="val 88402"/>
              </a:avLst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2002" name="Line 41"/>
            <p:cNvSpPr>
              <a:spLocks noChangeShapeType="1"/>
            </p:cNvSpPr>
            <p:nvPr/>
          </p:nvSpPr>
          <p:spPr bwMode="auto">
            <a:xfrm flipV="1">
              <a:off x="2529" y="217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3" name="Line 42"/>
            <p:cNvSpPr>
              <a:spLocks noChangeShapeType="1"/>
            </p:cNvSpPr>
            <p:nvPr/>
          </p:nvSpPr>
          <p:spPr bwMode="auto">
            <a:xfrm flipV="1">
              <a:off x="4164" y="218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2004" name="Group 43"/>
            <p:cNvGrpSpPr>
              <a:grpSpLocks/>
            </p:cNvGrpSpPr>
            <p:nvPr/>
          </p:nvGrpSpPr>
          <p:grpSpPr bwMode="auto">
            <a:xfrm>
              <a:off x="3921" y="768"/>
              <a:ext cx="245" cy="115"/>
              <a:chOff x="768" y="3504"/>
              <a:chExt cx="374" cy="240"/>
            </a:xfrm>
          </p:grpSpPr>
          <p:sp>
            <p:nvSpPr>
              <p:cNvPr id="42007" name="Arc 44"/>
              <p:cNvSpPr>
                <a:spLocks/>
              </p:cNvSpPr>
              <p:nvPr/>
            </p:nvSpPr>
            <p:spPr bwMode="auto">
              <a:xfrm rot="5400000" flipH="1" flipV="1">
                <a:off x="744" y="3528"/>
                <a:ext cx="240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8" name="Arc 45"/>
              <p:cNvSpPr>
                <a:spLocks/>
              </p:cNvSpPr>
              <p:nvPr/>
            </p:nvSpPr>
            <p:spPr bwMode="auto">
              <a:xfrm rot="16200000" flipV="1">
                <a:off x="926" y="3528"/>
                <a:ext cx="240" cy="1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2005" name="Line 46"/>
            <p:cNvSpPr>
              <a:spLocks noChangeShapeType="1"/>
            </p:cNvSpPr>
            <p:nvPr/>
          </p:nvSpPr>
          <p:spPr bwMode="auto">
            <a:xfrm>
              <a:off x="3911" y="891"/>
              <a:ext cx="4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6" name="Text Box 47"/>
            <p:cNvSpPr txBox="1">
              <a:spLocks noChangeArrowheads="1"/>
            </p:cNvSpPr>
            <p:nvPr/>
          </p:nvSpPr>
          <p:spPr bwMode="auto">
            <a:xfrm>
              <a:off x="1526" y="2592"/>
              <a:ext cx="468" cy="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000">
                  <a:solidFill>
                    <a:srgbClr val="9866CC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9866CC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sz="1000">
                  <a:solidFill>
                    <a:schemeClr val="tx1"/>
                  </a:solidFill>
                  <a:latin typeface="Times New Roman" pitchFamily="18" charset="0"/>
                </a:rPr>
                <a:t>Network</a:t>
              </a:r>
              <a:endParaRPr lang="en-GB" sz="1000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</p:grpSp>
      <p:sp>
        <p:nvSpPr>
          <p:cNvPr id="41990" name="Rectangle 48"/>
          <p:cNvSpPr>
            <a:spLocks noChangeArrowheads="1"/>
          </p:cNvSpPr>
          <p:nvPr/>
        </p:nvSpPr>
        <p:spPr bwMode="auto">
          <a:xfrm>
            <a:off x="349001" y="5013176"/>
            <a:ext cx="8443913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285750" indent="-285750" eaLnBrk="0" hangingPunct="0">
              <a:lnSpc>
                <a:spcPct val="90000"/>
              </a:lnSpc>
              <a:spcBef>
                <a:spcPct val="40000"/>
              </a:spcBef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chemeClr val="tx1"/>
                </a:solidFill>
                <a:latin typeface="Arial Narrow" pitchFamily="34" charset="0"/>
              </a:rPr>
              <a:t>In an RPC environment each application needs to know the intimate details of the </a:t>
            </a:r>
            <a:r>
              <a:rPr lang="en-US" sz="2400" i="1" dirty="0">
                <a:solidFill>
                  <a:schemeClr val="tx1"/>
                </a:solidFill>
                <a:latin typeface="Arial Narrow" pitchFamily="34" charset="0"/>
              </a:rPr>
              <a:t>interface </a:t>
            </a:r>
            <a:r>
              <a:rPr lang="en-US" sz="2400" dirty="0">
                <a:solidFill>
                  <a:schemeClr val="tx1"/>
                </a:solidFill>
                <a:latin typeface="Arial Narrow" pitchFamily="34" charset="0"/>
              </a:rPr>
              <a:t>of every other application – the number of methods it exposes &amp; the details of each method signature it exposes. </a:t>
            </a: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0" y="0"/>
            <a:ext cx="4643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solidFill>
                  <a:srgbClr val="FF0000"/>
                </a:solidFill>
              </a:rPr>
              <a:t>Web Architectural Styles - RPC</a:t>
            </a:r>
          </a:p>
        </p:txBody>
      </p:sp>
    </p:spTree>
    <p:extLst>
      <p:ext uri="{BB962C8B-B14F-4D97-AF65-F5344CB8AC3E}">
        <p14:creationId xmlns:p14="http://schemas.microsoft.com/office/powerpoint/2010/main" val="181162935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50CA1BF2-B2F3-4BD8-92A1-B01CDD80B31D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26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chemeClr val="tx1"/>
                </a:solidFill>
              </a:rPr>
              <a:t>Asynchronous request/reply messaging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7543800" cy="2220913"/>
          </a:xfrm>
        </p:spPr>
        <p:txBody>
          <a:bodyPr/>
          <a:lstStyle/>
          <a:p>
            <a:r>
              <a:rPr lang="en-US" sz="2000"/>
              <a:t>Most asynchronous messaging mechanisms follow the “fire-and-forget” messaging principle where the sending application can conduct its work as usual once a message was asynchronously sent. </a:t>
            </a:r>
          </a:p>
          <a:p>
            <a:pPr lvl="1"/>
            <a:r>
              <a:rPr lang="en-US" sz="2000"/>
              <a:t>The sending application assumes that the message will arrive safely at its destination at some point in time. </a:t>
            </a:r>
          </a:p>
          <a:p>
            <a:pPr lvl="1"/>
            <a:r>
              <a:rPr lang="en-US" sz="2000"/>
              <a:t>This mode messaging does not preclude the necessity to perform request/reply operations. </a:t>
            </a:r>
          </a:p>
        </p:txBody>
      </p:sp>
      <p:grpSp>
        <p:nvGrpSpPr>
          <p:cNvPr id="16389" name="Group 4"/>
          <p:cNvGrpSpPr>
            <a:grpSpLocks/>
          </p:cNvGrpSpPr>
          <p:nvPr/>
        </p:nvGrpSpPr>
        <p:grpSpPr bwMode="auto">
          <a:xfrm>
            <a:off x="533400" y="3581400"/>
            <a:ext cx="7937500" cy="2354263"/>
            <a:chOff x="321" y="1267"/>
            <a:chExt cx="5000" cy="1483"/>
          </a:xfrm>
        </p:grpSpPr>
        <p:pic>
          <p:nvPicPr>
            <p:cNvPr id="16390" name="Picture 5" descr="Dell Dimension Desktop Sept_2000 ME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" y="1801"/>
              <a:ext cx="738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391" name="Group 6"/>
            <p:cNvGrpSpPr>
              <a:grpSpLocks/>
            </p:cNvGrpSpPr>
            <p:nvPr/>
          </p:nvGrpSpPr>
          <p:grpSpPr bwMode="auto">
            <a:xfrm>
              <a:off x="4830" y="1850"/>
              <a:ext cx="491" cy="579"/>
              <a:chOff x="3306" y="1628"/>
              <a:chExt cx="560" cy="846"/>
            </a:xfrm>
          </p:grpSpPr>
          <p:pic>
            <p:nvPicPr>
              <p:cNvPr id="16415" name="Picture 7" descr="Dell PowerVault Storage 08-01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06" y="1628"/>
                <a:ext cx="336" cy="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416" name="Picture 8" descr="Dell PowerVault Storage 08-01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30" y="1628"/>
                <a:ext cx="336" cy="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6392" name="Group 9"/>
            <p:cNvGrpSpPr>
              <a:grpSpLocks/>
            </p:cNvGrpSpPr>
            <p:nvPr/>
          </p:nvGrpSpPr>
          <p:grpSpPr bwMode="auto">
            <a:xfrm>
              <a:off x="1496" y="1480"/>
              <a:ext cx="2804" cy="1270"/>
              <a:chOff x="1496" y="1480"/>
              <a:chExt cx="2804" cy="1270"/>
            </a:xfrm>
          </p:grpSpPr>
          <p:grpSp>
            <p:nvGrpSpPr>
              <p:cNvPr id="16403" name="Group 10"/>
              <p:cNvGrpSpPr>
                <a:grpSpLocks/>
              </p:cNvGrpSpPr>
              <p:nvPr/>
            </p:nvGrpSpPr>
            <p:grpSpPr bwMode="auto">
              <a:xfrm>
                <a:off x="1496" y="1480"/>
                <a:ext cx="2803" cy="454"/>
                <a:chOff x="1474" y="1480"/>
                <a:chExt cx="2803" cy="454"/>
              </a:xfrm>
            </p:grpSpPr>
            <p:sp>
              <p:nvSpPr>
                <p:cNvPr id="16410" name="AutoShape 11"/>
                <p:cNvSpPr>
                  <a:spLocks noChangeArrowheads="1"/>
                </p:cNvSpPr>
                <p:nvPr/>
              </p:nvSpPr>
              <p:spPr bwMode="auto">
                <a:xfrm rot="5400000">
                  <a:off x="2798" y="1131"/>
                  <a:ext cx="155" cy="1154"/>
                </a:xfrm>
                <a:prstGeom prst="can">
                  <a:avLst>
                    <a:gd name="adj" fmla="val 43223"/>
                  </a:avLst>
                </a:prstGeom>
                <a:solidFill>
                  <a:srgbClr val="E1E1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 algn="ctr" eaLnBrk="0" hangingPunct="0"/>
                  <a:r>
                    <a:rPr lang="en-GB" sz="1200" b="1" i="1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rPr>
                    <a:t>Message channel</a:t>
                  </a:r>
                </a:p>
              </p:txBody>
            </p:sp>
            <p:sp>
              <p:nvSpPr>
                <p:cNvPr id="16411" name="Line 12"/>
                <p:cNvSpPr>
                  <a:spLocks noChangeShapeType="1"/>
                </p:cNvSpPr>
                <p:nvPr/>
              </p:nvSpPr>
              <p:spPr bwMode="auto">
                <a:xfrm>
                  <a:off x="1917" y="1707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6412" name="Line 13"/>
                <p:cNvSpPr>
                  <a:spLocks noChangeShapeType="1"/>
                </p:cNvSpPr>
                <p:nvPr/>
              </p:nvSpPr>
              <p:spPr bwMode="auto">
                <a:xfrm>
                  <a:off x="3451" y="1707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465934" name="AutoShape 14"/>
                <p:cNvSpPr>
                  <a:spLocks noChangeArrowheads="1"/>
                </p:cNvSpPr>
                <p:nvPr/>
              </p:nvSpPr>
              <p:spPr bwMode="auto">
                <a:xfrm rot="16200000">
                  <a:off x="1469" y="1485"/>
                  <a:ext cx="454" cy="444"/>
                </a:xfrm>
                <a:prstGeom prst="foldedCorner">
                  <a:avLst>
                    <a:gd name="adj" fmla="val 125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pPr algn="ctr" eaLnBrk="0" hangingPunct="0">
                    <a:defRPr/>
                  </a:pPr>
                  <a:r>
                    <a:rPr lang="en-GB" sz="12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  <a:ea typeface="ＭＳ Ｐゴシック" pitchFamily="34" charset="-128"/>
                    </a:rPr>
                    <a:t>message</a:t>
                  </a:r>
                </a:p>
              </p:txBody>
            </p:sp>
            <p:sp>
              <p:nvSpPr>
                <p:cNvPr id="465935" name="AutoShape 15"/>
                <p:cNvSpPr>
                  <a:spLocks noChangeArrowheads="1"/>
                </p:cNvSpPr>
                <p:nvPr/>
              </p:nvSpPr>
              <p:spPr bwMode="auto">
                <a:xfrm rot="16200000">
                  <a:off x="3828" y="1485"/>
                  <a:ext cx="454" cy="444"/>
                </a:xfrm>
                <a:prstGeom prst="foldedCorner">
                  <a:avLst>
                    <a:gd name="adj" fmla="val 125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pPr algn="ctr" eaLnBrk="0" hangingPunct="0">
                    <a:defRPr/>
                  </a:pPr>
                  <a:r>
                    <a:rPr lang="en-GB" sz="12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  <a:ea typeface="ＭＳ Ｐゴシック" pitchFamily="34" charset="-128"/>
                    </a:rPr>
                    <a:t>message</a:t>
                  </a:r>
                </a:p>
              </p:txBody>
            </p:sp>
          </p:grpSp>
          <p:grpSp>
            <p:nvGrpSpPr>
              <p:cNvPr id="16404" name="Group 16"/>
              <p:cNvGrpSpPr>
                <a:grpSpLocks/>
              </p:cNvGrpSpPr>
              <p:nvPr/>
            </p:nvGrpSpPr>
            <p:grpSpPr bwMode="auto">
              <a:xfrm>
                <a:off x="1497" y="2296"/>
                <a:ext cx="2803" cy="454"/>
                <a:chOff x="1519" y="2296"/>
                <a:chExt cx="2803" cy="454"/>
              </a:xfrm>
            </p:grpSpPr>
            <p:sp>
              <p:nvSpPr>
                <p:cNvPr id="16405" name="AutoShape 17"/>
                <p:cNvSpPr>
                  <a:spLocks noChangeArrowheads="1"/>
                </p:cNvSpPr>
                <p:nvPr/>
              </p:nvSpPr>
              <p:spPr bwMode="auto">
                <a:xfrm rot="5400000">
                  <a:off x="2843" y="1947"/>
                  <a:ext cx="155" cy="1154"/>
                </a:xfrm>
                <a:prstGeom prst="can">
                  <a:avLst>
                    <a:gd name="adj" fmla="val 43223"/>
                  </a:avLst>
                </a:prstGeom>
                <a:solidFill>
                  <a:srgbClr val="E1E1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 algn="ctr" eaLnBrk="0" hangingPunct="0"/>
                  <a:r>
                    <a:rPr lang="en-GB" sz="1200" b="1" i="1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rPr>
                    <a:t>Message channel</a:t>
                  </a:r>
                </a:p>
              </p:txBody>
            </p:sp>
            <p:sp>
              <p:nvSpPr>
                <p:cNvPr id="16406" name="Line 18"/>
                <p:cNvSpPr>
                  <a:spLocks noChangeShapeType="1"/>
                </p:cNvSpPr>
                <p:nvPr/>
              </p:nvSpPr>
              <p:spPr bwMode="auto">
                <a:xfrm>
                  <a:off x="1962" y="2523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6407" name="Line 19"/>
                <p:cNvSpPr>
                  <a:spLocks noChangeShapeType="1"/>
                </p:cNvSpPr>
                <p:nvPr/>
              </p:nvSpPr>
              <p:spPr bwMode="auto">
                <a:xfrm>
                  <a:off x="3496" y="2523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465940" name="AutoShape 20"/>
                <p:cNvSpPr>
                  <a:spLocks noChangeArrowheads="1"/>
                </p:cNvSpPr>
                <p:nvPr/>
              </p:nvSpPr>
              <p:spPr bwMode="auto">
                <a:xfrm rot="16200000">
                  <a:off x="1514" y="2301"/>
                  <a:ext cx="454" cy="444"/>
                </a:xfrm>
                <a:prstGeom prst="foldedCorner">
                  <a:avLst>
                    <a:gd name="adj" fmla="val 125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pPr algn="ctr" eaLnBrk="0" hangingPunct="0">
                    <a:defRPr/>
                  </a:pPr>
                  <a:r>
                    <a:rPr lang="en-GB" sz="12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  <a:ea typeface="ＭＳ Ｐゴシック" pitchFamily="34" charset="-128"/>
                    </a:rPr>
                    <a:t>message</a:t>
                  </a:r>
                </a:p>
              </p:txBody>
            </p:sp>
            <p:sp>
              <p:nvSpPr>
                <p:cNvPr id="465941" name="AutoShape 21"/>
                <p:cNvSpPr>
                  <a:spLocks noChangeArrowheads="1"/>
                </p:cNvSpPr>
                <p:nvPr/>
              </p:nvSpPr>
              <p:spPr bwMode="auto">
                <a:xfrm rot="16200000">
                  <a:off x="3873" y="2301"/>
                  <a:ext cx="454" cy="444"/>
                </a:xfrm>
                <a:prstGeom prst="foldedCorner">
                  <a:avLst>
                    <a:gd name="adj" fmla="val 125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pPr algn="ctr" eaLnBrk="0" hangingPunct="0">
                    <a:defRPr/>
                  </a:pPr>
                  <a:r>
                    <a:rPr lang="en-GB" sz="120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  <a:ea typeface="ＭＳ Ｐゴシック" pitchFamily="34" charset="-128"/>
                    </a:rPr>
                    <a:t>message</a:t>
                  </a:r>
                  <a:endParaRPr lang="en-GB" sz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charset="0"/>
                    <a:ea typeface="ＭＳ Ｐゴシック" pitchFamily="34" charset="-128"/>
                  </a:endParaRPr>
                </a:p>
              </p:txBody>
            </p:sp>
          </p:grpSp>
        </p:grpSp>
        <p:cxnSp>
          <p:nvCxnSpPr>
            <p:cNvPr id="16393" name="AutoShape 22"/>
            <p:cNvCxnSpPr>
              <a:cxnSpLocks noChangeShapeType="1"/>
              <a:endCxn id="465934" idx="0"/>
            </p:cNvCxnSpPr>
            <p:nvPr/>
          </p:nvCxnSpPr>
          <p:spPr bwMode="auto">
            <a:xfrm flipV="1">
              <a:off x="1041" y="1707"/>
              <a:ext cx="455" cy="330"/>
            </a:xfrm>
            <a:prstGeom prst="bentConnector3">
              <a:avLst>
                <a:gd name="adj1" fmla="val 49889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4" name="AutoShape 23"/>
            <p:cNvCxnSpPr>
              <a:cxnSpLocks noChangeShapeType="1"/>
            </p:cNvCxnSpPr>
            <p:nvPr/>
          </p:nvCxnSpPr>
          <p:spPr bwMode="auto">
            <a:xfrm rot="10800000">
              <a:off x="1032" y="2166"/>
              <a:ext cx="456" cy="35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5" name="AutoShape 24"/>
            <p:cNvCxnSpPr>
              <a:cxnSpLocks noChangeShapeType="1"/>
              <a:stCxn id="465935" idx="2"/>
            </p:cNvCxnSpPr>
            <p:nvPr/>
          </p:nvCxnSpPr>
          <p:spPr bwMode="auto">
            <a:xfrm>
              <a:off x="4299" y="1707"/>
              <a:ext cx="541" cy="330"/>
            </a:xfrm>
            <a:prstGeom prst="bentConnector3">
              <a:avLst>
                <a:gd name="adj1" fmla="val 4990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6" name="AutoShape 25"/>
            <p:cNvCxnSpPr>
              <a:cxnSpLocks noChangeShapeType="1"/>
            </p:cNvCxnSpPr>
            <p:nvPr/>
          </p:nvCxnSpPr>
          <p:spPr bwMode="auto">
            <a:xfrm rot="10800000" flipV="1">
              <a:off x="4316" y="2158"/>
              <a:ext cx="505" cy="370"/>
            </a:xfrm>
            <a:prstGeom prst="bentConnector3">
              <a:avLst>
                <a:gd name="adj1" fmla="val 4990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5946" name="Text Box 26"/>
            <p:cNvSpPr txBox="1">
              <a:spLocks noChangeArrowheads="1"/>
            </p:cNvSpPr>
            <p:nvPr/>
          </p:nvSpPr>
          <p:spPr bwMode="auto">
            <a:xfrm>
              <a:off x="398" y="2492"/>
              <a:ext cx="58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GB" sz="1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ＭＳ Ｐゴシック" pitchFamily="34" charset="-128"/>
                </a:rPr>
                <a:t>Requester</a:t>
              </a:r>
            </a:p>
          </p:txBody>
        </p:sp>
        <p:sp>
          <p:nvSpPr>
            <p:cNvPr id="465947" name="Text Box 27"/>
            <p:cNvSpPr txBox="1">
              <a:spLocks noChangeArrowheads="1"/>
            </p:cNvSpPr>
            <p:nvPr/>
          </p:nvSpPr>
          <p:spPr bwMode="auto">
            <a:xfrm>
              <a:off x="4855" y="2493"/>
              <a:ext cx="44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GB" sz="1200" b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ＭＳ Ｐゴシック" pitchFamily="34" charset="-128"/>
                </a:rPr>
                <a:t>Replier</a:t>
              </a:r>
            </a:p>
          </p:txBody>
        </p:sp>
        <p:sp>
          <p:nvSpPr>
            <p:cNvPr id="465948" name="Rectangle 28"/>
            <p:cNvSpPr>
              <a:spLocks noChangeArrowheads="1"/>
            </p:cNvSpPr>
            <p:nvPr/>
          </p:nvSpPr>
          <p:spPr bwMode="auto">
            <a:xfrm>
              <a:off x="3833" y="1267"/>
              <a:ext cx="4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GB" sz="1200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ＭＳ Ｐゴシック" pitchFamily="34" charset="-128"/>
                </a:rPr>
                <a:t>request</a:t>
              </a:r>
            </a:p>
          </p:txBody>
        </p:sp>
        <p:sp>
          <p:nvSpPr>
            <p:cNvPr id="465949" name="Rectangle 29"/>
            <p:cNvSpPr>
              <a:spLocks noChangeArrowheads="1"/>
            </p:cNvSpPr>
            <p:nvPr/>
          </p:nvSpPr>
          <p:spPr bwMode="auto">
            <a:xfrm>
              <a:off x="1482" y="1267"/>
              <a:ext cx="4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GB" sz="1200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ＭＳ Ｐゴシック" pitchFamily="34" charset="-128"/>
                </a:rPr>
                <a:t>request</a:t>
              </a:r>
            </a:p>
          </p:txBody>
        </p:sp>
        <p:sp>
          <p:nvSpPr>
            <p:cNvPr id="465950" name="Rectangle 30"/>
            <p:cNvSpPr>
              <a:spLocks noChangeArrowheads="1"/>
            </p:cNvSpPr>
            <p:nvPr/>
          </p:nvSpPr>
          <p:spPr bwMode="auto">
            <a:xfrm>
              <a:off x="3889" y="2082"/>
              <a:ext cx="32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GB" sz="1200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ＭＳ Ｐゴシック" pitchFamily="34" charset="-128"/>
                </a:rPr>
                <a:t>reply</a:t>
              </a:r>
            </a:p>
          </p:txBody>
        </p:sp>
        <p:sp>
          <p:nvSpPr>
            <p:cNvPr id="465951" name="Rectangle 31"/>
            <p:cNvSpPr>
              <a:spLocks noChangeArrowheads="1"/>
            </p:cNvSpPr>
            <p:nvPr/>
          </p:nvSpPr>
          <p:spPr bwMode="auto">
            <a:xfrm>
              <a:off x="1538" y="2082"/>
              <a:ext cx="32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GB" sz="1200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ＭＳ Ｐゴシック" pitchFamily="34" charset="-128"/>
                </a:rPr>
                <a:t>reply</a:t>
              </a:r>
            </a:p>
          </p:txBody>
        </p:sp>
      </p:grp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0" y="0"/>
            <a:ext cx="4643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solidFill>
                  <a:srgbClr val="FF0000"/>
                </a:solidFill>
              </a:rPr>
              <a:t>Web Architectural Styles - Messaging</a:t>
            </a:r>
          </a:p>
        </p:txBody>
      </p:sp>
    </p:spTree>
    <p:extLst>
      <p:ext uri="{BB962C8B-B14F-4D97-AF65-F5344CB8AC3E}">
        <p14:creationId xmlns:p14="http://schemas.microsoft.com/office/powerpoint/2010/main" val="80852559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EA425992-1712-46E4-A44F-83D3827C7637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27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Message-oriented Middleware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1052513"/>
            <a:ext cx="7853362" cy="2895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MOM is an infrastructure that involves the passing of data between applications using a common communication channel that carries self-contained messages.</a:t>
            </a:r>
          </a:p>
          <a:p>
            <a:pPr>
              <a:lnSpc>
                <a:spcPct val="90000"/>
              </a:lnSpc>
            </a:pPr>
            <a:r>
              <a:rPr lang="en-US" sz="2400"/>
              <a:t>Messages are sent and received asynchronously. </a:t>
            </a:r>
          </a:p>
          <a:p>
            <a:pPr>
              <a:lnSpc>
                <a:spcPct val="90000"/>
              </a:lnSpc>
            </a:pPr>
            <a:r>
              <a:rPr lang="en-US" sz="2400"/>
              <a:t>The messaging system (integration broker) is responsible for managing the connection points between clients &amp; for managing multiple channels of communication between the connection points. </a:t>
            </a:r>
          </a:p>
        </p:txBody>
      </p:sp>
      <p:grpSp>
        <p:nvGrpSpPr>
          <p:cNvPr id="45061" name="Group 4"/>
          <p:cNvGrpSpPr>
            <a:grpSpLocks/>
          </p:cNvGrpSpPr>
          <p:nvPr/>
        </p:nvGrpSpPr>
        <p:grpSpPr bwMode="auto">
          <a:xfrm>
            <a:off x="827088" y="3789363"/>
            <a:ext cx="7913687" cy="2128837"/>
            <a:chOff x="472" y="1103"/>
            <a:chExt cx="4848" cy="1341"/>
          </a:xfrm>
        </p:grpSpPr>
        <p:grpSp>
          <p:nvGrpSpPr>
            <p:cNvPr id="45063" name="Group 5"/>
            <p:cNvGrpSpPr>
              <a:grpSpLocks/>
            </p:cNvGrpSpPr>
            <p:nvPr/>
          </p:nvGrpSpPr>
          <p:grpSpPr bwMode="auto">
            <a:xfrm>
              <a:off x="472" y="1103"/>
              <a:ext cx="4848" cy="667"/>
              <a:chOff x="472" y="1103"/>
              <a:chExt cx="4848" cy="667"/>
            </a:xfrm>
          </p:grpSpPr>
          <p:grpSp>
            <p:nvGrpSpPr>
              <p:cNvPr id="45086" name="Group 6"/>
              <p:cNvGrpSpPr>
                <a:grpSpLocks/>
              </p:cNvGrpSpPr>
              <p:nvPr/>
            </p:nvGrpSpPr>
            <p:grpSpPr bwMode="auto">
              <a:xfrm>
                <a:off x="472" y="1128"/>
                <a:ext cx="1008" cy="624"/>
                <a:chOff x="814" y="1200"/>
                <a:chExt cx="1008" cy="624"/>
              </a:xfrm>
            </p:grpSpPr>
            <p:sp>
              <p:nvSpPr>
                <p:cNvPr id="45102" name="Rectangle 7"/>
                <p:cNvSpPr>
                  <a:spLocks noChangeArrowheads="1"/>
                </p:cNvSpPr>
                <p:nvPr/>
              </p:nvSpPr>
              <p:spPr bwMode="auto">
                <a:xfrm flipH="1">
                  <a:off x="814" y="1200"/>
                  <a:ext cx="1008" cy="62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algn="ctr" eaLnBrk="0" hangingPunct="0"/>
                  <a:endParaRPr lang="en-US" sz="1200">
                    <a:solidFill>
                      <a:schemeClr val="tx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5103" name="Rectangle 8"/>
                <p:cNvSpPr>
                  <a:spLocks noChangeArrowheads="1"/>
                </p:cNvSpPr>
                <p:nvPr/>
              </p:nvSpPr>
              <p:spPr bwMode="auto">
                <a:xfrm>
                  <a:off x="814" y="1352"/>
                  <a:ext cx="1007" cy="321"/>
                </a:xfrm>
                <a:prstGeom prst="rect">
                  <a:avLst/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</p:grpSp>
          <p:grpSp>
            <p:nvGrpSpPr>
              <p:cNvPr id="45087" name="Group 9"/>
              <p:cNvGrpSpPr>
                <a:grpSpLocks/>
              </p:cNvGrpSpPr>
              <p:nvPr/>
            </p:nvGrpSpPr>
            <p:grpSpPr bwMode="auto">
              <a:xfrm>
                <a:off x="2006" y="1128"/>
                <a:ext cx="1780" cy="624"/>
                <a:chOff x="814" y="1200"/>
                <a:chExt cx="1008" cy="624"/>
              </a:xfrm>
            </p:grpSpPr>
            <p:sp>
              <p:nvSpPr>
                <p:cNvPr id="45100" name="Rectangle 10"/>
                <p:cNvSpPr>
                  <a:spLocks noChangeArrowheads="1"/>
                </p:cNvSpPr>
                <p:nvPr/>
              </p:nvSpPr>
              <p:spPr bwMode="auto">
                <a:xfrm flipH="1">
                  <a:off x="814" y="1200"/>
                  <a:ext cx="1008" cy="62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algn="ctr" eaLnBrk="0" hangingPunct="0"/>
                  <a:endParaRPr lang="en-US" sz="1200">
                    <a:solidFill>
                      <a:schemeClr val="tx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5101" name="Rectangle 11"/>
                <p:cNvSpPr>
                  <a:spLocks noChangeArrowheads="1"/>
                </p:cNvSpPr>
                <p:nvPr/>
              </p:nvSpPr>
              <p:spPr bwMode="auto">
                <a:xfrm>
                  <a:off x="814" y="1352"/>
                  <a:ext cx="1007" cy="321"/>
                </a:xfrm>
                <a:prstGeom prst="rect">
                  <a:avLst/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</p:grpSp>
          <p:grpSp>
            <p:nvGrpSpPr>
              <p:cNvPr id="45088" name="Group 12"/>
              <p:cNvGrpSpPr>
                <a:grpSpLocks/>
              </p:cNvGrpSpPr>
              <p:nvPr/>
            </p:nvGrpSpPr>
            <p:grpSpPr bwMode="auto">
              <a:xfrm>
                <a:off x="4312" y="1128"/>
                <a:ext cx="1008" cy="624"/>
                <a:chOff x="814" y="1200"/>
                <a:chExt cx="1008" cy="624"/>
              </a:xfrm>
            </p:grpSpPr>
            <p:sp>
              <p:nvSpPr>
                <p:cNvPr id="45098" name="Rectangle 13"/>
                <p:cNvSpPr>
                  <a:spLocks noChangeArrowheads="1"/>
                </p:cNvSpPr>
                <p:nvPr/>
              </p:nvSpPr>
              <p:spPr bwMode="auto">
                <a:xfrm flipH="1">
                  <a:off x="814" y="1200"/>
                  <a:ext cx="1008" cy="62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algn="ctr" eaLnBrk="0" hangingPunct="0"/>
                  <a:endParaRPr lang="en-US" sz="1200">
                    <a:solidFill>
                      <a:schemeClr val="tx1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5099" name="Rectangle 14"/>
                <p:cNvSpPr>
                  <a:spLocks noChangeArrowheads="1"/>
                </p:cNvSpPr>
                <p:nvPr/>
              </p:nvSpPr>
              <p:spPr bwMode="auto">
                <a:xfrm>
                  <a:off x="814" y="1352"/>
                  <a:ext cx="1007" cy="321"/>
                </a:xfrm>
                <a:prstGeom prst="rect">
                  <a:avLst/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AU"/>
                </a:p>
              </p:txBody>
            </p:sp>
          </p:grpSp>
          <p:sp>
            <p:nvSpPr>
              <p:cNvPr id="528399" name="Text Box 15"/>
              <p:cNvSpPr txBox="1">
                <a:spLocks noChangeArrowheads="1"/>
              </p:cNvSpPr>
              <p:nvPr/>
            </p:nvSpPr>
            <p:spPr bwMode="auto">
              <a:xfrm>
                <a:off x="778" y="1107"/>
                <a:ext cx="38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Client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528400" name="Text Box 16"/>
              <p:cNvSpPr txBox="1">
                <a:spLocks noChangeArrowheads="1"/>
              </p:cNvSpPr>
              <p:nvPr/>
            </p:nvSpPr>
            <p:spPr bwMode="auto">
              <a:xfrm>
                <a:off x="4608" y="1103"/>
                <a:ext cx="404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Server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528401" name="Text Box 17"/>
              <p:cNvSpPr txBox="1">
                <a:spLocks noChangeArrowheads="1"/>
              </p:cNvSpPr>
              <p:nvPr/>
            </p:nvSpPr>
            <p:spPr bwMode="auto">
              <a:xfrm>
                <a:off x="2698" y="1104"/>
                <a:ext cx="385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Client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528402" name="Text Box 18"/>
              <p:cNvSpPr txBox="1">
                <a:spLocks noChangeArrowheads="1"/>
              </p:cNvSpPr>
              <p:nvPr/>
            </p:nvSpPr>
            <p:spPr bwMode="auto">
              <a:xfrm>
                <a:off x="756" y="1577"/>
                <a:ext cx="4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MOM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528403" name="Text Box 19"/>
              <p:cNvSpPr txBox="1">
                <a:spLocks noChangeArrowheads="1"/>
              </p:cNvSpPr>
              <p:nvPr/>
            </p:nvSpPr>
            <p:spPr bwMode="auto">
              <a:xfrm>
                <a:off x="2676" y="1577"/>
                <a:ext cx="44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MOM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528404" name="Text Box 20"/>
              <p:cNvSpPr txBox="1">
                <a:spLocks noChangeArrowheads="1"/>
              </p:cNvSpPr>
              <p:nvPr/>
            </p:nvSpPr>
            <p:spPr bwMode="auto">
              <a:xfrm>
                <a:off x="4596" y="1578"/>
                <a:ext cx="4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MOM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528405" name="Text Box 21"/>
              <p:cNvSpPr txBox="1">
                <a:spLocks noChangeArrowheads="1"/>
              </p:cNvSpPr>
              <p:nvPr/>
            </p:nvSpPr>
            <p:spPr bwMode="auto">
              <a:xfrm>
                <a:off x="496" y="1337"/>
                <a:ext cx="96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Application logic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528406" name="Text Box 22"/>
              <p:cNvSpPr txBox="1">
                <a:spLocks noChangeArrowheads="1"/>
              </p:cNvSpPr>
              <p:nvPr/>
            </p:nvSpPr>
            <p:spPr bwMode="auto">
              <a:xfrm>
                <a:off x="3117" y="1272"/>
                <a:ext cx="655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Message</a:t>
                </a:r>
              </a:p>
              <a:p>
                <a:pPr algn="ctr"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notification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528407" name="Text Box 23"/>
              <p:cNvSpPr txBox="1">
                <a:spLocks noChangeArrowheads="1"/>
              </p:cNvSpPr>
              <p:nvPr/>
            </p:nvSpPr>
            <p:spPr bwMode="auto">
              <a:xfrm>
                <a:off x="2017" y="1271"/>
                <a:ext cx="655" cy="3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Message</a:t>
                </a:r>
              </a:p>
              <a:p>
                <a:pPr algn="ctr" eaLnBrk="0" hangingPunct="0">
                  <a:defRPr/>
                </a:pPr>
                <a:r>
                  <a:rPr lang="en-US" sz="1400" b="1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publication</a:t>
                </a:r>
                <a:endParaRPr lang="en-GB" sz="1400" b="1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</p:txBody>
          </p:sp>
        </p:grpSp>
        <p:sp>
          <p:nvSpPr>
            <p:cNvPr id="45064" name="Rectangle 24"/>
            <p:cNvSpPr>
              <a:spLocks noChangeArrowheads="1"/>
            </p:cNvSpPr>
            <p:nvPr/>
          </p:nvSpPr>
          <p:spPr bwMode="auto">
            <a:xfrm>
              <a:off x="798" y="2160"/>
              <a:ext cx="4196" cy="284"/>
            </a:xfrm>
            <a:prstGeom prst="rect">
              <a:avLst/>
            </a:prstGeom>
            <a:solidFill>
              <a:srgbClr val="FFF274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0" hangingPunct="0"/>
              <a:r>
                <a:rPr lang="en-US" b="1" i="1">
                  <a:solidFill>
                    <a:schemeClr val="tx1"/>
                  </a:solidFill>
                  <a:latin typeface="Times New Roman" pitchFamily="18" charset="0"/>
                </a:rPr>
                <a:t>MOM Integration Broker</a:t>
              </a:r>
              <a:endParaRPr lang="en-GB" b="1" i="1">
                <a:solidFill>
                  <a:schemeClr val="tx1"/>
                </a:solidFill>
                <a:latin typeface="Times New Roman" pitchFamily="18" charset="0"/>
              </a:endParaRPr>
            </a:p>
          </p:txBody>
        </p:sp>
        <p:sp>
          <p:nvSpPr>
            <p:cNvPr id="45065" name="Line 25"/>
            <p:cNvSpPr>
              <a:spLocks noChangeShapeType="1"/>
            </p:cNvSpPr>
            <p:nvPr/>
          </p:nvSpPr>
          <p:spPr bwMode="auto">
            <a:xfrm>
              <a:off x="965" y="180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6" name="Line 26"/>
            <p:cNvSpPr>
              <a:spLocks noChangeShapeType="1"/>
            </p:cNvSpPr>
            <p:nvPr/>
          </p:nvSpPr>
          <p:spPr bwMode="auto">
            <a:xfrm>
              <a:off x="2877" y="180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7" name="Line 27"/>
            <p:cNvSpPr>
              <a:spLocks noChangeShapeType="1"/>
            </p:cNvSpPr>
            <p:nvPr/>
          </p:nvSpPr>
          <p:spPr bwMode="auto">
            <a:xfrm>
              <a:off x="4799" y="180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068" name="Group 28"/>
            <p:cNvGrpSpPr>
              <a:grpSpLocks/>
            </p:cNvGrpSpPr>
            <p:nvPr/>
          </p:nvGrpSpPr>
          <p:grpSpPr bwMode="auto">
            <a:xfrm>
              <a:off x="1039" y="1834"/>
              <a:ext cx="216" cy="287"/>
              <a:chOff x="768" y="3303"/>
              <a:chExt cx="211" cy="265"/>
            </a:xfrm>
          </p:grpSpPr>
          <p:sp>
            <p:nvSpPr>
              <p:cNvPr id="45084" name="Line 29"/>
              <p:cNvSpPr>
                <a:spLocks noChangeShapeType="1"/>
              </p:cNvSpPr>
              <p:nvPr/>
            </p:nvSpPr>
            <p:spPr bwMode="auto">
              <a:xfrm>
                <a:off x="768" y="3303"/>
                <a:ext cx="0" cy="26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85" name="Line 30"/>
              <p:cNvSpPr>
                <a:spLocks noChangeShapeType="1"/>
              </p:cNvSpPr>
              <p:nvPr/>
            </p:nvSpPr>
            <p:spPr bwMode="auto">
              <a:xfrm rot="5400000">
                <a:off x="874" y="3457"/>
                <a:ext cx="0" cy="2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069" name="Group 31"/>
            <p:cNvGrpSpPr>
              <a:grpSpLocks/>
            </p:cNvGrpSpPr>
            <p:nvPr/>
          </p:nvGrpSpPr>
          <p:grpSpPr bwMode="auto">
            <a:xfrm>
              <a:off x="2950" y="1834"/>
              <a:ext cx="216" cy="287"/>
              <a:chOff x="768" y="3303"/>
              <a:chExt cx="211" cy="265"/>
            </a:xfrm>
          </p:grpSpPr>
          <p:sp>
            <p:nvSpPr>
              <p:cNvPr id="45082" name="Line 32"/>
              <p:cNvSpPr>
                <a:spLocks noChangeShapeType="1"/>
              </p:cNvSpPr>
              <p:nvPr/>
            </p:nvSpPr>
            <p:spPr bwMode="auto">
              <a:xfrm>
                <a:off x="768" y="3303"/>
                <a:ext cx="0" cy="26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83" name="Line 33"/>
              <p:cNvSpPr>
                <a:spLocks noChangeShapeType="1"/>
              </p:cNvSpPr>
              <p:nvPr/>
            </p:nvSpPr>
            <p:spPr bwMode="auto">
              <a:xfrm rot="5400000">
                <a:off x="874" y="3457"/>
                <a:ext cx="0" cy="2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070" name="Group 34"/>
            <p:cNvGrpSpPr>
              <a:grpSpLocks/>
            </p:cNvGrpSpPr>
            <p:nvPr/>
          </p:nvGrpSpPr>
          <p:grpSpPr bwMode="auto">
            <a:xfrm rot="10800000" flipV="1">
              <a:off x="2589" y="1834"/>
              <a:ext cx="216" cy="287"/>
              <a:chOff x="768" y="3303"/>
              <a:chExt cx="211" cy="265"/>
            </a:xfrm>
          </p:grpSpPr>
          <p:sp>
            <p:nvSpPr>
              <p:cNvPr id="45080" name="Line 35"/>
              <p:cNvSpPr>
                <a:spLocks noChangeShapeType="1"/>
              </p:cNvSpPr>
              <p:nvPr/>
            </p:nvSpPr>
            <p:spPr bwMode="auto">
              <a:xfrm>
                <a:off x="768" y="3303"/>
                <a:ext cx="0" cy="26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81" name="Line 36"/>
              <p:cNvSpPr>
                <a:spLocks noChangeShapeType="1"/>
              </p:cNvSpPr>
              <p:nvPr/>
            </p:nvSpPr>
            <p:spPr bwMode="auto">
              <a:xfrm rot="5400000">
                <a:off x="874" y="3457"/>
                <a:ext cx="0" cy="2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071" name="Group 37"/>
            <p:cNvGrpSpPr>
              <a:grpSpLocks/>
            </p:cNvGrpSpPr>
            <p:nvPr/>
          </p:nvGrpSpPr>
          <p:grpSpPr bwMode="auto">
            <a:xfrm rot="10800000" flipV="1">
              <a:off x="4514" y="1834"/>
              <a:ext cx="216" cy="287"/>
              <a:chOff x="768" y="3303"/>
              <a:chExt cx="211" cy="265"/>
            </a:xfrm>
          </p:grpSpPr>
          <p:sp>
            <p:nvSpPr>
              <p:cNvPr id="45078" name="Line 38"/>
              <p:cNvSpPr>
                <a:spLocks noChangeShapeType="1"/>
              </p:cNvSpPr>
              <p:nvPr/>
            </p:nvSpPr>
            <p:spPr bwMode="auto">
              <a:xfrm>
                <a:off x="768" y="3303"/>
                <a:ext cx="0" cy="26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79" name="Line 39"/>
              <p:cNvSpPr>
                <a:spLocks noChangeShapeType="1"/>
              </p:cNvSpPr>
              <p:nvPr/>
            </p:nvSpPr>
            <p:spPr bwMode="auto">
              <a:xfrm rot="5400000">
                <a:off x="874" y="3457"/>
                <a:ext cx="0" cy="2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072" name="Group 40"/>
            <p:cNvGrpSpPr>
              <a:grpSpLocks/>
            </p:cNvGrpSpPr>
            <p:nvPr/>
          </p:nvGrpSpPr>
          <p:grpSpPr bwMode="auto">
            <a:xfrm>
              <a:off x="2459" y="1431"/>
              <a:ext cx="216" cy="287"/>
              <a:chOff x="4271" y="3407"/>
              <a:chExt cx="216" cy="287"/>
            </a:xfrm>
          </p:grpSpPr>
          <p:sp>
            <p:nvSpPr>
              <p:cNvPr id="45076" name="Line 41"/>
              <p:cNvSpPr>
                <a:spLocks noChangeShapeType="1"/>
              </p:cNvSpPr>
              <p:nvPr/>
            </p:nvSpPr>
            <p:spPr bwMode="auto">
              <a:xfrm rot="10800000">
                <a:off x="4487" y="3407"/>
                <a:ext cx="0" cy="287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77" name="Line 42"/>
              <p:cNvSpPr>
                <a:spLocks noChangeShapeType="1"/>
              </p:cNvSpPr>
              <p:nvPr/>
            </p:nvSpPr>
            <p:spPr bwMode="auto">
              <a:xfrm rot="-5400000">
                <a:off x="4379" y="3305"/>
                <a:ext cx="0" cy="216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non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073" name="Group 43"/>
            <p:cNvGrpSpPr>
              <a:grpSpLocks/>
            </p:cNvGrpSpPr>
            <p:nvPr/>
          </p:nvGrpSpPr>
          <p:grpSpPr bwMode="auto">
            <a:xfrm flipH="1">
              <a:off x="3070" y="1431"/>
              <a:ext cx="216" cy="287"/>
              <a:chOff x="4271" y="3407"/>
              <a:chExt cx="216" cy="287"/>
            </a:xfrm>
          </p:grpSpPr>
          <p:sp>
            <p:nvSpPr>
              <p:cNvPr id="45074" name="Line 44"/>
              <p:cNvSpPr>
                <a:spLocks noChangeShapeType="1"/>
              </p:cNvSpPr>
              <p:nvPr/>
            </p:nvSpPr>
            <p:spPr bwMode="auto">
              <a:xfrm rot="10800000">
                <a:off x="4487" y="3407"/>
                <a:ext cx="0" cy="287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75" name="Line 45"/>
              <p:cNvSpPr>
                <a:spLocks noChangeShapeType="1"/>
              </p:cNvSpPr>
              <p:nvPr/>
            </p:nvSpPr>
            <p:spPr bwMode="auto">
              <a:xfrm rot="-5400000">
                <a:off x="4379" y="3305"/>
                <a:ext cx="0" cy="216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none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8" name="Text Box 4"/>
          <p:cNvSpPr txBox="1">
            <a:spLocks noChangeArrowheads="1"/>
          </p:cNvSpPr>
          <p:nvPr/>
        </p:nvSpPr>
        <p:spPr bwMode="auto">
          <a:xfrm>
            <a:off x="0" y="0"/>
            <a:ext cx="4643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solidFill>
                  <a:srgbClr val="FF0000"/>
                </a:solidFill>
              </a:rPr>
              <a:t>Web Architectural Styles – Message-oriented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Resource-oriented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en-AU" sz="2400" dirty="0"/>
              <a:t>Resources exposed on a network</a:t>
            </a:r>
          </a:p>
          <a:p>
            <a:r>
              <a:rPr lang="en-AU" sz="2400" dirty="0"/>
              <a:t>Resources uniquely identified</a:t>
            </a:r>
            <a:endParaRPr lang="en-AU" sz="2400" b="1" dirty="0"/>
          </a:p>
          <a:p>
            <a:r>
              <a:rPr lang="en-AU" sz="2400" dirty="0"/>
              <a:t>Application is a series of </a:t>
            </a:r>
            <a:r>
              <a:rPr lang="en-AU" sz="2400" i="1" dirty="0"/>
              <a:t>linked</a:t>
            </a:r>
            <a:r>
              <a:rPr lang="en-AU" sz="2400" dirty="0"/>
              <a:t> resource updates between clients and servers </a:t>
            </a:r>
          </a:p>
          <a:p>
            <a:r>
              <a:rPr lang="en-AU" sz="2400" dirty="0"/>
              <a:t>Resource examples</a:t>
            </a:r>
          </a:p>
          <a:p>
            <a:pPr lvl="1"/>
            <a:r>
              <a:rPr lang="en-US" sz="2000" dirty="0"/>
              <a:t>something returned by an SQL query</a:t>
            </a:r>
            <a:endParaRPr lang="en-AU" sz="2000" dirty="0"/>
          </a:p>
          <a:p>
            <a:pPr lvl="1"/>
            <a:r>
              <a:rPr lang="en-US" sz="2000" dirty="0"/>
              <a:t>text or media file </a:t>
            </a:r>
            <a:endParaRPr lang="en-AU" sz="2000" dirty="0"/>
          </a:p>
          <a:p>
            <a:pPr lvl="1"/>
            <a:r>
              <a:rPr lang="en-US" sz="2000" dirty="0"/>
              <a:t>a transaction</a:t>
            </a:r>
            <a:endParaRPr lang="en-AU" sz="2000" dirty="0"/>
          </a:p>
          <a:p>
            <a:pPr lvl="1"/>
            <a:r>
              <a:rPr lang="en-US" sz="2000" dirty="0"/>
              <a:t>a web site</a:t>
            </a:r>
            <a:endParaRPr lang="en-AU" sz="2000" dirty="0"/>
          </a:p>
          <a:p>
            <a:pPr lvl="1"/>
            <a:r>
              <a:rPr lang="en-US" sz="2000" dirty="0"/>
              <a:t>a downloadable program</a:t>
            </a:r>
            <a:endParaRPr lang="en-AU" sz="2000" dirty="0"/>
          </a:p>
          <a:p>
            <a:pPr lvl="1"/>
            <a:r>
              <a:rPr lang="en-US" sz="2000" dirty="0"/>
              <a:t>...</a:t>
            </a:r>
            <a:endParaRPr lang="en-AU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28</a:t>
            </a:fld>
            <a:endParaRPr lang="en-AU"/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5796136" y="3212976"/>
            <a:ext cx="2520280" cy="1123712"/>
          </a:xfrm>
          <a:prstGeom prst="wedgeRoundRectCallout">
            <a:avLst>
              <a:gd name="adj1" fmla="val -24516"/>
              <a:gd name="adj2" fmla="val -91143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ahoma" charset="0"/>
              </a:rPr>
              <a:t>CRUD: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AU" b="1" dirty="0">
                <a:solidFill>
                  <a:srgbClr val="FF0000"/>
                </a:solidFill>
                <a:latin typeface="Tahoma" charset="0"/>
              </a:rPr>
              <a:t>Create, Read, Update, Delete</a:t>
            </a:r>
            <a:endParaRPr kumimoji="0" lang="en-AU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ahoma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0" y="0"/>
            <a:ext cx="4643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solidFill>
                  <a:srgbClr val="FF0000"/>
                </a:solidFill>
              </a:rPr>
              <a:t>Web Architectural Styles – Resource-oriented</a:t>
            </a:r>
          </a:p>
        </p:txBody>
      </p:sp>
    </p:spTree>
    <p:extLst>
      <p:ext uri="{BB962C8B-B14F-4D97-AF65-F5344CB8AC3E}">
        <p14:creationId xmlns:p14="http://schemas.microsoft.com/office/powerpoint/2010/main" val="387619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EDA – Event Driven Architectures</a:t>
            </a:r>
            <a:endParaRPr lang="en-AU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emitters and consumers</a:t>
            </a:r>
          </a:p>
          <a:p>
            <a:r>
              <a:rPr lang="en-US" dirty="0"/>
              <a:t>Promotes further decoupling of business processes</a:t>
            </a:r>
          </a:p>
          <a:p>
            <a:r>
              <a:rPr lang="en-US" dirty="0"/>
              <a:t>Same event can be consumed by a number of other (possibly anonymous) processes.</a:t>
            </a:r>
          </a:p>
          <a:p>
            <a:r>
              <a:rPr lang="en-US" dirty="0"/>
              <a:t>Event emitter does not care who consumes the event</a:t>
            </a:r>
          </a:p>
          <a:p>
            <a:r>
              <a:rPr lang="en-US" dirty="0"/>
              <a:t>Fits well with declarative rules based approach to defining business processes (as distinct from an imperative activity based approach as in BPEL (</a:t>
            </a:r>
            <a:r>
              <a:rPr lang="en-US" dirty="0" err="1"/>
              <a:t>ie</a:t>
            </a:r>
            <a:r>
              <a:rPr lang="en-US" dirty="0"/>
              <a:t>, the WS composition language))</a:t>
            </a:r>
          </a:p>
          <a:p>
            <a:pPr>
              <a:buFont typeface="Wingdings" pitchFamily="2" charset="2"/>
              <a:buNone/>
            </a:pPr>
            <a:r>
              <a:rPr lang="en-AU" sz="2000" u="sng" dirty="0"/>
              <a:t>http://www.infoq.com/presentations/SOA‑Business‑Autonomous‑Components</a:t>
            </a:r>
          </a:p>
          <a:p>
            <a:pPr>
              <a:buFont typeface="Wingdings" pitchFamily="2" charset="2"/>
              <a:buNone/>
            </a:pPr>
            <a:endParaRPr lang="en-AU" sz="2000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E0A6B53E-A87A-4928-9B19-C041DCB549B1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29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0"/>
            <a:ext cx="4643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sz="1400" dirty="0">
                <a:solidFill>
                  <a:srgbClr val="FF0000"/>
                </a:solidFill>
              </a:rPr>
              <a:t>Web Architectural Styles – Event-oriented</a:t>
            </a:r>
          </a:p>
        </p:txBody>
      </p:sp>
    </p:spTree>
    <p:extLst>
      <p:ext uri="{BB962C8B-B14F-4D97-AF65-F5344CB8AC3E}">
        <p14:creationId xmlns:p14="http://schemas.microsoft.com/office/powerpoint/2010/main" val="3348575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2800" dirty="0"/>
              <a:t>How does SOA help achieve loose coupling?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30</a:t>
            </a:fld>
            <a:endParaRPr lang="en-AU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692336"/>
              </p:ext>
            </p:extLst>
          </p:nvPr>
        </p:nvGraphicFramePr>
        <p:xfrm>
          <a:off x="683568" y="1196752"/>
          <a:ext cx="8064896" cy="483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29">
                <a:tc>
                  <a:txBody>
                    <a:bodyPr/>
                    <a:lstStyle/>
                    <a:p>
                      <a:r>
                        <a:rPr lang="en-AU" sz="1800" dirty="0"/>
                        <a:t>Type of Coupling</a:t>
                      </a:r>
                      <a:endParaRPr lang="en-US" sz="18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Problem Description</a:t>
                      </a:r>
                      <a:endParaRPr lang="en-US" sz="180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Reduced by</a:t>
                      </a:r>
                      <a:endParaRPr lang="en-US" sz="18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Functional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One module relies on the internal workings others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Well defined interface/API describing inputs and outputs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Interface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Interfaces reflect the implementation</a:t>
                      </a:r>
                      <a:r>
                        <a:rPr lang="en-AU" sz="1700" baseline="0" dirty="0"/>
                        <a:t> details</a:t>
                      </a:r>
                      <a:r>
                        <a:rPr lang="en-AU" sz="1700" dirty="0"/>
                        <a:t> 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Avoid detailed</a:t>
                      </a:r>
                      <a:r>
                        <a:rPr lang="en-AU" sz="1700" baseline="0" dirty="0"/>
                        <a:t> mandatory parameters;</a:t>
                      </a:r>
                    </a:p>
                    <a:p>
                      <a:r>
                        <a:rPr lang="en-AU" sz="1700" baseline="0" dirty="0"/>
                        <a:t>Use more general methods and message passing (do not get too fine-grained)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Data Structure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Data passed</a:t>
                      </a:r>
                      <a:r>
                        <a:rPr lang="en-AU" sz="1700" baseline="0" dirty="0"/>
                        <a:t> between modules </a:t>
                      </a:r>
                      <a:r>
                        <a:rPr lang="en-AU" sz="1700" dirty="0"/>
                        <a:t>reflects internal representations,</a:t>
                      </a:r>
                      <a:br>
                        <a:rPr lang="en-AU" sz="1700" dirty="0"/>
                      </a:br>
                      <a:r>
                        <a:rPr lang="en-AU" sz="1700" dirty="0"/>
                        <a:t> or is over-constrained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Explicitly</a:t>
                      </a:r>
                      <a:r>
                        <a:rPr lang="en-AU" sz="1700" baseline="0" dirty="0"/>
                        <a:t> define formats, </a:t>
                      </a:r>
                      <a:r>
                        <a:rPr lang="en-AU" sz="1700" baseline="0" dirty="0" err="1"/>
                        <a:t>e.g</a:t>
                      </a:r>
                      <a:r>
                        <a:rPr lang="en-AU" sz="1700" baseline="0" dirty="0"/>
                        <a:t> XML in interface;</a:t>
                      </a:r>
                    </a:p>
                    <a:p>
                      <a:r>
                        <a:rPr lang="en-AU" sz="1700" baseline="0" dirty="0"/>
                        <a:t>Allow multiple representations </a:t>
                      </a:r>
                      <a:r>
                        <a:rPr lang="en-AU" sz="1700" baseline="0" dirty="0" err="1"/>
                        <a:t>e.g.mime</a:t>
                      </a:r>
                      <a:r>
                        <a:rPr lang="en-AU" sz="1700" baseline="0" dirty="0"/>
                        <a:t>-types;</a:t>
                      </a:r>
                    </a:p>
                    <a:p>
                      <a:r>
                        <a:rPr lang="en-AU" sz="1700" baseline="0" dirty="0"/>
                        <a:t>‘Vertical’ standards that define semantics of messages 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Temporal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Client</a:t>
                      </a:r>
                      <a:r>
                        <a:rPr lang="en-AU" sz="1700" baseline="0" dirty="0"/>
                        <a:t> blocked while waiting response</a:t>
                      </a:r>
                    </a:p>
                    <a:p>
                      <a:r>
                        <a:rPr lang="en-AU" sz="1700" baseline="0" dirty="0"/>
                        <a:t>Process over-constrained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Asynchronous</a:t>
                      </a:r>
                      <a:r>
                        <a:rPr lang="en-AU" sz="1700" baseline="0" dirty="0"/>
                        <a:t> messages; Explicitly define behaviour in interface e.g. abstract BPEL;</a:t>
                      </a:r>
                    </a:p>
                    <a:p>
                      <a:r>
                        <a:rPr lang="en-AU" sz="1700" baseline="0" dirty="0"/>
                        <a:t>Interaction via events / event-driven processes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485">
                <a:tc>
                  <a:txBody>
                    <a:bodyPr/>
                    <a:lstStyle/>
                    <a:p>
                      <a:r>
                        <a:rPr lang="en-AU" sz="1700" dirty="0"/>
                        <a:t>Address/URI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Addresses</a:t>
                      </a:r>
                      <a:r>
                        <a:rPr lang="en-AU" sz="1700" baseline="0" dirty="0"/>
                        <a:t> change</a:t>
                      </a:r>
                    </a:p>
                    <a:p>
                      <a:r>
                        <a:rPr lang="en-AU" sz="1700" baseline="0" dirty="0"/>
                        <a:t>Providers change</a:t>
                      </a:r>
                    </a:p>
                    <a:p>
                      <a:r>
                        <a:rPr lang="en-AU" sz="1700" dirty="0"/>
                        <a:t>URI patterns change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700" dirty="0"/>
                        <a:t>Do</a:t>
                      </a:r>
                      <a:r>
                        <a:rPr lang="en-AU" sz="1700" baseline="0" dirty="0"/>
                        <a:t> not hard code references;</a:t>
                      </a:r>
                    </a:p>
                    <a:p>
                      <a:r>
                        <a:rPr lang="en-AU" sz="1700" baseline="0" dirty="0"/>
                        <a:t>Virtualise services;</a:t>
                      </a:r>
                      <a:endParaRPr lang="en-AU" sz="1700" dirty="0"/>
                    </a:p>
                    <a:p>
                      <a:r>
                        <a:rPr lang="en-AU" sz="1700" dirty="0"/>
                        <a:t>Use middleware directory services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444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D8ED4257-24D9-455C-8EB8-1410481EFCB1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31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0"/>
              <a:t>Content</a:t>
            </a:r>
            <a:endParaRPr lang="en-US" b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7740972" cy="4800600"/>
          </a:xfrm>
        </p:spPr>
        <p:txBody>
          <a:bodyPr/>
          <a:lstStyle/>
          <a:p>
            <a:endParaRPr lang="en-AU" b="1" dirty="0"/>
          </a:p>
          <a:p>
            <a:r>
              <a:rPr lang="en-AU" dirty="0"/>
              <a:t>Software services / web services</a:t>
            </a:r>
          </a:p>
          <a:p>
            <a:r>
              <a:rPr lang="en-AU" dirty="0"/>
              <a:t>Some concepts you need to understand</a:t>
            </a:r>
          </a:p>
          <a:p>
            <a:r>
              <a:rPr lang="en-AU" dirty="0"/>
              <a:t>Service oriented architecture (SOA)</a:t>
            </a:r>
          </a:p>
          <a:p>
            <a:r>
              <a:rPr lang="en-AU" b="1" dirty="0"/>
              <a:t>Web application architectural styles and middleware</a:t>
            </a:r>
          </a:p>
          <a:p>
            <a:r>
              <a:rPr lang="en-AU" dirty="0"/>
              <a:t>WS* (SOAP) approach</a:t>
            </a:r>
          </a:p>
          <a:p>
            <a:r>
              <a:rPr lang="en-AU" dirty="0"/>
              <a:t>REST approach</a:t>
            </a:r>
          </a:p>
          <a:p>
            <a:r>
              <a:rPr lang="en-AU" dirty="0" err="1"/>
              <a:t>Microservices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8756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079500" y="358775"/>
            <a:ext cx="7236916" cy="685800"/>
          </a:xfrm>
        </p:spPr>
        <p:txBody>
          <a:bodyPr/>
          <a:lstStyle/>
          <a:p>
            <a:r>
              <a:rPr lang="en-US" dirty="0"/>
              <a:t>Web Application (Standard) Approaches</a:t>
            </a:r>
            <a:endParaRPr lang="en-AU" dirty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1043608" y="1196752"/>
            <a:ext cx="754380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Web Service Standards – “WS*”</a:t>
            </a:r>
            <a:endParaRPr lang="en-AU" sz="2400" dirty="0"/>
          </a:p>
          <a:p>
            <a:pPr lvl="1">
              <a:lnSpc>
                <a:spcPct val="80000"/>
              </a:lnSpc>
            </a:pPr>
            <a:r>
              <a:rPr lang="en-AU" sz="1800" dirty="0"/>
              <a:t>SOAP message and WSDL interface descriptions</a:t>
            </a:r>
          </a:p>
          <a:p>
            <a:pPr lvl="1">
              <a:lnSpc>
                <a:spcPct val="80000"/>
              </a:lnSpc>
            </a:pPr>
            <a:r>
              <a:rPr lang="en-AU" sz="1800" dirty="0"/>
              <a:t>Stack of other WS* Standards (UDDI, WS-Transaction, WS-Security, … )</a:t>
            </a:r>
          </a:p>
          <a:p>
            <a:pPr lvl="1">
              <a:lnSpc>
                <a:spcPct val="80000"/>
              </a:lnSpc>
            </a:pPr>
            <a:r>
              <a:rPr lang="en-AU" sz="1800" dirty="0"/>
              <a:t>Service composition and orchestration</a:t>
            </a:r>
          </a:p>
          <a:p>
            <a:pPr lvl="2">
              <a:lnSpc>
                <a:spcPct val="80000"/>
              </a:lnSpc>
            </a:pPr>
            <a:r>
              <a:rPr lang="en-AU" sz="1600" dirty="0"/>
              <a:t>e.g. BPEL – Business Process Execution Language</a:t>
            </a:r>
          </a:p>
          <a:p>
            <a:pPr lvl="1">
              <a:lnSpc>
                <a:spcPct val="80000"/>
              </a:lnSpc>
            </a:pPr>
            <a:r>
              <a:rPr lang="en-AU" sz="1800" dirty="0"/>
              <a:t>Middleware based - many frameworks and technologies being developed </a:t>
            </a:r>
          </a:p>
          <a:p>
            <a:pPr lvl="2">
              <a:lnSpc>
                <a:spcPct val="80000"/>
              </a:lnSpc>
            </a:pPr>
            <a:r>
              <a:rPr lang="en-AU" sz="1600" dirty="0"/>
              <a:t>e.g. Web Sphere, </a:t>
            </a:r>
            <a:r>
              <a:rPr lang="en-AU" sz="1600" dirty="0" err="1"/>
              <a:t>JBoss</a:t>
            </a:r>
            <a:r>
              <a:rPr lang="en-AU" sz="1600" dirty="0"/>
              <a:t>, Apache Axis, WSO2, …</a:t>
            </a:r>
          </a:p>
          <a:p>
            <a:pPr>
              <a:lnSpc>
                <a:spcPct val="80000"/>
              </a:lnSpc>
            </a:pPr>
            <a:r>
              <a:rPr lang="en-US" dirty="0"/>
              <a:t>REST– based (</a:t>
            </a:r>
            <a:r>
              <a:rPr lang="en-US" b="1" dirty="0">
                <a:solidFill>
                  <a:srgbClr val="FF0000"/>
                </a:solidFill>
              </a:rPr>
              <a:t>Re</a:t>
            </a:r>
            <a:r>
              <a:rPr lang="en-US" dirty="0"/>
              <a:t>presentational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tate </a:t>
            </a:r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dirty="0"/>
              <a:t>ransfer)</a:t>
            </a:r>
            <a:endParaRPr lang="en-AU" dirty="0"/>
          </a:p>
          <a:p>
            <a:pPr lvl="1"/>
            <a:r>
              <a:rPr lang="en-US" sz="2000" dirty="0"/>
              <a:t>Light-weight approach, inter-operability based on HTTP</a:t>
            </a:r>
          </a:p>
          <a:p>
            <a:pPr lvl="1"/>
            <a:r>
              <a:rPr lang="en-US" sz="2000" dirty="0"/>
              <a:t>View machine clients like automatic ‘browsers’</a:t>
            </a:r>
          </a:p>
          <a:p>
            <a:pPr lvl="1"/>
            <a:r>
              <a:rPr lang="en-US" sz="2000" dirty="0"/>
              <a:t>Resource/data centric</a:t>
            </a:r>
          </a:p>
          <a:p>
            <a:pPr lvl="1"/>
            <a:r>
              <a:rPr lang="en-AU" sz="2000" dirty="0"/>
              <a:t>http://www.infoq.com/presentations/The-Counterintuitive-Web</a:t>
            </a:r>
          </a:p>
          <a:p>
            <a:pPr>
              <a:lnSpc>
                <a:spcPct val="80000"/>
              </a:lnSpc>
            </a:pPr>
            <a:r>
              <a:rPr lang="en-AU" dirty="0" err="1"/>
              <a:t>Microservices</a:t>
            </a:r>
            <a:r>
              <a:rPr lang="en-AU" dirty="0"/>
              <a:t>: functions (data) as service …</a:t>
            </a: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3A336F54-5D08-4929-A753-1FEED32C47C8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32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Technologies for Web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2780928"/>
            <a:ext cx="3096344" cy="2952328"/>
          </a:xfrm>
        </p:spPr>
        <p:txBody>
          <a:bodyPr/>
          <a:lstStyle/>
          <a:p>
            <a:r>
              <a:rPr lang="en-AU" dirty="0"/>
              <a:t>RPC</a:t>
            </a:r>
          </a:p>
          <a:p>
            <a:r>
              <a:rPr lang="en-AU" dirty="0"/>
              <a:t>Message-oriented</a:t>
            </a:r>
          </a:p>
          <a:p>
            <a:r>
              <a:rPr lang="en-AU" dirty="0"/>
              <a:t>Resource-oriented</a:t>
            </a:r>
          </a:p>
          <a:p>
            <a:r>
              <a:rPr lang="en-AU" dirty="0"/>
              <a:t>Event-oriented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33</a:t>
            </a:fld>
            <a:endParaRPr lang="en-AU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220072" y="3140968"/>
            <a:ext cx="3633454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200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+mn-lt"/>
              </a:defRPr>
            </a:lvl2pPr>
            <a:lvl3pPr marL="1276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3pPr>
            <a:lvl4pPr marL="16954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+mn-lt"/>
              </a:defRPr>
            </a:lvl4pPr>
            <a:lvl5pPr marL="21145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5pPr>
            <a:lvl6pPr marL="25717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6pPr>
            <a:lvl7pPr marL="30289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7pPr>
            <a:lvl8pPr marL="34861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8pPr>
            <a:lvl9pPr marL="3943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AU" b="1" kern="0" dirty="0">
                <a:solidFill>
                  <a:srgbClr val="002060"/>
                </a:solidFill>
              </a:rPr>
              <a:t>WS* (SOAP, WDSL, …)</a:t>
            </a:r>
          </a:p>
          <a:p>
            <a:r>
              <a:rPr lang="en-AU" b="1" kern="0" dirty="0">
                <a:solidFill>
                  <a:srgbClr val="006600"/>
                </a:solidFill>
              </a:rPr>
              <a:t>RESTful / </a:t>
            </a:r>
            <a:r>
              <a:rPr lang="en-AU" b="1" kern="0" dirty="0" err="1">
                <a:solidFill>
                  <a:srgbClr val="006600"/>
                </a:solidFill>
              </a:rPr>
              <a:t>Microservices</a:t>
            </a:r>
            <a:endParaRPr lang="en-AU" b="1" kern="0" dirty="0">
              <a:solidFill>
                <a:srgbClr val="0066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39552" y="1194747"/>
            <a:ext cx="8280920" cy="578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200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+mn-lt"/>
              </a:defRPr>
            </a:lvl2pPr>
            <a:lvl3pPr marL="1276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3pPr>
            <a:lvl4pPr marL="16954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+mn-lt"/>
              </a:defRPr>
            </a:lvl4pPr>
            <a:lvl5pPr marL="21145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5pPr>
            <a:lvl6pPr marL="25717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6pPr>
            <a:lvl7pPr marL="30289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7pPr>
            <a:lvl8pPr marL="34861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8pPr>
            <a:lvl9pPr marL="3943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AU" kern="0" dirty="0"/>
              <a:t>Different Web ‘protocol patterns’ suit various architectural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265" y="2060848"/>
            <a:ext cx="293664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Architectural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20072" y="2059960"/>
            <a:ext cx="293664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Standard Protocol patterns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 flipV="1">
            <a:off x="3419872" y="3081536"/>
            <a:ext cx="1440160" cy="288032"/>
          </a:xfrm>
          <a:prstGeom prst="straightConnector1">
            <a:avLst/>
          </a:prstGeom>
          <a:noFill/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3707905" y="3429000"/>
            <a:ext cx="1152127" cy="144016"/>
          </a:xfrm>
          <a:prstGeom prst="straightConnector1">
            <a:avLst/>
          </a:prstGeom>
          <a:noFill/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H="1">
            <a:off x="3674851" y="3573016"/>
            <a:ext cx="1185181" cy="1152128"/>
          </a:xfrm>
          <a:prstGeom prst="straightConnector1">
            <a:avLst/>
          </a:prstGeom>
          <a:noFill/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>
            <a:off x="3779912" y="4005064"/>
            <a:ext cx="1185182" cy="144016"/>
          </a:xfrm>
          <a:prstGeom prst="straightConnector1">
            <a:avLst/>
          </a:prstGeom>
          <a:noFill/>
          <a:ln w="31750" cap="flat" cmpd="sng" algn="ctr">
            <a:solidFill>
              <a:srgbClr val="0066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Content Placeholder 2"/>
          <p:cNvSpPr txBox="1">
            <a:spLocks/>
          </p:cNvSpPr>
          <p:nvPr/>
        </p:nvSpPr>
        <p:spPr bwMode="auto">
          <a:xfrm>
            <a:off x="2411760" y="5516229"/>
            <a:ext cx="6408712" cy="578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200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+mn-lt"/>
              </a:defRPr>
            </a:lvl2pPr>
            <a:lvl3pPr marL="1276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3pPr>
            <a:lvl4pPr marL="16954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+mn-lt"/>
              </a:defRPr>
            </a:lvl4pPr>
            <a:lvl5pPr marL="21145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5pPr>
            <a:lvl6pPr marL="25717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6pPr>
            <a:lvl7pPr marL="30289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7pPr>
            <a:lvl8pPr marL="34861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8pPr>
            <a:lvl9pPr marL="3943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AU" i="1" kern="0" dirty="0"/>
              <a:t>Note: There are many Web applications that do not follow these standard approaches</a:t>
            </a:r>
          </a:p>
        </p:txBody>
      </p:sp>
    </p:spTree>
    <p:extLst>
      <p:ext uri="{BB962C8B-B14F-4D97-AF65-F5344CB8AC3E}">
        <p14:creationId xmlns:p14="http://schemas.microsoft.com/office/powerpoint/2010/main" val="330377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88640"/>
            <a:ext cx="6997700" cy="685800"/>
          </a:xfrm>
        </p:spPr>
        <p:txBody>
          <a:bodyPr/>
          <a:lstStyle/>
          <a:p>
            <a:r>
              <a:rPr lang="en-AU" sz="4800" dirty="0">
                <a:solidFill>
                  <a:schemeClr val="accent2"/>
                </a:solidFill>
              </a:rPr>
              <a:t>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124744"/>
            <a:ext cx="7796972" cy="4320480"/>
          </a:xfrm>
        </p:spPr>
        <p:txBody>
          <a:bodyPr/>
          <a:lstStyle/>
          <a:p>
            <a:pPr marL="0" indent="0">
              <a:buNone/>
            </a:pPr>
            <a:r>
              <a:rPr lang="en-AU" b="1" i="1" dirty="0"/>
              <a:t>Which architectural style is the most “decoupled”?</a:t>
            </a:r>
          </a:p>
          <a:p>
            <a:pPr marL="0" indent="0">
              <a:buNone/>
            </a:pPr>
            <a:r>
              <a:rPr lang="en-AU" b="1" i="1" dirty="0"/>
              <a:t>Which architectural style is the hardest to change / evolve? </a:t>
            </a:r>
            <a:r>
              <a:rPr lang="en-AU" b="1" i="1" dirty="0" err="1"/>
              <a:t>a.k.a</a:t>
            </a:r>
            <a:r>
              <a:rPr lang="en-AU" b="1" i="1" dirty="0"/>
              <a:t> “Fragile”</a:t>
            </a:r>
          </a:p>
          <a:p>
            <a:pPr marL="0" indent="0">
              <a:buNone/>
            </a:pPr>
            <a:endParaRPr lang="en-AU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804248" y="6165304"/>
            <a:ext cx="1905000" cy="457200"/>
          </a:xfrm>
        </p:spPr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34</a:t>
            </a:fld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2362751" y="3242618"/>
            <a:ext cx="464872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Message-oriented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66807" y="3714736"/>
            <a:ext cx="464872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Resource-oriented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1663" y="4218792"/>
            <a:ext cx="464872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Event-oriented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6647" y="2780928"/>
            <a:ext cx="4648729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Method-oriented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536" y="4813121"/>
            <a:ext cx="8440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>
                <a:solidFill>
                  <a:schemeClr val="tx1"/>
                </a:solidFill>
              </a:rPr>
              <a:t>Coupling</a:t>
            </a:r>
            <a:r>
              <a:rPr lang="en-AU" dirty="0">
                <a:solidFill>
                  <a:schemeClr val="tx1"/>
                </a:solidFill>
              </a:rPr>
              <a:t> of reference address, interface, implementation, behaviour, … 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r>
              <a:rPr lang="en-AU" i="1" dirty="0">
                <a:solidFill>
                  <a:schemeClr val="tx1"/>
                </a:solidFill>
              </a:rPr>
              <a:t>Fragility</a:t>
            </a:r>
            <a:r>
              <a:rPr lang="en-AU" dirty="0">
                <a:solidFill>
                  <a:schemeClr val="tx1"/>
                </a:solidFill>
              </a:rPr>
              <a:t> - What breaks when something is changed? </a:t>
            </a:r>
          </a:p>
        </p:txBody>
      </p:sp>
    </p:spTree>
    <p:extLst>
      <p:ext uri="{BB962C8B-B14F-4D97-AF65-F5344CB8AC3E}">
        <p14:creationId xmlns:p14="http://schemas.microsoft.com/office/powerpoint/2010/main" val="9074209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D8ED4257-24D9-455C-8EB8-1410481EFCB1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35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0"/>
              <a:t>Content</a:t>
            </a:r>
            <a:endParaRPr lang="en-US" b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7740972" cy="4800600"/>
          </a:xfrm>
        </p:spPr>
        <p:txBody>
          <a:bodyPr/>
          <a:lstStyle/>
          <a:p>
            <a:endParaRPr lang="en-AU" b="1" dirty="0"/>
          </a:p>
          <a:p>
            <a:r>
              <a:rPr lang="en-AU" dirty="0"/>
              <a:t>Software services / web services</a:t>
            </a:r>
          </a:p>
          <a:p>
            <a:r>
              <a:rPr lang="en-AU" dirty="0"/>
              <a:t>Some concepts you need to understand</a:t>
            </a:r>
          </a:p>
          <a:p>
            <a:r>
              <a:rPr lang="en-AU" dirty="0"/>
              <a:t>Service oriented architecture (SOA)</a:t>
            </a:r>
          </a:p>
          <a:p>
            <a:r>
              <a:rPr lang="en-AU" dirty="0"/>
              <a:t>Web application architectural styles and middleware</a:t>
            </a:r>
          </a:p>
          <a:p>
            <a:r>
              <a:rPr lang="en-AU" b="1" dirty="0"/>
              <a:t>WS* (SOAP) approach</a:t>
            </a:r>
          </a:p>
          <a:p>
            <a:r>
              <a:rPr lang="en-AU" dirty="0"/>
              <a:t>REST approach</a:t>
            </a:r>
          </a:p>
          <a:p>
            <a:r>
              <a:rPr lang="en-AU" dirty="0" err="1"/>
              <a:t>Microservices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2981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WS* (SOAP) Architectures</a:t>
            </a:r>
            <a:endParaRPr lang="en-AU" dirty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1403648" y="1208087"/>
            <a:ext cx="7543800" cy="4800600"/>
          </a:xfrm>
        </p:spPr>
        <p:txBody>
          <a:bodyPr/>
          <a:lstStyle/>
          <a:p>
            <a:pPr marL="285750" lvl="1">
              <a:buClrTx/>
              <a:buSzPct val="75000"/>
              <a:buFont typeface="Wingdings" pitchFamily="2" charset="2"/>
              <a:buChar char="n"/>
            </a:pPr>
            <a:r>
              <a:rPr lang="en-US" dirty="0"/>
              <a:t>Evolution of the enterprise computing middleware approach</a:t>
            </a:r>
          </a:p>
          <a:p>
            <a:pPr marL="800100" lvl="2">
              <a:buClrTx/>
              <a:buSzPct val="75000"/>
              <a:buFont typeface="Wingdings" pitchFamily="2" charset="2"/>
              <a:buChar char="n"/>
            </a:pPr>
            <a:r>
              <a:rPr lang="en-US" dirty="0"/>
              <a:t>CORBA, </a:t>
            </a:r>
            <a:r>
              <a:rPr lang="en-US" dirty="0" err="1"/>
              <a:t>MoM</a:t>
            </a:r>
            <a:r>
              <a:rPr lang="en-US" dirty="0"/>
              <a:t>, ESB</a:t>
            </a:r>
          </a:p>
          <a:p>
            <a:pPr marL="285750" lvl="1">
              <a:buClrTx/>
              <a:buSzPct val="75000"/>
              <a:buFont typeface="Wingdings" pitchFamily="2" charset="2"/>
              <a:buChar char="n"/>
            </a:pPr>
            <a:r>
              <a:rPr lang="en-US" dirty="0"/>
              <a:t>* = Standards needed, so enterprise system can interoperate</a:t>
            </a:r>
          </a:p>
          <a:p>
            <a:pPr marL="800100" lvl="2">
              <a:buClrTx/>
              <a:buSzPct val="75000"/>
              <a:buFont typeface="Wingdings" pitchFamily="2" charset="2"/>
              <a:buChar char="n"/>
            </a:pPr>
            <a:r>
              <a:rPr lang="en-US" sz="1800" dirty="0"/>
              <a:t>Description, Discovery, </a:t>
            </a:r>
            <a:r>
              <a:rPr lang="en-US" sz="1800" dirty="0" err="1"/>
              <a:t>QoS</a:t>
            </a:r>
            <a:r>
              <a:rPr lang="en-US" sz="1800" dirty="0"/>
              <a:t>, Security, Transactions, etc.</a:t>
            </a:r>
          </a:p>
          <a:p>
            <a:pPr marL="285750" lvl="1">
              <a:buClrTx/>
              <a:buSzPct val="75000"/>
              <a:buFont typeface="Wingdings" pitchFamily="2" charset="2"/>
              <a:buChar char="n"/>
            </a:pPr>
            <a:r>
              <a:rPr lang="en-US" dirty="0"/>
              <a:t>“Big” Web Services – many big vendors developing middleware products to support standards based approach </a:t>
            </a:r>
          </a:p>
          <a:p>
            <a:pPr marL="800100" lvl="2">
              <a:buClrTx/>
              <a:buSzPct val="75000"/>
              <a:buFont typeface="Wingdings" pitchFamily="2" charset="2"/>
              <a:buChar char="n"/>
            </a:pPr>
            <a:r>
              <a:rPr lang="en-US" dirty="0"/>
              <a:t>IBM, BEA, Microsoft, </a:t>
            </a:r>
            <a:r>
              <a:rPr lang="en-US" dirty="0" err="1"/>
              <a:t>JBoss</a:t>
            </a:r>
            <a:r>
              <a:rPr lang="en-US" dirty="0"/>
              <a:t>, WSO2, ...</a:t>
            </a:r>
            <a:endParaRPr lang="en-AU" dirty="0"/>
          </a:p>
          <a:p>
            <a:pPr marL="285750" lvl="1">
              <a:buClrTx/>
              <a:buSzPct val="75000"/>
              <a:buFont typeface="Wingdings" pitchFamily="2" charset="2"/>
              <a:buChar char="n"/>
            </a:pPr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application protocol </a:t>
            </a:r>
            <a:r>
              <a:rPr lang="en-US" dirty="0"/>
              <a:t>(</a:t>
            </a:r>
            <a:r>
              <a:rPr lang="en-US" b="1" dirty="0"/>
              <a:t>SOAP</a:t>
            </a:r>
            <a:r>
              <a:rPr lang="en-US" dirty="0"/>
              <a:t>), views/uses </a:t>
            </a:r>
            <a:r>
              <a:rPr lang="en-US" b="1" dirty="0"/>
              <a:t>HTTP</a:t>
            </a:r>
            <a:r>
              <a:rPr lang="en-US" dirty="0"/>
              <a:t> as a </a:t>
            </a:r>
            <a:r>
              <a:rPr lang="en-US" b="1" i="1" dirty="0">
                <a:solidFill>
                  <a:srgbClr val="C00000"/>
                </a:solidFill>
              </a:rPr>
              <a:t>transport protocol </a:t>
            </a:r>
            <a:r>
              <a:rPr lang="en-US" dirty="0"/>
              <a:t>to carry SOAP messages</a:t>
            </a:r>
          </a:p>
          <a:p>
            <a:pPr marL="800100" lvl="2">
              <a:buClrTx/>
              <a:buSzPct val="75000"/>
              <a:buFont typeface="Wingdings" pitchFamily="2" charset="2"/>
              <a:buChar char="n"/>
            </a:pPr>
            <a:r>
              <a:rPr lang="en-US" dirty="0"/>
              <a:t>Although almost always HTTP, such SOAP services can use other transports i.e. they are not necessarily “Web” services.</a:t>
            </a:r>
          </a:p>
          <a:p>
            <a:pPr marL="285750" lvl="1">
              <a:buClrTx/>
              <a:buSzPct val="75000"/>
              <a:buFont typeface="Wingdings" pitchFamily="2" charset="2"/>
              <a:buChar char="n"/>
            </a:pPr>
            <a:r>
              <a:rPr lang="en-US" altLang="en-US" b="1" dirty="0"/>
              <a:t>Calls/Messages</a:t>
            </a:r>
            <a:r>
              <a:rPr lang="en-US" altLang="en-US" dirty="0"/>
              <a:t> defined and exchanged by machine using </a:t>
            </a:r>
            <a:r>
              <a:rPr lang="en-US" altLang="en-US" b="1" dirty="0"/>
              <a:t>XML Schema</a:t>
            </a:r>
          </a:p>
          <a:p>
            <a:pPr marL="285750" lvl="1">
              <a:buClrTx/>
              <a:buSzPct val="75000"/>
              <a:buFont typeface="Wingdings" pitchFamily="2" charset="2"/>
              <a:buChar char="n"/>
            </a:pPr>
            <a:endParaRPr lang="en-US" dirty="0"/>
          </a:p>
          <a:p>
            <a:pPr marL="800100" lvl="2">
              <a:buClrTx/>
              <a:buSzPct val="75000"/>
              <a:buFont typeface="Wingdings" pitchFamily="2" charset="2"/>
              <a:buChar char="n"/>
            </a:pPr>
            <a:endParaRPr lang="en-US" dirty="0"/>
          </a:p>
          <a:p>
            <a:pPr marL="571500" lvl="2" indent="0">
              <a:buClrTx/>
              <a:buSzPct val="75000"/>
              <a:buNone/>
            </a:pPr>
            <a:r>
              <a:rPr lang="en-US" dirty="0"/>
              <a:t>                        </a:t>
            </a:r>
            <a:endParaRPr lang="en-AU" i="1" dirty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6A8163EC-0C4E-4107-8EB7-65628E9BA30A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36</a:t>
            </a:fld>
            <a:endParaRPr lang="en-AU" sz="14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892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206AC4D-3E3C-45A0-AFC0-45746A19134E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37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196975"/>
            <a:ext cx="7777163" cy="5327650"/>
          </a:xfrm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GB" altLang="en-US"/>
              <a:t>Four common types of operations that represent possible combinations of input and output messages </a:t>
            </a:r>
          </a:p>
          <a:p>
            <a:pPr marL="342900" indent="-342900">
              <a:lnSpc>
                <a:spcPct val="80000"/>
              </a:lnSpc>
            </a:pPr>
            <a:r>
              <a:rPr lang="en-GB" altLang="en-US"/>
              <a:t>Support for both </a:t>
            </a:r>
            <a:r>
              <a:rPr lang="en-GB" altLang="en-US" b="1" i="1">
                <a:solidFill>
                  <a:srgbClr val="FF0000"/>
                </a:solidFill>
              </a:rPr>
              <a:t>push</a:t>
            </a:r>
            <a:r>
              <a:rPr lang="en-GB" altLang="en-US">
                <a:solidFill>
                  <a:srgbClr val="FF0000"/>
                </a:solidFill>
              </a:rPr>
              <a:t> </a:t>
            </a:r>
            <a:r>
              <a:rPr lang="en-GB" altLang="en-US"/>
              <a:t>and </a:t>
            </a:r>
            <a:r>
              <a:rPr lang="en-GB" altLang="en-US" b="1" i="1">
                <a:solidFill>
                  <a:srgbClr val="FF0000"/>
                </a:solidFill>
              </a:rPr>
              <a:t>pull</a:t>
            </a:r>
            <a:r>
              <a:rPr lang="en-GB" altLang="en-US">
                <a:solidFill>
                  <a:srgbClr val="FF0000"/>
                </a:solidFill>
              </a:rPr>
              <a:t> </a:t>
            </a:r>
            <a:r>
              <a:rPr lang="en-GB" altLang="en-US"/>
              <a:t>interaction models at the interface level.</a:t>
            </a:r>
          </a:p>
          <a:p>
            <a:pPr marL="342900" indent="-342900">
              <a:lnSpc>
                <a:spcPct val="80000"/>
              </a:lnSpc>
            </a:pPr>
            <a:r>
              <a:rPr lang="en-GB" altLang="en-US"/>
              <a:t>Not just </a:t>
            </a:r>
            <a:r>
              <a:rPr lang="en-GB" altLang="en-US" b="1" i="1">
                <a:solidFill>
                  <a:srgbClr val="FF0000"/>
                </a:solidFill>
              </a:rPr>
              <a:t>client-server</a:t>
            </a:r>
            <a:br>
              <a:rPr lang="en-GB" altLang="en-US" b="1" i="1">
                <a:solidFill>
                  <a:srgbClr val="FF0000"/>
                </a:solidFill>
              </a:rPr>
            </a:br>
            <a:r>
              <a:rPr lang="en-GB" altLang="en-US" b="1" i="1">
                <a:solidFill>
                  <a:srgbClr val="FF0000"/>
                </a:solidFill>
              </a:rPr>
              <a:t> request - response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Message Exchange Patterns</a:t>
            </a:r>
            <a:endParaRPr lang="en-US" altLang="en-US" sz="3200"/>
          </a:p>
        </p:txBody>
      </p:sp>
      <p:sp>
        <p:nvSpPr>
          <p:cNvPr id="16389" name="AutoShape 7"/>
          <p:cNvSpPr>
            <a:spLocks noChangeAspect="1" noChangeArrowheads="1" noTextEdit="1"/>
          </p:cNvSpPr>
          <p:nvPr/>
        </p:nvSpPr>
        <p:spPr bwMode="auto">
          <a:xfrm>
            <a:off x="4284663" y="2581275"/>
            <a:ext cx="4284662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6390" name="Group 23"/>
          <p:cNvGrpSpPr>
            <a:grpSpLocks/>
          </p:cNvGrpSpPr>
          <p:nvPr/>
        </p:nvGrpSpPr>
        <p:grpSpPr bwMode="auto">
          <a:xfrm>
            <a:off x="4071938" y="2595563"/>
            <a:ext cx="4475162" cy="965200"/>
            <a:chOff x="2565" y="1635"/>
            <a:chExt cx="2819" cy="608"/>
          </a:xfrm>
        </p:grpSpPr>
        <p:sp>
          <p:nvSpPr>
            <p:cNvPr id="16544" name="Oval 9"/>
            <p:cNvSpPr>
              <a:spLocks noChangeArrowheads="1"/>
            </p:cNvSpPr>
            <p:nvPr/>
          </p:nvSpPr>
          <p:spPr bwMode="auto">
            <a:xfrm>
              <a:off x="2708" y="1688"/>
              <a:ext cx="364" cy="277"/>
            </a:xfrm>
            <a:prstGeom prst="ellipse">
              <a:avLst/>
            </a:prstGeom>
            <a:noFill/>
            <a:ln w="17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45" name="Freeform 10"/>
            <p:cNvSpPr>
              <a:spLocks/>
            </p:cNvSpPr>
            <p:nvPr/>
          </p:nvSpPr>
          <p:spPr bwMode="auto">
            <a:xfrm>
              <a:off x="4618" y="1635"/>
              <a:ext cx="766" cy="382"/>
            </a:xfrm>
            <a:custGeom>
              <a:avLst/>
              <a:gdLst>
                <a:gd name="T0" fmla="*/ 2 w 1531"/>
                <a:gd name="T1" fmla="*/ 0 h 766"/>
                <a:gd name="T2" fmla="*/ 2 w 1531"/>
                <a:gd name="T3" fmla="*/ 0 h 766"/>
                <a:gd name="T4" fmla="*/ 2 w 1531"/>
                <a:gd name="T5" fmla="*/ 0 h 766"/>
                <a:gd name="T6" fmla="*/ 1 w 1531"/>
                <a:gd name="T7" fmla="*/ 0 h 766"/>
                <a:gd name="T8" fmla="*/ 1 w 1531"/>
                <a:gd name="T9" fmla="*/ 0 h 766"/>
                <a:gd name="T10" fmla="*/ 1 w 1531"/>
                <a:gd name="T11" fmla="*/ 0 h 766"/>
                <a:gd name="T12" fmla="*/ 1 w 1531"/>
                <a:gd name="T13" fmla="*/ 1 h 766"/>
                <a:gd name="T14" fmla="*/ 1 w 1531"/>
                <a:gd name="T15" fmla="*/ 1 h 766"/>
                <a:gd name="T16" fmla="*/ 0 w 1531"/>
                <a:gd name="T17" fmla="*/ 2 h 766"/>
                <a:gd name="T18" fmla="*/ 0 w 1531"/>
                <a:gd name="T19" fmla="*/ 9 h 766"/>
                <a:gd name="T20" fmla="*/ 1 w 1531"/>
                <a:gd name="T21" fmla="*/ 10 h 766"/>
                <a:gd name="T22" fmla="*/ 1 w 1531"/>
                <a:gd name="T23" fmla="*/ 10 h 766"/>
                <a:gd name="T24" fmla="*/ 1 w 1531"/>
                <a:gd name="T25" fmla="*/ 11 h 766"/>
                <a:gd name="T26" fmla="*/ 1 w 1531"/>
                <a:gd name="T27" fmla="*/ 11 h 766"/>
                <a:gd name="T28" fmla="*/ 1 w 1531"/>
                <a:gd name="T29" fmla="*/ 11 h 766"/>
                <a:gd name="T30" fmla="*/ 2 w 1531"/>
                <a:gd name="T31" fmla="*/ 11 h 766"/>
                <a:gd name="T32" fmla="*/ 2 w 1531"/>
                <a:gd name="T33" fmla="*/ 11 h 766"/>
                <a:gd name="T34" fmla="*/ 2 w 1531"/>
                <a:gd name="T35" fmla="*/ 11 h 766"/>
                <a:gd name="T36" fmla="*/ 22 w 1531"/>
                <a:gd name="T37" fmla="*/ 11 h 766"/>
                <a:gd name="T38" fmla="*/ 23 w 1531"/>
                <a:gd name="T39" fmla="*/ 11 h 766"/>
                <a:gd name="T40" fmla="*/ 23 w 1531"/>
                <a:gd name="T41" fmla="*/ 11 h 766"/>
                <a:gd name="T42" fmla="*/ 24 w 1531"/>
                <a:gd name="T43" fmla="*/ 11 h 766"/>
                <a:gd name="T44" fmla="*/ 24 w 1531"/>
                <a:gd name="T45" fmla="*/ 11 h 766"/>
                <a:gd name="T46" fmla="*/ 24 w 1531"/>
                <a:gd name="T47" fmla="*/ 11 h 766"/>
                <a:gd name="T48" fmla="*/ 24 w 1531"/>
                <a:gd name="T49" fmla="*/ 10 h 766"/>
                <a:gd name="T50" fmla="*/ 24 w 1531"/>
                <a:gd name="T51" fmla="*/ 10 h 766"/>
                <a:gd name="T52" fmla="*/ 24 w 1531"/>
                <a:gd name="T53" fmla="*/ 9 h 766"/>
                <a:gd name="T54" fmla="*/ 24 w 1531"/>
                <a:gd name="T55" fmla="*/ 2 h 766"/>
                <a:gd name="T56" fmla="*/ 24 w 1531"/>
                <a:gd name="T57" fmla="*/ 1 h 766"/>
                <a:gd name="T58" fmla="*/ 24 w 1531"/>
                <a:gd name="T59" fmla="*/ 1 h 766"/>
                <a:gd name="T60" fmla="*/ 24 w 1531"/>
                <a:gd name="T61" fmla="*/ 0 h 766"/>
                <a:gd name="T62" fmla="*/ 24 w 1531"/>
                <a:gd name="T63" fmla="*/ 0 h 766"/>
                <a:gd name="T64" fmla="*/ 24 w 1531"/>
                <a:gd name="T65" fmla="*/ 0 h 766"/>
                <a:gd name="T66" fmla="*/ 23 w 1531"/>
                <a:gd name="T67" fmla="*/ 0 h 766"/>
                <a:gd name="T68" fmla="*/ 23 w 1531"/>
                <a:gd name="T69" fmla="*/ 0 h 766"/>
                <a:gd name="T70" fmla="*/ 22 w 1531"/>
                <a:gd name="T71" fmla="*/ 0 h 766"/>
                <a:gd name="T72" fmla="*/ 2 w 1531"/>
                <a:gd name="T73" fmla="*/ 0 h 76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531" h="766">
                  <a:moveTo>
                    <a:pt x="128" y="0"/>
                  </a:moveTo>
                  <a:lnTo>
                    <a:pt x="102" y="3"/>
                  </a:lnTo>
                  <a:lnTo>
                    <a:pt x="79" y="11"/>
                  </a:lnTo>
                  <a:lnTo>
                    <a:pt x="57" y="22"/>
                  </a:lnTo>
                  <a:lnTo>
                    <a:pt x="38" y="38"/>
                  </a:lnTo>
                  <a:lnTo>
                    <a:pt x="22" y="57"/>
                  </a:lnTo>
                  <a:lnTo>
                    <a:pt x="10" y="79"/>
                  </a:lnTo>
                  <a:lnTo>
                    <a:pt x="3" y="102"/>
                  </a:lnTo>
                  <a:lnTo>
                    <a:pt x="0" y="128"/>
                  </a:lnTo>
                  <a:lnTo>
                    <a:pt x="0" y="638"/>
                  </a:lnTo>
                  <a:lnTo>
                    <a:pt x="3" y="664"/>
                  </a:lnTo>
                  <a:lnTo>
                    <a:pt x="10" y="687"/>
                  </a:lnTo>
                  <a:lnTo>
                    <a:pt x="22" y="709"/>
                  </a:lnTo>
                  <a:lnTo>
                    <a:pt x="38" y="728"/>
                  </a:lnTo>
                  <a:lnTo>
                    <a:pt x="57" y="744"/>
                  </a:lnTo>
                  <a:lnTo>
                    <a:pt x="79" y="756"/>
                  </a:lnTo>
                  <a:lnTo>
                    <a:pt x="102" y="763"/>
                  </a:lnTo>
                  <a:lnTo>
                    <a:pt x="128" y="766"/>
                  </a:lnTo>
                  <a:lnTo>
                    <a:pt x="1403" y="766"/>
                  </a:lnTo>
                  <a:lnTo>
                    <a:pt x="1430" y="763"/>
                  </a:lnTo>
                  <a:lnTo>
                    <a:pt x="1453" y="756"/>
                  </a:lnTo>
                  <a:lnTo>
                    <a:pt x="1474" y="744"/>
                  </a:lnTo>
                  <a:lnTo>
                    <a:pt x="1493" y="728"/>
                  </a:lnTo>
                  <a:lnTo>
                    <a:pt x="1509" y="709"/>
                  </a:lnTo>
                  <a:lnTo>
                    <a:pt x="1521" y="687"/>
                  </a:lnTo>
                  <a:lnTo>
                    <a:pt x="1528" y="664"/>
                  </a:lnTo>
                  <a:lnTo>
                    <a:pt x="1531" y="638"/>
                  </a:lnTo>
                  <a:lnTo>
                    <a:pt x="1531" y="128"/>
                  </a:lnTo>
                  <a:lnTo>
                    <a:pt x="1528" y="102"/>
                  </a:lnTo>
                  <a:lnTo>
                    <a:pt x="1521" y="79"/>
                  </a:lnTo>
                  <a:lnTo>
                    <a:pt x="1509" y="57"/>
                  </a:lnTo>
                  <a:lnTo>
                    <a:pt x="1493" y="38"/>
                  </a:lnTo>
                  <a:lnTo>
                    <a:pt x="1474" y="22"/>
                  </a:lnTo>
                  <a:lnTo>
                    <a:pt x="1453" y="11"/>
                  </a:lnTo>
                  <a:lnTo>
                    <a:pt x="1430" y="3"/>
                  </a:lnTo>
                  <a:lnTo>
                    <a:pt x="1403" y="0"/>
                  </a:lnTo>
                  <a:lnTo>
                    <a:pt x="128" y="0"/>
                  </a:lnTo>
                  <a:close/>
                </a:path>
              </a:pathLst>
            </a:custGeom>
            <a:noFill/>
            <a:ln w="17">
              <a:solidFill>
                <a:srgbClr val="FF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546" name="Rectangle 11"/>
            <p:cNvSpPr>
              <a:spLocks noChangeArrowheads="1"/>
            </p:cNvSpPr>
            <p:nvPr/>
          </p:nvSpPr>
          <p:spPr bwMode="auto">
            <a:xfrm>
              <a:off x="2719" y="1982"/>
              <a:ext cx="34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47" name="Rectangle 12"/>
            <p:cNvSpPr>
              <a:spLocks noChangeArrowheads="1"/>
            </p:cNvSpPr>
            <p:nvPr/>
          </p:nvSpPr>
          <p:spPr bwMode="auto">
            <a:xfrm>
              <a:off x="2565" y="2010"/>
              <a:ext cx="6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Service consumer</a:t>
              </a:r>
              <a:b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</a:b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 end-point </a:t>
              </a:r>
              <a:endParaRPr lang="en-US" altLang="en-US" sz="2400"/>
            </a:p>
          </p:txBody>
        </p:sp>
        <p:sp>
          <p:nvSpPr>
            <p:cNvPr id="16548" name="Rectangle 13"/>
            <p:cNvSpPr>
              <a:spLocks noChangeArrowheads="1"/>
            </p:cNvSpPr>
            <p:nvPr/>
          </p:nvSpPr>
          <p:spPr bwMode="auto">
            <a:xfrm>
              <a:off x="4794" y="2046"/>
              <a:ext cx="4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grpSp>
          <p:nvGrpSpPr>
            <p:cNvPr id="16549" name="Group 17"/>
            <p:cNvGrpSpPr>
              <a:grpSpLocks/>
            </p:cNvGrpSpPr>
            <p:nvPr/>
          </p:nvGrpSpPr>
          <p:grpSpPr bwMode="auto">
            <a:xfrm>
              <a:off x="3079" y="1809"/>
              <a:ext cx="1532" cy="46"/>
              <a:chOff x="3079" y="1809"/>
              <a:chExt cx="1532" cy="46"/>
            </a:xfrm>
          </p:grpSpPr>
          <p:sp>
            <p:nvSpPr>
              <p:cNvPr id="16555" name="Line 15"/>
              <p:cNvSpPr>
                <a:spLocks noChangeShapeType="1"/>
              </p:cNvSpPr>
              <p:nvPr/>
            </p:nvSpPr>
            <p:spPr bwMode="auto">
              <a:xfrm>
                <a:off x="3079" y="1832"/>
                <a:ext cx="1488" cy="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556" name="Freeform 16"/>
              <p:cNvSpPr>
                <a:spLocks/>
              </p:cNvSpPr>
              <p:nvPr/>
            </p:nvSpPr>
            <p:spPr bwMode="auto">
              <a:xfrm>
                <a:off x="4565" y="1809"/>
                <a:ext cx="46" cy="46"/>
              </a:xfrm>
              <a:custGeom>
                <a:avLst/>
                <a:gdLst>
                  <a:gd name="T0" fmla="*/ 0 w 91"/>
                  <a:gd name="T1" fmla="*/ 2 h 91"/>
                  <a:gd name="T2" fmla="*/ 2 w 91"/>
                  <a:gd name="T3" fmla="*/ 1 h 91"/>
                  <a:gd name="T4" fmla="*/ 0 w 91"/>
                  <a:gd name="T5" fmla="*/ 0 h 91"/>
                  <a:gd name="T6" fmla="*/ 0 w 91"/>
                  <a:gd name="T7" fmla="*/ 2 h 9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1" h="91">
                    <a:moveTo>
                      <a:pt x="0" y="91"/>
                    </a:moveTo>
                    <a:lnTo>
                      <a:pt x="91" y="45"/>
                    </a:lnTo>
                    <a:lnTo>
                      <a:pt x="0" y="0"/>
                    </a:lnTo>
                    <a:lnTo>
                      <a:pt x="0" y="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6550" name="Rectangle 18"/>
            <p:cNvSpPr>
              <a:spLocks noChangeArrowheads="1"/>
            </p:cNvSpPr>
            <p:nvPr/>
          </p:nvSpPr>
          <p:spPr bwMode="auto">
            <a:xfrm>
              <a:off x="3404" y="1654"/>
              <a:ext cx="882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51" name="Rectangle 19"/>
            <p:cNvSpPr>
              <a:spLocks noChangeArrowheads="1"/>
            </p:cNvSpPr>
            <p:nvPr/>
          </p:nvSpPr>
          <p:spPr bwMode="auto">
            <a:xfrm>
              <a:off x="3446" y="1680"/>
              <a:ext cx="2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One</a:t>
              </a:r>
              <a:endParaRPr lang="en-US" altLang="en-US" sz="2400"/>
            </a:p>
          </p:txBody>
        </p:sp>
        <p:sp>
          <p:nvSpPr>
            <p:cNvPr id="16552" name="Rectangle 20"/>
            <p:cNvSpPr>
              <a:spLocks noChangeArrowheads="1"/>
            </p:cNvSpPr>
            <p:nvPr/>
          </p:nvSpPr>
          <p:spPr bwMode="auto">
            <a:xfrm>
              <a:off x="3611" y="1680"/>
              <a:ext cx="7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-</a:t>
              </a:r>
              <a:endParaRPr lang="en-US" altLang="en-US" sz="2400"/>
            </a:p>
          </p:txBody>
        </p:sp>
        <p:sp>
          <p:nvSpPr>
            <p:cNvPr id="16553" name="Rectangle 21"/>
            <p:cNvSpPr>
              <a:spLocks noChangeArrowheads="1"/>
            </p:cNvSpPr>
            <p:nvPr/>
          </p:nvSpPr>
          <p:spPr bwMode="auto">
            <a:xfrm>
              <a:off x="3642" y="1680"/>
              <a:ext cx="66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way Messaging</a:t>
              </a:r>
              <a:endParaRPr lang="en-US" altLang="en-US" sz="2400"/>
            </a:p>
          </p:txBody>
        </p:sp>
        <p:sp>
          <p:nvSpPr>
            <p:cNvPr id="16554" name="Rectangle 22"/>
            <p:cNvSpPr>
              <a:spLocks noChangeArrowheads="1"/>
            </p:cNvSpPr>
            <p:nvPr/>
          </p:nvSpPr>
          <p:spPr bwMode="auto">
            <a:xfrm>
              <a:off x="3540" y="1872"/>
              <a:ext cx="665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Message </a:t>
              </a:r>
              <a:endParaRPr lang="en-US" altLang="en-US" sz="2400"/>
            </a:p>
          </p:txBody>
        </p:sp>
      </p:grpSp>
      <p:grpSp>
        <p:nvGrpSpPr>
          <p:cNvPr id="16391" name="Group 43"/>
          <p:cNvGrpSpPr>
            <a:grpSpLocks/>
          </p:cNvGrpSpPr>
          <p:nvPr/>
        </p:nvGrpSpPr>
        <p:grpSpPr bwMode="auto">
          <a:xfrm>
            <a:off x="4073525" y="3552825"/>
            <a:ext cx="4473575" cy="1114425"/>
            <a:chOff x="2566" y="2238"/>
            <a:chExt cx="2818" cy="702"/>
          </a:xfrm>
        </p:grpSpPr>
        <p:sp>
          <p:nvSpPr>
            <p:cNvPr id="16526" name="Rectangle 24"/>
            <p:cNvSpPr>
              <a:spLocks noChangeArrowheads="1"/>
            </p:cNvSpPr>
            <p:nvPr/>
          </p:nvSpPr>
          <p:spPr bwMode="auto">
            <a:xfrm>
              <a:off x="2719" y="2679"/>
              <a:ext cx="34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27" name="Rectangle 25"/>
            <p:cNvSpPr>
              <a:spLocks noChangeArrowheads="1"/>
            </p:cNvSpPr>
            <p:nvPr/>
          </p:nvSpPr>
          <p:spPr bwMode="auto">
            <a:xfrm>
              <a:off x="2566" y="2707"/>
              <a:ext cx="6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Service consumer</a:t>
              </a:r>
              <a:b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</a:b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 end-point </a:t>
              </a:r>
              <a:endParaRPr lang="en-US" altLang="en-US" sz="1200"/>
            </a:p>
          </p:txBody>
        </p:sp>
        <p:sp>
          <p:nvSpPr>
            <p:cNvPr id="16528" name="Rectangle 26"/>
            <p:cNvSpPr>
              <a:spLocks noChangeArrowheads="1"/>
            </p:cNvSpPr>
            <p:nvPr/>
          </p:nvSpPr>
          <p:spPr bwMode="auto">
            <a:xfrm>
              <a:off x="4794" y="2743"/>
              <a:ext cx="4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29" name="Oval 28"/>
            <p:cNvSpPr>
              <a:spLocks noChangeArrowheads="1"/>
            </p:cNvSpPr>
            <p:nvPr/>
          </p:nvSpPr>
          <p:spPr bwMode="auto">
            <a:xfrm>
              <a:off x="2708" y="2391"/>
              <a:ext cx="364" cy="277"/>
            </a:xfrm>
            <a:prstGeom prst="ellipse">
              <a:avLst/>
            </a:prstGeom>
            <a:noFill/>
            <a:ln w="17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30" name="Freeform 29"/>
            <p:cNvSpPr>
              <a:spLocks/>
            </p:cNvSpPr>
            <p:nvPr/>
          </p:nvSpPr>
          <p:spPr bwMode="auto">
            <a:xfrm>
              <a:off x="4618" y="2338"/>
              <a:ext cx="766" cy="382"/>
            </a:xfrm>
            <a:custGeom>
              <a:avLst/>
              <a:gdLst>
                <a:gd name="T0" fmla="*/ 2 w 1531"/>
                <a:gd name="T1" fmla="*/ 0 h 766"/>
                <a:gd name="T2" fmla="*/ 2 w 1531"/>
                <a:gd name="T3" fmla="*/ 0 h 766"/>
                <a:gd name="T4" fmla="*/ 2 w 1531"/>
                <a:gd name="T5" fmla="*/ 0 h 766"/>
                <a:gd name="T6" fmla="*/ 1 w 1531"/>
                <a:gd name="T7" fmla="*/ 0 h 766"/>
                <a:gd name="T8" fmla="*/ 1 w 1531"/>
                <a:gd name="T9" fmla="*/ 0 h 766"/>
                <a:gd name="T10" fmla="*/ 1 w 1531"/>
                <a:gd name="T11" fmla="*/ 0 h 766"/>
                <a:gd name="T12" fmla="*/ 1 w 1531"/>
                <a:gd name="T13" fmla="*/ 1 h 766"/>
                <a:gd name="T14" fmla="*/ 1 w 1531"/>
                <a:gd name="T15" fmla="*/ 1 h 766"/>
                <a:gd name="T16" fmla="*/ 0 w 1531"/>
                <a:gd name="T17" fmla="*/ 2 h 766"/>
                <a:gd name="T18" fmla="*/ 0 w 1531"/>
                <a:gd name="T19" fmla="*/ 9 h 766"/>
                <a:gd name="T20" fmla="*/ 1 w 1531"/>
                <a:gd name="T21" fmla="*/ 10 h 766"/>
                <a:gd name="T22" fmla="*/ 1 w 1531"/>
                <a:gd name="T23" fmla="*/ 10 h 766"/>
                <a:gd name="T24" fmla="*/ 1 w 1531"/>
                <a:gd name="T25" fmla="*/ 11 h 766"/>
                <a:gd name="T26" fmla="*/ 1 w 1531"/>
                <a:gd name="T27" fmla="*/ 11 h 766"/>
                <a:gd name="T28" fmla="*/ 1 w 1531"/>
                <a:gd name="T29" fmla="*/ 11 h 766"/>
                <a:gd name="T30" fmla="*/ 2 w 1531"/>
                <a:gd name="T31" fmla="*/ 11 h 766"/>
                <a:gd name="T32" fmla="*/ 2 w 1531"/>
                <a:gd name="T33" fmla="*/ 11 h 766"/>
                <a:gd name="T34" fmla="*/ 2 w 1531"/>
                <a:gd name="T35" fmla="*/ 11 h 766"/>
                <a:gd name="T36" fmla="*/ 22 w 1531"/>
                <a:gd name="T37" fmla="*/ 11 h 766"/>
                <a:gd name="T38" fmla="*/ 23 w 1531"/>
                <a:gd name="T39" fmla="*/ 11 h 766"/>
                <a:gd name="T40" fmla="*/ 23 w 1531"/>
                <a:gd name="T41" fmla="*/ 11 h 766"/>
                <a:gd name="T42" fmla="*/ 24 w 1531"/>
                <a:gd name="T43" fmla="*/ 11 h 766"/>
                <a:gd name="T44" fmla="*/ 24 w 1531"/>
                <a:gd name="T45" fmla="*/ 11 h 766"/>
                <a:gd name="T46" fmla="*/ 24 w 1531"/>
                <a:gd name="T47" fmla="*/ 11 h 766"/>
                <a:gd name="T48" fmla="*/ 24 w 1531"/>
                <a:gd name="T49" fmla="*/ 10 h 766"/>
                <a:gd name="T50" fmla="*/ 24 w 1531"/>
                <a:gd name="T51" fmla="*/ 10 h 766"/>
                <a:gd name="T52" fmla="*/ 24 w 1531"/>
                <a:gd name="T53" fmla="*/ 9 h 766"/>
                <a:gd name="T54" fmla="*/ 24 w 1531"/>
                <a:gd name="T55" fmla="*/ 2 h 766"/>
                <a:gd name="T56" fmla="*/ 24 w 1531"/>
                <a:gd name="T57" fmla="*/ 1 h 766"/>
                <a:gd name="T58" fmla="*/ 24 w 1531"/>
                <a:gd name="T59" fmla="*/ 1 h 766"/>
                <a:gd name="T60" fmla="*/ 24 w 1531"/>
                <a:gd name="T61" fmla="*/ 0 h 766"/>
                <a:gd name="T62" fmla="*/ 24 w 1531"/>
                <a:gd name="T63" fmla="*/ 0 h 766"/>
                <a:gd name="T64" fmla="*/ 24 w 1531"/>
                <a:gd name="T65" fmla="*/ 0 h 766"/>
                <a:gd name="T66" fmla="*/ 23 w 1531"/>
                <a:gd name="T67" fmla="*/ 0 h 766"/>
                <a:gd name="T68" fmla="*/ 23 w 1531"/>
                <a:gd name="T69" fmla="*/ 0 h 766"/>
                <a:gd name="T70" fmla="*/ 22 w 1531"/>
                <a:gd name="T71" fmla="*/ 0 h 766"/>
                <a:gd name="T72" fmla="*/ 2 w 1531"/>
                <a:gd name="T73" fmla="*/ 0 h 76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531" h="766">
                  <a:moveTo>
                    <a:pt x="128" y="0"/>
                  </a:moveTo>
                  <a:lnTo>
                    <a:pt x="102" y="3"/>
                  </a:lnTo>
                  <a:lnTo>
                    <a:pt x="79" y="11"/>
                  </a:lnTo>
                  <a:lnTo>
                    <a:pt x="57" y="22"/>
                  </a:lnTo>
                  <a:lnTo>
                    <a:pt x="38" y="38"/>
                  </a:lnTo>
                  <a:lnTo>
                    <a:pt x="22" y="57"/>
                  </a:lnTo>
                  <a:lnTo>
                    <a:pt x="10" y="79"/>
                  </a:lnTo>
                  <a:lnTo>
                    <a:pt x="3" y="102"/>
                  </a:lnTo>
                  <a:lnTo>
                    <a:pt x="0" y="128"/>
                  </a:lnTo>
                  <a:lnTo>
                    <a:pt x="0" y="638"/>
                  </a:lnTo>
                  <a:lnTo>
                    <a:pt x="3" y="664"/>
                  </a:lnTo>
                  <a:lnTo>
                    <a:pt x="10" y="688"/>
                  </a:lnTo>
                  <a:lnTo>
                    <a:pt x="22" y="709"/>
                  </a:lnTo>
                  <a:lnTo>
                    <a:pt x="38" y="728"/>
                  </a:lnTo>
                  <a:lnTo>
                    <a:pt x="57" y="744"/>
                  </a:lnTo>
                  <a:lnTo>
                    <a:pt x="79" y="756"/>
                  </a:lnTo>
                  <a:lnTo>
                    <a:pt x="102" y="763"/>
                  </a:lnTo>
                  <a:lnTo>
                    <a:pt x="128" y="766"/>
                  </a:lnTo>
                  <a:lnTo>
                    <a:pt x="1403" y="766"/>
                  </a:lnTo>
                  <a:lnTo>
                    <a:pt x="1430" y="763"/>
                  </a:lnTo>
                  <a:lnTo>
                    <a:pt x="1453" y="756"/>
                  </a:lnTo>
                  <a:lnTo>
                    <a:pt x="1474" y="744"/>
                  </a:lnTo>
                  <a:lnTo>
                    <a:pt x="1493" y="728"/>
                  </a:lnTo>
                  <a:lnTo>
                    <a:pt x="1509" y="709"/>
                  </a:lnTo>
                  <a:lnTo>
                    <a:pt x="1521" y="688"/>
                  </a:lnTo>
                  <a:lnTo>
                    <a:pt x="1528" y="664"/>
                  </a:lnTo>
                  <a:lnTo>
                    <a:pt x="1531" y="638"/>
                  </a:lnTo>
                  <a:lnTo>
                    <a:pt x="1531" y="128"/>
                  </a:lnTo>
                  <a:lnTo>
                    <a:pt x="1528" y="102"/>
                  </a:lnTo>
                  <a:lnTo>
                    <a:pt x="1521" y="79"/>
                  </a:lnTo>
                  <a:lnTo>
                    <a:pt x="1509" y="57"/>
                  </a:lnTo>
                  <a:lnTo>
                    <a:pt x="1493" y="38"/>
                  </a:lnTo>
                  <a:lnTo>
                    <a:pt x="1474" y="22"/>
                  </a:lnTo>
                  <a:lnTo>
                    <a:pt x="1453" y="11"/>
                  </a:lnTo>
                  <a:lnTo>
                    <a:pt x="1430" y="3"/>
                  </a:lnTo>
                  <a:lnTo>
                    <a:pt x="1403" y="0"/>
                  </a:lnTo>
                  <a:lnTo>
                    <a:pt x="128" y="0"/>
                  </a:lnTo>
                  <a:close/>
                </a:path>
              </a:pathLst>
            </a:custGeom>
            <a:noFill/>
            <a:ln w="17">
              <a:solidFill>
                <a:srgbClr val="FF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16531" name="Group 36"/>
            <p:cNvGrpSpPr>
              <a:grpSpLocks/>
            </p:cNvGrpSpPr>
            <p:nvPr/>
          </p:nvGrpSpPr>
          <p:grpSpPr bwMode="auto">
            <a:xfrm>
              <a:off x="3076" y="2463"/>
              <a:ext cx="1531" cy="133"/>
              <a:chOff x="3076" y="2463"/>
              <a:chExt cx="1531" cy="133"/>
            </a:xfrm>
          </p:grpSpPr>
          <p:grpSp>
            <p:nvGrpSpPr>
              <p:cNvPr id="16538" name="Group 32"/>
              <p:cNvGrpSpPr>
                <a:grpSpLocks/>
              </p:cNvGrpSpPr>
              <p:nvPr/>
            </p:nvGrpSpPr>
            <p:grpSpPr bwMode="auto">
              <a:xfrm>
                <a:off x="3076" y="2463"/>
                <a:ext cx="1531" cy="46"/>
                <a:chOff x="3076" y="2463"/>
                <a:chExt cx="1531" cy="46"/>
              </a:xfrm>
            </p:grpSpPr>
            <p:sp>
              <p:nvSpPr>
                <p:cNvPr id="16542" name="Line 30"/>
                <p:cNvSpPr>
                  <a:spLocks noChangeShapeType="1"/>
                </p:cNvSpPr>
                <p:nvPr/>
              </p:nvSpPr>
              <p:spPr bwMode="auto">
                <a:xfrm>
                  <a:off x="3076" y="2486"/>
                  <a:ext cx="1487" cy="0"/>
                </a:xfrm>
                <a:prstGeom prst="line">
                  <a:avLst/>
                </a:prstGeom>
                <a:noFill/>
                <a:ln w="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6543" name="Freeform 31"/>
                <p:cNvSpPr>
                  <a:spLocks/>
                </p:cNvSpPr>
                <p:nvPr/>
              </p:nvSpPr>
              <p:spPr bwMode="auto">
                <a:xfrm>
                  <a:off x="4562" y="2463"/>
                  <a:ext cx="45" cy="46"/>
                </a:xfrm>
                <a:custGeom>
                  <a:avLst/>
                  <a:gdLst>
                    <a:gd name="T0" fmla="*/ 0 w 90"/>
                    <a:gd name="T1" fmla="*/ 2 h 92"/>
                    <a:gd name="T2" fmla="*/ 2 w 90"/>
                    <a:gd name="T3" fmla="*/ 1 h 92"/>
                    <a:gd name="T4" fmla="*/ 0 w 90"/>
                    <a:gd name="T5" fmla="*/ 0 h 92"/>
                    <a:gd name="T6" fmla="*/ 0 w 90"/>
                    <a:gd name="T7" fmla="*/ 2 h 9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0" h="92">
                      <a:moveTo>
                        <a:pt x="0" y="92"/>
                      </a:moveTo>
                      <a:lnTo>
                        <a:pt x="90" y="45"/>
                      </a:lnTo>
                      <a:lnTo>
                        <a:pt x="0" y="0"/>
                      </a:lnTo>
                      <a:lnTo>
                        <a:pt x="0" y="9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</p:grpSp>
          <p:grpSp>
            <p:nvGrpSpPr>
              <p:cNvPr id="16539" name="Group 35"/>
              <p:cNvGrpSpPr>
                <a:grpSpLocks/>
              </p:cNvGrpSpPr>
              <p:nvPr/>
            </p:nvGrpSpPr>
            <p:grpSpPr bwMode="auto">
              <a:xfrm>
                <a:off x="3077" y="2550"/>
                <a:ext cx="1530" cy="46"/>
                <a:chOff x="3077" y="2550"/>
                <a:chExt cx="1530" cy="46"/>
              </a:xfrm>
            </p:grpSpPr>
            <p:sp>
              <p:nvSpPr>
                <p:cNvPr id="16540" name="Line 33"/>
                <p:cNvSpPr>
                  <a:spLocks noChangeShapeType="1"/>
                </p:cNvSpPr>
                <p:nvPr/>
              </p:nvSpPr>
              <p:spPr bwMode="auto">
                <a:xfrm>
                  <a:off x="3120" y="2573"/>
                  <a:ext cx="1487" cy="0"/>
                </a:xfrm>
                <a:prstGeom prst="line">
                  <a:avLst/>
                </a:prstGeom>
                <a:noFill/>
                <a:ln w="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  <p:sp>
              <p:nvSpPr>
                <p:cNvPr id="16541" name="Freeform 34"/>
                <p:cNvSpPr>
                  <a:spLocks/>
                </p:cNvSpPr>
                <p:nvPr/>
              </p:nvSpPr>
              <p:spPr bwMode="auto">
                <a:xfrm>
                  <a:off x="3077" y="2550"/>
                  <a:ext cx="45" cy="46"/>
                </a:xfrm>
                <a:custGeom>
                  <a:avLst/>
                  <a:gdLst>
                    <a:gd name="T0" fmla="*/ 2 w 90"/>
                    <a:gd name="T1" fmla="*/ 0 h 91"/>
                    <a:gd name="T2" fmla="*/ 0 w 90"/>
                    <a:gd name="T3" fmla="*/ 1 h 91"/>
                    <a:gd name="T4" fmla="*/ 2 w 90"/>
                    <a:gd name="T5" fmla="*/ 2 h 91"/>
                    <a:gd name="T6" fmla="*/ 2 w 90"/>
                    <a:gd name="T7" fmla="*/ 0 h 9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0" h="91">
                      <a:moveTo>
                        <a:pt x="90" y="0"/>
                      </a:moveTo>
                      <a:lnTo>
                        <a:pt x="0" y="45"/>
                      </a:lnTo>
                      <a:lnTo>
                        <a:pt x="90" y="91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</p:grpSp>
        </p:grpSp>
        <p:grpSp>
          <p:nvGrpSpPr>
            <p:cNvPr id="16532" name="Group 42"/>
            <p:cNvGrpSpPr>
              <a:grpSpLocks/>
            </p:cNvGrpSpPr>
            <p:nvPr/>
          </p:nvGrpSpPr>
          <p:grpSpPr bwMode="auto">
            <a:xfrm>
              <a:off x="3224" y="2238"/>
              <a:ext cx="1275" cy="428"/>
              <a:chOff x="3224" y="2238"/>
              <a:chExt cx="1275" cy="428"/>
            </a:xfrm>
          </p:grpSpPr>
          <p:sp>
            <p:nvSpPr>
              <p:cNvPr id="16533" name="Rectangle 37"/>
              <p:cNvSpPr>
                <a:spLocks noChangeArrowheads="1"/>
              </p:cNvSpPr>
              <p:nvPr/>
            </p:nvSpPr>
            <p:spPr bwMode="auto">
              <a:xfrm>
                <a:off x="3495" y="2238"/>
                <a:ext cx="699" cy="42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40000"/>
                  </a:spcBef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534" name="Rectangle 38"/>
              <p:cNvSpPr>
                <a:spLocks noChangeArrowheads="1"/>
              </p:cNvSpPr>
              <p:nvPr/>
            </p:nvSpPr>
            <p:spPr bwMode="auto">
              <a:xfrm>
                <a:off x="3565" y="2422"/>
                <a:ext cx="615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40000"/>
                  </a:spcBef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SOAP Request</a:t>
                </a:r>
                <a:endParaRPr lang="en-US" altLang="en-US" sz="2400"/>
              </a:p>
            </p:txBody>
          </p:sp>
          <p:sp>
            <p:nvSpPr>
              <p:cNvPr id="16535" name="Rectangle 39"/>
              <p:cNvSpPr>
                <a:spLocks noChangeArrowheads="1"/>
              </p:cNvSpPr>
              <p:nvPr/>
            </p:nvSpPr>
            <p:spPr bwMode="auto">
              <a:xfrm>
                <a:off x="3537" y="2534"/>
                <a:ext cx="673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40000"/>
                  </a:spcBef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SOAP Response</a:t>
                </a:r>
                <a:endParaRPr lang="en-US" altLang="en-US" sz="2400"/>
              </a:p>
            </p:txBody>
          </p:sp>
          <p:sp>
            <p:nvSpPr>
              <p:cNvPr id="16536" name="Rectangle 40"/>
              <p:cNvSpPr>
                <a:spLocks noChangeArrowheads="1"/>
              </p:cNvSpPr>
              <p:nvPr/>
            </p:nvSpPr>
            <p:spPr bwMode="auto">
              <a:xfrm>
                <a:off x="3224" y="2255"/>
                <a:ext cx="12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40000"/>
                  </a:spcBef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537" name="Rectangle 41"/>
              <p:cNvSpPr>
                <a:spLocks noChangeArrowheads="1"/>
              </p:cNvSpPr>
              <p:nvPr/>
            </p:nvSpPr>
            <p:spPr bwMode="auto">
              <a:xfrm>
                <a:off x="3266" y="2281"/>
                <a:ext cx="12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40000"/>
                  </a:spcBef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2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Request/Response Messaging</a:t>
                </a:r>
                <a:endParaRPr lang="en-US" altLang="en-US" sz="2400"/>
              </a:p>
            </p:txBody>
          </p:sp>
        </p:grpSp>
      </p:grpSp>
      <p:grpSp>
        <p:nvGrpSpPr>
          <p:cNvPr id="16392" name="Group 56"/>
          <p:cNvGrpSpPr>
            <a:grpSpLocks/>
          </p:cNvGrpSpPr>
          <p:nvPr/>
        </p:nvGrpSpPr>
        <p:grpSpPr bwMode="auto">
          <a:xfrm>
            <a:off x="4073525" y="4660900"/>
            <a:ext cx="4473575" cy="965200"/>
            <a:chOff x="2566" y="2936"/>
            <a:chExt cx="2818" cy="608"/>
          </a:xfrm>
        </p:grpSpPr>
        <p:sp>
          <p:nvSpPr>
            <p:cNvPr id="16515" name="Oval 44"/>
            <p:cNvSpPr>
              <a:spLocks noChangeArrowheads="1"/>
            </p:cNvSpPr>
            <p:nvPr/>
          </p:nvSpPr>
          <p:spPr bwMode="auto">
            <a:xfrm>
              <a:off x="2708" y="2989"/>
              <a:ext cx="364" cy="277"/>
            </a:xfrm>
            <a:prstGeom prst="ellipse">
              <a:avLst/>
            </a:prstGeom>
            <a:noFill/>
            <a:ln w="17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16" name="Freeform 45"/>
            <p:cNvSpPr>
              <a:spLocks/>
            </p:cNvSpPr>
            <p:nvPr/>
          </p:nvSpPr>
          <p:spPr bwMode="auto">
            <a:xfrm>
              <a:off x="4618" y="2936"/>
              <a:ext cx="766" cy="382"/>
            </a:xfrm>
            <a:custGeom>
              <a:avLst/>
              <a:gdLst>
                <a:gd name="T0" fmla="*/ 2 w 1531"/>
                <a:gd name="T1" fmla="*/ 0 h 766"/>
                <a:gd name="T2" fmla="*/ 2 w 1531"/>
                <a:gd name="T3" fmla="*/ 0 h 766"/>
                <a:gd name="T4" fmla="*/ 2 w 1531"/>
                <a:gd name="T5" fmla="*/ 0 h 766"/>
                <a:gd name="T6" fmla="*/ 1 w 1531"/>
                <a:gd name="T7" fmla="*/ 0 h 766"/>
                <a:gd name="T8" fmla="*/ 1 w 1531"/>
                <a:gd name="T9" fmla="*/ 0 h 766"/>
                <a:gd name="T10" fmla="*/ 1 w 1531"/>
                <a:gd name="T11" fmla="*/ 0 h 766"/>
                <a:gd name="T12" fmla="*/ 1 w 1531"/>
                <a:gd name="T13" fmla="*/ 1 h 766"/>
                <a:gd name="T14" fmla="*/ 1 w 1531"/>
                <a:gd name="T15" fmla="*/ 1 h 766"/>
                <a:gd name="T16" fmla="*/ 0 w 1531"/>
                <a:gd name="T17" fmla="*/ 2 h 766"/>
                <a:gd name="T18" fmla="*/ 0 w 1531"/>
                <a:gd name="T19" fmla="*/ 9 h 766"/>
                <a:gd name="T20" fmla="*/ 1 w 1531"/>
                <a:gd name="T21" fmla="*/ 10 h 766"/>
                <a:gd name="T22" fmla="*/ 1 w 1531"/>
                <a:gd name="T23" fmla="*/ 10 h 766"/>
                <a:gd name="T24" fmla="*/ 1 w 1531"/>
                <a:gd name="T25" fmla="*/ 11 h 766"/>
                <a:gd name="T26" fmla="*/ 1 w 1531"/>
                <a:gd name="T27" fmla="*/ 11 h 766"/>
                <a:gd name="T28" fmla="*/ 1 w 1531"/>
                <a:gd name="T29" fmla="*/ 11 h 766"/>
                <a:gd name="T30" fmla="*/ 2 w 1531"/>
                <a:gd name="T31" fmla="*/ 11 h 766"/>
                <a:gd name="T32" fmla="*/ 2 w 1531"/>
                <a:gd name="T33" fmla="*/ 11 h 766"/>
                <a:gd name="T34" fmla="*/ 2 w 1531"/>
                <a:gd name="T35" fmla="*/ 11 h 766"/>
                <a:gd name="T36" fmla="*/ 22 w 1531"/>
                <a:gd name="T37" fmla="*/ 11 h 766"/>
                <a:gd name="T38" fmla="*/ 23 w 1531"/>
                <a:gd name="T39" fmla="*/ 11 h 766"/>
                <a:gd name="T40" fmla="*/ 23 w 1531"/>
                <a:gd name="T41" fmla="*/ 11 h 766"/>
                <a:gd name="T42" fmla="*/ 24 w 1531"/>
                <a:gd name="T43" fmla="*/ 11 h 766"/>
                <a:gd name="T44" fmla="*/ 24 w 1531"/>
                <a:gd name="T45" fmla="*/ 11 h 766"/>
                <a:gd name="T46" fmla="*/ 24 w 1531"/>
                <a:gd name="T47" fmla="*/ 11 h 766"/>
                <a:gd name="T48" fmla="*/ 24 w 1531"/>
                <a:gd name="T49" fmla="*/ 10 h 766"/>
                <a:gd name="T50" fmla="*/ 24 w 1531"/>
                <a:gd name="T51" fmla="*/ 10 h 766"/>
                <a:gd name="T52" fmla="*/ 24 w 1531"/>
                <a:gd name="T53" fmla="*/ 9 h 766"/>
                <a:gd name="T54" fmla="*/ 24 w 1531"/>
                <a:gd name="T55" fmla="*/ 2 h 766"/>
                <a:gd name="T56" fmla="*/ 24 w 1531"/>
                <a:gd name="T57" fmla="*/ 1 h 766"/>
                <a:gd name="T58" fmla="*/ 24 w 1531"/>
                <a:gd name="T59" fmla="*/ 1 h 766"/>
                <a:gd name="T60" fmla="*/ 24 w 1531"/>
                <a:gd name="T61" fmla="*/ 0 h 766"/>
                <a:gd name="T62" fmla="*/ 24 w 1531"/>
                <a:gd name="T63" fmla="*/ 0 h 766"/>
                <a:gd name="T64" fmla="*/ 24 w 1531"/>
                <a:gd name="T65" fmla="*/ 0 h 766"/>
                <a:gd name="T66" fmla="*/ 23 w 1531"/>
                <a:gd name="T67" fmla="*/ 0 h 766"/>
                <a:gd name="T68" fmla="*/ 23 w 1531"/>
                <a:gd name="T69" fmla="*/ 0 h 766"/>
                <a:gd name="T70" fmla="*/ 22 w 1531"/>
                <a:gd name="T71" fmla="*/ 0 h 766"/>
                <a:gd name="T72" fmla="*/ 2 w 1531"/>
                <a:gd name="T73" fmla="*/ 0 h 76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531" h="766">
                  <a:moveTo>
                    <a:pt x="128" y="0"/>
                  </a:moveTo>
                  <a:lnTo>
                    <a:pt x="102" y="3"/>
                  </a:lnTo>
                  <a:lnTo>
                    <a:pt x="79" y="10"/>
                  </a:lnTo>
                  <a:lnTo>
                    <a:pt x="57" y="22"/>
                  </a:lnTo>
                  <a:lnTo>
                    <a:pt x="38" y="38"/>
                  </a:lnTo>
                  <a:lnTo>
                    <a:pt x="22" y="57"/>
                  </a:lnTo>
                  <a:lnTo>
                    <a:pt x="10" y="79"/>
                  </a:lnTo>
                  <a:lnTo>
                    <a:pt x="3" y="102"/>
                  </a:lnTo>
                  <a:lnTo>
                    <a:pt x="0" y="128"/>
                  </a:lnTo>
                  <a:lnTo>
                    <a:pt x="0" y="638"/>
                  </a:lnTo>
                  <a:lnTo>
                    <a:pt x="3" y="664"/>
                  </a:lnTo>
                  <a:lnTo>
                    <a:pt x="10" y="687"/>
                  </a:lnTo>
                  <a:lnTo>
                    <a:pt x="22" y="709"/>
                  </a:lnTo>
                  <a:lnTo>
                    <a:pt x="38" y="728"/>
                  </a:lnTo>
                  <a:lnTo>
                    <a:pt x="57" y="744"/>
                  </a:lnTo>
                  <a:lnTo>
                    <a:pt x="79" y="756"/>
                  </a:lnTo>
                  <a:lnTo>
                    <a:pt x="102" y="763"/>
                  </a:lnTo>
                  <a:lnTo>
                    <a:pt x="128" y="766"/>
                  </a:lnTo>
                  <a:lnTo>
                    <a:pt x="1403" y="766"/>
                  </a:lnTo>
                  <a:lnTo>
                    <a:pt x="1430" y="763"/>
                  </a:lnTo>
                  <a:lnTo>
                    <a:pt x="1453" y="756"/>
                  </a:lnTo>
                  <a:lnTo>
                    <a:pt x="1474" y="744"/>
                  </a:lnTo>
                  <a:lnTo>
                    <a:pt x="1493" y="728"/>
                  </a:lnTo>
                  <a:lnTo>
                    <a:pt x="1509" y="709"/>
                  </a:lnTo>
                  <a:lnTo>
                    <a:pt x="1521" y="687"/>
                  </a:lnTo>
                  <a:lnTo>
                    <a:pt x="1528" y="664"/>
                  </a:lnTo>
                  <a:lnTo>
                    <a:pt x="1531" y="638"/>
                  </a:lnTo>
                  <a:lnTo>
                    <a:pt x="1531" y="128"/>
                  </a:lnTo>
                  <a:lnTo>
                    <a:pt x="1528" y="102"/>
                  </a:lnTo>
                  <a:lnTo>
                    <a:pt x="1521" y="79"/>
                  </a:lnTo>
                  <a:lnTo>
                    <a:pt x="1509" y="57"/>
                  </a:lnTo>
                  <a:lnTo>
                    <a:pt x="1493" y="38"/>
                  </a:lnTo>
                  <a:lnTo>
                    <a:pt x="1474" y="22"/>
                  </a:lnTo>
                  <a:lnTo>
                    <a:pt x="1453" y="10"/>
                  </a:lnTo>
                  <a:lnTo>
                    <a:pt x="1430" y="3"/>
                  </a:lnTo>
                  <a:lnTo>
                    <a:pt x="1403" y="0"/>
                  </a:lnTo>
                  <a:lnTo>
                    <a:pt x="128" y="0"/>
                  </a:lnTo>
                  <a:close/>
                </a:path>
              </a:pathLst>
            </a:custGeom>
            <a:noFill/>
            <a:ln w="17">
              <a:solidFill>
                <a:srgbClr val="FF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517" name="Rectangle 46"/>
            <p:cNvSpPr>
              <a:spLocks noChangeArrowheads="1"/>
            </p:cNvSpPr>
            <p:nvPr/>
          </p:nvSpPr>
          <p:spPr bwMode="auto">
            <a:xfrm>
              <a:off x="2719" y="3283"/>
              <a:ext cx="34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18" name="Rectangle 47"/>
            <p:cNvSpPr>
              <a:spLocks noChangeArrowheads="1"/>
            </p:cNvSpPr>
            <p:nvPr/>
          </p:nvSpPr>
          <p:spPr bwMode="auto">
            <a:xfrm>
              <a:off x="2566" y="3311"/>
              <a:ext cx="6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Service consumer</a:t>
              </a:r>
              <a:b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</a:b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 end-point </a:t>
              </a:r>
              <a:endParaRPr lang="en-US" altLang="en-US" sz="1200"/>
            </a:p>
          </p:txBody>
        </p:sp>
        <p:sp>
          <p:nvSpPr>
            <p:cNvPr id="16519" name="Rectangle 48"/>
            <p:cNvSpPr>
              <a:spLocks noChangeArrowheads="1"/>
            </p:cNvSpPr>
            <p:nvPr/>
          </p:nvSpPr>
          <p:spPr bwMode="auto">
            <a:xfrm>
              <a:off x="4794" y="3347"/>
              <a:ext cx="4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grpSp>
          <p:nvGrpSpPr>
            <p:cNvPr id="16520" name="Group 52"/>
            <p:cNvGrpSpPr>
              <a:grpSpLocks/>
            </p:cNvGrpSpPr>
            <p:nvPr/>
          </p:nvGrpSpPr>
          <p:grpSpPr bwMode="auto">
            <a:xfrm>
              <a:off x="3080" y="3110"/>
              <a:ext cx="1530" cy="46"/>
              <a:chOff x="3080" y="3110"/>
              <a:chExt cx="1530" cy="46"/>
            </a:xfrm>
          </p:grpSpPr>
          <p:sp>
            <p:nvSpPr>
              <p:cNvPr id="16524" name="Line 50"/>
              <p:cNvSpPr>
                <a:spLocks noChangeShapeType="1"/>
              </p:cNvSpPr>
              <p:nvPr/>
            </p:nvSpPr>
            <p:spPr bwMode="auto">
              <a:xfrm>
                <a:off x="3123" y="3133"/>
                <a:ext cx="1487" cy="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525" name="Freeform 51"/>
              <p:cNvSpPr>
                <a:spLocks/>
              </p:cNvSpPr>
              <p:nvPr/>
            </p:nvSpPr>
            <p:spPr bwMode="auto">
              <a:xfrm>
                <a:off x="3080" y="3110"/>
                <a:ext cx="45" cy="46"/>
              </a:xfrm>
              <a:custGeom>
                <a:avLst/>
                <a:gdLst>
                  <a:gd name="T0" fmla="*/ 2 w 90"/>
                  <a:gd name="T1" fmla="*/ 0 h 91"/>
                  <a:gd name="T2" fmla="*/ 0 w 90"/>
                  <a:gd name="T3" fmla="*/ 1 h 91"/>
                  <a:gd name="T4" fmla="*/ 2 w 90"/>
                  <a:gd name="T5" fmla="*/ 2 h 91"/>
                  <a:gd name="T6" fmla="*/ 2 w 90"/>
                  <a:gd name="T7" fmla="*/ 0 h 9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0" h="91">
                    <a:moveTo>
                      <a:pt x="90" y="0"/>
                    </a:moveTo>
                    <a:lnTo>
                      <a:pt x="0" y="46"/>
                    </a:lnTo>
                    <a:lnTo>
                      <a:pt x="90" y="9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16521" name="Rectangle 53"/>
            <p:cNvSpPr>
              <a:spLocks noChangeArrowheads="1"/>
            </p:cNvSpPr>
            <p:nvPr/>
          </p:nvSpPr>
          <p:spPr bwMode="auto">
            <a:xfrm>
              <a:off x="3348" y="2955"/>
              <a:ext cx="997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22" name="Rectangle 54"/>
            <p:cNvSpPr>
              <a:spLocks noChangeArrowheads="1"/>
            </p:cNvSpPr>
            <p:nvPr/>
          </p:nvSpPr>
          <p:spPr bwMode="auto">
            <a:xfrm>
              <a:off x="3390" y="2981"/>
              <a:ext cx="97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Notification Messaging</a:t>
              </a:r>
              <a:endParaRPr lang="en-US" altLang="en-US" sz="2400"/>
            </a:p>
          </p:txBody>
        </p:sp>
        <p:sp>
          <p:nvSpPr>
            <p:cNvPr id="16523" name="Rectangle 55"/>
            <p:cNvSpPr>
              <a:spLocks noChangeArrowheads="1"/>
            </p:cNvSpPr>
            <p:nvPr/>
          </p:nvSpPr>
          <p:spPr bwMode="auto">
            <a:xfrm>
              <a:off x="3480" y="3173"/>
              <a:ext cx="79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Notification </a:t>
              </a:r>
              <a:endParaRPr lang="en-US" altLang="en-US" sz="2400"/>
            </a:p>
          </p:txBody>
        </p:sp>
      </p:grpSp>
      <p:sp>
        <p:nvSpPr>
          <p:cNvPr id="16393" name="Rectangle 59"/>
          <p:cNvSpPr>
            <a:spLocks noChangeArrowheads="1"/>
          </p:cNvSpPr>
          <p:nvPr/>
        </p:nvSpPr>
        <p:spPr bwMode="auto">
          <a:xfrm>
            <a:off x="7610475" y="6421438"/>
            <a:ext cx="6588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394" name="Oval 61"/>
          <p:cNvSpPr>
            <a:spLocks noChangeArrowheads="1"/>
          </p:cNvSpPr>
          <p:nvPr/>
        </p:nvSpPr>
        <p:spPr bwMode="auto">
          <a:xfrm>
            <a:off x="4298950" y="5861050"/>
            <a:ext cx="577850" cy="441325"/>
          </a:xfrm>
          <a:prstGeom prst="ellipse">
            <a:avLst/>
          </a:prstGeom>
          <a:noFill/>
          <a:ln w="17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395" name="Freeform 62"/>
          <p:cNvSpPr>
            <a:spLocks/>
          </p:cNvSpPr>
          <p:nvPr/>
        </p:nvSpPr>
        <p:spPr bwMode="auto">
          <a:xfrm>
            <a:off x="7331075" y="5776913"/>
            <a:ext cx="1216025" cy="608012"/>
          </a:xfrm>
          <a:custGeom>
            <a:avLst/>
            <a:gdLst>
              <a:gd name="T0" fmla="*/ 2147483646 w 1531"/>
              <a:gd name="T1" fmla="*/ 0 h 765"/>
              <a:gd name="T2" fmla="*/ 2147483646 w 1531"/>
              <a:gd name="T3" fmla="*/ 2147483646 h 765"/>
              <a:gd name="T4" fmla="*/ 2147483646 w 1531"/>
              <a:gd name="T5" fmla="*/ 2147483646 h 765"/>
              <a:gd name="T6" fmla="*/ 2147483646 w 1531"/>
              <a:gd name="T7" fmla="*/ 2147483646 h 765"/>
              <a:gd name="T8" fmla="*/ 2147483646 w 1531"/>
              <a:gd name="T9" fmla="*/ 2147483646 h 765"/>
              <a:gd name="T10" fmla="*/ 2147483646 w 1531"/>
              <a:gd name="T11" fmla="*/ 2147483646 h 765"/>
              <a:gd name="T12" fmla="*/ 2147483646 w 1531"/>
              <a:gd name="T13" fmla="*/ 2147483646 h 765"/>
              <a:gd name="T14" fmla="*/ 2147483646 w 1531"/>
              <a:gd name="T15" fmla="*/ 2147483646 h 765"/>
              <a:gd name="T16" fmla="*/ 0 w 1531"/>
              <a:gd name="T17" fmla="*/ 2147483646 h 765"/>
              <a:gd name="T18" fmla="*/ 0 w 1531"/>
              <a:gd name="T19" fmla="*/ 2147483646 h 765"/>
              <a:gd name="T20" fmla="*/ 2147483646 w 1531"/>
              <a:gd name="T21" fmla="*/ 2147483646 h 765"/>
              <a:gd name="T22" fmla="*/ 2147483646 w 1531"/>
              <a:gd name="T23" fmla="*/ 2147483646 h 765"/>
              <a:gd name="T24" fmla="*/ 2147483646 w 1531"/>
              <a:gd name="T25" fmla="*/ 2147483646 h 765"/>
              <a:gd name="T26" fmla="*/ 2147483646 w 1531"/>
              <a:gd name="T27" fmla="*/ 2147483646 h 765"/>
              <a:gd name="T28" fmla="*/ 2147483646 w 1531"/>
              <a:gd name="T29" fmla="*/ 2147483646 h 765"/>
              <a:gd name="T30" fmla="*/ 2147483646 w 1531"/>
              <a:gd name="T31" fmla="*/ 2147483646 h 765"/>
              <a:gd name="T32" fmla="*/ 2147483646 w 1531"/>
              <a:gd name="T33" fmla="*/ 2147483646 h 765"/>
              <a:gd name="T34" fmla="*/ 2147483646 w 1531"/>
              <a:gd name="T35" fmla="*/ 2147483646 h 765"/>
              <a:gd name="T36" fmla="*/ 2147483646 w 1531"/>
              <a:gd name="T37" fmla="*/ 2147483646 h 765"/>
              <a:gd name="T38" fmla="*/ 2147483646 w 1531"/>
              <a:gd name="T39" fmla="*/ 2147483646 h 765"/>
              <a:gd name="T40" fmla="*/ 2147483646 w 1531"/>
              <a:gd name="T41" fmla="*/ 2147483646 h 765"/>
              <a:gd name="T42" fmla="*/ 2147483646 w 1531"/>
              <a:gd name="T43" fmla="*/ 2147483646 h 765"/>
              <a:gd name="T44" fmla="*/ 2147483646 w 1531"/>
              <a:gd name="T45" fmla="*/ 2147483646 h 765"/>
              <a:gd name="T46" fmla="*/ 2147483646 w 1531"/>
              <a:gd name="T47" fmla="*/ 2147483646 h 765"/>
              <a:gd name="T48" fmla="*/ 2147483646 w 1531"/>
              <a:gd name="T49" fmla="*/ 2147483646 h 765"/>
              <a:gd name="T50" fmla="*/ 2147483646 w 1531"/>
              <a:gd name="T51" fmla="*/ 2147483646 h 765"/>
              <a:gd name="T52" fmla="*/ 2147483646 w 1531"/>
              <a:gd name="T53" fmla="*/ 2147483646 h 765"/>
              <a:gd name="T54" fmla="*/ 2147483646 w 1531"/>
              <a:gd name="T55" fmla="*/ 2147483646 h 765"/>
              <a:gd name="T56" fmla="*/ 2147483646 w 1531"/>
              <a:gd name="T57" fmla="*/ 2147483646 h 765"/>
              <a:gd name="T58" fmla="*/ 2147483646 w 1531"/>
              <a:gd name="T59" fmla="*/ 2147483646 h 765"/>
              <a:gd name="T60" fmla="*/ 2147483646 w 1531"/>
              <a:gd name="T61" fmla="*/ 2147483646 h 765"/>
              <a:gd name="T62" fmla="*/ 2147483646 w 1531"/>
              <a:gd name="T63" fmla="*/ 2147483646 h 765"/>
              <a:gd name="T64" fmla="*/ 2147483646 w 1531"/>
              <a:gd name="T65" fmla="*/ 2147483646 h 765"/>
              <a:gd name="T66" fmla="*/ 2147483646 w 1531"/>
              <a:gd name="T67" fmla="*/ 2147483646 h 765"/>
              <a:gd name="T68" fmla="*/ 2147483646 w 1531"/>
              <a:gd name="T69" fmla="*/ 2147483646 h 765"/>
              <a:gd name="T70" fmla="*/ 2147483646 w 1531"/>
              <a:gd name="T71" fmla="*/ 0 h 765"/>
              <a:gd name="T72" fmla="*/ 2147483646 w 1531"/>
              <a:gd name="T73" fmla="*/ 0 h 765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31" h="765">
                <a:moveTo>
                  <a:pt x="128" y="0"/>
                </a:moveTo>
                <a:lnTo>
                  <a:pt x="102" y="3"/>
                </a:lnTo>
                <a:lnTo>
                  <a:pt x="79" y="10"/>
                </a:lnTo>
                <a:lnTo>
                  <a:pt x="57" y="22"/>
                </a:lnTo>
                <a:lnTo>
                  <a:pt x="38" y="37"/>
                </a:lnTo>
                <a:lnTo>
                  <a:pt x="22" y="56"/>
                </a:lnTo>
                <a:lnTo>
                  <a:pt x="10" y="78"/>
                </a:lnTo>
                <a:lnTo>
                  <a:pt x="3" y="101"/>
                </a:lnTo>
                <a:lnTo>
                  <a:pt x="0" y="127"/>
                </a:lnTo>
                <a:lnTo>
                  <a:pt x="0" y="638"/>
                </a:lnTo>
                <a:lnTo>
                  <a:pt x="3" y="664"/>
                </a:lnTo>
                <a:lnTo>
                  <a:pt x="10" y="687"/>
                </a:lnTo>
                <a:lnTo>
                  <a:pt x="22" y="709"/>
                </a:lnTo>
                <a:lnTo>
                  <a:pt x="38" y="727"/>
                </a:lnTo>
                <a:lnTo>
                  <a:pt x="57" y="743"/>
                </a:lnTo>
                <a:lnTo>
                  <a:pt x="79" y="755"/>
                </a:lnTo>
                <a:lnTo>
                  <a:pt x="102" y="762"/>
                </a:lnTo>
                <a:lnTo>
                  <a:pt x="128" y="765"/>
                </a:lnTo>
                <a:lnTo>
                  <a:pt x="1403" y="765"/>
                </a:lnTo>
                <a:lnTo>
                  <a:pt x="1430" y="762"/>
                </a:lnTo>
                <a:lnTo>
                  <a:pt x="1453" y="755"/>
                </a:lnTo>
                <a:lnTo>
                  <a:pt x="1474" y="743"/>
                </a:lnTo>
                <a:lnTo>
                  <a:pt x="1493" y="727"/>
                </a:lnTo>
                <a:lnTo>
                  <a:pt x="1509" y="709"/>
                </a:lnTo>
                <a:lnTo>
                  <a:pt x="1521" y="687"/>
                </a:lnTo>
                <a:lnTo>
                  <a:pt x="1528" y="664"/>
                </a:lnTo>
                <a:lnTo>
                  <a:pt x="1531" y="638"/>
                </a:lnTo>
                <a:lnTo>
                  <a:pt x="1531" y="127"/>
                </a:lnTo>
                <a:lnTo>
                  <a:pt x="1528" y="101"/>
                </a:lnTo>
                <a:lnTo>
                  <a:pt x="1521" y="78"/>
                </a:lnTo>
                <a:lnTo>
                  <a:pt x="1509" y="56"/>
                </a:lnTo>
                <a:lnTo>
                  <a:pt x="1493" y="37"/>
                </a:lnTo>
                <a:lnTo>
                  <a:pt x="1474" y="22"/>
                </a:lnTo>
                <a:lnTo>
                  <a:pt x="1453" y="10"/>
                </a:lnTo>
                <a:lnTo>
                  <a:pt x="1430" y="3"/>
                </a:lnTo>
                <a:lnTo>
                  <a:pt x="1403" y="0"/>
                </a:lnTo>
                <a:lnTo>
                  <a:pt x="128" y="0"/>
                </a:lnTo>
                <a:close/>
              </a:path>
            </a:pathLst>
          </a:custGeom>
          <a:noFill/>
          <a:ln w="17">
            <a:solidFill>
              <a:srgbClr val="FF999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6396" name="Group 65"/>
          <p:cNvGrpSpPr>
            <a:grpSpLocks/>
          </p:cNvGrpSpPr>
          <p:nvPr/>
        </p:nvGrpSpPr>
        <p:grpSpPr bwMode="auto">
          <a:xfrm>
            <a:off x="4883150" y="5976938"/>
            <a:ext cx="2430463" cy="71437"/>
            <a:chOff x="3076" y="3765"/>
            <a:chExt cx="1531" cy="45"/>
          </a:xfrm>
        </p:grpSpPr>
        <p:sp>
          <p:nvSpPr>
            <p:cNvPr id="16513" name="Line 63"/>
            <p:cNvSpPr>
              <a:spLocks noChangeShapeType="1"/>
            </p:cNvSpPr>
            <p:nvPr/>
          </p:nvSpPr>
          <p:spPr bwMode="auto">
            <a:xfrm>
              <a:off x="3119" y="3787"/>
              <a:ext cx="1488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514" name="Freeform 64"/>
            <p:cNvSpPr>
              <a:spLocks/>
            </p:cNvSpPr>
            <p:nvPr/>
          </p:nvSpPr>
          <p:spPr bwMode="auto">
            <a:xfrm>
              <a:off x="3076" y="3765"/>
              <a:ext cx="46" cy="45"/>
            </a:xfrm>
            <a:custGeom>
              <a:avLst/>
              <a:gdLst>
                <a:gd name="T0" fmla="*/ 2 w 91"/>
                <a:gd name="T1" fmla="*/ 0 h 91"/>
                <a:gd name="T2" fmla="*/ 0 w 91"/>
                <a:gd name="T3" fmla="*/ 0 h 91"/>
                <a:gd name="T4" fmla="*/ 2 w 91"/>
                <a:gd name="T5" fmla="*/ 1 h 91"/>
                <a:gd name="T6" fmla="*/ 2 w 91"/>
                <a:gd name="T7" fmla="*/ 0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91">
                  <a:moveTo>
                    <a:pt x="91" y="0"/>
                  </a:moveTo>
                  <a:lnTo>
                    <a:pt x="0" y="45"/>
                  </a:lnTo>
                  <a:lnTo>
                    <a:pt x="91" y="9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397" name="Group 68"/>
          <p:cNvGrpSpPr>
            <a:grpSpLocks/>
          </p:cNvGrpSpPr>
          <p:nvPr/>
        </p:nvGrpSpPr>
        <p:grpSpPr bwMode="auto">
          <a:xfrm>
            <a:off x="4884738" y="6115050"/>
            <a:ext cx="2430462" cy="71438"/>
            <a:chOff x="3077" y="3852"/>
            <a:chExt cx="1531" cy="45"/>
          </a:xfrm>
        </p:grpSpPr>
        <p:sp>
          <p:nvSpPr>
            <p:cNvPr id="16511" name="Line 66"/>
            <p:cNvSpPr>
              <a:spLocks noChangeShapeType="1"/>
            </p:cNvSpPr>
            <p:nvPr/>
          </p:nvSpPr>
          <p:spPr bwMode="auto">
            <a:xfrm>
              <a:off x="3077" y="3874"/>
              <a:ext cx="1487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512" name="Freeform 67"/>
            <p:cNvSpPr>
              <a:spLocks/>
            </p:cNvSpPr>
            <p:nvPr/>
          </p:nvSpPr>
          <p:spPr bwMode="auto">
            <a:xfrm>
              <a:off x="4562" y="3852"/>
              <a:ext cx="46" cy="45"/>
            </a:xfrm>
            <a:custGeom>
              <a:avLst/>
              <a:gdLst>
                <a:gd name="T0" fmla="*/ 0 w 91"/>
                <a:gd name="T1" fmla="*/ 1 h 91"/>
                <a:gd name="T2" fmla="*/ 2 w 91"/>
                <a:gd name="T3" fmla="*/ 0 h 91"/>
                <a:gd name="T4" fmla="*/ 0 w 91"/>
                <a:gd name="T5" fmla="*/ 0 h 91"/>
                <a:gd name="T6" fmla="*/ 0 w 91"/>
                <a:gd name="T7" fmla="*/ 1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91">
                  <a:moveTo>
                    <a:pt x="0" y="91"/>
                  </a:moveTo>
                  <a:lnTo>
                    <a:pt x="91" y="44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398" name="Group 74"/>
          <p:cNvGrpSpPr>
            <a:grpSpLocks/>
          </p:cNvGrpSpPr>
          <p:nvPr/>
        </p:nvGrpSpPr>
        <p:grpSpPr bwMode="auto">
          <a:xfrm>
            <a:off x="5173663" y="5618163"/>
            <a:ext cx="1908175" cy="679450"/>
            <a:chOff x="3259" y="3539"/>
            <a:chExt cx="1202" cy="428"/>
          </a:xfrm>
        </p:grpSpPr>
        <p:sp>
          <p:nvSpPr>
            <p:cNvPr id="16506" name="Rectangle 69"/>
            <p:cNvSpPr>
              <a:spLocks noChangeArrowheads="1"/>
            </p:cNvSpPr>
            <p:nvPr/>
          </p:nvSpPr>
          <p:spPr bwMode="auto">
            <a:xfrm>
              <a:off x="3349" y="3539"/>
              <a:ext cx="992" cy="4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07" name="Rectangle 70"/>
            <p:cNvSpPr>
              <a:spLocks noChangeArrowheads="1"/>
            </p:cNvSpPr>
            <p:nvPr/>
          </p:nvSpPr>
          <p:spPr bwMode="auto">
            <a:xfrm>
              <a:off x="3391" y="3724"/>
              <a:ext cx="973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Request Message</a:t>
              </a:r>
              <a:endParaRPr lang="en-US" altLang="en-US" sz="2400"/>
            </a:p>
          </p:txBody>
        </p:sp>
        <p:sp>
          <p:nvSpPr>
            <p:cNvPr id="16508" name="Rectangle 71"/>
            <p:cNvSpPr>
              <a:spLocks noChangeArrowheads="1"/>
            </p:cNvSpPr>
            <p:nvPr/>
          </p:nvSpPr>
          <p:spPr bwMode="auto">
            <a:xfrm>
              <a:off x="3396" y="3835"/>
              <a:ext cx="9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Answer Message</a:t>
              </a:r>
              <a:endParaRPr lang="en-US" altLang="en-US" sz="2400"/>
            </a:p>
          </p:txBody>
        </p:sp>
        <p:sp>
          <p:nvSpPr>
            <p:cNvPr id="16509" name="Rectangle 72"/>
            <p:cNvSpPr>
              <a:spLocks noChangeArrowheads="1"/>
            </p:cNvSpPr>
            <p:nvPr/>
          </p:nvSpPr>
          <p:spPr bwMode="auto">
            <a:xfrm>
              <a:off x="3259" y="3557"/>
              <a:ext cx="117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510" name="Rectangle 73"/>
            <p:cNvSpPr>
              <a:spLocks noChangeArrowheads="1"/>
            </p:cNvSpPr>
            <p:nvPr/>
          </p:nvSpPr>
          <p:spPr bwMode="auto">
            <a:xfrm>
              <a:off x="3301" y="3583"/>
              <a:ext cx="1160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Solicit/Response Messaging</a:t>
              </a:r>
              <a:endParaRPr lang="en-US" altLang="en-US" sz="2400"/>
            </a:p>
          </p:txBody>
        </p:sp>
      </p:grpSp>
      <p:sp>
        <p:nvSpPr>
          <p:cNvPr id="16399" name="Oval 75"/>
          <p:cNvSpPr>
            <a:spLocks noChangeArrowheads="1"/>
          </p:cNvSpPr>
          <p:nvPr/>
        </p:nvSpPr>
        <p:spPr bwMode="auto">
          <a:xfrm>
            <a:off x="4298950" y="2679700"/>
            <a:ext cx="577850" cy="439738"/>
          </a:xfrm>
          <a:prstGeom prst="ellipse">
            <a:avLst/>
          </a:prstGeom>
          <a:noFill/>
          <a:ln w="17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00" name="Freeform 76"/>
          <p:cNvSpPr>
            <a:spLocks/>
          </p:cNvSpPr>
          <p:nvPr/>
        </p:nvSpPr>
        <p:spPr bwMode="auto">
          <a:xfrm>
            <a:off x="7331075" y="2595563"/>
            <a:ext cx="1216025" cy="606425"/>
          </a:xfrm>
          <a:custGeom>
            <a:avLst/>
            <a:gdLst>
              <a:gd name="T0" fmla="*/ 2147483646 w 1531"/>
              <a:gd name="T1" fmla="*/ 0 h 766"/>
              <a:gd name="T2" fmla="*/ 2147483646 w 1531"/>
              <a:gd name="T3" fmla="*/ 2147483646 h 766"/>
              <a:gd name="T4" fmla="*/ 2147483646 w 1531"/>
              <a:gd name="T5" fmla="*/ 2147483646 h 766"/>
              <a:gd name="T6" fmla="*/ 2147483646 w 1531"/>
              <a:gd name="T7" fmla="*/ 2147483646 h 766"/>
              <a:gd name="T8" fmla="*/ 2147483646 w 1531"/>
              <a:gd name="T9" fmla="*/ 2147483646 h 766"/>
              <a:gd name="T10" fmla="*/ 2147483646 w 1531"/>
              <a:gd name="T11" fmla="*/ 2147483646 h 766"/>
              <a:gd name="T12" fmla="*/ 2147483646 w 1531"/>
              <a:gd name="T13" fmla="*/ 2147483646 h 766"/>
              <a:gd name="T14" fmla="*/ 2147483646 w 1531"/>
              <a:gd name="T15" fmla="*/ 2147483646 h 766"/>
              <a:gd name="T16" fmla="*/ 0 w 1531"/>
              <a:gd name="T17" fmla="*/ 2147483646 h 766"/>
              <a:gd name="T18" fmla="*/ 0 w 1531"/>
              <a:gd name="T19" fmla="*/ 2147483646 h 766"/>
              <a:gd name="T20" fmla="*/ 2147483646 w 1531"/>
              <a:gd name="T21" fmla="*/ 2147483646 h 766"/>
              <a:gd name="T22" fmla="*/ 2147483646 w 1531"/>
              <a:gd name="T23" fmla="*/ 2147483646 h 766"/>
              <a:gd name="T24" fmla="*/ 2147483646 w 1531"/>
              <a:gd name="T25" fmla="*/ 2147483646 h 766"/>
              <a:gd name="T26" fmla="*/ 2147483646 w 1531"/>
              <a:gd name="T27" fmla="*/ 2147483646 h 766"/>
              <a:gd name="T28" fmla="*/ 2147483646 w 1531"/>
              <a:gd name="T29" fmla="*/ 2147483646 h 766"/>
              <a:gd name="T30" fmla="*/ 2147483646 w 1531"/>
              <a:gd name="T31" fmla="*/ 2147483646 h 766"/>
              <a:gd name="T32" fmla="*/ 2147483646 w 1531"/>
              <a:gd name="T33" fmla="*/ 2147483646 h 766"/>
              <a:gd name="T34" fmla="*/ 2147483646 w 1531"/>
              <a:gd name="T35" fmla="*/ 2147483646 h 766"/>
              <a:gd name="T36" fmla="*/ 2147483646 w 1531"/>
              <a:gd name="T37" fmla="*/ 2147483646 h 766"/>
              <a:gd name="T38" fmla="*/ 2147483646 w 1531"/>
              <a:gd name="T39" fmla="*/ 2147483646 h 766"/>
              <a:gd name="T40" fmla="*/ 2147483646 w 1531"/>
              <a:gd name="T41" fmla="*/ 2147483646 h 766"/>
              <a:gd name="T42" fmla="*/ 2147483646 w 1531"/>
              <a:gd name="T43" fmla="*/ 2147483646 h 766"/>
              <a:gd name="T44" fmla="*/ 2147483646 w 1531"/>
              <a:gd name="T45" fmla="*/ 2147483646 h 766"/>
              <a:gd name="T46" fmla="*/ 2147483646 w 1531"/>
              <a:gd name="T47" fmla="*/ 2147483646 h 766"/>
              <a:gd name="T48" fmla="*/ 2147483646 w 1531"/>
              <a:gd name="T49" fmla="*/ 2147483646 h 766"/>
              <a:gd name="T50" fmla="*/ 2147483646 w 1531"/>
              <a:gd name="T51" fmla="*/ 2147483646 h 766"/>
              <a:gd name="T52" fmla="*/ 2147483646 w 1531"/>
              <a:gd name="T53" fmla="*/ 2147483646 h 766"/>
              <a:gd name="T54" fmla="*/ 2147483646 w 1531"/>
              <a:gd name="T55" fmla="*/ 2147483646 h 766"/>
              <a:gd name="T56" fmla="*/ 2147483646 w 1531"/>
              <a:gd name="T57" fmla="*/ 2147483646 h 766"/>
              <a:gd name="T58" fmla="*/ 2147483646 w 1531"/>
              <a:gd name="T59" fmla="*/ 2147483646 h 766"/>
              <a:gd name="T60" fmla="*/ 2147483646 w 1531"/>
              <a:gd name="T61" fmla="*/ 2147483646 h 766"/>
              <a:gd name="T62" fmla="*/ 2147483646 w 1531"/>
              <a:gd name="T63" fmla="*/ 2147483646 h 766"/>
              <a:gd name="T64" fmla="*/ 2147483646 w 1531"/>
              <a:gd name="T65" fmla="*/ 2147483646 h 766"/>
              <a:gd name="T66" fmla="*/ 2147483646 w 1531"/>
              <a:gd name="T67" fmla="*/ 2147483646 h 766"/>
              <a:gd name="T68" fmla="*/ 2147483646 w 1531"/>
              <a:gd name="T69" fmla="*/ 2147483646 h 766"/>
              <a:gd name="T70" fmla="*/ 2147483646 w 1531"/>
              <a:gd name="T71" fmla="*/ 0 h 766"/>
              <a:gd name="T72" fmla="*/ 2147483646 w 1531"/>
              <a:gd name="T73" fmla="*/ 0 h 76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31" h="766">
                <a:moveTo>
                  <a:pt x="128" y="0"/>
                </a:moveTo>
                <a:lnTo>
                  <a:pt x="102" y="3"/>
                </a:lnTo>
                <a:lnTo>
                  <a:pt x="79" y="11"/>
                </a:lnTo>
                <a:lnTo>
                  <a:pt x="57" y="22"/>
                </a:lnTo>
                <a:lnTo>
                  <a:pt x="38" y="38"/>
                </a:lnTo>
                <a:lnTo>
                  <a:pt x="22" y="57"/>
                </a:lnTo>
                <a:lnTo>
                  <a:pt x="10" y="79"/>
                </a:lnTo>
                <a:lnTo>
                  <a:pt x="3" y="102"/>
                </a:lnTo>
                <a:lnTo>
                  <a:pt x="0" y="128"/>
                </a:lnTo>
                <a:lnTo>
                  <a:pt x="0" y="638"/>
                </a:lnTo>
                <a:lnTo>
                  <a:pt x="3" y="664"/>
                </a:lnTo>
                <a:lnTo>
                  <a:pt x="10" y="687"/>
                </a:lnTo>
                <a:lnTo>
                  <a:pt x="22" y="709"/>
                </a:lnTo>
                <a:lnTo>
                  <a:pt x="38" y="728"/>
                </a:lnTo>
                <a:lnTo>
                  <a:pt x="57" y="744"/>
                </a:lnTo>
                <a:lnTo>
                  <a:pt x="79" y="756"/>
                </a:lnTo>
                <a:lnTo>
                  <a:pt x="102" y="763"/>
                </a:lnTo>
                <a:lnTo>
                  <a:pt x="128" y="766"/>
                </a:lnTo>
                <a:lnTo>
                  <a:pt x="1403" y="766"/>
                </a:lnTo>
                <a:lnTo>
                  <a:pt x="1430" y="763"/>
                </a:lnTo>
                <a:lnTo>
                  <a:pt x="1453" y="756"/>
                </a:lnTo>
                <a:lnTo>
                  <a:pt x="1474" y="744"/>
                </a:lnTo>
                <a:lnTo>
                  <a:pt x="1493" y="728"/>
                </a:lnTo>
                <a:lnTo>
                  <a:pt x="1509" y="709"/>
                </a:lnTo>
                <a:lnTo>
                  <a:pt x="1521" y="687"/>
                </a:lnTo>
                <a:lnTo>
                  <a:pt x="1528" y="664"/>
                </a:lnTo>
                <a:lnTo>
                  <a:pt x="1531" y="638"/>
                </a:lnTo>
                <a:lnTo>
                  <a:pt x="1531" y="128"/>
                </a:lnTo>
                <a:lnTo>
                  <a:pt x="1528" y="102"/>
                </a:lnTo>
                <a:lnTo>
                  <a:pt x="1521" y="79"/>
                </a:lnTo>
                <a:lnTo>
                  <a:pt x="1509" y="57"/>
                </a:lnTo>
                <a:lnTo>
                  <a:pt x="1493" y="38"/>
                </a:lnTo>
                <a:lnTo>
                  <a:pt x="1474" y="22"/>
                </a:lnTo>
                <a:lnTo>
                  <a:pt x="1453" y="11"/>
                </a:lnTo>
                <a:lnTo>
                  <a:pt x="1430" y="3"/>
                </a:lnTo>
                <a:lnTo>
                  <a:pt x="1403" y="0"/>
                </a:lnTo>
                <a:lnTo>
                  <a:pt x="128" y="0"/>
                </a:lnTo>
                <a:close/>
              </a:path>
            </a:pathLst>
          </a:custGeom>
          <a:noFill/>
          <a:ln w="17">
            <a:solidFill>
              <a:srgbClr val="FF999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401" name="Rectangle 77"/>
          <p:cNvSpPr>
            <a:spLocks noChangeArrowheads="1"/>
          </p:cNvSpPr>
          <p:nvPr/>
        </p:nvSpPr>
        <p:spPr bwMode="auto">
          <a:xfrm>
            <a:off x="4316413" y="3146425"/>
            <a:ext cx="542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02" name="Rectangle 79"/>
          <p:cNvSpPr>
            <a:spLocks noChangeArrowheads="1"/>
          </p:cNvSpPr>
          <p:nvPr/>
        </p:nvSpPr>
        <p:spPr bwMode="auto">
          <a:xfrm>
            <a:off x="7610475" y="3248025"/>
            <a:ext cx="6588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16403" name="Group 83"/>
          <p:cNvGrpSpPr>
            <a:grpSpLocks/>
          </p:cNvGrpSpPr>
          <p:nvPr/>
        </p:nvGrpSpPr>
        <p:grpSpPr bwMode="auto">
          <a:xfrm>
            <a:off x="4887913" y="2871788"/>
            <a:ext cx="2432050" cy="73025"/>
            <a:chOff x="3079" y="1809"/>
            <a:chExt cx="1532" cy="46"/>
          </a:xfrm>
        </p:grpSpPr>
        <p:sp>
          <p:nvSpPr>
            <p:cNvPr id="16504" name="Line 81"/>
            <p:cNvSpPr>
              <a:spLocks noChangeShapeType="1"/>
            </p:cNvSpPr>
            <p:nvPr/>
          </p:nvSpPr>
          <p:spPr bwMode="auto">
            <a:xfrm>
              <a:off x="3079" y="1832"/>
              <a:ext cx="1488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505" name="Freeform 82"/>
            <p:cNvSpPr>
              <a:spLocks/>
            </p:cNvSpPr>
            <p:nvPr/>
          </p:nvSpPr>
          <p:spPr bwMode="auto">
            <a:xfrm>
              <a:off x="4565" y="1809"/>
              <a:ext cx="46" cy="46"/>
            </a:xfrm>
            <a:custGeom>
              <a:avLst/>
              <a:gdLst>
                <a:gd name="T0" fmla="*/ 0 w 91"/>
                <a:gd name="T1" fmla="*/ 2 h 91"/>
                <a:gd name="T2" fmla="*/ 2 w 91"/>
                <a:gd name="T3" fmla="*/ 1 h 91"/>
                <a:gd name="T4" fmla="*/ 0 w 91"/>
                <a:gd name="T5" fmla="*/ 0 h 91"/>
                <a:gd name="T6" fmla="*/ 0 w 91"/>
                <a:gd name="T7" fmla="*/ 2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91">
                  <a:moveTo>
                    <a:pt x="0" y="91"/>
                  </a:moveTo>
                  <a:lnTo>
                    <a:pt x="91" y="45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404" name="Rectangle 84"/>
          <p:cNvSpPr>
            <a:spLocks noChangeArrowheads="1"/>
          </p:cNvSpPr>
          <p:nvPr/>
        </p:nvSpPr>
        <p:spPr bwMode="auto">
          <a:xfrm>
            <a:off x="5403850" y="2625725"/>
            <a:ext cx="1400175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05" name="Rectangle 85"/>
          <p:cNvSpPr>
            <a:spLocks noChangeArrowheads="1"/>
          </p:cNvSpPr>
          <p:nvPr/>
        </p:nvSpPr>
        <p:spPr bwMode="auto">
          <a:xfrm>
            <a:off x="5470525" y="2667000"/>
            <a:ext cx="3349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One</a:t>
            </a:r>
            <a:endParaRPr lang="en-US" altLang="en-US" sz="2400"/>
          </a:p>
        </p:txBody>
      </p:sp>
      <p:sp>
        <p:nvSpPr>
          <p:cNvPr id="16406" name="Rectangle 86"/>
          <p:cNvSpPr>
            <a:spLocks noChangeArrowheads="1"/>
          </p:cNvSpPr>
          <p:nvPr/>
        </p:nvSpPr>
        <p:spPr bwMode="auto">
          <a:xfrm>
            <a:off x="5732463" y="2667000"/>
            <a:ext cx="1143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endParaRPr lang="en-US" altLang="en-US" sz="2400"/>
          </a:p>
        </p:txBody>
      </p:sp>
      <p:sp>
        <p:nvSpPr>
          <p:cNvPr id="16407" name="Rectangle 87"/>
          <p:cNvSpPr>
            <a:spLocks noChangeArrowheads="1"/>
          </p:cNvSpPr>
          <p:nvPr/>
        </p:nvSpPr>
        <p:spPr bwMode="auto">
          <a:xfrm>
            <a:off x="5781675" y="2667000"/>
            <a:ext cx="10509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way Messaging</a:t>
            </a:r>
            <a:endParaRPr lang="en-US" altLang="en-US" sz="2400"/>
          </a:p>
        </p:txBody>
      </p:sp>
      <p:sp>
        <p:nvSpPr>
          <p:cNvPr id="16408" name="Rectangle 88"/>
          <p:cNvSpPr>
            <a:spLocks noChangeArrowheads="1"/>
          </p:cNvSpPr>
          <p:nvPr/>
        </p:nvSpPr>
        <p:spPr bwMode="auto">
          <a:xfrm>
            <a:off x="5619750" y="2971800"/>
            <a:ext cx="105568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SOAP Message </a:t>
            </a:r>
            <a:endParaRPr lang="en-US" altLang="en-US" sz="2400"/>
          </a:p>
        </p:txBody>
      </p:sp>
      <p:sp>
        <p:nvSpPr>
          <p:cNvPr id="16409" name="Oval 89"/>
          <p:cNvSpPr>
            <a:spLocks noChangeArrowheads="1"/>
          </p:cNvSpPr>
          <p:nvPr/>
        </p:nvSpPr>
        <p:spPr bwMode="auto">
          <a:xfrm>
            <a:off x="4298950" y="2679700"/>
            <a:ext cx="577850" cy="439738"/>
          </a:xfrm>
          <a:prstGeom prst="ellipse">
            <a:avLst/>
          </a:prstGeom>
          <a:noFill/>
          <a:ln w="17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10" name="Freeform 90"/>
          <p:cNvSpPr>
            <a:spLocks/>
          </p:cNvSpPr>
          <p:nvPr/>
        </p:nvSpPr>
        <p:spPr bwMode="auto">
          <a:xfrm>
            <a:off x="7331075" y="2595563"/>
            <a:ext cx="1216025" cy="606425"/>
          </a:xfrm>
          <a:custGeom>
            <a:avLst/>
            <a:gdLst>
              <a:gd name="T0" fmla="*/ 2147483646 w 1531"/>
              <a:gd name="T1" fmla="*/ 0 h 766"/>
              <a:gd name="T2" fmla="*/ 2147483646 w 1531"/>
              <a:gd name="T3" fmla="*/ 2147483646 h 766"/>
              <a:gd name="T4" fmla="*/ 2147483646 w 1531"/>
              <a:gd name="T5" fmla="*/ 2147483646 h 766"/>
              <a:gd name="T6" fmla="*/ 2147483646 w 1531"/>
              <a:gd name="T7" fmla="*/ 2147483646 h 766"/>
              <a:gd name="T8" fmla="*/ 2147483646 w 1531"/>
              <a:gd name="T9" fmla="*/ 2147483646 h 766"/>
              <a:gd name="T10" fmla="*/ 2147483646 w 1531"/>
              <a:gd name="T11" fmla="*/ 2147483646 h 766"/>
              <a:gd name="T12" fmla="*/ 2147483646 w 1531"/>
              <a:gd name="T13" fmla="*/ 2147483646 h 766"/>
              <a:gd name="T14" fmla="*/ 2147483646 w 1531"/>
              <a:gd name="T15" fmla="*/ 2147483646 h 766"/>
              <a:gd name="T16" fmla="*/ 0 w 1531"/>
              <a:gd name="T17" fmla="*/ 2147483646 h 766"/>
              <a:gd name="T18" fmla="*/ 0 w 1531"/>
              <a:gd name="T19" fmla="*/ 2147483646 h 766"/>
              <a:gd name="T20" fmla="*/ 2147483646 w 1531"/>
              <a:gd name="T21" fmla="*/ 2147483646 h 766"/>
              <a:gd name="T22" fmla="*/ 2147483646 w 1531"/>
              <a:gd name="T23" fmla="*/ 2147483646 h 766"/>
              <a:gd name="T24" fmla="*/ 2147483646 w 1531"/>
              <a:gd name="T25" fmla="*/ 2147483646 h 766"/>
              <a:gd name="T26" fmla="*/ 2147483646 w 1531"/>
              <a:gd name="T27" fmla="*/ 2147483646 h 766"/>
              <a:gd name="T28" fmla="*/ 2147483646 w 1531"/>
              <a:gd name="T29" fmla="*/ 2147483646 h 766"/>
              <a:gd name="T30" fmla="*/ 2147483646 w 1531"/>
              <a:gd name="T31" fmla="*/ 2147483646 h 766"/>
              <a:gd name="T32" fmla="*/ 2147483646 w 1531"/>
              <a:gd name="T33" fmla="*/ 2147483646 h 766"/>
              <a:gd name="T34" fmla="*/ 2147483646 w 1531"/>
              <a:gd name="T35" fmla="*/ 2147483646 h 766"/>
              <a:gd name="T36" fmla="*/ 2147483646 w 1531"/>
              <a:gd name="T37" fmla="*/ 2147483646 h 766"/>
              <a:gd name="T38" fmla="*/ 2147483646 w 1531"/>
              <a:gd name="T39" fmla="*/ 2147483646 h 766"/>
              <a:gd name="T40" fmla="*/ 2147483646 w 1531"/>
              <a:gd name="T41" fmla="*/ 2147483646 h 766"/>
              <a:gd name="T42" fmla="*/ 2147483646 w 1531"/>
              <a:gd name="T43" fmla="*/ 2147483646 h 766"/>
              <a:gd name="T44" fmla="*/ 2147483646 w 1531"/>
              <a:gd name="T45" fmla="*/ 2147483646 h 766"/>
              <a:gd name="T46" fmla="*/ 2147483646 w 1531"/>
              <a:gd name="T47" fmla="*/ 2147483646 h 766"/>
              <a:gd name="T48" fmla="*/ 2147483646 w 1531"/>
              <a:gd name="T49" fmla="*/ 2147483646 h 766"/>
              <a:gd name="T50" fmla="*/ 2147483646 w 1531"/>
              <a:gd name="T51" fmla="*/ 2147483646 h 766"/>
              <a:gd name="T52" fmla="*/ 2147483646 w 1531"/>
              <a:gd name="T53" fmla="*/ 2147483646 h 766"/>
              <a:gd name="T54" fmla="*/ 2147483646 w 1531"/>
              <a:gd name="T55" fmla="*/ 2147483646 h 766"/>
              <a:gd name="T56" fmla="*/ 2147483646 w 1531"/>
              <a:gd name="T57" fmla="*/ 2147483646 h 766"/>
              <a:gd name="T58" fmla="*/ 2147483646 w 1531"/>
              <a:gd name="T59" fmla="*/ 2147483646 h 766"/>
              <a:gd name="T60" fmla="*/ 2147483646 w 1531"/>
              <a:gd name="T61" fmla="*/ 2147483646 h 766"/>
              <a:gd name="T62" fmla="*/ 2147483646 w 1531"/>
              <a:gd name="T63" fmla="*/ 2147483646 h 766"/>
              <a:gd name="T64" fmla="*/ 2147483646 w 1531"/>
              <a:gd name="T65" fmla="*/ 2147483646 h 766"/>
              <a:gd name="T66" fmla="*/ 2147483646 w 1531"/>
              <a:gd name="T67" fmla="*/ 2147483646 h 766"/>
              <a:gd name="T68" fmla="*/ 2147483646 w 1531"/>
              <a:gd name="T69" fmla="*/ 2147483646 h 766"/>
              <a:gd name="T70" fmla="*/ 2147483646 w 1531"/>
              <a:gd name="T71" fmla="*/ 0 h 766"/>
              <a:gd name="T72" fmla="*/ 2147483646 w 1531"/>
              <a:gd name="T73" fmla="*/ 0 h 76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31" h="766">
                <a:moveTo>
                  <a:pt x="128" y="0"/>
                </a:moveTo>
                <a:lnTo>
                  <a:pt x="102" y="3"/>
                </a:lnTo>
                <a:lnTo>
                  <a:pt x="79" y="11"/>
                </a:lnTo>
                <a:lnTo>
                  <a:pt x="57" y="22"/>
                </a:lnTo>
                <a:lnTo>
                  <a:pt x="38" y="38"/>
                </a:lnTo>
                <a:lnTo>
                  <a:pt x="22" y="57"/>
                </a:lnTo>
                <a:lnTo>
                  <a:pt x="10" y="79"/>
                </a:lnTo>
                <a:lnTo>
                  <a:pt x="3" y="102"/>
                </a:lnTo>
                <a:lnTo>
                  <a:pt x="0" y="128"/>
                </a:lnTo>
                <a:lnTo>
                  <a:pt x="0" y="638"/>
                </a:lnTo>
                <a:lnTo>
                  <a:pt x="3" y="664"/>
                </a:lnTo>
                <a:lnTo>
                  <a:pt x="10" y="687"/>
                </a:lnTo>
                <a:lnTo>
                  <a:pt x="22" y="709"/>
                </a:lnTo>
                <a:lnTo>
                  <a:pt x="38" y="728"/>
                </a:lnTo>
                <a:lnTo>
                  <a:pt x="57" y="744"/>
                </a:lnTo>
                <a:lnTo>
                  <a:pt x="79" y="756"/>
                </a:lnTo>
                <a:lnTo>
                  <a:pt x="102" y="763"/>
                </a:lnTo>
                <a:lnTo>
                  <a:pt x="128" y="766"/>
                </a:lnTo>
                <a:lnTo>
                  <a:pt x="1403" y="766"/>
                </a:lnTo>
                <a:lnTo>
                  <a:pt x="1430" y="763"/>
                </a:lnTo>
                <a:lnTo>
                  <a:pt x="1453" y="756"/>
                </a:lnTo>
                <a:lnTo>
                  <a:pt x="1474" y="744"/>
                </a:lnTo>
                <a:lnTo>
                  <a:pt x="1493" y="728"/>
                </a:lnTo>
                <a:lnTo>
                  <a:pt x="1509" y="709"/>
                </a:lnTo>
                <a:lnTo>
                  <a:pt x="1521" y="687"/>
                </a:lnTo>
                <a:lnTo>
                  <a:pt x="1528" y="664"/>
                </a:lnTo>
                <a:lnTo>
                  <a:pt x="1531" y="638"/>
                </a:lnTo>
                <a:lnTo>
                  <a:pt x="1531" y="128"/>
                </a:lnTo>
                <a:lnTo>
                  <a:pt x="1528" y="102"/>
                </a:lnTo>
                <a:lnTo>
                  <a:pt x="1521" y="79"/>
                </a:lnTo>
                <a:lnTo>
                  <a:pt x="1509" y="57"/>
                </a:lnTo>
                <a:lnTo>
                  <a:pt x="1493" y="38"/>
                </a:lnTo>
                <a:lnTo>
                  <a:pt x="1474" y="22"/>
                </a:lnTo>
                <a:lnTo>
                  <a:pt x="1453" y="11"/>
                </a:lnTo>
                <a:lnTo>
                  <a:pt x="1430" y="3"/>
                </a:lnTo>
                <a:lnTo>
                  <a:pt x="1403" y="0"/>
                </a:lnTo>
                <a:lnTo>
                  <a:pt x="128" y="0"/>
                </a:lnTo>
                <a:close/>
              </a:path>
            </a:pathLst>
          </a:custGeom>
          <a:noFill/>
          <a:ln w="17">
            <a:solidFill>
              <a:srgbClr val="FF999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411" name="Rectangle 93"/>
          <p:cNvSpPr>
            <a:spLocks noChangeArrowheads="1"/>
          </p:cNvSpPr>
          <p:nvPr/>
        </p:nvSpPr>
        <p:spPr bwMode="auto">
          <a:xfrm>
            <a:off x="7610475" y="3248025"/>
            <a:ext cx="6588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12" name="Rectangle 94"/>
          <p:cNvSpPr>
            <a:spLocks noChangeArrowheads="1"/>
          </p:cNvSpPr>
          <p:nvPr/>
        </p:nvSpPr>
        <p:spPr bwMode="auto">
          <a:xfrm>
            <a:off x="7437438" y="3248025"/>
            <a:ext cx="1025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Service provider</a:t>
            </a:r>
            <a:b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 end-point </a:t>
            </a:r>
            <a:endParaRPr lang="en-US" altLang="en-US" sz="2400"/>
          </a:p>
        </p:txBody>
      </p:sp>
      <p:grpSp>
        <p:nvGrpSpPr>
          <p:cNvPr id="16413" name="Group 97"/>
          <p:cNvGrpSpPr>
            <a:grpSpLocks/>
          </p:cNvGrpSpPr>
          <p:nvPr/>
        </p:nvGrpSpPr>
        <p:grpSpPr bwMode="auto">
          <a:xfrm>
            <a:off x="4887913" y="2871788"/>
            <a:ext cx="2432050" cy="73025"/>
            <a:chOff x="3079" y="1809"/>
            <a:chExt cx="1532" cy="46"/>
          </a:xfrm>
        </p:grpSpPr>
        <p:sp>
          <p:nvSpPr>
            <p:cNvPr id="16502" name="Line 95"/>
            <p:cNvSpPr>
              <a:spLocks noChangeShapeType="1"/>
            </p:cNvSpPr>
            <p:nvPr/>
          </p:nvSpPr>
          <p:spPr bwMode="auto">
            <a:xfrm>
              <a:off x="3079" y="1832"/>
              <a:ext cx="1488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503" name="Freeform 96"/>
            <p:cNvSpPr>
              <a:spLocks/>
            </p:cNvSpPr>
            <p:nvPr/>
          </p:nvSpPr>
          <p:spPr bwMode="auto">
            <a:xfrm>
              <a:off x="4565" y="1809"/>
              <a:ext cx="46" cy="46"/>
            </a:xfrm>
            <a:custGeom>
              <a:avLst/>
              <a:gdLst>
                <a:gd name="T0" fmla="*/ 0 w 91"/>
                <a:gd name="T1" fmla="*/ 2 h 91"/>
                <a:gd name="T2" fmla="*/ 2 w 91"/>
                <a:gd name="T3" fmla="*/ 1 h 91"/>
                <a:gd name="T4" fmla="*/ 0 w 91"/>
                <a:gd name="T5" fmla="*/ 0 h 91"/>
                <a:gd name="T6" fmla="*/ 0 w 91"/>
                <a:gd name="T7" fmla="*/ 2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91">
                  <a:moveTo>
                    <a:pt x="0" y="91"/>
                  </a:moveTo>
                  <a:lnTo>
                    <a:pt x="91" y="45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414" name="Rectangle 98"/>
          <p:cNvSpPr>
            <a:spLocks noChangeArrowheads="1"/>
          </p:cNvSpPr>
          <p:nvPr/>
        </p:nvSpPr>
        <p:spPr bwMode="auto">
          <a:xfrm>
            <a:off x="5403850" y="2625725"/>
            <a:ext cx="1400175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15" name="Rectangle 99"/>
          <p:cNvSpPr>
            <a:spLocks noChangeArrowheads="1"/>
          </p:cNvSpPr>
          <p:nvPr/>
        </p:nvSpPr>
        <p:spPr bwMode="auto">
          <a:xfrm>
            <a:off x="5470525" y="2667000"/>
            <a:ext cx="3349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One</a:t>
            </a:r>
            <a:endParaRPr lang="en-US" altLang="en-US" sz="2400"/>
          </a:p>
        </p:txBody>
      </p:sp>
      <p:sp>
        <p:nvSpPr>
          <p:cNvPr id="16416" name="Rectangle 100"/>
          <p:cNvSpPr>
            <a:spLocks noChangeArrowheads="1"/>
          </p:cNvSpPr>
          <p:nvPr/>
        </p:nvSpPr>
        <p:spPr bwMode="auto">
          <a:xfrm>
            <a:off x="5732463" y="2667000"/>
            <a:ext cx="1143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-</a:t>
            </a:r>
            <a:endParaRPr lang="en-US" altLang="en-US" sz="2400"/>
          </a:p>
        </p:txBody>
      </p:sp>
      <p:sp>
        <p:nvSpPr>
          <p:cNvPr id="16417" name="Rectangle 101"/>
          <p:cNvSpPr>
            <a:spLocks noChangeArrowheads="1"/>
          </p:cNvSpPr>
          <p:nvPr/>
        </p:nvSpPr>
        <p:spPr bwMode="auto">
          <a:xfrm>
            <a:off x="5781675" y="2667000"/>
            <a:ext cx="10509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way Messaging</a:t>
            </a:r>
            <a:endParaRPr lang="en-US" altLang="en-US" sz="2400"/>
          </a:p>
        </p:txBody>
      </p:sp>
      <p:sp>
        <p:nvSpPr>
          <p:cNvPr id="16418" name="Rectangle 102"/>
          <p:cNvSpPr>
            <a:spLocks noChangeArrowheads="1"/>
          </p:cNvSpPr>
          <p:nvPr/>
        </p:nvSpPr>
        <p:spPr bwMode="auto">
          <a:xfrm>
            <a:off x="5619750" y="2971800"/>
            <a:ext cx="105568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SOAP Message </a:t>
            </a:r>
            <a:endParaRPr lang="en-US" altLang="en-US" sz="2400"/>
          </a:p>
        </p:txBody>
      </p:sp>
      <p:sp>
        <p:nvSpPr>
          <p:cNvPr id="16419" name="Rectangle 103"/>
          <p:cNvSpPr>
            <a:spLocks noChangeArrowheads="1"/>
          </p:cNvSpPr>
          <p:nvPr/>
        </p:nvSpPr>
        <p:spPr bwMode="auto">
          <a:xfrm>
            <a:off x="4316413" y="4252913"/>
            <a:ext cx="542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20" name="Rectangle 105"/>
          <p:cNvSpPr>
            <a:spLocks noChangeArrowheads="1"/>
          </p:cNvSpPr>
          <p:nvPr/>
        </p:nvSpPr>
        <p:spPr bwMode="auto">
          <a:xfrm>
            <a:off x="7610475" y="4354513"/>
            <a:ext cx="6588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21" name="Oval 107"/>
          <p:cNvSpPr>
            <a:spLocks noChangeArrowheads="1"/>
          </p:cNvSpPr>
          <p:nvPr/>
        </p:nvSpPr>
        <p:spPr bwMode="auto">
          <a:xfrm>
            <a:off x="4298950" y="3795713"/>
            <a:ext cx="577850" cy="439737"/>
          </a:xfrm>
          <a:prstGeom prst="ellipse">
            <a:avLst/>
          </a:prstGeom>
          <a:noFill/>
          <a:ln w="17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22" name="Freeform 108"/>
          <p:cNvSpPr>
            <a:spLocks/>
          </p:cNvSpPr>
          <p:nvPr/>
        </p:nvSpPr>
        <p:spPr bwMode="auto">
          <a:xfrm>
            <a:off x="7331075" y="3711575"/>
            <a:ext cx="1216025" cy="606425"/>
          </a:xfrm>
          <a:custGeom>
            <a:avLst/>
            <a:gdLst>
              <a:gd name="T0" fmla="*/ 2147483646 w 1531"/>
              <a:gd name="T1" fmla="*/ 0 h 766"/>
              <a:gd name="T2" fmla="*/ 2147483646 w 1531"/>
              <a:gd name="T3" fmla="*/ 2147483646 h 766"/>
              <a:gd name="T4" fmla="*/ 2147483646 w 1531"/>
              <a:gd name="T5" fmla="*/ 2147483646 h 766"/>
              <a:gd name="T6" fmla="*/ 2147483646 w 1531"/>
              <a:gd name="T7" fmla="*/ 2147483646 h 766"/>
              <a:gd name="T8" fmla="*/ 2147483646 w 1531"/>
              <a:gd name="T9" fmla="*/ 2147483646 h 766"/>
              <a:gd name="T10" fmla="*/ 2147483646 w 1531"/>
              <a:gd name="T11" fmla="*/ 2147483646 h 766"/>
              <a:gd name="T12" fmla="*/ 2147483646 w 1531"/>
              <a:gd name="T13" fmla="*/ 2147483646 h 766"/>
              <a:gd name="T14" fmla="*/ 2147483646 w 1531"/>
              <a:gd name="T15" fmla="*/ 2147483646 h 766"/>
              <a:gd name="T16" fmla="*/ 0 w 1531"/>
              <a:gd name="T17" fmla="*/ 2147483646 h 766"/>
              <a:gd name="T18" fmla="*/ 0 w 1531"/>
              <a:gd name="T19" fmla="*/ 2147483646 h 766"/>
              <a:gd name="T20" fmla="*/ 2147483646 w 1531"/>
              <a:gd name="T21" fmla="*/ 2147483646 h 766"/>
              <a:gd name="T22" fmla="*/ 2147483646 w 1531"/>
              <a:gd name="T23" fmla="*/ 2147483646 h 766"/>
              <a:gd name="T24" fmla="*/ 2147483646 w 1531"/>
              <a:gd name="T25" fmla="*/ 2147483646 h 766"/>
              <a:gd name="T26" fmla="*/ 2147483646 w 1531"/>
              <a:gd name="T27" fmla="*/ 2147483646 h 766"/>
              <a:gd name="T28" fmla="*/ 2147483646 w 1531"/>
              <a:gd name="T29" fmla="*/ 2147483646 h 766"/>
              <a:gd name="T30" fmla="*/ 2147483646 w 1531"/>
              <a:gd name="T31" fmla="*/ 2147483646 h 766"/>
              <a:gd name="T32" fmla="*/ 2147483646 w 1531"/>
              <a:gd name="T33" fmla="*/ 2147483646 h 766"/>
              <a:gd name="T34" fmla="*/ 2147483646 w 1531"/>
              <a:gd name="T35" fmla="*/ 2147483646 h 766"/>
              <a:gd name="T36" fmla="*/ 2147483646 w 1531"/>
              <a:gd name="T37" fmla="*/ 2147483646 h 766"/>
              <a:gd name="T38" fmla="*/ 2147483646 w 1531"/>
              <a:gd name="T39" fmla="*/ 2147483646 h 766"/>
              <a:gd name="T40" fmla="*/ 2147483646 w 1531"/>
              <a:gd name="T41" fmla="*/ 2147483646 h 766"/>
              <a:gd name="T42" fmla="*/ 2147483646 w 1531"/>
              <a:gd name="T43" fmla="*/ 2147483646 h 766"/>
              <a:gd name="T44" fmla="*/ 2147483646 w 1531"/>
              <a:gd name="T45" fmla="*/ 2147483646 h 766"/>
              <a:gd name="T46" fmla="*/ 2147483646 w 1531"/>
              <a:gd name="T47" fmla="*/ 2147483646 h 766"/>
              <a:gd name="T48" fmla="*/ 2147483646 w 1531"/>
              <a:gd name="T49" fmla="*/ 2147483646 h 766"/>
              <a:gd name="T50" fmla="*/ 2147483646 w 1531"/>
              <a:gd name="T51" fmla="*/ 2147483646 h 766"/>
              <a:gd name="T52" fmla="*/ 2147483646 w 1531"/>
              <a:gd name="T53" fmla="*/ 2147483646 h 766"/>
              <a:gd name="T54" fmla="*/ 2147483646 w 1531"/>
              <a:gd name="T55" fmla="*/ 2147483646 h 766"/>
              <a:gd name="T56" fmla="*/ 2147483646 w 1531"/>
              <a:gd name="T57" fmla="*/ 2147483646 h 766"/>
              <a:gd name="T58" fmla="*/ 2147483646 w 1531"/>
              <a:gd name="T59" fmla="*/ 2147483646 h 766"/>
              <a:gd name="T60" fmla="*/ 2147483646 w 1531"/>
              <a:gd name="T61" fmla="*/ 2147483646 h 766"/>
              <a:gd name="T62" fmla="*/ 2147483646 w 1531"/>
              <a:gd name="T63" fmla="*/ 2147483646 h 766"/>
              <a:gd name="T64" fmla="*/ 2147483646 w 1531"/>
              <a:gd name="T65" fmla="*/ 2147483646 h 766"/>
              <a:gd name="T66" fmla="*/ 2147483646 w 1531"/>
              <a:gd name="T67" fmla="*/ 2147483646 h 766"/>
              <a:gd name="T68" fmla="*/ 2147483646 w 1531"/>
              <a:gd name="T69" fmla="*/ 2147483646 h 766"/>
              <a:gd name="T70" fmla="*/ 2147483646 w 1531"/>
              <a:gd name="T71" fmla="*/ 0 h 766"/>
              <a:gd name="T72" fmla="*/ 2147483646 w 1531"/>
              <a:gd name="T73" fmla="*/ 0 h 76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31" h="766">
                <a:moveTo>
                  <a:pt x="128" y="0"/>
                </a:moveTo>
                <a:lnTo>
                  <a:pt x="102" y="3"/>
                </a:lnTo>
                <a:lnTo>
                  <a:pt x="79" y="11"/>
                </a:lnTo>
                <a:lnTo>
                  <a:pt x="57" y="22"/>
                </a:lnTo>
                <a:lnTo>
                  <a:pt x="38" y="38"/>
                </a:lnTo>
                <a:lnTo>
                  <a:pt x="22" y="57"/>
                </a:lnTo>
                <a:lnTo>
                  <a:pt x="10" y="79"/>
                </a:lnTo>
                <a:lnTo>
                  <a:pt x="3" y="102"/>
                </a:lnTo>
                <a:lnTo>
                  <a:pt x="0" y="128"/>
                </a:lnTo>
                <a:lnTo>
                  <a:pt x="0" y="638"/>
                </a:lnTo>
                <a:lnTo>
                  <a:pt x="3" y="664"/>
                </a:lnTo>
                <a:lnTo>
                  <a:pt x="10" y="688"/>
                </a:lnTo>
                <a:lnTo>
                  <a:pt x="22" y="709"/>
                </a:lnTo>
                <a:lnTo>
                  <a:pt x="38" y="728"/>
                </a:lnTo>
                <a:lnTo>
                  <a:pt x="57" y="744"/>
                </a:lnTo>
                <a:lnTo>
                  <a:pt x="79" y="756"/>
                </a:lnTo>
                <a:lnTo>
                  <a:pt x="102" y="763"/>
                </a:lnTo>
                <a:lnTo>
                  <a:pt x="128" y="766"/>
                </a:lnTo>
                <a:lnTo>
                  <a:pt x="1403" y="766"/>
                </a:lnTo>
                <a:lnTo>
                  <a:pt x="1430" y="763"/>
                </a:lnTo>
                <a:lnTo>
                  <a:pt x="1453" y="756"/>
                </a:lnTo>
                <a:lnTo>
                  <a:pt x="1474" y="744"/>
                </a:lnTo>
                <a:lnTo>
                  <a:pt x="1493" y="728"/>
                </a:lnTo>
                <a:lnTo>
                  <a:pt x="1509" y="709"/>
                </a:lnTo>
                <a:lnTo>
                  <a:pt x="1521" y="688"/>
                </a:lnTo>
                <a:lnTo>
                  <a:pt x="1528" y="664"/>
                </a:lnTo>
                <a:lnTo>
                  <a:pt x="1531" y="638"/>
                </a:lnTo>
                <a:lnTo>
                  <a:pt x="1531" y="128"/>
                </a:lnTo>
                <a:lnTo>
                  <a:pt x="1528" y="102"/>
                </a:lnTo>
                <a:lnTo>
                  <a:pt x="1521" y="79"/>
                </a:lnTo>
                <a:lnTo>
                  <a:pt x="1509" y="57"/>
                </a:lnTo>
                <a:lnTo>
                  <a:pt x="1493" y="38"/>
                </a:lnTo>
                <a:lnTo>
                  <a:pt x="1474" y="22"/>
                </a:lnTo>
                <a:lnTo>
                  <a:pt x="1453" y="11"/>
                </a:lnTo>
                <a:lnTo>
                  <a:pt x="1430" y="3"/>
                </a:lnTo>
                <a:lnTo>
                  <a:pt x="1403" y="0"/>
                </a:lnTo>
                <a:lnTo>
                  <a:pt x="128" y="0"/>
                </a:lnTo>
                <a:close/>
              </a:path>
            </a:pathLst>
          </a:custGeom>
          <a:noFill/>
          <a:ln w="17">
            <a:solidFill>
              <a:srgbClr val="FF999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6423" name="Group 115"/>
          <p:cNvGrpSpPr>
            <a:grpSpLocks/>
          </p:cNvGrpSpPr>
          <p:nvPr/>
        </p:nvGrpSpPr>
        <p:grpSpPr bwMode="auto">
          <a:xfrm>
            <a:off x="4883150" y="3910013"/>
            <a:ext cx="2430463" cy="211137"/>
            <a:chOff x="3076" y="2463"/>
            <a:chExt cx="1531" cy="133"/>
          </a:xfrm>
        </p:grpSpPr>
        <p:grpSp>
          <p:nvGrpSpPr>
            <p:cNvPr id="16496" name="Group 111"/>
            <p:cNvGrpSpPr>
              <a:grpSpLocks/>
            </p:cNvGrpSpPr>
            <p:nvPr/>
          </p:nvGrpSpPr>
          <p:grpSpPr bwMode="auto">
            <a:xfrm>
              <a:off x="3076" y="2463"/>
              <a:ext cx="1531" cy="46"/>
              <a:chOff x="3076" y="2463"/>
              <a:chExt cx="1531" cy="46"/>
            </a:xfrm>
          </p:grpSpPr>
          <p:sp>
            <p:nvSpPr>
              <p:cNvPr id="16500" name="Line 109"/>
              <p:cNvSpPr>
                <a:spLocks noChangeShapeType="1"/>
              </p:cNvSpPr>
              <p:nvPr/>
            </p:nvSpPr>
            <p:spPr bwMode="auto">
              <a:xfrm>
                <a:off x="3076" y="2486"/>
                <a:ext cx="1487" cy="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501" name="Freeform 110"/>
              <p:cNvSpPr>
                <a:spLocks/>
              </p:cNvSpPr>
              <p:nvPr/>
            </p:nvSpPr>
            <p:spPr bwMode="auto">
              <a:xfrm>
                <a:off x="4562" y="2463"/>
                <a:ext cx="45" cy="46"/>
              </a:xfrm>
              <a:custGeom>
                <a:avLst/>
                <a:gdLst>
                  <a:gd name="T0" fmla="*/ 0 w 90"/>
                  <a:gd name="T1" fmla="*/ 2 h 92"/>
                  <a:gd name="T2" fmla="*/ 2 w 90"/>
                  <a:gd name="T3" fmla="*/ 1 h 92"/>
                  <a:gd name="T4" fmla="*/ 0 w 90"/>
                  <a:gd name="T5" fmla="*/ 0 h 92"/>
                  <a:gd name="T6" fmla="*/ 0 w 90"/>
                  <a:gd name="T7" fmla="*/ 2 h 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0" h="92">
                    <a:moveTo>
                      <a:pt x="0" y="92"/>
                    </a:moveTo>
                    <a:lnTo>
                      <a:pt x="90" y="45"/>
                    </a:lnTo>
                    <a:lnTo>
                      <a:pt x="0" y="0"/>
                    </a:lnTo>
                    <a:lnTo>
                      <a:pt x="0" y="9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grpSp>
          <p:nvGrpSpPr>
            <p:cNvPr id="16497" name="Group 114"/>
            <p:cNvGrpSpPr>
              <a:grpSpLocks/>
            </p:cNvGrpSpPr>
            <p:nvPr/>
          </p:nvGrpSpPr>
          <p:grpSpPr bwMode="auto">
            <a:xfrm>
              <a:off x="3077" y="2550"/>
              <a:ext cx="1530" cy="46"/>
              <a:chOff x="3077" y="2550"/>
              <a:chExt cx="1530" cy="46"/>
            </a:xfrm>
          </p:grpSpPr>
          <p:sp>
            <p:nvSpPr>
              <p:cNvPr id="16498" name="Line 112"/>
              <p:cNvSpPr>
                <a:spLocks noChangeShapeType="1"/>
              </p:cNvSpPr>
              <p:nvPr/>
            </p:nvSpPr>
            <p:spPr bwMode="auto">
              <a:xfrm>
                <a:off x="3120" y="2573"/>
                <a:ext cx="1487" cy="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6499" name="Freeform 113"/>
              <p:cNvSpPr>
                <a:spLocks/>
              </p:cNvSpPr>
              <p:nvPr/>
            </p:nvSpPr>
            <p:spPr bwMode="auto">
              <a:xfrm>
                <a:off x="3077" y="2550"/>
                <a:ext cx="45" cy="46"/>
              </a:xfrm>
              <a:custGeom>
                <a:avLst/>
                <a:gdLst>
                  <a:gd name="T0" fmla="*/ 2 w 90"/>
                  <a:gd name="T1" fmla="*/ 0 h 91"/>
                  <a:gd name="T2" fmla="*/ 0 w 90"/>
                  <a:gd name="T3" fmla="*/ 1 h 91"/>
                  <a:gd name="T4" fmla="*/ 2 w 90"/>
                  <a:gd name="T5" fmla="*/ 2 h 91"/>
                  <a:gd name="T6" fmla="*/ 2 w 90"/>
                  <a:gd name="T7" fmla="*/ 0 h 9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0" h="91">
                    <a:moveTo>
                      <a:pt x="90" y="0"/>
                    </a:moveTo>
                    <a:lnTo>
                      <a:pt x="0" y="45"/>
                    </a:lnTo>
                    <a:lnTo>
                      <a:pt x="90" y="91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</p:grpSp>
      <p:grpSp>
        <p:nvGrpSpPr>
          <p:cNvPr id="16424" name="Group 121"/>
          <p:cNvGrpSpPr>
            <a:grpSpLocks/>
          </p:cNvGrpSpPr>
          <p:nvPr/>
        </p:nvGrpSpPr>
        <p:grpSpPr bwMode="auto">
          <a:xfrm>
            <a:off x="5118100" y="3552825"/>
            <a:ext cx="2024063" cy="679450"/>
            <a:chOff x="3224" y="2238"/>
            <a:chExt cx="1275" cy="428"/>
          </a:xfrm>
        </p:grpSpPr>
        <p:sp>
          <p:nvSpPr>
            <p:cNvPr id="16491" name="Rectangle 116"/>
            <p:cNvSpPr>
              <a:spLocks noChangeArrowheads="1"/>
            </p:cNvSpPr>
            <p:nvPr/>
          </p:nvSpPr>
          <p:spPr bwMode="auto">
            <a:xfrm>
              <a:off x="3495" y="2238"/>
              <a:ext cx="699" cy="4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492" name="Rectangle 117"/>
            <p:cNvSpPr>
              <a:spLocks noChangeArrowheads="1"/>
            </p:cNvSpPr>
            <p:nvPr/>
          </p:nvSpPr>
          <p:spPr bwMode="auto">
            <a:xfrm>
              <a:off x="3565" y="2422"/>
              <a:ext cx="615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Request</a:t>
              </a:r>
              <a:endParaRPr lang="en-US" altLang="en-US" sz="2400"/>
            </a:p>
          </p:txBody>
        </p:sp>
        <p:sp>
          <p:nvSpPr>
            <p:cNvPr id="16493" name="Rectangle 118"/>
            <p:cNvSpPr>
              <a:spLocks noChangeArrowheads="1"/>
            </p:cNvSpPr>
            <p:nvPr/>
          </p:nvSpPr>
          <p:spPr bwMode="auto">
            <a:xfrm>
              <a:off x="3537" y="2534"/>
              <a:ext cx="673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Response</a:t>
              </a:r>
              <a:endParaRPr lang="en-US" altLang="en-US" sz="2400"/>
            </a:p>
          </p:txBody>
        </p:sp>
        <p:sp>
          <p:nvSpPr>
            <p:cNvPr id="16494" name="Rectangle 119"/>
            <p:cNvSpPr>
              <a:spLocks noChangeArrowheads="1"/>
            </p:cNvSpPr>
            <p:nvPr/>
          </p:nvSpPr>
          <p:spPr bwMode="auto">
            <a:xfrm>
              <a:off x="3224" y="2255"/>
              <a:ext cx="12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495" name="Rectangle 120"/>
            <p:cNvSpPr>
              <a:spLocks noChangeArrowheads="1"/>
            </p:cNvSpPr>
            <p:nvPr/>
          </p:nvSpPr>
          <p:spPr bwMode="auto">
            <a:xfrm>
              <a:off x="3266" y="2281"/>
              <a:ext cx="123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Request/Response Messaging</a:t>
              </a:r>
              <a:endParaRPr lang="en-US" altLang="en-US" sz="2400"/>
            </a:p>
          </p:txBody>
        </p:sp>
      </p:grpSp>
      <p:sp>
        <p:nvSpPr>
          <p:cNvPr id="16425" name="Rectangle 122"/>
          <p:cNvSpPr>
            <a:spLocks noChangeArrowheads="1"/>
          </p:cNvSpPr>
          <p:nvPr/>
        </p:nvSpPr>
        <p:spPr bwMode="auto">
          <a:xfrm>
            <a:off x="4316413" y="4252913"/>
            <a:ext cx="542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26" name="Rectangle 124"/>
          <p:cNvSpPr>
            <a:spLocks noChangeArrowheads="1"/>
          </p:cNvSpPr>
          <p:nvPr/>
        </p:nvSpPr>
        <p:spPr bwMode="auto">
          <a:xfrm>
            <a:off x="7610475" y="4354513"/>
            <a:ext cx="6588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27" name="Oval 126"/>
          <p:cNvSpPr>
            <a:spLocks noChangeArrowheads="1"/>
          </p:cNvSpPr>
          <p:nvPr/>
        </p:nvSpPr>
        <p:spPr bwMode="auto">
          <a:xfrm>
            <a:off x="4298950" y="3795713"/>
            <a:ext cx="577850" cy="439737"/>
          </a:xfrm>
          <a:prstGeom prst="ellipse">
            <a:avLst/>
          </a:prstGeom>
          <a:noFill/>
          <a:ln w="17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28" name="Freeform 127"/>
          <p:cNvSpPr>
            <a:spLocks/>
          </p:cNvSpPr>
          <p:nvPr/>
        </p:nvSpPr>
        <p:spPr bwMode="auto">
          <a:xfrm>
            <a:off x="7331075" y="3711575"/>
            <a:ext cx="1216025" cy="606425"/>
          </a:xfrm>
          <a:custGeom>
            <a:avLst/>
            <a:gdLst>
              <a:gd name="T0" fmla="*/ 2147483646 w 1531"/>
              <a:gd name="T1" fmla="*/ 0 h 766"/>
              <a:gd name="T2" fmla="*/ 2147483646 w 1531"/>
              <a:gd name="T3" fmla="*/ 2147483646 h 766"/>
              <a:gd name="T4" fmla="*/ 2147483646 w 1531"/>
              <a:gd name="T5" fmla="*/ 2147483646 h 766"/>
              <a:gd name="T6" fmla="*/ 2147483646 w 1531"/>
              <a:gd name="T7" fmla="*/ 2147483646 h 766"/>
              <a:gd name="T8" fmla="*/ 2147483646 w 1531"/>
              <a:gd name="T9" fmla="*/ 2147483646 h 766"/>
              <a:gd name="T10" fmla="*/ 2147483646 w 1531"/>
              <a:gd name="T11" fmla="*/ 2147483646 h 766"/>
              <a:gd name="T12" fmla="*/ 2147483646 w 1531"/>
              <a:gd name="T13" fmla="*/ 2147483646 h 766"/>
              <a:gd name="T14" fmla="*/ 2147483646 w 1531"/>
              <a:gd name="T15" fmla="*/ 2147483646 h 766"/>
              <a:gd name="T16" fmla="*/ 0 w 1531"/>
              <a:gd name="T17" fmla="*/ 2147483646 h 766"/>
              <a:gd name="T18" fmla="*/ 0 w 1531"/>
              <a:gd name="T19" fmla="*/ 2147483646 h 766"/>
              <a:gd name="T20" fmla="*/ 2147483646 w 1531"/>
              <a:gd name="T21" fmla="*/ 2147483646 h 766"/>
              <a:gd name="T22" fmla="*/ 2147483646 w 1531"/>
              <a:gd name="T23" fmla="*/ 2147483646 h 766"/>
              <a:gd name="T24" fmla="*/ 2147483646 w 1531"/>
              <a:gd name="T25" fmla="*/ 2147483646 h 766"/>
              <a:gd name="T26" fmla="*/ 2147483646 w 1531"/>
              <a:gd name="T27" fmla="*/ 2147483646 h 766"/>
              <a:gd name="T28" fmla="*/ 2147483646 w 1531"/>
              <a:gd name="T29" fmla="*/ 2147483646 h 766"/>
              <a:gd name="T30" fmla="*/ 2147483646 w 1531"/>
              <a:gd name="T31" fmla="*/ 2147483646 h 766"/>
              <a:gd name="T32" fmla="*/ 2147483646 w 1531"/>
              <a:gd name="T33" fmla="*/ 2147483646 h 766"/>
              <a:gd name="T34" fmla="*/ 2147483646 w 1531"/>
              <a:gd name="T35" fmla="*/ 2147483646 h 766"/>
              <a:gd name="T36" fmla="*/ 2147483646 w 1531"/>
              <a:gd name="T37" fmla="*/ 2147483646 h 766"/>
              <a:gd name="T38" fmla="*/ 2147483646 w 1531"/>
              <a:gd name="T39" fmla="*/ 2147483646 h 766"/>
              <a:gd name="T40" fmla="*/ 2147483646 w 1531"/>
              <a:gd name="T41" fmla="*/ 2147483646 h 766"/>
              <a:gd name="T42" fmla="*/ 2147483646 w 1531"/>
              <a:gd name="T43" fmla="*/ 2147483646 h 766"/>
              <a:gd name="T44" fmla="*/ 2147483646 w 1531"/>
              <a:gd name="T45" fmla="*/ 2147483646 h 766"/>
              <a:gd name="T46" fmla="*/ 2147483646 w 1531"/>
              <a:gd name="T47" fmla="*/ 2147483646 h 766"/>
              <a:gd name="T48" fmla="*/ 2147483646 w 1531"/>
              <a:gd name="T49" fmla="*/ 2147483646 h 766"/>
              <a:gd name="T50" fmla="*/ 2147483646 w 1531"/>
              <a:gd name="T51" fmla="*/ 2147483646 h 766"/>
              <a:gd name="T52" fmla="*/ 2147483646 w 1531"/>
              <a:gd name="T53" fmla="*/ 2147483646 h 766"/>
              <a:gd name="T54" fmla="*/ 2147483646 w 1531"/>
              <a:gd name="T55" fmla="*/ 2147483646 h 766"/>
              <a:gd name="T56" fmla="*/ 2147483646 w 1531"/>
              <a:gd name="T57" fmla="*/ 2147483646 h 766"/>
              <a:gd name="T58" fmla="*/ 2147483646 w 1531"/>
              <a:gd name="T59" fmla="*/ 2147483646 h 766"/>
              <a:gd name="T60" fmla="*/ 2147483646 w 1531"/>
              <a:gd name="T61" fmla="*/ 2147483646 h 766"/>
              <a:gd name="T62" fmla="*/ 2147483646 w 1531"/>
              <a:gd name="T63" fmla="*/ 2147483646 h 766"/>
              <a:gd name="T64" fmla="*/ 2147483646 w 1531"/>
              <a:gd name="T65" fmla="*/ 2147483646 h 766"/>
              <a:gd name="T66" fmla="*/ 2147483646 w 1531"/>
              <a:gd name="T67" fmla="*/ 2147483646 h 766"/>
              <a:gd name="T68" fmla="*/ 2147483646 w 1531"/>
              <a:gd name="T69" fmla="*/ 2147483646 h 766"/>
              <a:gd name="T70" fmla="*/ 2147483646 w 1531"/>
              <a:gd name="T71" fmla="*/ 0 h 766"/>
              <a:gd name="T72" fmla="*/ 2147483646 w 1531"/>
              <a:gd name="T73" fmla="*/ 0 h 76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31" h="766">
                <a:moveTo>
                  <a:pt x="128" y="0"/>
                </a:moveTo>
                <a:lnTo>
                  <a:pt x="102" y="3"/>
                </a:lnTo>
                <a:lnTo>
                  <a:pt x="79" y="11"/>
                </a:lnTo>
                <a:lnTo>
                  <a:pt x="57" y="22"/>
                </a:lnTo>
                <a:lnTo>
                  <a:pt x="38" y="38"/>
                </a:lnTo>
                <a:lnTo>
                  <a:pt x="22" y="57"/>
                </a:lnTo>
                <a:lnTo>
                  <a:pt x="10" y="79"/>
                </a:lnTo>
                <a:lnTo>
                  <a:pt x="3" y="102"/>
                </a:lnTo>
                <a:lnTo>
                  <a:pt x="0" y="128"/>
                </a:lnTo>
                <a:lnTo>
                  <a:pt x="0" y="638"/>
                </a:lnTo>
                <a:lnTo>
                  <a:pt x="3" y="664"/>
                </a:lnTo>
                <a:lnTo>
                  <a:pt x="10" y="688"/>
                </a:lnTo>
                <a:lnTo>
                  <a:pt x="22" y="709"/>
                </a:lnTo>
                <a:lnTo>
                  <a:pt x="38" y="728"/>
                </a:lnTo>
                <a:lnTo>
                  <a:pt x="57" y="744"/>
                </a:lnTo>
                <a:lnTo>
                  <a:pt x="79" y="756"/>
                </a:lnTo>
                <a:lnTo>
                  <a:pt x="102" y="763"/>
                </a:lnTo>
                <a:lnTo>
                  <a:pt x="128" y="766"/>
                </a:lnTo>
                <a:lnTo>
                  <a:pt x="1403" y="766"/>
                </a:lnTo>
                <a:lnTo>
                  <a:pt x="1430" y="763"/>
                </a:lnTo>
                <a:lnTo>
                  <a:pt x="1453" y="756"/>
                </a:lnTo>
                <a:lnTo>
                  <a:pt x="1474" y="744"/>
                </a:lnTo>
                <a:lnTo>
                  <a:pt x="1493" y="728"/>
                </a:lnTo>
                <a:lnTo>
                  <a:pt x="1509" y="709"/>
                </a:lnTo>
                <a:lnTo>
                  <a:pt x="1521" y="688"/>
                </a:lnTo>
                <a:lnTo>
                  <a:pt x="1528" y="664"/>
                </a:lnTo>
                <a:lnTo>
                  <a:pt x="1531" y="638"/>
                </a:lnTo>
                <a:lnTo>
                  <a:pt x="1531" y="128"/>
                </a:lnTo>
                <a:lnTo>
                  <a:pt x="1528" y="102"/>
                </a:lnTo>
                <a:lnTo>
                  <a:pt x="1521" y="79"/>
                </a:lnTo>
                <a:lnTo>
                  <a:pt x="1509" y="57"/>
                </a:lnTo>
                <a:lnTo>
                  <a:pt x="1493" y="38"/>
                </a:lnTo>
                <a:lnTo>
                  <a:pt x="1474" y="22"/>
                </a:lnTo>
                <a:lnTo>
                  <a:pt x="1453" y="11"/>
                </a:lnTo>
                <a:lnTo>
                  <a:pt x="1430" y="3"/>
                </a:lnTo>
                <a:lnTo>
                  <a:pt x="1403" y="0"/>
                </a:lnTo>
                <a:lnTo>
                  <a:pt x="128" y="0"/>
                </a:lnTo>
                <a:close/>
              </a:path>
            </a:pathLst>
          </a:custGeom>
          <a:noFill/>
          <a:ln w="17">
            <a:solidFill>
              <a:srgbClr val="FF999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6429" name="Group 130"/>
          <p:cNvGrpSpPr>
            <a:grpSpLocks/>
          </p:cNvGrpSpPr>
          <p:nvPr/>
        </p:nvGrpSpPr>
        <p:grpSpPr bwMode="auto">
          <a:xfrm>
            <a:off x="4883150" y="3910013"/>
            <a:ext cx="2430463" cy="73025"/>
            <a:chOff x="3076" y="2463"/>
            <a:chExt cx="1531" cy="46"/>
          </a:xfrm>
        </p:grpSpPr>
        <p:sp>
          <p:nvSpPr>
            <p:cNvPr id="16489" name="Line 128"/>
            <p:cNvSpPr>
              <a:spLocks noChangeShapeType="1"/>
            </p:cNvSpPr>
            <p:nvPr/>
          </p:nvSpPr>
          <p:spPr bwMode="auto">
            <a:xfrm>
              <a:off x="3076" y="2486"/>
              <a:ext cx="1487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90" name="Freeform 129"/>
            <p:cNvSpPr>
              <a:spLocks/>
            </p:cNvSpPr>
            <p:nvPr/>
          </p:nvSpPr>
          <p:spPr bwMode="auto">
            <a:xfrm>
              <a:off x="4562" y="2463"/>
              <a:ext cx="45" cy="46"/>
            </a:xfrm>
            <a:custGeom>
              <a:avLst/>
              <a:gdLst>
                <a:gd name="T0" fmla="*/ 0 w 90"/>
                <a:gd name="T1" fmla="*/ 2 h 92"/>
                <a:gd name="T2" fmla="*/ 2 w 90"/>
                <a:gd name="T3" fmla="*/ 1 h 92"/>
                <a:gd name="T4" fmla="*/ 0 w 90"/>
                <a:gd name="T5" fmla="*/ 0 h 92"/>
                <a:gd name="T6" fmla="*/ 0 w 90"/>
                <a:gd name="T7" fmla="*/ 2 h 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2">
                  <a:moveTo>
                    <a:pt x="0" y="92"/>
                  </a:moveTo>
                  <a:lnTo>
                    <a:pt x="90" y="45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430" name="Group 133"/>
          <p:cNvGrpSpPr>
            <a:grpSpLocks/>
          </p:cNvGrpSpPr>
          <p:nvPr/>
        </p:nvGrpSpPr>
        <p:grpSpPr bwMode="auto">
          <a:xfrm>
            <a:off x="4884738" y="4048125"/>
            <a:ext cx="2428875" cy="73025"/>
            <a:chOff x="3077" y="2550"/>
            <a:chExt cx="1530" cy="46"/>
          </a:xfrm>
        </p:grpSpPr>
        <p:sp>
          <p:nvSpPr>
            <p:cNvPr id="16487" name="Line 131"/>
            <p:cNvSpPr>
              <a:spLocks noChangeShapeType="1"/>
            </p:cNvSpPr>
            <p:nvPr/>
          </p:nvSpPr>
          <p:spPr bwMode="auto">
            <a:xfrm>
              <a:off x="3120" y="2573"/>
              <a:ext cx="1487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88" name="Freeform 132"/>
            <p:cNvSpPr>
              <a:spLocks/>
            </p:cNvSpPr>
            <p:nvPr/>
          </p:nvSpPr>
          <p:spPr bwMode="auto">
            <a:xfrm>
              <a:off x="3077" y="2550"/>
              <a:ext cx="45" cy="46"/>
            </a:xfrm>
            <a:custGeom>
              <a:avLst/>
              <a:gdLst>
                <a:gd name="T0" fmla="*/ 2 w 90"/>
                <a:gd name="T1" fmla="*/ 0 h 91"/>
                <a:gd name="T2" fmla="*/ 0 w 90"/>
                <a:gd name="T3" fmla="*/ 1 h 91"/>
                <a:gd name="T4" fmla="*/ 2 w 90"/>
                <a:gd name="T5" fmla="*/ 2 h 91"/>
                <a:gd name="T6" fmla="*/ 2 w 90"/>
                <a:gd name="T7" fmla="*/ 0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1">
                  <a:moveTo>
                    <a:pt x="90" y="0"/>
                  </a:moveTo>
                  <a:lnTo>
                    <a:pt x="0" y="45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431" name="Group 136"/>
          <p:cNvGrpSpPr>
            <a:grpSpLocks/>
          </p:cNvGrpSpPr>
          <p:nvPr/>
        </p:nvGrpSpPr>
        <p:grpSpPr bwMode="auto">
          <a:xfrm>
            <a:off x="4883150" y="3910013"/>
            <a:ext cx="2430463" cy="73025"/>
            <a:chOff x="3076" y="2463"/>
            <a:chExt cx="1531" cy="46"/>
          </a:xfrm>
        </p:grpSpPr>
        <p:sp>
          <p:nvSpPr>
            <p:cNvPr id="16485" name="Line 134"/>
            <p:cNvSpPr>
              <a:spLocks noChangeShapeType="1"/>
            </p:cNvSpPr>
            <p:nvPr/>
          </p:nvSpPr>
          <p:spPr bwMode="auto">
            <a:xfrm>
              <a:off x="3076" y="2486"/>
              <a:ext cx="1487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86" name="Freeform 135"/>
            <p:cNvSpPr>
              <a:spLocks/>
            </p:cNvSpPr>
            <p:nvPr/>
          </p:nvSpPr>
          <p:spPr bwMode="auto">
            <a:xfrm>
              <a:off x="4562" y="2463"/>
              <a:ext cx="45" cy="46"/>
            </a:xfrm>
            <a:custGeom>
              <a:avLst/>
              <a:gdLst>
                <a:gd name="T0" fmla="*/ 0 w 90"/>
                <a:gd name="T1" fmla="*/ 2 h 92"/>
                <a:gd name="T2" fmla="*/ 2 w 90"/>
                <a:gd name="T3" fmla="*/ 1 h 92"/>
                <a:gd name="T4" fmla="*/ 0 w 90"/>
                <a:gd name="T5" fmla="*/ 0 h 92"/>
                <a:gd name="T6" fmla="*/ 0 w 90"/>
                <a:gd name="T7" fmla="*/ 2 h 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2">
                  <a:moveTo>
                    <a:pt x="0" y="92"/>
                  </a:moveTo>
                  <a:lnTo>
                    <a:pt x="90" y="45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432" name="Group 139"/>
          <p:cNvGrpSpPr>
            <a:grpSpLocks/>
          </p:cNvGrpSpPr>
          <p:nvPr/>
        </p:nvGrpSpPr>
        <p:grpSpPr bwMode="auto">
          <a:xfrm>
            <a:off x="4884738" y="4048125"/>
            <a:ext cx="2428875" cy="73025"/>
            <a:chOff x="3077" y="2550"/>
            <a:chExt cx="1530" cy="46"/>
          </a:xfrm>
        </p:grpSpPr>
        <p:sp>
          <p:nvSpPr>
            <p:cNvPr id="16483" name="Line 137"/>
            <p:cNvSpPr>
              <a:spLocks noChangeShapeType="1"/>
            </p:cNvSpPr>
            <p:nvPr/>
          </p:nvSpPr>
          <p:spPr bwMode="auto">
            <a:xfrm>
              <a:off x="3120" y="2573"/>
              <a:ext cx="1487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84" name="Freeform 138"/>
            <p:cNvSpPr>
              <a:spLocks/>
            </p:cNvSpPr>
            <p:nvPr/>
          </p:nvSpPr>
          <p:spPr bwMode="auto">
            <a:xfrm>
              <a:off x="3077" y="2550"/>
              <a:ext cx="45" cy="46"/>
            </a:xfrm>
            <a:custGeom>
              <a:avLst/>
              <a:gdLst>
                <a:gd name="T0" fmla="*/ 2 w 90"/>
                <a:gd name="T1" fmla="*/ 0 h 91"/>
                <a:gd name="T2" fmla="*/ 0 w 90"/>
                <a:gd name="T3" fmla="*/ 1 h 91"/>
                <a:gd name="T4" fmla="*/ 2 w 90"/>
                <a:gd name="T5" fmla="*/ 2 h 91"/>
                <a:gd name="T6" fmla="*/ 2 w 90"/>
                <a:gd name="T7" fmla="*/ 0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1">
                  <a:moveTo>
                    <a:pt x="90" y="0"/>
                  </a:moveTo>
                  <a:lnTo>
                    <a:pt x="0" y="45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433" name="Rectangle 140"/>
          <p:cNvSpPr>
            <a:spLocks noChangeArrowheads="1"/>
          </p:cNvSpPr>
          <p:nvPr/>
        </p:nvSpPr>
        <p:spPr bwMode="auto">
          <a:xfrm>
            <a:off x="5548313" y="3552825"/>
            <a:ext cx="1109662" cy="669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34" name="Rectangle 141"/>
          <p:cNvSpPr>
            <a:spLocks noChangeArrowheads="1"/>
          </p:cNvSpPr>
          <p:nvPr/>
        </p:nvSpPr>
        <p:spPr bwMode="auto">
          <a:xfrm>
            <a:off x="5659438" y="3844925"/>
            <a:ext cx="976312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SOAP Request</a:t>
            </a:r>
            <a:endParaRPr lang="en-US" altLang="en-US" sz="2400"/>
          </a:p>
        </p:txBody>
      </p:sp>
      <p:sp>
        <p:nvSpPr>
          <p:cNvPr id="16435" name="Rectangle 142"/>
          <p:cNvSpPr>
            <a:spLocks noChangeArrowheads="1"/>
          </p:cNvSpPr>
          <p:nvPr/>
        </p:nvSpPr>
        <p:spPr bwMode="auto">
          <a:xfrm>
            <a:off x="5614988" y="4022725"/>
            <a:ext cx="106838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SOAP Response</a:t>
            </a:r>
            <a:endParaRPr lang="en-US" altLang="en-US" sz="2400"/>
          </a:p>
        </p:txBody>
      </p:sp>
      <p:sp>
        <p:nvSpPr>
          <p:cNvPr id="16436" name="Rectangle 143"/>
          <p:cNvSpPr>
            <a:spLocks noChangeArrowheads="1"/>
          </p:cNvSpPr>
          <p:nvPr/>
        </p:nvSpPr>
        <p:spPr bwMode="auto">
          <a:xfrm>
            <a:off x="5118100" y="3579813"/>
            <a:ext cx="1973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37" name="Rectangle 144"/>
          <p:cNvSpPr>
            <a:spLocks noChangeArrowheads="1"/>
          </p:cNvSpPr>
          <p:nvPr/>
        </p:nvSpPr>
        <p:spPr bwMode="auto">
          <a:xfrm>
            <a:off x="5184775" y="3621088"/>
            <a:ext cx="195738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Request/Response Messaging</a:t>
            </a:r>
            <a:endParaRPr lang="en-US" altLang="en-US" sz="2400"/>
          </a:p>
        </p:txBody>
      </p:sp>
      <p:sp>
        <p:nvSpPr>
          <p:cNvPr id="16438" name="Rectangle 145"/>
          <p:cNvSpPr>
            <a:spLocks noChangeArrowheads="1"/>
          </p:cNvSpPr>
          <p:nvPr/>
        </p:nvSpPr>
        <p:spPr bwMode="auto">
          <a:xfrm>
            <a:off x="5548313" y="3552825"/>
            <a:ext cx="1109662" cy="669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39" name="Rectangle 146"/>
          <p:cNvSpPr>
            <a:spLocks noChangeArrowheads="1"/>
          </p:cNvSpPr>
          <p:nvPr/>
        </p:nvSpPr>
        <p:spPr bwMode="auto">
          <a:xfrm>
            <a:off x="5659438" y="3844925"/>
            <a:ext cx="976312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SOAP Request</a:t>
            </a:r>
            <a:endParaRPr lang="en-US" altLang="en-US" sz="2400"/>
          </a:p>
        </p:txBody>
      </p:sp>
      <p:sp>
        <p:nvSpPr>
          <p:cNvPr id="16440" name="Rectangle 147"/>
          <p:cNvSpPr>
            <a:spLocks noChangeArrowheads="1"/>
          </p:cNvSpPr>
          <p:nvPr/>
        </p:nvSpPr>
        <p:spPr bwMode="auto">
          <a:xfrm>
            <a:off x="5614988" y="4022725"/>
            <a:ext cx="1068387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SOAP Response</a:t>
            </a:r>
            <a:endParaRPr lang="en-US" altLang="en-US" sz="2400"/>
          </a:p>
        </p:txBody>
      </p:sp>
      <p:sp>
        <p:nvSpPr>
          <p:cNvPr id="16441" name="Rectangle 148"/>
          <p:cNvSpPr>
            <a:spLocks noChangeArrowheads="1"/>
          </p:cNvSpPr>
          <p:nvPr/>
        </p:nvSpPr>
        <p:spPr bwMode="auto">
          <a:xfrm>
            <a:off x="5118100" y="3579813"/>
            <a:ext cx="1973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42" name="Rectangle 149"/>
          <p:cNvSpPr>
            <a:spLocks noChangeArrowheads="1"/>
          </p:cNvSpPr>
          <p:nvPr/>
        </p:nvSpPr>
        <p:spPr bwMode="auto">
          <a:xfrm>
            <a:off x="5184775" y="3621088"/>
            <a:ext cx="195738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Request/Response Messaging</a:t>
            </a:r>
            <a:endParaRPr lang="en-US" altLang="en-US" sz="2400"/>
          </a:p>
        </p:txBody>
      </p:sp>
      <p:sp>
        <p:nvSpPr>
          <p:cNvPr id="16443" name="Oval 150"/>
          <p:cNvSpPr>
            <a:spLocks noChangeArrowheads="1"/>
          </p:cNvSpPr>
          <p:nvPr/>
        </p:nvSpPr>
        <p:spPr bwMode="auto">
          <a:xfrm>
            <a:off x="4298950" y="4745038"/>
            <a:ext cx="577850" cy="439737"/>
          </a:xfrm>
          <a:prstGeom prst="ellipse">
            <a:avLst/>
          </a:prstGeom>
          <a:noFill/>
          <a:ln w="17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44" name="Freeform 151"/>
          <p:cNvSpPr>
            <a:spLocks/>
          </p:cNvSpPr>
          <p:nvPr/>
        </p:nvSpPr>
        <p:spPr bwMode="auto">
          <a:xfrm>
            <a:off x="7331075" y="4660900"/>
            <a:ext cx="1216025" cy="606425"/>
          </a:xfrm>
          <a:custGeom>
            <a:avLst/>
            <a:gdLst>
              <a:gd name="T0" fmla="*/ 2147483646 w 1531"/>
              <a:gd name="T1" fmla="*/ 0 h 766"/>
              <a:gd name="T2" fmla="*/ 2147483646 w 1531"/>
              <a:gd name="T3" fmla="*/ 2147483646 h 766"/>
              <a:gd name="T4" fmla="*/ 2147483646 w 1531"/>
              <a:gd name="T5" fmla="*/ 2147483646 h 766"/>
              <a:gd name="T6" fmla="*/ 2147483646 w 1531"/>
              <a:gd name="T7" fmla="*/ 2147483646 h 766"/>
              <a:gd name="T8" fmla="*/ 2147483646 w 1531"/>
              <a:gd name="T9" fmla="*/ 2147483646 h 766"/>
              <a:gd name="T10" fmla="*/ 2147483646 w 1531"/>
              <a:gd name="T11" fmla="*/ 2147483646 h 766"/>
              <a:gd name="T12" fmla="*/ 2147483646 w 1531"/>
              <a:gd name="T13" fmla="*/ 2147483646 h 766"/>
              <a:gd name="T14" fmla="*/ 2147483646 w 1531"/>
              <a:gd name="T15" fmla="*/ 2147483646 h 766"/>
              <a:gd name="T16" fmla="*/ 0 w 1531"/>
              <a:gd name="T17" fmla="*/ 2147483646 h 766"/>
              <a:gd name="T18" fmla="*/ 0 w 1531"/>
              <a:gd name="T19" fmla="*/ 2147483646 h 766"/>
              <a:gd name="T20" fmla="*/ 2147483646 w 1531"/>
              <a:gd name="T21" fmla="*/ 2147483646 h 766"/>
              <a:gd name="T22" fmla="*/ 2147483646 w 1531"/>
              <a:gd name="T23" fmla="*/ 2147483646 h 766"/>
              <a:gd name="T24" fmla="*/ 2147483646 w 1531"/>
              <a:gd name="T25" fmla="*/ 2147483646 h 766"/>
              <a:gd name="T26" fmla="*/ 2147483646 w 1531"/>
              <a:gd name="T27" fmla="*/ 2147483646 h 766"/>
              <a:gd name="T28" fmla="*/ 2147483646 w 1531"/>
              <a:gd name="T29" fmla="*/ 2147483646 h 766"/>
              <a:gd name="T30" fmla="*/ 2147483646 w 1531"/>
              <a:gd name="T31" fmla="*/ 2147483646 h 766"/>
              <a:gd name="T32" fmla="*/ 2147483646 w 1531"/>
              <a:gd name="T33" fmla="*/ 2147483646 h 766"/>
              <a:gd name="T34" fmla="*/ 2147483646 w 1531"/>
              <a:gd name="T35" fmla="*/ 2147483646 h 766"/>
              <a:gd name="T36" fmla="*/ 2147483646 w 1531"/>
              <a:gd name="T37" fmla="*/ 2147483646 h 766"/>
              <a:gd name="T38" fmla="*/ 2147483646 w 1531"/>
              <a:gd name="T39" fmla="*/ 2147483646 h 766"/>
              <a:gd name="T40" fmla="*/ 2147483646 w 1531"/>
              <a:gd name="T41" fmla="*/ 2147483646 h 766"/>
              <a:gd name="T42" fmla="*/ 2147483646 w 1531"/>
              <a:gd name="T43" fmla="*/ 2147483646 h 766"/>
              <a:gd name="T44" fmla="*/ 2147483646 w 1531"/>
              <a:gd name="T45" fmla="*/ 2147483646 h 766"/>
              <a:gd name="T46" fmla="*/ 2147483646 w 1531"/>
              <a:gd name="T47" fmla="*/ 2147483646 h 766"/>
              <a:gd name="T48" fmla="*/ 2147483646 w 1531"/>
              <a:gd name="T49" fmla="*/ 2147483646 h 766"/>
              <a:gd name="T50" fmla="*/ 2147483646 w 1531"/>
              <a:gd name="T51" fmla="*/ 2147483646 h 766"/>
              <a:gd name="T52" fmla="*/ 2147483646 w 1531"/>
              <a:gd name="T53" fmla="*/ 2147483646 h 766"/>
              <a:gd name="T54" fmla="*/ 2147483646 w 1531"/>
              <a:gd name="T55" fmla="*/ 2147483646 h 766"/>
              <a:gd name="T56" fmla="*/ 2147483646 w 1531"/>
              <a:gd name="T57" fmla="*/ 2147483646 h 766"/>
              <a:gd name="T58" fmla="*/ 2147483646 w 1531"/>
              <a:gd name="T59" fmla="*/ 2147483646 h 766"/>
              <a:gd name="T60" fmla="*/ 2147483646 w 1531"/>
              <a:gd name="T61" fmla="*/ 2147483646 h 766"/>
              <a:gd name="T62" fmla="*/ 2147483646 w 1531"/>
              <a:gd name="T63" fmla="*/ 2147483646 h 766"/>
              <a:gd name="T64" fmla="*/ 2147483646 w 1531"/>
              <a:gd name="T65" fmla="*/ 2147483646 h 766"/>
              <a:gd name="T66" fmla="*/ 2147483646 w 1531"/>
              <a:gd name="T67" fmla="*/ 2147483646 h 766"/>
              <a:gd name="T68" fmla="*/ 2147483646 w 1531"/>
              <a:gd name="T69" fmla="*/ 2147483646 h 766"/>
              <a:gd name="T70" fmla="*/ 2147483646 w 1531"/>
              <a:gd name="T71" fmla="*/ 0 h 766"/>
              <a:gd name="T72" fmla="*/ 2147483646 w 1531"/>
              <a:gd name="T73" fmla="*/ 0 h 76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31" h="766">
                <a:moveTo>
                  <a:pt x="128" y="0"/>
                </a:moveTo>
                <a:lnTo>
                  <a:pt x="102" y="3"/>
                </a:lnTo>
                <a:lnTo>
                  <a:pt x="79" y="10"/>
                </a:lnTo>
                <a:lnTo>
                  <a:pt x="57" y="22"/>
                </a:lnTo>
                <a:lnTo>
                  <a:pt x="38" y="38"/>
                </a:lnTo>
                <a:lnTo>
                  <a:pt x="22" y="57"/>
                </a:lnTo>
                <a:lnTo>
                  <a:pt x="10" y="79"/>
                </a:lnTo>
                <a:lnTo>
                  <a:pt x="3" y="102"/>
                </a:lnTo>
                <a:lnTo>
                  <a:pt x="0" y="128"/>
                </a:lnTo>
                <a:lnTo>
                  <a:pt x="0" y="638"/>
                </a:lnTo>
                <a:lnTo>
                  <a:pt x="3" y="664"/>
                </a:lnTo>
                <a:lnTo>
                  <a:pt x="10" y="687"/>
                </a:lnTo>
                <a:lnTo>
                  <a:pt x="22" y="709"/>
                </a:lnTo>
                <a:lnTo>
                  <a:pt x="38" y="728"/>
                </a:lnTo>
                <a:lnTo>
                  <a:pt x="57" y="744"/>
                </a:lnTo>
                <a:lnTo>
                  <a:pt x="79" y="756"/>
                </a:lnTo>
                <a:lnTo>
                  <a:pt x="102" y="763"/>
                </a:lnTo>
                <a:lnTo>
                  <a:pt x="128" y="766"/>
                </a:lnTo>
                <a:lnTo>
                  <a:pt x="1403" y="766"/>
                </a:lnTo>
                <a:lnTo>
                  <a:pt x="1430" y="763"/>
                </a:lnTo>
                <a:lnTo>
                  <a:pt x="1453" y="756"/>
                </a:lnTo>
                <a:lnTo>
                  <a:pt x="1474" y="744"/>
                </a:lnTo>
                <a:lnTo>
                  <a:pt x="1493" y="728"/>
                </a:lnTo>
                <a:lnTo>
                  <a:pt x="1509" y="709"/>
                </a:lnTo>
                <a:lnTo>
                  <a:pt x="1521" y="687"/>
                </a:lnTo>
                <a:lnTo>
                  <a:pt x="1528" y="664"/>
                </a:lnTo>
                <a:lnTo>
                  <a:pt x="1531" y="638"/>
                </a:lnTo>
                <a:lnTo>
                  <a:pt x="1531" y="128"/>
                </a:lnTo>
                <a:lnTo>
                  <a:pt x="1528" y="102"/>
                </a:lnTo>
                <a:lnTo>
                  <a:pt x="1521" y="79"/>
                </a:lnTo>
                <a:lnTo>
                  <a:pt x="1509" y="57"/>
                </a:lnTo>
                <a:lnTo>
                  <a:pt x="1493" y="38"/>
                </a:lnTo>
                <a:lnTo>
                  <a:pt x="1474" y="22"/>
                </a:lnTo>
                <a:lnTo>
                  <a:pt x="1453" y="10"/>
                </a:lnTo>
                <a:lnTo>
                  <a:pt x="1430" y="3"/>
                </a:lnTo>
                <a:lnTo>
                  <a:pt x="1403" y="0"/>
                </a:lnTo>
                <a:lnTo>
                  <a:pt x="128" y="0"/>
                </a:lnTo>
                <a:close/>
              </a:path>
            </a:pathLst>
          </a:custGeom>
          <a:noFill/>
          <a:ln w="17">
            <a:solidFill>
              <a:srgbClr val="FF999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445" name="Rectangle 154"/>
          <p:cNvSpPr>
            <a:spLocks noChangeArrowheads="1"/>
          </p:cNvSpPr>
          <p:nvPr/>
        </p:nvSpPr>
        <p:spPr bwMode="auto">
          <a:xfrm>
            <a:off x="7610475" y="5313363"/>
            <a:ext cx="6588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16446" name="Group 158"/>
          <p:cNvGrpSpPr>
            <a:grpSpLocks/>
          </p:cNvGrpSpPr>
          <p:nvPr/>
        </p:nvGrpSpPr>
        <p:grpSpPr bwMode="auto">
          <a:xfrm>
            <a:off x="4889500" y="4937125"/>
            <a:ext cx="2428875" cy="73025"/>
            <a:chOff x="3080" y="3110"/>
            <a:chExt cx="1530" cy="46"/>
          </a:xfrm>
        </p:grpSpPr>
        <p:sp>
          <p:nvSpPr>
            <p:cNvPr id="16481" name="Line 156"/>
            <p:cNvSpPr>
              <a:spLocks noChangeShapeType="1"/>
            </p:cNvSpPr>
            <p:nvPr/>
          </p:nvSpPr>
          <p:spPr bwMode="auto">
            <a:xfrm>
              <a:off x="3123" y="3133"/>
              <a:ext cx="1487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82" name="Freeform 157"/>
            <p:cNvSpPr>
              <a:spLocks/>
            </p:cNvSpPr>
            <p:nvPr/>
          </p:nvSpPr>
          <p:spPr bwMode="auto">
            <a:xfrm>
              <a:off x="3080" y="3110"/>
              <a:ext cx="45" cy="46"/>
            </a:xfrm>
            <a:custGeom>
              <a:avLst/>
              <a:gdLst>
                <a:gd name="T0" fmla="*/ 2 w 90"/>
                <a:gd name="T1" fmla="*/ 0 h 91"/>
                <a:gd name="T2" fmla="*/ 0 w 90"/>
                <a:gd name="T3" fmla="*/ 1 h 91"/>
                <a:gd name="T4" fmla="*/ 2 w 90"/>
                <a:gd name="T5" fmla="*/ 2 h 91"/>
                <a:gd name="T6" fmla="*/ 2 w 90"/>
                <a:gd name="T7" fmla="*/ 0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1">
                  <a:moveTo>
                    <a:pt x="90" y="0"/>
                  </a:moveTo>
                  <a:lnTo>
                    <a:pt x="0" y="46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447" name="Rectangle 159"/>
          <p:cNvSpPr>
            <a:spLocks noChangeArrowheads="1"/>
          </p:cNvSpPr>
          <p:nvPr/>
        </p:nvSpPr>
        <p:spPr bwMode="auto">
          <a:xfrm>
            <a:off x="5314950" y="4691063"/>
            <a:ext cx="1582738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48" name="Rectangle 160"/>
          <p:cNvSpPr>
            <a:spLocks noChangeArrowheads="1"/>
          </p:cNvSpPr>
          <p:nvPr/>
        </p:nvSpPr>
        <p:spPr bwMode="auto">
          <a:xfrm>
            <a:off x="5381625" y="4732338"/>
            <a:ext cx="15541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Notification Messaging</a:t>
            </a:r>
            <a:endParaRPr lang="en-US" altLang="en-US" sz="2400"/>
          </a:p>
        </p:txBody>
      </p:sp>
      <p:sp>
        <p:nvSpPr>
          <p:cNvPr id="16449" name="Rectangle 161"/>
          <p:cNvSpPr>
            <a:spLocks noChangeArrowheads="1"/>
          </p:cNvSpPr>
          <p:nvPr/>
        </p:nvSpPr>
        <p:spPr bwMode="auto">
          <a:xfrm>
            <a:off x="5524500" y="5037138"/>
            <a:ext cx="126047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SOAP Notification </a:t>
            </a:r>
            <a:endParaRPr lang="en-US" altLang="en-US" sz="2400"/>
          </a:p>
        </p:txBody>
      </p:sp>
      <p:sp>
        <p:nvSpPr>
          <p:cNvPr id="16450" name="Oval 162"/>
          <p:cNvSpPr>
            <a:spLocks noChangeArrowheads="1"/>
          </p:cNvSpPr>
          <p:nvPr/>
        </p:nvSpPr>
        <p:spPr bwMode="auto">
          <a:xfrm>
            <a:off x="4298950" y="4745038"/>
            <a:ext cx="577850" cy="439737"/>
          </a:xfrm>
          <a:prstGeom prst="ellipse">
            <a:avLst/>
          </a:prstGeom>
          <a:noFill/>
          <a:ln w="17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51" name="Freeform 163"/>
          <p:cNvSpPr>
            <a:spLocks/>
          </p:cNvSpPr>
          <p:nvPr/>
        </p:nvSpPr>
        <p:spPr bwMode="auto">
          <a:xfrm>
            <a:off x="7331075" y="4660900"/>
            <a:ext cx="1216025" cy="606425"/>
          </a:xfrm>
          <a:custGeom>
            <a:avLst/>
            <a:gdLst>
              <a:gd name="T0" fmla="*/ 2147483646 w 1531"/>
              <a:gd name="T1" fmla="*/ 0 h 766"/>
              <a:gd name="T2" fmla="*/ 2147483646 w 1531"/>
              <a:gd name="T3" fmla="*/ 2147483646 h 766"/>
              <a:gd name="T4" fmla="*/ 2147483646 w 1531"/>
              <a:gd name="T5" fmla="*/ 2147483646 h 766"/>
              <a:gd name="T6" fmla="*/ 2147483646 w 1531"/>
              <a:gd name="T7" fmla="*/ 2147483646 h 766"/>
              <a:gd name="T8" fmla="*/ 2147483646 w 1531"/>
              <a:gd name="T9" fmla="*/ 2147483646 h 766"/>
              <a:gd name="T10" fmla="*/ 2147483646 w 1531"/>
              <a:gd name="T11" fmla="*/ 2147483646 h 766"/>
              <a:gd name="T12" fmla="*/ 2147483646 w 1531"/>
              <a:gd name="T13" fmla="*/ 2147483646 h 766"/>
              <a:gd name="T14" fmla="*/ 2147483646 w 1531"/>
              <a:gd name="T15" fmla="*/ 2147483646 h 766"/>
              <a:gd name="T16" fmla="*/ 0 w 1531"/>
              <a:gd name="T17" fmla="*/ 2147483646 h 766"/>
              <a:gd name="T18" fmla="*/ 0 w 1531"/>
              <a:gd name="T19" fmla="*/ 2147483646 h 766"/>
              <a:gd name="T20" fmla="*/ 2147483646 w 1531"/>
              <a:gd name="T21" fmla="*/ 2147483646 h 766"/>
              <a:gd name="T22" fmla="*/ 2147483646 w 1531"/>
              <a:gd name="T23" fmla="*/ 2147483646 h 766"/>
              <a:gd name="T24" fmla="*/ 2147483646 w 1531"/>
              <a:gd name="T25" fmla="*/ 2147483646 h 766"/>
              <a:gd name="T26" fmla="*/ 2147483646 w 1531"/>
              <a:gd name="T27" fmla="*/ 2147483646 h 766"/>
              <a:gd name="T28" fmla="*/ 2147483646 w 1531"/>
              <a:gd name="T29" fmla="*/ 2147483646 h 766"/>
              <a:gd name="T30" fmla="*/ 2147483646 w 1531"/>
              <a:gd name="T31" fmla="*/ 2147483646 h 766"/>
              <a:gd name="T32" fmla="*/ 2147483646 w 1531"/>
              <a:gd name="T33" fmla="*/ 2147483646 h 766"/>
              <a:gd name="T34" fmla="*/ 2147483646 w 1531"/>
              <a:gd name="T35" fmla="*/ 2147483646 h 766"/>
              <a:gd name="T36" fmla="*/ 2147483646 w 1531"/>
              <a:gd name="T37" fmla="*/ 2147483646 h 766"/>
              <a:gd name="T38" fmla="*/ 2147483646 w 1531"/>
              <a:gd name="T39" fmla="*/ 2147483646 h 766"/>
              <a:gd name="T40" fmla="*/ 2147483646 w 1531"/>
              <a:gd name="T41" fmla="*/ 2147483646 h 766"/>
              <a:gd name="T42" fmla="*/ 2147483646 w 1531"/>
              <a:gd name="T43" fmla="*/ 2147483646 h 766"/>
              <a:gd name="T44" fmla="*/ 2147483646 w 1531"/>
              <a:gd name="T45" fmla="*/ 2147483646 h 766"/>
              <a:gd name="T46" fmla="*/ 2147483646 w 1531"/>
              <a:gd name="T47" fmla="*/ 2147483646 h 766"/>
              <a:gd name="T48" fmla="*/ 2147483646 w 1531"/>
              <a:gd name="T49" fmla="*/ 2147483646 h 766"/>
              <a:gd name="T50" fmla="*/ 2147483646 w 1531"/>
              <a:gd name="T51" fmla="*/ 2147483646 h 766"/>
              <a:gd name="T52" fmla="*/ 2147483646 w 1531"/>
              <a:gd name="T53" fmla="*/ 2147483646 h 766"/>
              <a:gd name="T54" fmla="*/ 2147483646 w 1531"/>
              <a:gd name="T55" fmla="*/ 2147483646 h 766"/>
              <a:gd name="T56" fmla="*/ 2147483646 w 1531"/>
              <a:gd name="T57" fmla="*/ 2147483646 h 766"/>
              <a:gd name="T58" fmla="*/ 2147483646 w 1531"/>
              <a:gd name="T59" fmla="*/ 2147483646 h 766"/>
              <a:gd name="T60" fmla="*/ 2147483646 w 1531"/>
              <a:gd name="T61" fmla="*/ 2147483646 h 766"/>
              <a:gd name="T62" fmla="*/ 2147483646 w 1531"/>
              <a:gd name="T63" fmla="*/ 2147483646 h 766"/>
              <a:gd name="T64" fmla="*/ 2147483646 w 1531"/>
              <a:gd name="T65" fmla="*/ 2147483646 h 766"/>
              <a:gd name="T66" fmla="*/ 2147483646 w 1531"/>
              <a:gd name="T67" fmla="*/ 2147483646 h 766"/>
              <a:gd name="T68" fmla="*/ 2147483646 w 1531"/>
              <a:gd name="T69" fmla="*/ 2147483646 h 766"/>
              <a:gd name="T70" fmla="*/ 2147483646 w 1531"/>
              <a:gd name="T71" fmla="*/ 0 h 766"/>
              <a:gd name="T72" fmla="*/ 2147483646 w 1531"/>
              <a:gd name="T73" fmla="*/ 0 h 76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31" h="766">
                <a:moveTo>
                  <a:pt x="128" y="0"/>
                </a:moveTo>
                <a:lnTo>
                  <a:pt x="102" y="3"/>
                </a:lnTo>
                <a:lnTo>
                  <a:pt x="79" y="10"/>
                </a:lnTo>
                <a:lnTo>
                  <a:pt x="57" y="22"/>
                </a:lnTo>
                <a:lnTo>
                  <a:pt x="38" y="38"/>
                </a:lnTo>
                <a:lnTo>
                  <a:pt x="22" y="57"/>
                </a:lnTo>
                <a:lnTo>
                  <a:pt x="10" y="79"/>
                </a:lnTo>
                <a:lnTo>
                  <a:pt x="3" y="102"/>
                </a:lnTo>
                <a:lnTo>
                  <a:pt x="0" y="128"/>
                </a:lnTo>
                <a:lnTo>
                  <a:pt x="0" y="638"/>
                </a:lnTo>
                <a:lnTo>
                  <a:pt x="3" y="664"/>
                </a:lnTo>
                <a:lnTo>
                  <a:pt x="10" y="687"/>
                </a:lnTo>
                <a:lnTo>
                  <a:pt x="22" y="709"/>
                </a:lnTo>
                <a:lnTo>
                  <a:pt x="38" y="728"/>
                </a:lnTo>
                <a:lnTo>
                  <a:pt x="57" y="744"/>
                </a:lnTo>
                <a:lnTo>
                  <a:pt x="79" y="756"/>
                </a:lnTo>
                <a:lnTo>
                  <a:pt x="102" y="763"/>
                </a:lnTo>
                <a:lnTo>
                  <a:pt x="128" y="766"/>
                </a:lnTo>
                <a:lnTo>
                  <a:pt x="1403" y="766"/>
                </a:lnTo>
                <a:lnTo>
                  <a:pt x="1430" y="763"/>
                </a:lnTo>
                <a:lnTo>
                  <a:pt x="1453" y="756"/>
                </a:lnTo>
                <a:lnTo>
                  <a:pt x="1474" y="744"/>
                </a:lnTo>
                <a:lnTo>
                  <a:pt x="1493" y="728"/>
                </a:lnTo>
                <a:lnTo>
                  <a:pt x="1509" y="709"/>
                </a:lnTo>
                <a:lnTo>
                  <a:pt x="1521" y="687"/>
                </a:lnTo>
                <a:lnTo>
                  <a:pt x="1528" y="664"/>
                </a:lnTo>
                <a:lnTo>
                  <a:pt x="1531" y="638"/>
                </a:lnTo>
                <a:lnTo>
                  <a:pt x="1531" y="128"/>
                </a:lnTo>
                <a:lnTo>
                  <a:pt x="1528" y="102"/>
                </a:lnTo>
                <a:lnTo>
                  <a:pt x="1521" y="79"/>
                </a:lnTo>
                <a:lnTo>
                  <a:pt x="1509" y="57"/>
                </a:lnTo>
                <a:lnTo>
                  <a:pt x="1493" y="38"/>
                </a:lnTo>
                <a:lnTo>
                  <a:pt x="1474" y="22"/>
                </a:lnTo>
                <a:lnTo>
                  <a:pt x="1453" y="10"/>
                </a:lnTo>
                <a:lnTo>
                  <a:pt x="1430" y="3"/>
                </a:lnTo>
                <a:lnTo>
                  <a:pt x="1403" y="0"/>
                </a:lnTo>
                <a:lnTo>
                  <a:pt x="128" y="0"/>
                </a:lnTo>
                <a:close/>
              </a:path>
            </a:pathLst>
          </a:custGeom>
          <a:noFill/>
          <a:ln w="17">
            <a:solidFill>
              <a:srgbClr val="FF999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452" name="Rectangle 166"/>
          <p:cNvSpPr>
            <a:spLocks noChangeArrowheads="1"/>
          </p:cNvSpPr>
          <p:nvPr/>
        </p:nvSpPr>
        <p:spPr bwMode="auto">
          <a:xfrm>
            <a:off x="7610475" y="5313363"/>
            <a:ext cx="6588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16453" name="Group 170"/>
          <p:cNvGrpSpPr>
            <a:grpSpLocks/>
          </p:cNvGrpSpPr>
          <p:nvPr/>
        </p:nvGrpSpPr>
        <p:grpSpPr bwMode="auto">
          <a:xfrm>
            <a:off x="4889500" y="4937125"/>
            <a:ext cx="2428875" cy="73025"/>
            <a:chOff x="3080" y="3110"/>
            <a:chExt cx="1530" cy="46"/>
          </a:xfrm>
        </p:grpSpPr>
        <p:sp>
          <p:nvSpPr>
            <p:cNvPr id="16479" name="Line 168"/>
            <p:cNvSpPr>
              <a:spLocks noChangeShapeType="1"/>
            </p:cNvSpPr>
            <p:nvPr/>
          </p:nvSpPr>
          <p:spPr bwMode="auto">
            <a:xfrm>
              <a:off x="3123" y="3133"/>
              <a:ext cx="1487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80" name="Freeform 169"/>
            <p:cNvSpPr>
              <a:spLocks/>
            </p:cNvSpPr>
            <p:nvPr/>
          </p:nvSpPr>
          <p:spPr bwMode="auto">
            <a:xfrm>
              <a:off x="3080" y="3110"/>
              <a:ext cx="45" cy="46"/>
            </a:xfrm>
            <a:custGeom>
              <a:avLst/>
              <a:gdLst>
                <a:gd name="T0" fmla="*/ 2 w 90"/>
                <a:gd name="T1" fmla="*/ 0 h 91"/>
                <a:gd name="T2" fmla="*/ 0 w 90"/>
                <a:gd name="T3" fmla="*/ 1 h 91"/>
                <a:gd name="T4" fmla="*/ 2 w 90"/>
                <a:gd name="T5" fmla="*/ 2 h 91"/>
                <a:gd name="T6" fmla="*/ 2 w 90"/>
                <a:gd name="T7" fmla="*/ 0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1">
                  <a:moveTo>
                    <a:pt x="90" y="0"/>
                  </a:moveTo>
                  <a:lnTo>
                    <a:pt x="0" y="46"/>
                  </a:lnTo>
                  <a:lnTo>
                    <a:pt x="90" y="9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454" name="Rectangle 171"/>
          <p:cNvSpPr>
            <a:spLocks noChangeArrowheads="1"/>
          </p:cNvSpPr>
          <p:nvPr/>
        </p:nvSpPr>
        <p:spPr bwMode="auto">
          <a:xfrm>
            <a:off x="5314950" y="4691063"/>
            <a:ext cx="1582738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55" name="Rectangle 172"/>
          <p:cNvSpPr>
            <a:spLocks noChangeArrowheads="1"/>
          </p:cNvSpPr>
          <p:nvPr/>
        </p:nvSpPr>
        <p:spPr bwMode="auto">
          <a:xfrm>
            <a:off x="5381625" y="4732338"/>
            <a:ext cx="15541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Times New Roman" panose="02020603050405020304" pitchFamily="18" charset="0"/>
              </a:rPr>
              <a:t>Notification Messaging</a:t>
            </a:r>
            <a:endParaRPr lang="en-US" altLang="en-US" sz="2400"/>
          </a:p>
        </p:txBody>
      </p:sp>
      <p:sp>
        <p:nvSpPr>
          <p:cNvPr id="16456" name="Rectangle 173"/>
          <p:cNvSpPr>
            <a:spLocks noChangeArrowheads="1"/>
          </p:cNvSpPr>
          <p:nvPr/>
        </p:nvSpPr>
        <p:spPr bwMode="auto">
          <a:xfrm>
            <a:off x="5524500" y="5037138"/>
            <a:ext cx="126047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SOAP Notification </a:t>
            </a:r>
            <a:endParaRPr lang="en-US" altLang="en-US" sz="2400"/>
          </a:p>
        </p:txBody>
      </p:sp>
      <p:sp>
        <p:nvSpPr>
          <p:cNvPr id="16457" name="Oval 178"/>
          <p:cNvSpPr>
            <a:spLocks noChangeArrowheads="1"/>
          </p:cNvSpPr>
          <p:nvPr/>
        </p:nvSpPr>
        <p:spPr bwMode="auto">
          <a:xfrm>
            <a:off x="4298950" y="5861050"/>
            <a:ext cx="577850" cy="441325"/>
          </a:xfrm>
          <a:prstGeom prst="ellipse">
            <a:avLst/>
          </a:prstGeom>
          <a:noFill/>
          <a:ln w="17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16458" name="Freeform 179"/>
          <p:cNvSpPr>
            <a:spLocks/>
          </p:cNvSpPr>
          <p:nvPr/>
        </p:nvSpPr>
        <p:spPr bwMode="auto">
          <a:xfrm>
            <a:off x="7331075" y="5776913"/>
            <a:ext cx="1216025" cy="608012"/>
          </a:xfrm>
          <a:custGeom>
            <a:avLst/>
            <a:gdLst>
              <a:gd name="T0" fmla="*/ 2147483646 w 1531"/>
              <a:gd name="T1" fmla="*/ 0 h 765"/>
              <a:gd name="T2" fmla="*/ 2147483646 w 1531"/>
              <a:gd name="T3" fmla="*/ 2147483646 h 765"/>
              <a:gd name="T4" fmla="*/ 2147483646 w 1531"/>
              <a:gd name="T5" fmla="*/ 2147483646 h 765"/>
              <a:gd name="T6" fmla="*/ 2147483646 w 1531"/>
              <a:gd name="T7" fmla="*/ 2147483646 h 765"/>
              <a:gd name="T8" fmla="*/ 2147483646 w 1531"/>
              <a:gd name="T9" fmla="*/ 2147483646 h 765"/>
              <a:gd name="T10" fmla="*/ 2147483646 w 1531"/>
              <a:gd name="T11" fmla="*/ 2147483646 h 765"/>
              <a:gd name="T12" fmla="*/ 2147483646 w 1531"/>
              <a:gd name="T13" fmla="*/ 2147483646 h 765"/>
              <a:gd name="T14" fmla="*/ 2147483646 w 1531"/>
              <a:gd name="T15" fmla="*/ 2147483646 h 765"/>
              <a:gd name="T16" fmla="*/ 0 w 1531"/>
              <a:gd name="T17" fmla="*/ 2147483646 h 765"/>
              <a:gd name="T18" fmla="*/ 0 w 1531"/>
              <a:gd name="T19" fmla="*/ 2147483646 h 765"/>
              <a:gd name="T20" fmla="*/ 2147483646 w 1531"/>
              <a:gd name="T21" fmla="*/ 2147483646 h 765"/>
              <a:gd name="T22" fmla="*/ 2147483646 w 1531"/>
              <a:gd name="T23" fmla="*/ 2147483646 h 765"/>
              <a:gd name="T24" fmla="*/ 2147483646 w 1531"/>
              <a:gd name="T25" fmla="*/ 2147483646 h 765"/>
              <a:gd name="T26" fmla="*/ 2147483646 w 1531"/>
              <a:gd name="T27" fmla="*/ 2147483646 h 765"/>
              <a:gd name="T28" fmla="*/ 2147483646 w 1531"/>
              <a:gd name="T29" fmla="*/ 2147483646 h 765"/>
              <a:gd name="T30" fmla="*/ 2147483646 w 1531"/>
              <a:gd name="T31" fmla="*/ 2147483646 h 765"/>
              <a:gd name="T32" fmla="*/ 2147483646 w 1531"/>
              <a:gd name="T33" fmla="*/ 2147483646 h 765"/>
              <a:gd name="T34" fmla="*/ 2147483646 w 1531"/>
              <a:gd name="T35" fmla="*/ 2147483646 h 765"/>
              <a:gd name="T36" fmla="*/ 2147483646 w 1531"/>
              <a:gd name="T37" fmla="*/ 2147483646 h 765"/>
              <a:gd name="T38" fmla="*/ 2147483646 w 1531"/>
              <a:gd name="T39" fmla="*/ 2147483646 h 765"/>
              <a:gd name="T40" fmla="*/ 2147483646 w 1531"/>
              <a:gd name="T41" fmla="*/ 2147483646 h 765"/>
              <a:gd name="T42" fmla="*/ 2147483646 w 1531"/>
              <a:gd name="T43" fmla="*/ 2147483646 h 765"/>
              <a:gd name="T44" fmla="*/ 2147483646 w 1531"/>
              <a:gd name="T45" fmla="*/ 2147483646 h 765"/>
              <a:gd name="T46" fmla="*/ 2147483646 w 1531"/>
              <a:gd name="T47" fmla="*/ 2147483646 h 765"/>
              <a:gd name="T48" fmla="*/ 2147483646 w 1531"/>
              <a:gd name="T49" fmla="*/ 2147483646 h 765"/>
              <a:gd name="T50" fmla="*/ 2147483646 w 1531"/>
              <a:gd name="T51" fmla="*/ 2147483646 h 765"/>
              <a:gd name="T52" fmla="*/ 2147483646 w 1531"/>
              <a:gd name="T53" fmla="*/ 2147483646 h 765"/>
              <a:gd name="T54" fmla="*/ 2147483646 w 1531"/>
              <a:gd name="T55" fmla="*/ 2147483646 h 765"/>
              <a:gd name="T56" fmla="*/ 2147483646 w 1531"/>
              <a:gd name="T57" fmla="*/ 2147483646 h 765"/>
              <a:gd name="T58" fmla="*/ 2147483646 w 1531"/>
              <a:gd name="T59" fmla="*/ 2147483646 h 765"/>
              <a:gd name="T60" fmla="*/ 2147483646 w 1531"/>
              <a:gd name="T61" fmla="*/ 2147483646 h 765"/>
              <a:gd name="T62" fmla="*/ 2147483646 w 1531"/>
              <a:gd name="T63" fmla="*/ 2147483646 h 765"/>
              <a:gd name="T64" fmla="*/ 2147483646 w 1531"/>
              <a:gd name="T65" fmla="*/ 2147483646 h 765"/>
              <a:gd name="T66" fmla="*/ 2147483646 w 1531"/>
              <a:gd name="T67" fmla="*/ 2147483646 h 765"/>
              <a:gd name="T68" fmla="*/ 2147483646 w 1531"/>
              <a:gd name="T69" fmla="*/ 2147483646 h 765"/>
              <a:gd name="T70" fmla="*/ 2147483646 w 1531"/>
              <a:gd name="T71" fmla="*/ 0 h 765"/>
              <a:gd name="T72" fmla="*/ 2147483646 w 1531"/>
              <a:gd name="T73" fmla="*/ 0 h 765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531" h="765">
                <a:moveTo>
                  <a:pt x="128" y="0"/>
                </a:moveTo>
                <a:lnTo>
                  <a:pt x="102" y="3"/>
                </a:lnTo>
                <a:lnTo>
                  <a:pt x="79" y="10"/>
                </a:lnTo>
                <a:lnTo>
                  <a:pt x="57" y="22"/>
                </a:lnTo>
                <a:lnTo>
                  <a:pt x="38" y="37"/>
                </a:lnTo>
                <a:lnTo>
                  <a:pt x="22" y="56"/>
                </a:lnTo>
                <a:lnTo>
                  <a:pt x="10" y="78"/>
                </a:lnTo>
                <a:lnTo>
                  <a:pt x="3" y="101"/>
                </a:lnTo>
                <a:lnTo>
                  <a:pt x="0" y="127"/>
                </a:lnTo>
                <a:lnTo>
                  <a:pt x="0" y="638"/>
                </a:lnTo>
                <a:lnTo>
                  <a:pt x="3" y="664"/>
                </a:lnTo>
                <a:lnTo>
                  <a:pt x="10" y="687"/>
                </a:lnTo>
                <a:lnTo>
                  <a:pt x="22" y="709"/>
                </a:lnTo>
                <a:lnTo>
                  <a:pt x="38" y="727"/>
                </a:lnTo>
                <a:lnTo>
                  <a:pt x="57" y="743"/>
                </a:lnTo>
                <a:lnTo>
                  <a:pt x="79" y="755"/>
                </a:lnTo>
                <a:lnTo>
                  <a:pt x="102" y="762"/>
                </a:lnTo>
                <a:lnTo>
                  <a:pt x="128" y="765"/>
                </a:lnTo>
                <a:lnTo>
                  <a:pt x="1403" y="765"/>
                </a:lnTo>
                <a:lnTo>
                  <a:pt x="1430" y="762"/>
                </a:lnTo>
                <a:lnTo>
                  <a:pt x="1453" y="755"/>
                </a:lnTo>
                <a:lnTo>
                  <a:pt x="1474" y="743"/>
                </a:lnTo>
                <a:lnTo>
                  <a:pt x="1493" y="727"/>
                </a:lnTo>
                <a:lnTo>
                  <a:pt x="1509" y="709"/>
                </a:lnTo>
                <a:lnTo>
                  <a:pt x="1521" y="687"/>
                </a:lnTo>
                <a:lnTo>
                  <a:pt x="1528" y="664"/>
                </a:lnTo>
                <a:lnTo>
                  <a:pt x="1531" y="638"/>
                </a:lnTo>
                <a:lnTo>
                  <a:pt x="1531" y="127"/>
                </a:lnTo>
                <a:lnTo>
                  <a:pt x="1528" y="101"/>
                </a:lnTo>
                <a:lnTo>
                  <a:pt x="1521" y="78"/>
                </a:lnTo>
                <a:lnTo>
                  <a:pt x="1509" y="56"/>
                </a:lnTo>
                <a:lnTo>
                  <a:pt x="1493" y="37"/>
                </a:lnTo>
                <a:lnTo>
                  <a:pt x="1474" y="22"/>
                </a:lnTo>
                <a:lnTo>
                  <a:pt x="1453" y="10"/>
                </a:lnTo>
                <a:lnTo>
                  <a:pt x="1430" y="3"/>
                </a:lnTo>
                <a:lnTo>
                  <a:pt x="1403" y="0"/>
                </a:lnTo>
                <a:lnTo>
                  <a:pt x="128" y="0"/>
                </a:lnTo>
                <a:close/>
              </a:path>
            </a:pathLst>
          </a:custGeom>
          <a:noFill/>
          <a:ln w="17">
            <a:solidFill>
              <a:srgbClr val="FF9999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6459" name="Group 182"/>
          <p:cNvGrpSpPr>
            <a:grpSpLocks/>
          </p:cNvGrpSpPr>
          <p:nvPr/>
        </p:nvGrpSpPr>
        <p:grpSpPr bwMode="auto">
          <a:xfrm>
            <a:off x="4883150" y="5976938"/>
            <a:ext cx="2430463" cy="71437"/>
            <a:chOff x="3076" y="3765"/>
            <a:chExt cx="1531" cy="45"/>
          </a:xfrm>
        </p:grpSpPr>
        <p:sp>
          <p:nvSpPr>
            <p:cNvPr id="16477" name="Line 180"/>
            <p:cNvSpPr>
              <a:spLocks noChangeShapeType="1"/>
            </p:cNvSpPr>
            <p:nvPr/>
          </p:nvSpPr>
          <p:spPr bwMode="auto">
            <a:xfrm>
              <a:off x="3119" y="3787"/>
              <a:ext cx="1488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78" name="Freeform 181"/>
            <p:cNvSpPr>
              <a:spLocks/>
            </p:cNvSpPr>
            <p:nvPr/>
          </p:nvSpPr>
          <p:spPr bwMode="auto">
            <a:xfrm>
              <a:off x="3076" y="3765"/>
              <a:ext cx="46" cy="45"/>
            </a:xfrm>
            <a:custGeom>
              <a:avLst/>
              <a:gdLst>
                <a:gd name="T0" fmla="*/ 2 w 91"/>
                <a:gd name="T1" fmla="*/ 0 h 91"/>
                <a:gd name="T2" fmla="*/ 0 w 91"/>
                <a:gd name="T3" fmla="*/ 0 h 91"/>
                <a:gd name="T4" fmla="*/ 2 w 91"/>
                <a:gd name="T5" fmla="*/ 1 h 91"/>
                <a:gd name="T6" fmla="*/ 2 w 91"/>
                <a:gd name="T7" fmla="*/ 0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91">
                  <a:moveTo>
                    <a:pt x="91" y="0"/>
                  </a:moveTo>
                  <a:lnTo>
                    <a:pt x="0" y="45"/>
                  </a:lnTo>
                  <a:lnTo>
                    <a:pt x="91" y="9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460" name="Group 185"/>
          <p:cNvGrpSpPr>
            <a:grpSpLocks/>
          </p:cNvGrpSpPr>
          <p:nvPr/>
        </p:nvGrpSpPr>
        <p:grpSpPr bwMode="auto">
          <a:xfrm>
            <a:off x="4884738" y="6115050"/>
            <a:ext cx="2430462" cy="71438"/>
            <a:chOff x="3077" y="3852"/>
            <a:chExt cx="1531" cy="45"/>
          </a:xfrm>
        </p:grpSpPr>
        <p:sp>
          <p:nvSpPr>
            <p:cNvPr id="16475" name="Line 183"/>
            <p:cNvSpPr>
              <a:spLocks noChangeShapeType="1"/>
            </p:cNvSpPr>
            <p:nvPr/>
          </p:nvSpPr>
          <p:spPr bwMode="auto">
            <a:xfrm>
              <a:off x="3077" y="3874"/>
              <a:ext cx="1487" cy="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476" name="Freeform 184"/>
            <p:cNvSpPr>
              <a:spLocks/>
            </p:cNvSpPr>
            <p:nvPr/>
          </p:nvSpPr>
          <p:spPr bwMode="auto">
            <a:xfrm>
              <a:off x="4562" y="3852"/>
              <a:ext cx="46" cy="45"/>
            </a:xfrm>
            <a:custGeom>
              <a:avLst/>
              <a:gdLst>
                <a:gd name="T0" fmla="*/ 0 w 91"/>
                <a:gd name="T1" fmla="*/ 1 h 91"/>
                <a:gd name="T2" fmla="*/ 2 w 91"/>
                <a:gd name="T3" fmla="*/ 0 h 91"/>
                <a:gd name="T4" fmla="*/ 0 w 91"/>
                <a:gd name="T5" fmla="*/ 0 h 91"/>
                <a:gd name="T6" fmla="*/ 0 w 91"/>
                <a:gd name="T7" fmla="*/ 1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91">
                  <a:moveTo>
                    <a:pt x="0" y="91"/>
                  </a:moveTo>
                  <a:lnTo>
                    <a:pt x="91" y="44"/>
                  </a:lnTo>
                  <a:lnTo>
                    <a:pt x="0" y="0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461" name="Group 196"/>
          <p:cNvGrpSpPr>
            <a:grpSpLocks/>
          </p:cNvGrpSpPr>
          <p:nvPr/>
        </p:nvGrpSpPr>
        <p:grpSpPr bwMode="auto">
          <a:xfrm>
            <a:off x="5173663" y="5618163"/>
            <a:ext cx="1908175" cy="679450"/>
            <a:chOff x="3259" y="3539"/>
            <a:chExt cx="1202" cy="428"/>
          </a:xfrm>
        </p:grpSpPr>
        <p:sp>
          <p:nvSpPr>
            <p:cNvPr id="16465" name="Rectangle 186"/>
            <p:cNvSpPr>
              <a:spLocks noChangeArrowheads="1"/>
            </p:cNvSpPr>
            <p:nvPr/>
          </p:nvSpPr>
          <p:spPr bwMode="auto">
            <a:xfrm>
              <a:off x="3349" y="3539"/>
              <a:ext cx="992" cy="4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466" name="Rectangle 187"/>
            <p:cNvSpPr>
              <a:spLocks noChangeArrowheads="1"/>
            </p:cNvSpPr>
            <p:nvPr/>
          </p:nvSpPr>
          <p:spPr bwMode="auto">
            <a:xfrm>
              <a:off x="3391" y="3724"/>
              <a:ext cx="973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Request Message</a:t>
              </a:r>
              <a:endParaRPr lang="en-US" altLang="en-US" sz="2400"/>
            </a:p>
          </p:txBody>
        </p:sp>
        <p:sp>
          <p:nvSpPr>
            <p:cNvPr id="16467" name="Rectangle 188"/>
            <p:cNvSpPr>
              <a:spLocks noChangeArrowheads="1"/>
            </p:cNvSpPr>
            <p:nvPr/>
          </p:nvSpPr>
          <p:spPr bwMode="auto">
            <a:xfrm>
              <a:off x="3396" y="3835"/>
              <a:ext cx="9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Answer Message</a:t>
              </a:r>
              <a:endParaRPr lang="en-US" altLang="en-US" sz="2400"/>
            </a:p>
          </p:txBody>
        </p:sp>
        <p:sp>
          <p:nvSpPr>
            <p:cNvPr id="16468" name="Rectangle 189"/>
            <p:cNvSpPr>
              <a:spLocks noChangeArrowheads="1"/>
            </p:cNvSpPr>
            <p:nvPr/>
          </p:nvSpPr>
          <p:spPr bwMode="auto">
            <a:xfrm>
              <a:off x="3259" y="3557"/>
              <a:ext cx="117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469" name="Rectangle 190"/>
            <p:cNvSpPr>
              <a:spLocks noChangeArrowheads="1"/>
            </p:cNvSpPr>
            <p:nvPr/>
          </p:nvSpPr>
          <p:spPr bwMode="auto">
            <a:xfrm>
              <a:off x="3301" y="3583"/>
              <a:ext cx="1160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Solicit/Response Messaging</a:t>
              </a:r>
              <a:endParaRPr lang="en-US" altLang="en-US" sz="2400"/>
            </a:p>
          </p:txBody>
        </p:sp>
        <p:sp>
          <p:nvSpPr>
            <p:cNvPr id="16470" name="Rectangle 191"/>
            <p:cNvSpPr>
              <a:spLocks noChangeArrowheads="1"/>
            </p:cNvSpPr>
            <p:nvPr/>
          </p:nvSpPr>
          <p:spPr bwMode="auto">
            <a:xfrm>
              <a:off x="3349" y="3539"/>
              <a:ext cx="992" cy="4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471" name="Rectangle 192"/>
            <p:cNvSpPr>
              <a:spLocks noChangeArrowheads="1"/>
            </p:cNvSpPr>
            <p:nvPr/>
          </p:nvSpPr>
          <p:spPr bwMode="auto">
            <a:xfrm>
              <a:off x="3391" y="3724"/>
              <a:ext cx="973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Request Message</a:t>
              </a:r>
              <a:endParaRPr lang="en-US" altLang="en-US" sz="2400"/>
            </a:p>
          </p:txBody>
        </p:sp>
        <p:sp>
          <p:nvSpPr>
            <p:cNvPr id="16472" name="Rectangle 193"/>
            <p:cNvSpPr>
              <a:spLocks noChangeArrowheads="1"/>
            </p:cNvSpPr>
            <p:nvPr/>
          </p:nvSpPr>
          <p:spPr bwMode="auto">
            <a:xfrm>
              <a:off x="3396" y="3835"/>
              <a:ext cx="9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SOAP Answer Message</a:t>
              </a:r>
              <a:endParaRPr lang="en-US" altLang="en-US" sz="2400"/>
            </a:p>
          </p:txBody>
        </p:sp>
        <p:sp>
          <p:nvSpPr>
            <p:cNvPr id="16473" name="Rectangle 194"/>
            <p:cNvSpPr>
              <a:spLocks noChangeArrowheads="1"/>
            </p:cNvSpPr>
            <p:nvPr/>
          </p:nvSpPr>
          <p:spPr bwMode="auto">
            <a:xfrm>
              <a:off x="3259" y="3557"/>
              <a:ext cx="117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6474" name="Rectangle 195"/>
            <p:cNvSpPr>
              <a:spLocks noChangeArrowheads="1"/>
            </p:cNvSpPr>
            <p:nvPr/>
          </p:nvSpPr>
          <p:spPr bwMode="auto">
            <a:xfrm>
              <a:off x="3301" y="3583"/>
              <a:ext cx="1160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Solicit/Response Messaging</a:t>
              </a:r>
              <a:endParaRPr lang="en-US" altLang="en-US" sz="2400"/>
            </a:p>
          </p:txBody>
        </p:sp>
      </p:grpSp>
      <p:sp>
        <p:nvSpPr>
          <p:cNvPr id="16462" name="Rectangle 94"/>
          <p:cNvSpPr>
            <a:spLocks noChangeArrowheads="1"/>
          </p:cNvSpPr>
          <p:nvPr/>
        </p:nvSpPr>
        <p:spPr bwMode="auto">
          <a:xfrm>
            <a:off x="7345363" y="4375150"/>
            <a:ext cx="11303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Service end-point </a:t>
            </a:r>
            <a:endParaRPr lang="en-US" altLang="en-US" sz="2400"/>
          </a:p>
        </p:txBody>
      </p:sp>
      <p:sp>
        <p:nvSpPr>
          <p:cNvPr id="16463" name="Rectangle 94"/>
          <p:cNvSpPr>
            <a:spLocks noChangeArrowheads="1"/>
          </p:cNvSpPr>
          <p:nvPr/>
        </p:nvSpPr>
        <p:spPr bwMode="auto">
          <a:xfrm>
            <a:off x="7373938" y="5310188"/>
            <a:ext cx="11318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Service end-point </a:t>
            </a:r>
            <a:endParaRPr lang="en-US" altLang="en-US" sz="2400"/>
          </a:p>
        </p:txBody>
      </p:sp>
      <p:sp>
        <p:nvSpPr>
          <p:cNvPr id="16464" name="Rectangle 94"/>
          <p:cNvSpPr>
            <a:spLocks noChangeArrowheads="1"/>
          </p:cNvSpPr>
          <p:nvPr/>
        </p:nvSpPr>
        <p:spPr bwMode="auto">
          <a:xfrm>
            <a:off x="7415213" y="6451600"/>
            <a:ext cx="113188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Service end-point 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843047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Web Services and Messaging</a:t>
            </a:r>
            <a:endParaRPr lang="en-US" altLang="en-US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 dirty="0"/>
              <a:t>WS* approach defines a standard messaging format called </a:t>
            </a:r>
            <a:r>
              <a:rPr lang="en-AU" altLang="en-US" b="1" dirty="0"/>
              <a:t>SOAP</a:t>
            </a:r>
            <a:r>
              <a:rPr lang="en-AU" altLang="en-US" dirty="0"/>
              <a:t> (</a:t>
            </a:r>
            <a:r>
              <a:rPr lang="en-US" altLang="en-US" dirty="0"/>
              <a:t>originally defined as Simple Object Access Protocol)</a:t>
            </a:r>
            <a:endParaRPr lang="en-AU" altLang="en-US" dirty="0"/>
          </a:p>
          <a:p>
            <a:r>
              <a:rPr lang="en-AU" altLang="en-US" dirty="0"/>
              <a:t> Can use multiple application protocols for </a:t>
            </a:r>
            <a:r>
              <a:rPr lang="en-AU" altLang="en-US" dirty="0">
                <a:solidFill>
                  <a:srgbClr val="FF0000"/>
                </a:solidFill>
              </a:rPr>
              <a:t>transport</a:t>
            </a:r>
            <a:r>
              <a:rPr lang="en-AU" altLang="en-US" dirty="0"/>
              <a:t>:</a:t>
            </a:r>
          </a:p>
          <a:p>
            <a:pPr lvl="1"/>
            <a:r>
              <a:rPr lang="en-AU" altLang="en-US" dirty="0"/>
              <a:t>HTTP, HTTPS, SMTP, …</a:t>
            </a:r>
          </a:p>
          <a:p>
            <a:r>
              <a:rPr lang="en-AU" altLang="en-US" b="1" dirty="0"/>
              <a:t>WSDL</a:t>
            </a:r>
            <a:r>
              <a:rPr lang="en-AU" altLang="en-US" dirty="0"/>
              <a:t> (service interface description) is designed to work with SOAP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EC64ABD-34D7-4072-835C-55C8B9D2D1F9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38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424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F4E1B40-51CC-4A9B-966D-AB9ED5F916A2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39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0">
                <a:solidFill>
                  <a:schemeClr val="tx1"/>
                </a:solidFill>
              </a:rPr>
              <a:t>WS Technology Stack implementation of SOA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6959600" cy="644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Web services are implemented by a collection of several related technologies &amp; standards.</a:t>
            </a:r>
          </a:p>
        </p:txBody>
      </p:sp>
      <p:grpSp>
        <p:nvGrpSpPr>
          <p:cNvPr id="30725" name="Group 44"/>
          <p:cNvGrpSpPr>
            <a:grpSpLocks/>
          </p:cNvGrpSpPr>
          <p:nvPr/>
        </p:nvGrpSpPr>
        <p:grpSpPr bwMode="auto">
          <a:xfrm>
            <a:off x="2051050" y="1841500"/>
            <a:ext cx="6858000" cy="4025900"/>
            <a:chOff x="624" y="1390"/>
            <a:chExt cx="4320" cy="2536"/>
          </a:xfrm>
        </p:grpSpPr>
        <p:sp>
          <p:nvSpPr>
            <p:cNvPr id="30733" name="Rectangle 5"/>
            <p:cNvSpPr>
              <a:spLocks noChangeArrowheads="1"/>
            </p:cNvSpPr>
            <p:nvPr/>
          </p:nvSpPr>
          <p:spPr bwMode="auto">
            <a:xfrm>
              <a:off x="2948" y="1953"/>
              <a:ext cx="877" cy="219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46" name="Rectangle 6"/>
            <p:cNvSpPr>
              <a:spLocks noChangeArrowheads="1"/>
            </p:cNvSpPr>
            <p:nvPr/>
          </p:nvSpPr>
          <p:spPr bwMode="auto">
            <a:xfrm>
              <a:off x="2926" y="1962"/>
              <a:ext cx="940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Transactions</a:t>
              </a:r>
            </a:p>
          </p:txBody>
        </p:sp>
        <p:sp>
          <p:nvSpPr>
            <p:cNvPr id="30735" name="Rectangle 7"/>
            <p:cNvSpPr>
              <a:spLocks noChangeArrowheads="1"/>
            </p:cNvSpPr>
            <p:nvPr/>
          </p:nvSpPr>
          <p:spPr bwMode="auto">
            <a:xfrm>
              <a:off x="2948" y="2198"/>
              <a:ext cx="877" cy="219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48" name="Rectangle 8"/>
            <p:cNvSpPr>
              <a:spLocks noChangeArrowheads="1"/>
            </p:cNvSpPr>
            <p:nvPr/>
          </p:nvSpPr>
          <p:spPr bwMode="auto">
            <a:xfrm>
              <a:off x="2923" y="2212"/>
              <a:ext cx="933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Coordination</a:t>
              </a:r>
            </a:p>
          </p:txBody>
        </p:sp>
        <p:sp>
          <p:nvSpPr>
            <p:cNvPr id="30737" name="Rectangle 9"/>
            <p:cNvSpPr>
              <a:spLocks noChangeArrowheads="1"/>
            </p:cNvSpPr>
            <p:nvPr/>
          </p:nvSpPr>
          <p:spPr bwMode="auto">
            <a:xfrm>
              <a:off x="2058" y="1953"/>
              <a:ext cx="877" cy="710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50" name="Rectangle 10"/>
            <p:cNvSpPr>
              <a:spLocks noChangeArrowheads="1"/>
            </p:cNvSpPr>
            <p:nvPr/>
          </p:nvSpPr>
          <p:spPr bwMode="auto">
            <a:xfrm>
              <a:off x="2034" y="2213"/>
              <a:ext cx="916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WS-Security</a:t>
              </a:r>
            </a:p>
          </p:txBody>
        </p:sp>
        <p:sp>
          <p:nvSpPr>
            <p:cNvPr id="30739" name="Rectangle 11"/>
            <p:cNvSpPr>
              <a:spLocks noChangeArrowheads="1"/>
            </p:cNvSpPr>
            <p:nvPr/>
          </p:nvSpPr>
          <p:spPr bwMode="auto">
            <a:xfrm>
              <a:off x="2948" y="2444"/>
              <a:ext cx="877" cy="219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52" name="Rectangle 12"/>
            <p:cNvSpPr>
              <a:spLocks noChangeArrowheads="1"/>
            </p:cNvSpPr>
            <p:nvPr/>
          </p:nvSpPr>
          <p:spPr bwMode="auto">
            <a:xfrm>
              <a:off x="3126" y="2457"/>
              <a:ext cx="612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Context</a:t>
              </a:r>
            </a:p>
          </p:txBody>
        </p:sp>
        <p:sp>
          <p:nvSpPr>
            <p:cNvPr id="30741" name="Rectangle 13"/>
            <p:cNvSpPr>
              <a:spLocks noChangeArrowheads="1"/>
            </p:cNvSpPr>
            <p:nvPr/>
          </p:nvSpPr>
          <p:spPr bwMode="auto">
            <a:xfrm>
              <a:off x="3843" y="3681"/>
              <a:ext cx="1101" cy="21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54" name="Rectangle 14"/>
            <p:cNvSpPr>
              <a:spLocks noChangeArrowheads="1"/>
            </p:cNvSpPr>
            <p:nvPr/>
          </p:nvSpPr>
          <p:spPr bwMode="auto">
            <a:xfrm>
              <a:off x="4084" y="3694"/>
              <a:ext cx="732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Transport</a:t>
              </a:r>
            </a:p>
          </p:txBody>
        </p:sp>
        <p:sp>
          <p:nvSpPr>
            <p:cNvPr id="30743" name="Rectangle 15"/>
            <p:cNvSpPr>
              <a:spLocks noChangeArrowheads="1"/>
            </p:cNvSpPr>
            <p:nvPr/>
          </p:nvSpPr>
          <p:spPr bwMode="auto">
            <a:xfrm>
              <a:off x="3843" y="3188"/>
              <a:ext cx="1101" cy="461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56" name="Rectangle 16"/>
            <p:cNvSpPr>
              <a:spLocks noChangeArrowheads="1"/>
            </p:cNvSpPr>
            <p:nvPr/>
          </p:nvSpPr>
          <p:spPr bwMode="auto">
            <a:xfrm>
              <a:off x="4099" y="3314"/>
              <a:ext cx="700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Message</a:t>
              </a:r>
            </a:p>
          </p:txBody>
        </p:sp>
        <p:sp>
          <p:nvSpPr>
            <p:cNvPr id="30745" name="Rectangle 17"/>
            <p:cNvSpPr>
              <a:spLocks noChangeArrowheads="1"/>
            </p:cNvSpPr>
            <p:nvPr/>
          </p:nvSpPr>
          <p:spPr bwMode="auto">
            <a:xfrm>
              <a:off x="3842" y="2687"/>
              <a:ext cx="1101" cy="21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58" name="Rectangle 18"/>
            <p:cNvSpPr>
              <a:spLocks noChangeArrowheads="1"/>
            </p:cNvSpPr>
            <p:nvPr/>
          </p:nvSpPr>
          <p:spPr bwMode="auto">
            <a:xfrm>
              <a:off x="4078" y="2683"/>
              <a:ext cx="748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Discovery</a:t>
              </a:r>
            </a:p>
          </p:txBody>
        </p:sp>
        <p:sp>
          <p:nvSpPr>
            <p:cNvPr id="30747" name="Rectangle 19"/>
            <p:cNvSpPr>
              <a:spLocks noChangeArrowheads="1"/>
            </p:cNvSpPr>
            <p:nvPr/>
          </p:nvSpPr>
          <p:spPr bwMode="auto">
            <a:xfrm>
              <a:off x="3842" y="1951"/>
              <a:ext cx="1101" cy="70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60" name="Rectangle 20"/>
            <p:cNvSpPr>
              <a:spLocks noChangeArrowheads="1"/>
            </p:cNvSpPr>
            <p:nvPr/>
          </p:nvSpPr>
          <p:spPr bwMode="auto">
            <a:xfrm>
              <a:off x="4034" y="2119"/>
              <a:ext cx="724" cy="40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Quality of</a:t>
              </a:r>
              <a:b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</a:b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Service</a:t>
              </a:r>
            </a:p>
          </p:txBody>
        </p:sp>
        <p:sp>
          <p:nvSpPr>
            <p:cNvPr id="30749" name="Rectangle 21"/>
            <p:cNvSpPr>
              <a:spLocks noChangeArrowheads="1"/>
            </p:cNvSpPr>
            <p:nvPr/>
          </p:nvSpPr>
          <p:spPr bwMode="auto">
            <a:xfrm>
              <a:off x="3843" y="1392"/>
              <a:ext cx="1101" cy="53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62" name="Rectangle 22"/>
            <p:cNvSpPr>
              <a:spLocks noChangeArrowheads="1"/>
            </p:cNvSpPr>
            <p:nvPr/>
          </p:nvSpPr>
          <p:spPr bwMode="auto">
            <a:xfrm>
              <a:off x="4003" y="1480"/>
              <a:ext cx="788" cy="40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Business</a:t>
              </a:r>
              <a:b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</a:b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Processes</a:t>
              </a:r>
            </a:p>
          </p:txBody>
        </p:sp>
        <p:sp>
          <p:nvSpPr>
            <p:cNvPr id="317463" name="Rectangle 23"/>
            <p:cNvSpPr>
              <a:spLocks noChangeArrowheads="1"/>
            </p:cNvSpPr>
            <p:nvPr/>
          </p:nvSpPr>
          <p:spPr bwMode="auto">
            <a:xfrm>
              <a:off x="4041" y="2935"/>
              <a:ext cx="836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Description</a:t>
              </a:r>
            </a:p>
          </p:txBody>
        </p:sp>
        <p:sp>
          <p:nvSpPr>
            <p:cNvPr id="30752" name="Rectangle 24"/>
            <p:cNvSpPr>
              <a:spLocks noChangeArrowheads="1"/>
            </p:cNvSpPr>
            <p:nvPr/>
          </p:nvSpPr>
          <p:spPr bwMode="auto">
            <a:xfrm>
              <a:off x="3842" y="2943"/>
              <a:ext cx="1101" cy="219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65" name="Rectangle 25"/>
            <p:cNvSpPr>
              <a:spLocks noChangeArrowheads="1"/>
            </p:cNvSpPr>
            <p:nvPr/>
          </p:nvSpPr>
          <p:spPr bwMode="auto">
            <a:xfrm>
              <a:off x="4041" y="2935"/>
              <a:ext cx="836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Description</a:t>
              </a:r>
            </a:p>
          </p:txBody>
        </p:sp>
        <p:sp>
          <p:nvSpPr>
            <p:cNvPr id="30754" name="Rectangle 26"/>
            <p:cNvSpPr>
              <a:spLocks noChangeArrowheads="1"/>
            </p:cNvSpPr>
            <p:nvPr/>
          </p:nvSpPr>
          <p:spPr bwMode="auto">
            <a:xfrm>
              <a:off x="624" y="1392"/>
              <a:ext cx="503" cy="2507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C1FF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67" name="Rectangle 27"/>
            <p:cNvSpPr>
              <a:spLocks noChangeArrowheads="1"/>
            </p:cNvSpPr>
            <p:nvPr/>
          </p:nvSpPr>
          <p:spPr bwMode="auto">
            <a:xfrm rot="-5400000">
              <a:off x="415" y="2442"/>
              <a:ext cx="957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Management</a:t>
              </a:r>
            </a:p>
          </p:txBody>
        </p:sp>
        <p:sp>
          <p:nvSpPr>
            <p:cNvPr id="30756" name="Rectangle 28"/>
            <p:cNvSpPr>
              <a:spLocks noChangeArrowheads="1"/>
            </p:cNvSpPr>
            <p:nvPr/>
          </p:nvSpPr>
          <p:spPr bwMode="auto">
            <a:xfrm>
              <a:off x="1154" y="3681"/>
              <a:ext cx="2671" cy="219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69" name="Rectangle 29"/>
            <p:cNvSpPr>
              <a:spLocks noChangeArrowheads="1"/>
            </p:cNvSpPr>
            <p:nvPr/>
          </p:nvSpPr>
          <p:spPr bwMode="auto">
            <a:xfrm>
              <a:off x="1782" y="3695"/>
              <a:ext cx="1540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      HTTP,JMS, SMTP</a:t>
              </a:r>
            </a:p>
          </p:txBody>
        </p:sp>
        <p:sp>
          <p:nvSpPr>
            <p:cNvPr id="30758" name="Rectangle 30"/>
            <p:cNvSpPr>
              <a:spLocks noChangeArrowheads="1"/>
            </p:cNvSpPr>
            <p:nvPr/>
          </p:nvSpPr>
          <p:spPr bwMode="auto">
            <a:xfrm>
              <a:off x="1154" y="3433"/>
              <a:ext cx="2671" cy="219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71" name="Rectangle 31"/>
            <p:cNvSpPr>
              <a:spLocks noChangeArrowheads="1"/>
            </p:cNvSpPr>
            <p:nvPr/>
          </p:nvSpPr>
          <p:spPr bwMode="auto">
            <a:xfrm>
              <a:off x="2315" y="3447"/>
              <a:ext cx="412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XML</a:t>
              </a:r>
            </a:p>
          </p:txBody>
        </p:sp>
        <p:sp>
          <p:nvSpPr>
            <p:cNvPr id="30760" name="Rectangle 32"/>
            <p:cNvSpPr>
              <a:spLocks noChangeArrowheads="1"/>
            </p:cNvSpPr>
            <p:nvPr/>
          </p:nvSpPr>
          <p:spPr bwMode="auto">
            <a:xfrm>
              <a:off x="1154" y="3186"/>
              <a:ext cx="2671" cy="219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73" name="Rectangle 33"/>
            <p:cNvSpPr>
              <a:spLocks noChangeArrowheads="1"/>
            </p:cNvSpPr>
            <p:nvPr/>
          </p:nvSpPr>
          <p:spPr bwMode="auto">
            <a:xfrm>
              <a:off x="2264" y="3200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SOAP</a:t>
              </a:r>
            </a:p>
          </p:txBody>
        </p:sp>
        <p:sp>
          <p:nvSpPr>
            <p:cNvPr id="30762" name="Rectangle 34"/>
            <p:cNvSpPr>
              <a:spLocks noChangeArrowheads="1"/>
            </p:cNvSpPr>
            <p:nvPr/>
          </p:nvSpPr>
          <p:spPr bwMode="auto">
            <a:xfrm>
              <a:off x="1154" y="2939"/>
              <a:ext cx="2671" cy="219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75" name="Rectangle 35"/>
            <p:cNvSpPr>
              <a:spLocks noChangeArrowheads="1"/>
            </p:cNvSpPr>
            <p:nvPr/>
          </p:nvSpPr>
          <p:spPr bwMode="auto">
            <a:xfrm>
              <a:off x="2264" y="2953"/>
              <a:ext cx="532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WSDL</a:t>
              </a:r>
            </a:p>
          </p:txBody>
        </p:sp>
        <p:sp>
          <p:nvSpPr>
            <p:cNvPr id="30764" name="Rectangle 36"/>
            <p:cNvSpPr>
              <a:spLocks noChangeArrowheads="1"/>
            </p:cNvSpPr>
            <p:nvPr/>
          </p:nvSpPr>
          <p:spPr bwMode="auto">
            <a:xfrm>
              <a:off x="1154" y="2691"/>
              <a:ext cx="2671" cy="219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77" name="Rectangle 37"/>
            <p:cNvSpPr>
              <a:spLocks noChangeArrowheads="1"/>
            </p:cNvSpPr>
            <p:nvPr/>
          </p:nvSpPr>
          <p:spPr bwMode="auto">
            <a:xfrm>
              <a:off x="2290" y="2705"/>
              <a:ext cx="468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UDDI</a:t>
              </a:r>
            </a:p>
          </p:txBody>
        </p:sp>
        <p:sp>
          <p:nvSpPr>
            <p:cNvPr id="30766" name="Rectangle 38"/>
            <p:cNvSpPr>
              <a:spLocks noChangeArrowheads="1"/>
            </p:cNvSpPr>
            <p:nvPr/>
          </p:nvSpPr>
          <p:spPr bwMode="auto">
            <a:xfrm>
              <a:off x="1154" y="1672"/>
              <a:ext cx="2671" cy="253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79" name="Rectangle 39"/>
            <p:cNvSpPr>
              <a:spLocks noChangeArrowheads="1"/>
            </p:cNvSpPr>
            <p:nvPr/>
          </p:nvSpPr>
          <p:spPr bwMode="auto">
            <a:xfrm>
              <a:off x="1730" y="1711"/>
              <a:ext cx="1789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Orchestration - BPEL4WS</a:t>
              </a:r>
            </a:p>
          </p:txBody>
        </p:sp>
        <p:sp>
          <p:nvSpPr>
            <p:cNvPr id="30768" name="Rectangle 40"/>
            <p:cNvSpPr>
              <a:spLocks noChangeArrowheads="1"/>
            </p:cNvSpPr>
            <p:nvPr/>
          </p:nvSpPr>
          <p:spPr bwMode="auto">
            <a:xfrm>
              <a:off x="1154" y="1390"/>
              <a:ext cx="2671" cy="256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81" name="Rectangle 41"/>
            <p:cNvSpPr>
              <a:spLocks noChangeArrowheads="1"/>
            </p:cNvSpPr>
            <p:nvPr/>
          </p:nvSpPr>
          <p:spPr bwMode="auto">
            <a:xfrm>
              <a:off x="1743" y="1430"/>
              <a:ext cx="1757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Choreography - CDL4WS</a:t>
              </a:r>
            </a:p>
          </p:txBody>
        </p:sp>
        <p:sp>
          <p:nvSpPr>
            <p:cNvPr id="30770" name="Rectangle 42"/>
            <p:cNvSpPr>
              <a:spLocks noChangeArrowheads="1"/>
            </p:cNvSpPr>
            <p:nvPr/>
          </p:nvSpPr>
          <p:spPr bwMode="auto">
            <a:xfrm>
              <a:off x="1154" y="1953"/>
              <a:ext cx="877" cy="710"/>
            </a:xfrm>
            <a:prstGeom prst="rect">
              <a:avLst/>
            </a:prstGeom>
            <a:solidFill>
              <a:srgbClr val="FFB47F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317483" name="Rectangle 43"/>
            <p:cNvSpPr>
              <a:spLocks noChangeArrowheads="1"/>
            </p:cNvSpPr>
            <p:nvPr/>
          </p:nvSpPr>
          <p:spPr bwMode="auto">
            <a:xfrm>
              <a:off x="1088" y="2226"/>
              <a:ext cx="1012" cy="231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sz="18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</a:rPr>
                <a:t>WS-Reliability</a:t>
              </a:r>
            </a:p>
          </p:txBody>
        </p:sp>
      </p:grpSp>
      <p:sp>
        <p:nvSpPr>
          <p:cNvPr id="30728" name="AutoShape 47"/>
          <p:cNvSpPr>
            <a:spLocks/>
          </p:cNvSpPr>
          <p:nvPr/>
        </p:nvSpPr>
        <p:spPr bwMode="auto">
          <a:xfrm>
            <a:off x="2682875" y="2690813"/>
            <a:ext cx="104775" cy="1620837"/>
          </a:xfrm>
          <a:prstGeom prst="leftBrace">
            <a:avLst>
              <a:gd name="adj1" fmla="val 59300"/>
              <a:gd name="adj2" fmla="val 4919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562225" y="6092825"/>
            <a:ext cx="5099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AU" altLang="en-US" sz="2400">
                <a:solidFill>
                  <a:srgbClr val="FF0000"/>
                </a:solidFill>
              </a:rPr>
              <a:t>WS* Standards are defined in XML Schema</a:t>
            </a:r>
          </a:p>
        </p:txBody>
      </p:sp>
    </p:spTree>
    <p:extLst>
      <p:ext uri="{BB962C8B-B14F-4D97-AF65-F5344CB8AC3E}">
        <p14:creationId xmlns:p14="http://schemas.microsoft.com/office/powerpoint/2010/main" val="142451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E21339C-8177-427A-98EB-4B3BC67716B3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40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81467"/>
            <a:ext cx="7992888" cy="685800"/>
          </a:xfrm>
        </p:spPr>
        <p:txBody>
          <a:bodyPr/>
          <a:lstStyle/>
          <a:p>
            <a:r>
              <a:rPr lang="en-AU" altLang="en-US" dirty="0"/>
              <a:t>WSDL – Web Service (Interface) Description</a:t>
            </a:r>
            <a:br>
              <a:rPr lang="en-AU" altLang="en-US" dirty="0"/>
            </a:br>
            <a:endParaRPr lang="en-US" altLang="en-US" dirty="0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7543800" cy="4286250"/>
          </a:xfrm>
        </p:spPr>
        <p:txBody>
          <a:bodyPr/>
          <a:lstStyle/>
          <a:p>
            <a:endParaRPr lang="en-AU" altLang="en-US" sz="2400" dirty="0"/>
          </a:p>
          <a:p>
            <a:r>
              <a:rPr lang="en-AU" altLang="en-US" sz="2400" dirty="0"/>
              <a:t>Interface descriptions</a:t>
            </a:r>
          </a:p>
          <a:p>
            <a:r>
              <a:rPr lang="en-AU" altLang="en-US" sz="2400" dirty="0"/>
              <a:t>Structure of WSDL documents</a:t>
            </a:r>
          </a:p>
          <a:p>
            <a:r>
              <a:rPr lang="en-AU" altLang="en-US" sz="2400" dirty="0"/>
              <a:t>Abstract part</a:t>
            </a:r>
          </a:p>
          <a:p>
            <a:r>
              <a:rPr lang="en-AU" altLang="en-US" sz="2400" dirty="0"/>
              <a:t>Concrete part</a:t>
            </a:r>
          </a:p>
        </p:txBody>
      </p:sp>
    </p:spTree>
    <p:extLst>
      <p:ext uri="{BB962C8B-B14F-4D97-AF65-F5344CB8AC3E}">
        <p14:creationId xmlns:p14="http://schemas.microsoft.com/office/powerpoint/2010/main" val="2010058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25F6D29-E4B6-49E0-9F02-38C602D481CA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41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0"/>
            <a:ext cx="7345362" cy="1044575"/>
          </a:xfrm>
        </p:spPr>
        <p:txBody>
          <a:bodyPr/>
          <a:lstStyle/>
          <a:p>
            <a:r>
              <a:rPr lang="en-AU" altLang="en-US" sz="3200"/>
              <a:t>An example: </a:t>
            </a:r>
            <a:br>
              <a:rPr lang="en-AU" altLang="en-US" sz="3200"/>
            </a:br>
            <a:r>
              <a:rPr lang="en-AU" altLang="en-US" sz="3200"/>
              <a:t>in programming language style </a:t>
            </a:r>
            <a:r>
              <a:rPr lang="en-AU" altLang="en-US" sz="2400"/>
              <a:t>(illustration only)</a:t>
            </a:r>
            <a:endParaRPr lang="en-AU" altLang="en-US" sz="3200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143000"/>
            <a:ext cx="7993063" cy="5715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AU" altLang="en-US" sz="2400" b="1"/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 b="1"/>
              <a:t>Service</a:t>
            </a:r>
            <a:r>
              <a:rPr lang="en-AU" altLang="en-US" sz="2400"/>
              <a:t> StokeQuote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</a:t>
            </a:r>
            <a:r>
              <a:rPr lang="en-AU" altLang="en-US" sz="2400">
                <a:solidFill>
                  <a:srgbClr val="008000"/>
                </a:solidFill>
              </a:rPr>
              <a:t>//types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 b="1"/>
              <a:t>    struct</a:t>
            </a:r>
            <a:r>
              <a:rPr lang="en-AU" altLang="en-US" sz="2400"/>
              <a:t> TradePriceRequestType {                </a:t>
            </a:r>
            <a:r>
              <a:rPr lang="en-AU" altLang="en-US" sz="2400">
                <a:solidFill>
                  <a:srgbClr val="008000"/>
                </a:solidFill>
              </a:rPr>
              <a:t>//RPC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	string tickerSymbol;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};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</a:t>
            </a:r>
            <a:r>
              <a:rPr lang="en-AU" altLang="en-US" sz="2400" b="1"/>
              <a:t>struct</a:t>
            </a:r>
            <a:r>
              <a:rPr lang="en-AU" altLang="en-US" sz="2400"/>
              <a:t> TradePriceType{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	float price;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 	};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 b="1"/>
              <a:t>    Interface</a:t>
            </a:r>
            <a:r>
              <a:rPr lang="en-AU" altLang="en-US" sz="2400"/>
              <a:t> StokeQuotePortType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	void GetLastTradePrice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		(in TradePriceRequestType   GetLastTradePriceInput, 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		 out TradePriceType   GetLastTradePriceOutput);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	… …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	};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AU" altLang="en-US" sz="240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8586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F53D722-75CF-48F4-B145-3C69282DC4F6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42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96838"/>
            <a:ext cx="8172450" cy="792162"/>
          </a:xfrm>
        </p:spPr>
        <p:txBody>
          <a:bodyPr/>
          <a:lstStyle/>
          <a:p>
            <a:r>
              <a:rPr lang="en-GB" altLang="en-US"/>
              <a:t>Web services in context</a:t>
            </a:r>
            <a:endParaRPr lang="en-US" altLang="en-US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00150"/>
            <a:ext cx="7993063" cy="5105400"/>
          </a:xfrm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GB" altLang="en-US" sz="2400"/>
              <a:t>For “use of service” to happen, the consumer needs to understand and the provider needs to tell: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What the service can do – </a:t>
            </a:r>
            <a:r>
              <a:rPr lang="en-GB" altLang="en-US" sz="2000">
                <a:solidFill>
                  <a:schemeClr val="accent2"/>
                </a:solidFill>
              </a:rPr>
              <a:t>functionality</a:t>
            </a:r>
            <a:r>
              <a:rPr lang="en-GB" altLang="en-US" sz="2000"/>
              <a:t>: (by WSDL …)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How good the service can do it – </a:t>
            </a:r>
            <a:r>
              <a:rPr lang="en-GB" altLang="en-US" sz="2000">
                <a:solidFill>
                  <a:schemeClr val="accent2"/>
                </a:solidFill>
              </a:rPr>
              <a:t>qualities</a:t>
            </a:r>
            <a:r>
              <a:rPr lang="en-GB" altLang="en-US" sz="2000"/>
              <a:t>: (partly by other WS standards …)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How to use the service – </a:t>
            </a:r>
            <a:r>
              <a:rPr lang="en-GB" altLang="en-US" sz="2000">
                <a:solidFill>
                  <a:schemeClr val="accent2"/>
                </a:solidFill>
              </a:rPr>
              <a:t>usage</a:t>
            </a:r>
            <a:r>
              <a:rPr lang="en-GB" altLang="en-US" sz="2000"/>
              <a:t>: (partly by WSDL …)</a:t>
            </a:r>
          </a:p>
          <a:p>
            <a:pPr marL="342900" indent="-342900">
              <a:lnSpc>
                <a:spcPct val="80000"/>
              </a:lnSpc>
            </a:pPr>
            <a:r>
              <a:rPr lang="en-GB" altLang="en-US" sz="2400"/>
              <a:t>How can we achieve this “understanding”: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Self-describing Web service interface (in WSDL, and …)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Platform independent (in XML)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Provider / Registry tells …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Consumer understands …</a:t>
            </a:r>
          </a:p>
        </p:txBody>
      </p:sp>
    </p:spTree>
    <p:extLst>
      <p:ext uri="{BB962C8B-B14F-4D97-AF65-F5344CB8AC3E}">
        <p14:creationId xmlns:p14="http://schemas.microsoft.com/office/powerpoint/2010/main" val="145966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01F34FC-B8F1-473F-B7F7-F9FF3CE7003B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43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Web Services Description Language</a:t>
            </a:r>
            <a:r>
              <a:rPr lang="it-IT" altLang="en-US" sz="3200"/>
              <a:t> </a:t>
            </a:r>
            <a:endParaRPr lang="en-US" altLang="en-US" sz="320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125538"/>
            <a:ext cx="7586662" cy="5081587"/>
          </a:xfrm>
        </p:spPr>
        <p:txBody>
          <a:bodyPr/>
          <a:lstStyle/>
          <a:p>
            <a:pPr marL="742950" lvl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sz="2000" dirty="0"/>
          </a:p>
          <a:p>
            <a:pPr marL="342900" indent="-342900">
              <a:lnSpc>
                <a:spcPct val="80000"/>
              </a:lnSpc>
              <a:defRPr/>
            </a:pPr>
            <a:r>
              <a:rPr lang="en-GB" dirty="0"/>
              <a:t>The Web Services Description Language (WSDL) is the XML-based service representation language used to describe the details of the complete interfaces exposed by Web services and thus is the means to accessing a Web service.</a:t>
            </a:r>
            <a:r>
              <a:rPr lang="en-GB" sz="2400" dirty="0"/>
              <a:t> </a:t>
            </a:r>
          </a:p>
          <a:p>
            <a:pPr marL="742950" lvl="1">
              <a:lnSpc>
                <a:spcPct val="80000"/>
              </a:lnSpc>
              <a:defRPr/>
            </a:pPr>
            <a:r>
              <a:rPr lang="en-GB" dirty="0"/>
              <a:t>For instance, neither the service requester nor the provider should be aware of each other’s technical infrastructure, programming language or distributed object framework (if any). </a:t>
            </a:r>
          </a:p>
          <a:p>
            <a:pPr marL="342900" indent="-342900">
              <a:lnSpc>
                <a:spcPct val="80000"/>
              </a:lnSpc>
              <a:defRPr/>
            </a:pPr>
            <a:r>
              <a:rPr lang="en-GB" dirty="0"/>
              <a:t>WSDL is a platform-independent description meant to be created and read by machines (not hand-written)</a:t>
            </a:r>
          </a:p>
          <a:p>
            <a:pPr marL="819150" lvl="1" indent="-342900">
              <a:lnSpc>
                <a:spcPct val="80000"/>
              </a:lnSpc>
              <a:defRPr/>
            </a:pPr>
            <a:r>
              <a:rPr lang="en-GB" dirty="0"/>
              <a:t>Generated from </a:t>
            </a:r>
            <a:r>
              <a:rPr lang="en-GB" dirty="0">
                <a:solidFill>
                  <a:srgbClr val="0070C0"/>
                </a:solidFill>
              </a:rPr>
              <a:t>code objects </a:t>
            </a:r>
            <a:r>
              <a:rPr lang="en-GB" i="1" dirty="0"/>
              <a:t>or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ide design tools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97063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373D126-DB74-498D-A23F-BD7BFA29EDF2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44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 of WSDL documents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GB" altLang="en-US" sz="2400"/>
              <a:t>WSDL documents can be separated into distinct sections: 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The </a:t>
            </a:r>
            <a:r>
              <a:rPr lang="en-GB" altLang="en-US" sz="2000" b="1" i="1"/>
              <a:t>service interface definition</a:t>
            </a:r>
            <a:r>
              <a:rPr lang="en-GB" altLang="en-US" sz="2000"/>
              <a:t> describes the general web service interface structure. This contains all the </a:t>
            </a:r>
            <a:r>
              <a:rPr lang="en-GB" altLang="en-US" sz="2000">
                <a:solidFill>
                  <a:srgbClr val="FF0000"/>
                </a:solidFill>
              </a:rPr>
              <a:t>operations</a:t>
            </a:r>
            <a:r>
              <a:rPr lang="en-GB" altLang="en-US" sz="2000"/>
              <a:t> supported by the service, the operation parameters and </a:t>
            </a:r>
            <a:r>
              <a:rPr lang="en-GB" altLang="en-US" sz="2000">
                <a:solidFill>
                  <a:srgbClr val="FF0000"/>
                </a:solidFill>
              </a:rPr>
              <a:t>abstract data types</a:t>
            </a:r>
            <a:r>
              <a:rPr lang="en-GB" altLang="en-US" sz="2000"/>
              <a:t>.</a:t>
            </a:r>
          </a:p>
          <a:p>
            <a:pPr marL="742950" lvl="1">
              <a:lnSpc>
                <a:spcPct val="80000"/>
              </a:lnSpc>
            </a:pPr>
            <a:r>
              <a:rPr lang="en-GB" altLang="en-US" sz="2000"/>
              <a:t>The </a:t>
            </a:r>
            <a:r>
              <a:rPr lang="en-GB" altLang="en-US" sz="2000" b="1" i="1"/>
              <a:t>service implementation part</a:t>
            </a:r>
            <a:r>
              <a:rPr lang="en-GB" altLang="en-US" sz="2000"/>
              <a:t> binds the abstract interface to a </a:t>
            </a:r>
            <a:r>
              <a:rPr lang="en-GB" altLang="en-US" sz="2000">
                <a:solidFill>
                  <a:srgbClr val="FF0000"/>
                </a:solidFill>
              </a:rPr>
              <a:t>concrete network address</a:t>
            </a:r>
            <a:r>
              <a:rPr lang="en-GB" altLang="en-US" sz="2000"/>
              <a:t>, to a </a:t>
            </a:r>
            <a:r>
              <a:rPr lang="en-GB" altLang="en-US" sz="2000">
                <a:solidFill>
                  <a:srgbClr val="FF0000"/>
                </a:solidFill>
              </a:rPr>
              <a:t>specific protocol </a:t>
            </a:r>
            <a:r>
              <a:rPr lang="en-GB" altLang="en-US" sz="2000"/>
              <a:t>and to </a:t>
            </a:r>
            <a:r>
              <a:rPr lang="en-GB" altLang="en-US" sz="2000">
                <a:solidFill>
                  <a:srgbClr val="FF0000"/>
                </a:solidFill>
              </a:rPr>
              <a:t>concrete data structures. </a:t>
            </a:r>
          </a:p>
          <a:p>
            <a:pPr marL="342900" indent="-342900">
              <a:lnSpc>
                <a:spcPct val="80000"/>
              </a:lnSpc>
            </a:pPr>
            <a:r>
              <a:rPr lang="en-GB" altLang="en-US" sz="2400"/>
              <a:t>This enables each part to be defined separately and independently, and </a:t>
            </a:r>
            <a:r>
              <a:rPr lang="en-GB" altLang="en-US" sz="2400" b="1"/>
              <a:t>reused</a:t>
            </a:r>
            <a:r>
              <a:rPr lang="en-GB" altLang="en-US" sz="2400"/>
              <a:t> by other parts</a:t>
            </a:r>
          </a:p>
          <a:p>
            <a:pPr marL="342900" indent="-342900">
              <a:lnSpc>
                <a:spcPct val="80000"/>
              </a:lnSpc>
            </a:pPr>
            <a:r>
              <a:rPr lang="en-GB" altLang="en-US" sz="2400"/>
              <a:t>The combination of these two parts contains </a:t>
            </a:r>
            <a:r>
              <a:rPr lang="en-GB" altLang="en-US" sz="2400" b="1"/>
              <a:t>sufficient information</a:t>
            </a:r>
            <a:r>
              <a:rPr lang="en-GB" altLang="en-US" sz="2400"/>
              <a:t> to describe to the service requester how to invoke and interact with the web service at a provider’s site. </a:t>
            </a:r>
          </a:p>
        </p:txBody>
      </p:sp>
    </p:spTree>
    <p:extLst>
      <p:ext uri="{BB962C8B-B14F-4D97-AF65-F5344CB8AC3E}">
        <p14:creationId xmlns:p14="http://schemas.microsoft.com/office/powerpoint/2010/main" val="30961913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8EC89B88-E174-422B-B370-B4CDDB09528B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45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5540" name="Line 4"/>
          <p:cNvSpPr>
            <a:spLocks noChangeShapeType="1"/>
          </p:cNvSpPr>
          <p:nvPr/>
        </p:nvSpPr>
        <p:spPr bwMode="auto">
          <a:xfrm flipH="1">
            <a:off x="5419725" y="3433763"/>
            <a:ext cx="0" cy="20097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2231" name="Text Box 5"/>
          <p:cNvSpPr txBox="1">
            <a:spLocks noChangeArrowheads="1"/>
          </p:cNvSpPr>
          <p:nvPr/>
        </p:nvSpPr>
        <p:spPr bwMode="auto">
          <a:xfrm>
            <a:off x="323850" y="112713"/>
            <a:ext cx="4357688" cy="664527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 eaLnBrk="1" hangingPunct="1">
              <a:defRPr/>
            </a:pP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&lt;wsdl:definitions name="PurchaseOrderService"</a:t>
            </a:r>
          </a:p>
          <a:p>
            <a:pPr eaLnBrk="1" hangingPunct="1">
              <a:defRPr/>
            </a:pP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targetNamespace="http://supply.com/PurchaseService/wsdl"</a:t>
            </a:r>
          </a:p>
          <a:p>
            <a:pPr eaLnBrk="1" hangingPunct="1">
              <a:defRPr/>
            </a:pP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xmlns:tns="http://supply.com/ PurchaseService/wsdl"</a:t>
            </a:r>
          </a:p>
          <a:p>
            <a:pPr eaLnBrk="1" hangingPunct="1">
              <a:defRPr/>
            </a:pP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xmlns:xsd="http://www.w3.org/2001/XMLSchema"</a:t>
            </a:r>
            <a:endParaRPr lang="en-GB" sz="1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xmlns:soapbind="http://schemas.xmlsoap.org/wsdl/soap/"</a:t>
            </a:r>
          </a:p>
          <a:p>
            <a:pPr eaLnBrk="1" hangingPunct="1">
              <a:defRPr/>
            </a:pP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xmlns:wsdl="http://schemas.xmlsoap.org/wsdl/"&gt; 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wsdl:types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 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xsd:schema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targetNamespace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=</a:t>
            </a: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http://supply.com/PurchaseService/wsdl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  <a:endParaRPr lang="nl-BE" sz="1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GB" sz="1000" dirty="0">
                <a:solidFill>
                  <a:schemeClr val="tx1"/>
                </a:solidFill>
                <a:latin typeface="Times New Roman" pitchFamily="18" charset="0"/>
              </a:rPr>
              <a:t>            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&lt;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xsd:complexType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name="</a:t>
            </a:r>
            <a:r>
              <a:rPr lang="en-GB" sz="1000" b="1" dirty="0" err="1">
                <a:solidFill>
                  <a:schemeClr val="accent2"/>
                </a:solidFill>
                <a:latin typeface="Times New Roman" pitchFamily="18" charset="0"/>
              </a:rPr>
              <a:t>CustomerInfoType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"&gt;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            &lt;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xsd:sequence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   &lt;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xsd:element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name="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CusNamer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" type="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xsd:string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"/&gt;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   &lt;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xsd:element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name="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CusAddress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" type="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xsd:string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"/&gt;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              &lt;/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xsd:sequence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     &lt;/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xsd:complexType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  <a:endParaRPr lang="en-US" sz="1000" b="1" dirty="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xsd:complexType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name=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"PO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sequence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xsd:element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=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"PO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Number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 type="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integer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"/&gt;</a:t>
            </a:r>
            <a:endParaRPr lang="en-GB" sz="1000" b="1" dirty="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      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xsd:element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name="PO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Date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 type="string"/&gt;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&lt;/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sequence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&lt;/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xsd:complexType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      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xsd:complexType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name="Invoice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xsd:all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xsd:element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name="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InvPrice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 type="float"/&gt;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xsd:element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name="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InvDate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 type="string"/&gt;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&lt;/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xsd:all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&lt;/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xsd:complexType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  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&lt;/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xsd:schema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&lt;/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wsdl:types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  <a:endParaRPr lang="en-GB" sz="1000" b="1" dirty="0">
              <a:solidFill>
                <a:schemeClr val="tx1"/>
              </a:solidFill>
              <a:latin typeface="Times New Roman" pitchFamily="18" charset="0"/>
            </a:endParaRP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wsdl:message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name="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POMessage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wsdl:part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name="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PurchaseOrder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 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="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tns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:PO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"/&gt;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&lt; 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wsdl:part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name=</a:t>
            </a: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CustomerInfo</a:t>
            </a: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type="</a:t>
            </a:r>
            <a:r>
              <a:rPr lang="en-US" sz="1000" b="1" dirty="0" err="1">
                <a:solidFill>
                  <a:schemeClr val="accent2"/>
                </a:solidFill>
                <a:latin typeface="Times New Roman" pitchFamily="18" charset="0"/>
              </a:rPr>
              <a:t>tns:CustomerInfoType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"/&gt;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&lt;/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wsdl:message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wsdl:message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name="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InvMessage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wsdl:part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name="Invoice" 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="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tns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:Invoice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"/&gt;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&lt;/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wsdl:message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   </a:t>
            </a:r>
            <a:r>
              <a:rPr lang="en-US" sz="1000" b="1" dirty="0">
                <a:solidFill>
                  <a:srgbClr val="1E168A"/>
                </a:solidFill>
                <a:latin typeface="Times New Roman" pitchFamily="18" charset="0"/>
              </a:rPr>
              <a:t>&lt;</a:t>
            </a:r>
            <a:r>
              <a:rPr lang="en-US" sz="1000" b="1" dirty="0" err="1">
                <a:solidFill>
                  <a:srgbClr val="1E168A"/>
                </a:solidFill>
                <a:latin typeface="Times New Roman" pitchFamily="18" charset="0"/>
              </a:rPr>
              <a:t>wsdl:portType</a:t>
            </a:r>
            <a:r>
              <a:rPr lang="en-US" sz="1000" b="1" dirty="0">
                <a:solidFill>
                  <a:srgbClr val="1E168A"/>
                </a:solidFill>
                <a:latin typeface="Times New Roman" pitchFamily="18" charset="0"/>
              </a:rPr>
              <a:t>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name="</a:t>
            </a: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PurchaseOrder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PortType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&lt;</a:t>
            </a:r>
            <a:r>
              <a:rPr lang="en-US" sz="1000" b="1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</a:rPr>
              <a:t>wsdl:operation</a:t>
            </a: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</a:rPr>
              <a:t> 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name="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SendPurchase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wsdl:input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message="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tns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POMessage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"/&gt;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        &lt;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wsdl:output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message="</a:t>
            </a:r>
            <a:r>
              <a:rPr lang="en-US" sz="1000" b="1" dirty="0" err="1">
                <a:solidFill>
                  <a:schemeClr val="tx1"/>
                </a:solidFill>
                <a:latin typeface="Times New Roman" pitchFamily="18" charset="0"/>
              </a:rPr>
              <a:t>tns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GB" sz="1000" b="1" dirty="0" err="1">
                <a:solidFill>
                  <a:schemeClr val="tx1"/>
                </a:solidFill>
                <a:latin typeface="Times New Roman" pitchFamily="18" charset="0"/>
              </a:rPr>
              <a:t>InvMessage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"/&gt;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           &lt;</a:t>
            </a: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</a:rPr>
              <a:t>/</a:t>
            </a:r>
            <a:r>
              <a:rPr lang="en-US" sz="1000" b="1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</a:rPr>
              <a:t>wsdl:operation</a:t>
            </a: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en-US" sz="1000" b="1" dirty="0">
                <a:solidFill>
                  <a:schemeClr val="tx1"/>
                </a:solidFill>
                <a:latin typeface="Times New Roman" pitchFamily="18" charset="0"/>
              </a:rPr>
              <a:t>   </a:t>
            </a:r>
            <a:r>
              <a:rPr lang="en-GB" sz="10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sz="1000" b="1" dirty="0">
                <a:solidFill>
                  <a:srgbClr val="1E168A"/>
                </a:solidFill>
                <a:latin typeface="Times New Roman" pitchFamily="18" charset="0"/>
              </a:rPr>
              <a:t>&lt;/</a:t>
            </a:r>
            <a:r>
              <a:rPr lang="en-US" sz="1000" b="1" dirty="0" err="1">
                <a:solidFill>
                  <a:srgbClr val="1E168A"/>
                </a:solidFill>
                <a:latin typeface="Times New Roman" pitchFamily="18" charset="0"/>
              </a:rPr>
              <a:t>wsdl:portType</a:t>
            </a:r>
            <a:r>
              <a:rPr lang="en-US" sz="1000" b="1" dirty="0">
                <a:solidFill>
                  <a:srgbClr val="1E168A"/>
                </a:solidFill>
                <a:latin typeface="Times New Roman" pitchFamily="18" charset="0"/>
              </a:rPr>
              <a:t>&gt;</a:t>
            </a:r>
          </a:p>
          <a:p>
            <a:pPr eaLnBrk="1" hangingPunct="1">
              <a:defRPr/>
            </a:pPr>
            <a:r>
              <a:rPr lang="nl-BE" sz="1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&lt;/wsdl:definitions&gt;</a:t>
            </a:r>
            <a:endParaRPr lang="en-US" sz="1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542" name="Text Box 6"/>
          <p:cNvSpPr txBox="1">
            <a:spLocks noChangeArrowheads="1"/>
          </p:cNvSpPr>
          <p:nvPr/>
        </p:nvSpPr>
        <p:spPr bwMode="auto">
          <a:xfrm>
            <a:off x="4081463" y="5480050"/>
            <a:ext cx="1038225" cy="428625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Port type with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 one operation</a:t>
            </a:r>
            <a:endParaRPr lang="en-US" altLang="en-US" sz="1200" b="1">
              <a:latin typeface="Times New Roman" panose="02020603050405020304" pitchFamily="18" charset="0"/>
            </a:endParaRPr>
          </a:p>
        </p:txBody>
      </p:sp>
      <p:sp>
        <p:nvSpPr>
          <p:cNvPr id="65543" name="Line 7"/>
          <p:cNvSpPr>
            <a:spLocks noChangeShapeType="1"/>
          </p:cNvSpPr>
          <p:nvPr/>
        </p:nvSpPr>
        <p:spPr bwMode="auto">
          <a:xfrm flipH="1">
            <a:off x="3476625" y="5697538"/>
            <a:ext cx="604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65544" name="Group 1"/>
          <p:cNvGrpSpPr>
            <a:grpSpLocks/>
          </p:cNvGrpSpPr>
          <p:nvPr/>
        </p:nvGrpSpPr>
        <p:grpSpPr bwMode="auto">
          <a:xfrm>
            <a:off x="3001963" y="2516188"/>
            <a:ext cx="1958975" cy="2284412"/>
            <a:chOff x="3001641" y="2516188"/>
            <a:chExt cx="1958974" cy="2284413"/>
          </a:xfrm>
        </p:grpSpPr>
        <p:sp>
          <p:nvSpPr>
            <p:cNvPr id="65561" name="Line 8"/>
            <p:cNvSpPr>
              <a:spLocks noChangeShapeType="1"/>
            </p:cNvSpPr>
            <p:nvPr/>
          </p:nvSpPr>
          <p:spPr bwMode="auto">
            <a:xfrm flipH="1">
              <a:off x="4960615" y="2516188"/>
              <a:ext cx="0" cy="228441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562" name="Line 9"/>
            <p:cNvSpPr>
              <a:spLocks noChangeShapeType="1"/>
            </p:cNvSpPr>
            <p:nvPr/>
          </p:nvSpPr>
          <p:spPr bwMode="auto">
            <a:xfrm>
              <a:off x="3001641" y="2516188"/>
              <a:ext cx="195897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563" name="Line 10"/>
            <p:cNvSpPr>
              <a:spLocks noChangeShapeType="1"/>
            </p:cNvSpPr>
            <p:nvPr/>
          </p:nvSpPr>
          <p:spPr bwMode="auto">
            <a:xfrm flipH="1">
              <a:off x="4162103" y="4794251"/>
              <a:ext cx="79851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5545" name="Line 11"/>
          <p:cNvSpPr>
            <a:spLocks noChangeShapeType="1"/>
          </p:cNvSpPr>
          <p:nvPr/>
        </p:nvSpPr>
        <p:spPr bwMode="auto">
          <a:xfrm flipH="1">
            <a:off x="3863975" y="5386388"/>
            <a:ext cx="1555750" cy="396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5546" name="Text Box 13"/>
          <p:cNvSpPr txBox="1">
            <a:spLocks noChangeArrowheads="1"/>
          </p:cNvSpPr>
          <p:nvPr/>
        </p:nvSpPr>
        <p:spPr bwMode="auto">
          <a:xfrm>
            <a:off x="4308475" y="5957888"/>
            <a:ext cx="1304925" cy="765175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An operation with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request (input) &amp;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response (output)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message</a:t>
            </a:r>
            <a:endParaRPr lang="en-US" altLang="en-US" sz="1100" b="1">
              <a:latin typeface="Times New Roman" panose="02020603050405020304" pitchFamily="18" charset="0"/>
            </a:endParaRPr>
          </a:p>
        </p:txBody>
      </p:sp>
      <p:sp>
        <p:nvSpPr>
          <p:cNvPr id="65547" name="Line 14"/>
          <p:cNvSpPr>
            <a:spLocks noChangeShapeType="1"/>
          </p:cNvSpPr>
          <p:nvPr/>
        </p:nvSpPr>
        <p:spPr bwMode="auto">
          <a:xfrm flipH="1">
            <a:off x="4051300" y="6070600"/>
            <a:ext cx="257175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65548" name="Group 15"/>
          <p:cNvGrpSpPr>
            <a:grpSpLocks/>
          </p:cNvGrpSpPr>
          <p:nvPr/>
        </p:nvGrpSpPr>
        <p:grpSpPr bwMode="auto">
          <a:xfrm>
            <a:off x="3451225" y="5961063"/>
            <a:ext cx="590550" cy="228600"/>
            <a:chOff x="2718" y="3872"/>
            <a:chExt cx="372" cy="144"/>
          </a:xfrm>
        </p:grpSpPr>
        <p:sp>
          <p:nvSpPr>
            <p:cNvPr id="65558" name="Line 16"/>
            <p:cNvSpPr>
              <a:spLocks noChangeShapeType="1"/>
            </p:cNvSpPr>
            <p:nvPr/>
          </p:nvSpPr>
          <p:spPr bwMode="auto">
            <a:xfrm flipH="1" flipV="1">
              <a:off x="2718" y="3872"/>
              <a:ext cx="3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559" name="Line 17"/>
            <p:cNvSpPr>
              <a:spLocks noChangeShapeType="1"/>
            </p:cNvSpPr>
            <p:nvPr/>
          </p:nvSpPr>
          <p:spPr bwMode="auto">
            <a:xfrm flipH="1" flipV="1">
              <a:off x="2772" y="4016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560" name="Line 18"/>
            <p:cNvSpPr>
              <a:spLocks noChangeShapeType="1"/>
            </p:cNvSpPr>
            <p:nvPr/>
          </p:nvSpPr>
          <p:spPr bwMode="auto">
            <a:xfrm>
              <a:off x="3090" y="3872"/>
              <a:ext cx="0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5549" name="Line 19"/>
          <p:cNvSpPr>
            <a:spLocks noChangeShapeType="1"/>
          </p:cNvSpPr>
          <p:nvPr/>
        </p:nvSpPr>
        <p:spPr bwMode="auto">
          <a:xfrm>
            <a:off x="3248025" y="3422650"/>
            <a:ext cx="21717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5550" name="Text Box 20"/>
          <p:cNvSpPr txBox="1">
            <a:spLocks noChangeArrowheads="1"/>
          </p:cNvSpPr>
          <p:nvPr/>
        </p:nvSpPr>
        <p:spPr bwMode="auto">
          <a:xfrm>
            <a:off x="3719513" y="5084763"/>
            <a:ext cx="1436687" cy="26035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Data that is returned</a:t>
            </a:r>
            <a:endParaRPr lang="en-US" altLang="en-US" sz="1100" b="1">
              <a:latin typeface="Times New Roman" panose="02020603050405020304" pitchFamily="18" charset="0"/>
            </a:endParaRPr>
          </a:p>
        </p:txBody>
      </p:sp>
      <p:sp>
        <p:nvSpPr>
          <p:cNvPr id="65551" name="Line 21"/>
          <p:cNvSpPr>
            <a:spLocks noChangeShapeType="1"/>
          </p:cNvSpPr>
          <p:nvPr/>
        </p:nvSpPr>
        <p:spPr bwMode="auto">
          <a:xfrm flipH="1" flipV="1">
            <a:off x="2706688" y="5253038"/>
            <a:ext cx="1000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5552" name="Line 22"/>
          <p:cNvSpPr>
            <a:spLocks noChangeShapeType="1"/>
          </p:cNvSpPr>
          <p:nvPr/>
        </p:nvSpPr>
        <p:spPr bwMode="auto">
          <a:xfrm flipH="1" flipV="1">
            <a:off x="2459038" y="4200525"/>
            <a:ext cx="673100" cy="47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5553" name="Line 23"/>
          <p:cNvSpPr>
            <a:spLocks noChangeShapeType="1"/>
          </p:cNvSpPr>
          <p:nvPr/>
        </p:nvSpPr>
        <p:spPr bwMode="auto">
          <a:xfrm>
            <a:off x="2460625" y="4205288"/>
            <a:ext cx="0" cy="327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5554" name="Text Box 24"/>
          <p:cNvSpPr txBox="1">
            <a:spLocks noChangeArrowheads="1"/>
          </p:cNvSpPr>
          <p:nvPr/>
        </p:nvSpPr>
        <p:spPr bwMode="auto">
          <a:xfrm>
            <a:off x="3132138" y="4176713"/>
            <a:ext cx="1150937" cy="26035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Data that is sent</a:t>
            </a:r>
            <a:endParaRPr lang="en-US" altLang="en-US" sz="1200" b="1">
              <a:latin typeface="Times New Roman" panose="02020603050405020304" pitchFamily="18" charset="0"/>
            </a:endParaRPr>
          </a:p>
        </p:txBody>
      </p:sp>
      <p:sp>
        <p:nvSpPr>
          <p:cNvPr id="65555" name="Line 25"/>
          <p:cNvSpPr>
            <a:spLocks noChangeShapeType="1"/>
          </p:cNvSpPr>
          <p:nvPr/>
        </p:nvSpPr>
        <p:spPr bwMode="auto">
          <a:xfrm flipH="1">
            <a:off x="1343025" y="1133475"/>
            <a:ext cx="2135188" cy="3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5556" name="Text Box 26"/>
          <p:cNvSpPr txBox="1">
            <a:spLocks noChangeArrowheads="1"/>
          </p:cNvSpPr>
          <p:nvPr/>
        </p:nvSpPr>
        <p:spPr bwMode="auto">
          <a:xfrm>
            <a:off x="3497263" y="947738"/>
            <a:ext cx="1328737" cy="428625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Abstract data type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GB" altLang="en-US" sz="1100" b="1">
                <a:latin typeface="Times New Roman" panose="02020603050405020304" pitchFamily="18" charset="0"/>
              </a:rPr>
              <a:t>definitions</a:t>
            </a:r>
            <a:endParaRPr lang="en-US" altLang="en-US" sz="1100" b="1">
              <a:latin typeface="Times New Roman" panose="02020603050405020304" pitchFamily="18" charset="0"/>
            </a:endParaRPr>
          </a:p>
        </p:txBody>
      </p:sp>
      <p:sp>
        <p:nvSpPr>
          <p:cNvPr id="610331" name="Text Box 27"/>
          <p:cNvSpPr txBox="1">
            <a:spLocks noChangeArrowheads="1"/>
          </p:cNvSpPr>
          <p:nvPr/>
        </p:nvSpPr>
        <p:spPr bwMode="auto">
          <a:xfrm>
            <a:off x="6321425" y="347663"/>
            <a:ext cx="2700338" cy="1200150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Example of </a:t>
            </a:r>
            <a:b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</a:b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Abstract WSDL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Interface definition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8476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441CC6B-C13C-4A05-AE6D-D04F032FB04D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46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grpSp>
        <p:nvGrpSpPr>
          <p:cNvPr id="72708" name="Group 3"/>
          <p:cNvGrpSpPr>
            <a:grpSpLocks/>
          </p:cNvGrpSpPr>
          <p:nvPr/>
        </p:nvGrpSpPr>
        <p:grpSpPr bwMode="auto">
          <a:xfrm>
            <a:off x="165100" y="155575"/>
            <a:ext cx="7821613" cy="6654800"/>
            <a:chOff x="481" y="12"/>
            <a:chExt cx="4927" cy="4192"/>
          </a:xfrm>
        </p:grpSpPr>
        <p:sp>
          <p:nvSpPr>
            <p:cNvPr id="72710" name="Text Box 4"/>
            <p:cNvSpPr txBox="1">
              <a:spLocks noChangeArrowheads="1"/>
            </p:cNvSpPr>
            <p:nvPr/>
          </p:nvSpPr>
          <p:spPr bwMode="auto">
            <a:xfrm>
              <a:off x="481" y="12"/>
              <a:ext cx="3583" cy="4192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&lt;wsdl:definitions&gt; . …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&lt;import namespace="http://supply.com/PurchaseService/wsdl"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GB" altLang="en-US" sz="1100" b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location="http://supply.com </a:t>
              </a:r>
              <a:r>
                <a:rPr lang="nl-BE" altLang="en-US" sz="1100" b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PurchaseService</a:t>
              </a:r>
              <a:r>
                <a:rPr lang="en-GB" altLang="en-US" sz="1100" b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/wsdl/PurchaseOrder-interface.wsdl"/&gt;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&lt;!--  location of WSDL PO interface from Listing-1--&gt; </a:t>
              </a:r>
              <a:endParaRPr lang="en-GB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&lt;!-- wsdl:binding states a serialisation protocol for this service --&gt;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&lt;!--  type attribute must match name of portType element in Listing-1--&gt; 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&lt;</a:t>
              </a:r>
              <a:r>
                <a:rPr lang="en-US" altLang="en-US" sz="1100" b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wsdl:binding 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name="</a:t>
              </a:r>
              <a:r>
                <a:rPr lang="nl-BE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PurchaseOrderSOAPBinding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"                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type="tns:</a:t>
              </a:r>
              <a:r>
                <a:rPr lang="nl-BE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PurchaseOrderPortType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"&gt;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GB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&lt;!-- leverage off soapbind:binding synchronous style --&gt;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&lt;soapbind:binding style="rpc"</a:t>
              </a:r>
              <a:endParaRPr lang="en-GB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transport="http://schemas.xmlsoap.org/soap/http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"/&gt;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&lt;wsdl:operation name="SendPurchase"&gt;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&lt;!-- again bind to SOAP --&gt;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&lt;soapbind:operation</a:t>
              </a:r>
              <a:endParaRPr lang="en-GB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soapAction="http://supply.com/ PurchaseService/wsdl/ SendPurchase" style="rpc"/&gt;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&lt;!-- furthur specify that the messages in the wsdl:operation use SOAP --&gt;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&lt;wsdl:input&gt;    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&lt;soapbind:body  use="literal"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namespace="</a:t>
              </a:r>
              <a:r>
                <a:rPr lang="nl-BE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http://supply.com/PurchaseService/wsdl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"/&gt; 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&lt;/wsdl:input&gt;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&lt;wsdl:output&gt;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&lt;soapbind:body  use=“literal"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namespace="</a:t>
              </a:r>
              <a:r>
                <a:rPr lang="nl-BE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http://supply.com/ PurchaseService/wsdl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"/&gt;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&lt;/wsdl:output&gt;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&lt;/wsdl:operation&gt;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en-US" sz="11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/wsdl:binding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GB" altLang="en-US" sz="11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&lt;</a:t>
              </a:r>
              <a:r>
                <a:rPr lang="en-GB" altLang="en-US" sz="1100" b="1">
                  <a:solidFill>
                    <a:srgbClr val="1E168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wsdl:service 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name=“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PurchaseOrder</a:t>
              </a:r>
              <a:r>
                <a:rPr lang="nl-BE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Service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"&gt;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&lt;</a:t>
              </a:r>
              <a:r>
                <a:rPr lang="en-GB" altLang="en-US" sz="1100" b="1">
                  <a:solidFill>
                    <a:srgbClr val="8B6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wsdl:port 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name=“</a:t>
              </a:r>
              <a:r>
                <a:rPr lang="en-US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PurchaseOrder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Port" binding="tns:</a:t>
              </a:r>
              <a:r>
                <a:rPr lang="nl-BE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PurchaseOrderSOAPBinding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"&gt;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&lt;!-- give the binding a network endpoint address or URI of service  --&gt;  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&lt;soapbind:address location="http://</a:t>
              </a:r>
              <a:r>
                <a:rPr lang="nl-BE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supply.com:8080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nl-BE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PurchaseOrderService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"/&gt;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&lt;</a:t>
              </a:r>
              <a:r>
                <a:rPr lang="en-GB" altLang="en-US" sz="1100" b="1">
                  <a:solidFill>
                    <a:srgbClr val="8B6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/wsdl:port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&lt;</a:t>
              </a:r>
              <a:r>
                <a:rPr lang="en-GB" altLang="en-US" sz="1100" b="1">
                  <a:solidFill>
                    <a:srgbClr val="1E168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/wsdl:service</a:t>
              </a:r>
              <a:r>
                <a:rPr lang="en-GB" altLang="en-US" sz="11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endParaRPr lang="en-GB" altLang="en-US" sz="1100" b="1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100" b="1">
                  <a:latin typeface="Times New Roman" panose="02020603050405020304" pitchFamily="18" charset="0"/>
                </a:rPr>
                <a:t>&lt;/wsdl:definitions&gt;</a:t>
              </a:r>
              <a:endParaRPr lang="en-US" altLang="en-US" sz="1100" b="1">
                <a:latin typeface="Times New Roman" panose="02020603050405020304" pitchFamily="18" charset="0"/>
              </a:endParaRPr>
            </a:p>
          </p:txBody>
        </p:sp>
        <p:sp>
          <p:nvSpPr>
            <p:cNvPr id="72711" name="Line 5"/>
            <p:cNvSpPr>
              <a:spLocks noChangeShapeType="1"/>
            </p:cNvSpPr>
            <p:nvPr/>
          </p:nvSpPr>
          <p:spPr bwMode="auto">
            <a:xfrm flipV="1">
              <a:off x="2654" y="721"/>
              <a:ext cx="2555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2712" name="Line 6"/>
            <p:cNvSpPr>
              <a:spLocks noChangeShapeType="1"/>
            </p:cNvSpPr>
            <p:nvPr/>
          </p:nvSpPr>
          <p:spPr bwMode="auto">
            <a:xfrm>
              <a:off x="5198" y="725"/>
              <a:ext cx="11" cy="2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2713" name="Line 7"/>
            <p:cNvSpPr>
              <a:spLocks noChangeShapeType="1"/>
            </p:cNvSpPr>
            <p:nvPr/>
          </p:nvSpPr>
          <p:spPr bwMode="auto">
            <a:xfrm flipH="1" flipV="1">
              <a:off x="4076" y="3550"/>
              <a:ext cx="1133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2714" name="Line 8"/>
            <p:cNvSpPr>
              <a:spLocks noChangeShapeType="1"/>
            </p:cNvSpPr>
            <p:nvPr/>
          </p:nvSpPr>
          <p:spPr bwMode="auto">
            <a:xfrm flipH="1" flipV="1">
              <a:off x="2301" y="1517"/>
              <a:ext cx="1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2715" name="Line 9"/>
            <p:cNvSpPr>
              <a:spLocks noChangeShapeType="1"/>
            </p:cNvSpPr>
            <p:nvPr/>
          </p:nvSpPr>
          <p:spPr bwMode="auto">
            <a:xfrm flipH="1">
              <a:off x="2109" y="2298"/>
              <a:ext cx="1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2716" name="Text Box 10"/>
            <p:cNvSpPr txBox="1">
              <a:spLocks noChangeArrowheads="1"/>
            </p:cNvSpPr>
            <p:nvPr/>
          </p:nvSpPr>
          <p:spPr bwMode="auto">
            <a:xfrm>
              <a:off x="4186" y="3614"/>
              <a:ext cx="1222" cy="173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200" b="1">
                  <a:latin typeface="Times New Roman" panose="02020603050405020304" pitchFamily="18" charset="0"/>
                </a:rPr>
                <a:t>Network address of service</a:t>
              </a:r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sp>
          <p:nvSpPr>
            <p:cNvPr id="72717" name="Line 11"/>
            <p:cNvSpPr>
              <a:spLocks noChangeShapeType="1"/>
            </p:cNvSpPr>
            <p:nvPr/>
          </p:nvSpPr>
          <p:spPr bwMode="auto">
            <a:xfrm flipH="1" flipV="1">
              <a:off x="3464" y="3698"/>
              <a:ext cx="713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72718" name="Text Box 12"/>
            <p:cNvSpPr txBox="1">
              <a:spLocks noChangeArrowheads="1"/>
            </p:cNvSpPr>
            <p:nvPr/>
          </p:nvSpPr>
          <p:spPr bwMode="auto">
            <a:xfrm>
              <a:off x="4368" y="3264"/>
              <a:ext cx="662" cy="173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200" b="1">
                  <a:latin typeface="Times New Roman" panose="02020603050405020304" pitchFamily="18" charset="0"/>
                </a:rPr>
                <a:t>Service name</a:t>
              </a:r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sp>
          <p:nvSpPr>
            <p:cNvPr id="72719" name="Text Box 13"/>
            <p:cNvSpPr txBox="1">
              <a:spLocks noChangeArrowheads="1"/>
            </p:cNvSpPr>
            <p:nvPr/>
          </p:nvSpPr>
          <p:spPr bwMode="auto">
            <a:xfrm>
              <a:off x="3634" y="1396"/>
              <a:ext cx="1217" cy="288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200" b="1">
                  <a:latin typeface="Times New Roman" panose="02020603050405020304" pitchFamily="18" charset="0"/>
                </a:rPr>
                <a:t>Bind an abstract operation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200" b="1">
                  <a:latin typeface="Times New Roman" panose="02020603050405020304" pitchFamily="18" charset="0"/>
                </a:rPr>
                <a:t>to this implementation &amp;</a:t>
              </a:r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sp>
          <p:nvSpPr>
            <p:cNvPr id="72720" name="Text Box 14"/>
            <p:cNvSpPr txBox="1">
              <a:spLocks noChangeArrowheads="1"/>
            </p:cNvSpPr>
            <p:nvPr/>
          </p:nvSpPr>
          <p:spPr bwMode="auto">
            <a:xfrm>
              <a:off x="3782" y="2098"/>
              <a:ext cx="1196" cy="403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200" b="1">
                  <a:latin typeface="Times New Roman" panose="02020603050405020304" pitchFamily="18" charset="0"/>
                </a:rPr>
                <a:t>map the abstract 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200" b="1">
                  <a:latin typeface="Times New Roman" panose="02020603050405020304" pitchFamily="18" charset="0"/>
                </a:rPr>
                <a:t>input &amp; output messages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GB" altLang="en-US" sz="1200" b="1">
                  <a:latin typeface="Times New Roman" panose="02020603050405020304" pitchFamily="18" charset="0"/>
                </a:rPr>
                <a:t>to these concrete messages</a:t>
              </a:r>
              <a:endParaRPr lang="en-US" altLang="en-US" sz="1200" b="1">
                <a:latin typeface="Times New Roman" panose="02020603050405020304" pitchFamily="18" charset="0"/>
              </a:endParaRPr>
            </a:p>
          </p:txBody>
        </p:sp>
        <p:cxnSp>
          <p:nvCxnSpPr>
            <p:cNvPr id="72721" name="AutoShape 15"/>
            <p:cNvCxnSpPr>
              <a:cxnSpLocks noChangeShapeType="1"/>
              <a:stCxn id="72719" idx="3"/>
              <a:endCxn id="72720" idx="3"/>
            </p:cNvCxnSpPr>
            <p:nvPr/>
          </p:nvCxnSpPr>
          <p:spPr bwMode="auto">
            <a:xfrm>
              <a:off x="4851" y="1540"/>
              <a:ext cx="127" cy="760"/>
            </a:xfrm>
            <a:prstGeom prst="bentConnector3">
              <a:avLst>
                <a:gd name="adj1" fmla="val 21338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22" name="AutoShape 16"/>
            <p:cNvCxnSpPr>
              <a:cxnSpLocks noChangeShapeType="1"/>
            </p:cNvCxnSpPr>
            <p:nvPr/>
          </p:nvCxnSpPr>
          <p:spPr bwMode="auto">
            <a:xfrm rot="-5400000" flipH="1" flipV="1">
              <a:off x="2504" y="1816"/>
              <a:ext cx="422" cy="1397"/>
            </a:xfrm>
            <a:prstGeom prst="bentConnector4">
              <a:avLst>
                <a:gd name="adj1" fmla="val 99995"/>
                <a:gd name="adj2" fmla="val 8969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23" name="AutoShape 17"/>
            <p:cNvCxnSpPr>
              <a:cxnSpLocks noChangeShapeType="1"/>
              <a:stCxn id="72718" idx="1"/>
            </p:cNvCxnSpPr>
            <p:nvPr/>
          </p:nvCxnSpPr>
          <p:spPr bwMode="auto">
            <a:xfrm rot="10800000" flipV="1">
              <a:off x="2432" y="3351"/>
              <a:ext cx="1936" cy="1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23634" name="Text Box 18"/>
          <p:cNvSpPr txBox="1">
            <a:spLocks noChangeArrowheads="1"/>
          </p:cNvSpPr>
          <p:nvPr/>
        </p:nvSpPr>
        <p:spPr bwMode="auto">
          <a:xfrm>
            <a:off x="6640513" y="1078706"/>
            <a:ext cx="2060575" cy="925513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Listing 2:</a:t>
            </a:r>
          </a:p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Example of WSDL</a:t>
            </a:r>
          </a:p>
          <a:p>
            <a:pPr>
              <a:defRPr/>
            </a:pPr>
            <a:r>
              <a:rPr lang="en-US" sz="1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Implementation</a:t>
            </a:r>
            <a:endParaRPr lang="en-US" sz="180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95052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F68F76F8-A1D3-4ACA-BFAF-DB5C5A0166DA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47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SOAP </a:t>
            </a:r>
            <a:r>
              <a:rPr lang="en-GB" altLang="en-US" sz="2400"/>
              <a:t>(Simple Object Access Protocol)</a:t>
            </a:r>
            <a:endParaRPr lang="en-AU" altLang="en-US" sz="240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an XML-based communication protocol for exchanging messages between computers, regardless of their operating systems or programming environments</a:t>
            </a:r>
          </a:p>
          <a:p>
            <a:pPr>
              <a:lnSpc>
                <a:spcPct val="90000"/>
              </a:lnSpc>
            </a:pPr>
            <a:r>
              <a:rPr lang="en-GB" altLang="en-US"/>
              <a:t>Overcomes the problems of conventional distributed object models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Does not require uniform object model across applications 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Loose-coupling/strong encapsulation for applications (no internal object ref)</a:t>
            </a:r>
          </a:p>
          <a:p>
            <a:pPr lvl="1">
              <a:lnSpc>
                <a:spcPct val="90000"/>
              </a:lnSpc>
            </a:pPr>
            <a:r>
              <a:rPr lang="en-GB" altLang="en-US"/>
              <a:t>Designed to work with WSDL      </a:t>
            </a:r>
            <a:r>
              <a:rPr lang="en-GB" altLang="en-US" sz="1800"/>
              <a:t>http://schemas.</a:t>
            </a:r>
            <a:r>
              <a:rPr lang="en-GB" altLang="en-US" sz="1800">
                <a:solidFill>
                  <a:srgbClr val="FF0000"/>
                </a:solidFill>
              </a:rPr>
              <a:t>xmlsoap.org</a:t>
            </a:r>
            <a:r>
              <a:rPr lang="en-GB" altLang="en-US" sz="1800"/>
              <a:t>/wsdl/</a:t>
            </a:r>
            <a:endParaRPr lang="en-GB" altLang="en-US"/>
          </a:p>
          <a:p>
            <a:pPr lvl="1">
              <a:lnSpc>
                <a:spcPct val="90000"/>
              </a:lnSpc>
            </a:pPr>
            <a:r>
              <a:rPr lang="en-GB" altLang="en-US"/>
              <a:t>Use HTTP - work over firewalls or proxy servers, e.g, most firewalls are configured to allow Hypertext Transfer Protocol (HTTP) to pass across</a:t>
            </a:r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849762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0541003-0DDB-49B1-B947-0C71B9E4F15D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48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SOAP?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990600"/>
            <a:ext cx="8020050" cy="1447800"/>
          </a:xfrm>
        </p:spPr>
        <p:txBody>
          <a:bodyPr/>
          <a:lstStyle/>
          <a:p>
            <a:pPr marL="342900" indent="-342900">
              <a:lnSpc>
                <a:spcPct val="80000"/>
              </a:lnSpc>
            </a:pPr>
            <a:endParaRPr lang="en-US" altLang="en-US" sz="1600"/>
          </a:p>
          <a:p>
            <a:pPr marL="342900" indent="-342900">
              <a:lnSpc>
                <a:spcPct val="80000"/>
              </a:lnSpc>
            </a:pPr>
            <a:r>
              <a:rPr lang="en-US" altLang="en-US" sz="2000"/>
              <a:t>The standard messaging protocol used by Web services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en-US" sz="2000"/>
              <a:t>Primarily for inter-application communication (‘server’ to ‘server’)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en-US" sz="2000"/>
              <a:t>Use an XML-based scheme for encoding message (request and response) data 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en-US" sz="2000"/>
              <a:t>Typically uses HTTP as a means for transport</a:t>
            </a:r>
            <a:endParaRPr lang="en-US" altLang="en-US" sz="1400"/>
          </a:p>
        </p:txBody>
      </p:sp>
      <p:grpSp>
        <p:nvGrpSpPr>
          <p:cNvPr id="32773" name="Group 4"/>
          <p:cNvGrpSpPr>
            <a:grpSpLocks/>
          </p:cNvGrpSpPr>
          <p:nvPr/>
        </p:nvGrpSpPr>
        <p:grpSpPr bwMode="auto">
          <a:xfrm>
            <a:off x="1187450" y="2924175"/>
            <a:ext cx="6975475" cy="3740150"/>
            <a:chOff x="720" y="1196"/>
            <a:chExt cx="4394" cy="2356"/>
          </a:xfrm>
        </p:grpSpPr>
        <p:sp>
          <p:nvSpPr>
            <p:cNvPr id="32774" name="Rectangle 5"/>
            <p:cNvSpPr>
              <a:spLocks noChangeArrowheads="1"/>
            </p:cNvSpPr>
            <p:nvPr/>
          </p:nvSpPr>
          <p:spPr bwMode="auto">
            <a:xfrm flipH="1">
              <a:off x="3513" y="1196"/>
              <a:ext cx="1440" cy="1475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Ctr="1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service provider</a:t>
              </a:r>
              <a:endParaRPr lang="en-US" altLang="en-US" sz="1600">
                <a:latin typeface="Arial" panose="020B0604020202020204" pitchFamily="34" charset="0"/>
              </a:endParaRPr>
            </a:p>
          </p:txBody>
        </p:sp>
        <p:sp>
          <p:nvSpPr>
            <p:cNvPr id="32775" name="Rectangle 6"/>
            <p:cNvSpPr>
              <a:spLocks noChangeArrowheads="1"/>
            </p:cNvSpPr>
            <p:nvPr/>
          </p:nvSpPr>
          <p:spPr bwMode="auto">
            <a:xfrm flipH="1">
              <a:off x="720" y="1200"/>
              <a:ext cx="1440" cy="1467"/>
            </a:xfrm>
            <a:prstGeom prst="rect">
              <a:avLst/>
            </a:prstGeom>
            <a:solidFill>
              <a:srgbClr val="CC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Ctr="1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service requestor</a:t>
              </a:r>
              <a:endParaRPr lang="en-US" altLang="en-US" sz="1600">
                <a:latin typeface="Arial" panose="020B0604020202020204" pitchFamily="34" charset="0"/>
              </a:endParaRPr>
            </a:p>
          </p:txBody>
        </p:sp>
        <p:sp>
          <p:nvSpPr>
            <p:cNvPr id="32776" name="AutoShape 7"/>
            <p:cNvSpPr>
              <a:spLocks noChangeArrowheads="1"/>
            </p:cNvSpPr>
            <p:nvPr/>
          </p:nvSpPr>
          <p:spPr bwMode="auto">
            <a:xfrm>
              <a:off x="898" y="1506"/>
              <a:ext cx="992" cy="3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application object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(client)</a:t>
              </a:r>
            </a:p>
          </p:txBody>
        </p:sp>
        <p:sp>
          <p:nvSpPr>
            <p:cNvPr id="32777" name="AutoShape 8"/>
            <p:cNvSpPr>
              <a:spLocks noChangeArrowheads="1"/>
            </p:cNvSpPr>
            <p:nvPr/>
          </p:nvSpPr>
          <p:spPr bwMode="auto">
            <a:xfrm>
              <a:off x="3796" y="1466"/>
              <a:ext cx="992" cy="3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application object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(service provider)</a:t>
              </a:r>
            </a:p>
          </p:txBody>
        </p:sp>
        <p:sp>
          <p:nvSpPr>
            <p:cNvPr id="32778" name="AutoShape 9"/>
            <p:cNvSpPr>
              <a:spLocks noChangeArrowheads="1"/>
            </p:cNvSpPr>
            <p:nvPr/>
          </p:nvSpPr>
          <p:spPr bwMode="auto">
            <a:xfrm>
              <a:off x="899" y="2137"/>
              <a:ext cx="992" cy="2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SOAP-based middleware</a:t>
              </a:r>
            </a:p>
          </p:txBody>
        </p:sp>
        <p:sp>
          <p:nvSpPr>
            <p:cNvPr id="32779" name="AutoShape 10"/>
            <p:cNvSpPr>
              <a:spLocks noChangeArrowheads="1"/>
            </p:cNvSpPr>
            <p:nvPr/>
          </p:nvSpPr>
          <p:spPr bwMode="auto">
            <a:xfrm>
              <a:off x="3796" y="2141"/>
              <a:ext cx="992" cy="288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SOAP-based middleware</a:t>
              </a:r>
            </a:p>
          </p:txBody>
        </p:sp>
        <p:cxnSp>
          <p:nvCxnSpPr>
            <p:cNvPr id="32780" name="AutoShape 11"/>
            <p:cNvCxnSpPr>
              <a:cxnSpLocks noChangeShapeType="1"/>
              <a:stCxn id="32778" idx="3"/>
              <a:endCxn id="32779" idx="1"/>
            </p:cNvCxnSpPr>
            <p:nvPr/>
          </p:nvCxnSpPr>
          <p:spPr bwMode="auto">
            <a:xfrm>
              <a:off x="1897" y="2281"/>
              <a:ext cx="1893" cy="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81" name="Rectangle 12"/>
            <p:cNvSpPr>
              <a:spLocks noChangeArrowheads="1"/>
            </p:cNvSpPr>
            <p:nvPr/>
          </p:nvSpPr>
          <p:spPr bwMode="auto">
            <a:xfrm>
              <a:off x="2239" y="2315"/>
              <a:ext cx="129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SOAP messages exchanged on top of, HTTP, SMTP, JMS or other transport</a:t>
              </a:r>
            </a:p>
          </p:txBody>
        </p:sp>
        <p:cxnSp>
          <p:nvCxnSpPr>
            <p:cNvPr id="32782" name="AutoShape 13"/>
            <p:cNvCxnSpPr>
              <a:cxnSpLocks noChangeShapeType="1"/>
              <a:stCxn id="32776" idx="2"/>
              <a:endCxn id="32778" idx="0"/>
            </p:cNvCxnSpPr>
            <p:nvPr/>
          </p:nvCxnSpPr>
          <p:spPr bwMode="auto">
            <a:xfrm>
              <a:off x="1394" y="1848"/>
              <a:ext cx="1" cy="28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3" name="AutoShape 14"/>
            <p:cNvCxnSpPr>
              <a:cxnSpLocks noChangeShapeType="1"/>
              <a:stCxn id="32777" idx="2"/>
              <a:endCxn id="32779" idx="0"/>
            </p:cNvCxnSpPr>
            <p:nvPr/>
          </p:nvCxnSpPr>
          <p:spPr bwMode="auto">
            <a:xfrm>
              <a:off x="4292" y="1808"/>
              <a:ext cx="0" cy="32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84" name="Line 15"/>
            <p:cNvSpPr>
              <a:spLocks noChangeShapeType="1"/>
            </p:cNvSpPr>
            <p:nvPr/>
          </p:nvSpPr>
          <p:spPr bwMode="auto">
            <a:xfrm flipH="1" flipV="1">
              <a:off x="1760" y="2438"/>
              <a:ext cx="496" cy="5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AU"/>
            </a:p>
          </p:txBody>
        </p:sp>
        <p:sp>
          <p:nvSpPr>
            <p:cNvPr id="32785" name="Line 16"/>
            <p:cNvSpPr>
              <a:spLocks noChangeShapeType="1"/>
            </p:cNvSpPr>
            <p:nvPr/>
          </p:nvSpPr>
          <p:spPr bwMode="auto">
            <a:xfrm flipV="1">
              <a:off x="3392" y="2454"/>
              <a:ext cx="472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AU"/>
            </a:p>
          </p:txBody>
        </p:sp>
        <p:sp>
          <p:nvSpPr>
            <p:cNvPr id="32786" name="Line 17"/>
            <p:cNvSpPr>
              <a:spLocks noChangeShapeType="1"/>
            </p:cNvSpPr>
            <p:nvPr/>
          </p:nvSpPr>
          <p:spPr bwMode="auto">
            <a:xfrm>
              <a:off x="5114" y="1660"/>
              <a:ext cx="0" cy="42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AU"/>
            </a:p>
          </p:txBody>
        </p:sp>
        <p:sp>
          <p:nvSpPr>
            <p:cNvPr id="32787" name="Rectangle 18"/>
            <p:cNvSpPr>
              <a:spLocks noChangeArrowheads="1"/>
            </p:cNvSpPr>
            <p:nvPr/>
          </p:nvSpPr>
          <p:spPr bwMode="auto">
            <a:xfrm>
              <a:off x="2160" y="2976"/>
              <a:ext cx="183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200">
                  <a:latin typeface="Arial" panose="020B0604020202020204" pitchFamily="34" charset="0"/>
                  <a:cs typeface="Arial" panose="020B0604020202020204" pitchFamily="34" charset="0"/>
                </a:rPr>
                <a:t>converts procedure calls to/from XML messages sent through HTTP or other protocols.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27355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D16C0158-E318-4090-AB8C-1F4CA5C9F8F1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49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SOAP as a </a:t>
            </a:r>
            <a:r>
              <a:rPr lang="en-GB" altLang="en-US"/>
              <a:t>lightweight protocol </a:t>
            </a:r>
            <a:endParaRPr lang="en-US" altLang="en-US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63638" y="1339850"/>
            <a:ext cx="3121025" cy="4968875"/>
          </a:xfrm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GB" altLang="en-US" sz="2000"/>
              <a:t>SOAP is a lightweight protocol that allows applications to pass messages and data back and forth between disparate systems in a distributed environment enabling remote method invocation. </a:t>
            </a:r>
          </a:p>
        </p:txBody>
      </p:sp>
      <p:pic>
        <p:nvPicPr>
          <p:cNvPr id="34821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363" y="1196975"/>
            <a:ext cx="4013200" cy="2354263"/>
          </a:xfrm>
          <a:noFill/>
        </p:spPr>
      </p:pic>
      <p:sp>
        <p:nvSpPr>
          <p:cNvPr id="34822" name="TextBox 1"/>
          <p:cNvSpPr txBox="1">
            <a:spLocks noChangeArrowheads="1"/>
          </p:cNvSpPr>
          <p:nvPr/>
        </p:nvSpPr>
        <p:spPr bwMode="auto">
          <a:xfrm>
            <a:off x="4233863" y="5516563"/>
            <a:ext cx="39020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Guiding principle: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“First invent no new technology”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100">
                <a:solidFill>
                  <a:srgbClr val="9866CC"/>
                </a:solidFill>
                <a:latin typeface="Tahoma" panose="020B0604030504040204" pitchFamily="34" charset="0"/>
              </a:rPr>
              <a:t>http://msdn.microsoft.com/en-us/magazine/bb985060.aspx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42988" y="3644900"/>
            <a:ext cx="7777162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857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SzPct val="7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6200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+mn-lt"/>
              </a:defRPr>
            </a:lvl2pPr>
            <a:lvl3pPr marL="1276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3pPr>
            <a:lvl4pPr marL="16954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1145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5pPr>
            <a:lvl6pPr marL="25717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6pPr>
            <a:lvl7pPr marL="30289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7pPr>
            <a:lvl8pPr marL="34861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8pPr>
            <a:lvl9pPr marL="394335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>
              <a:lnSpc>
                <a:spcPct val="80000"/>
              </a:lnSpc>
              <a:defRPr/>
            </a:pPr>
            <a:r>
              <a:rPr lang="en-GB" sz="2000" dirty="0"/>
              <a:t>Lightweight: SOAP protocol possesses only two fundamental properties. It can :</a:t>
            </a:r>
          </a:p>
          <a:p>
            <a:pPr marL="742950" lvl="1">
              <a:lnSpc>
                <a:spcPct val="80000"/>
              </a:lnSpc>
              <a:defRPr/>
            </a:pPr>
            <a:r>
              <a:rPr lang="en-GB" sz="1800" dirty="0"/>
              <a:t>send and receive HTTP (or other) transport protocol packets, and </a:t>
            </a:r>
          </a:p>
          <a:p>
            <a:pPr marL="742950" lvl="1">
              <a:lnSpc>
                <a:spcPct val="80000"/>
              </a:lnSpc>
              <a:defRPr/>
            </a:pPr>
            <a:r>
              <a:rPr lang="en-GB" sz="1800" dirty="0"/>
              <a:t>process XML messages.</a:t>
            </a:r>
          </a:p>
          <a:p>
            <a:pPr marL="266700">
              <a:lnSpc>
                <a:spcPct val="80000"/>
              </a:lnSpc>
              <a:defRPr/>
            </a:pPr>
            <a:r>
              <a:rPr lang="en-GB" sz="2200" dirty="0"/>
              <a:t>Supports both RPC and message (document) style interaction</a:t>
            </a:r>
          </a:p>
          <a:p>
            <a:pPr marL="342900" indent="-342900">
              <a:lnSpc>
                <a:spcPct val="80000"/>
              </a:lnSpc>
              <a:defRPr/>
            </a:pPr>
            <a:r>
              <a:rPr lang="en-GB" sz="2000" dirty="0"/>
              <a:t>This can be contrasted with the heavyweight protocols such as ORPC protocols. Designed to work with these.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3233216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A3B1DED-346D-4F09-A273-6D072DB5B469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50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Distributed messaging with SOAP</a:t>
            </a:r>
          </a:p>
        </p:txBody>
      </p:sp>
      <p:grpSp>
        <p:nvGrpSpPr>
          <p:cNvPr id="36868" name="Group 3"/>
          <p:cNvGrpSpPr>
            <a:grpSpLocks/>
          </p:cNvGrpSpPr>
          <p:nvPr/>
        </p:nvGrpSpPr>
        <p:grpSpPr bwMode="auto">
          <a:xfrm>
            <a:off x="2452688" y="2443163"/>
            <a:ext cx="3748087" cy="3294062"/>
            <a:chOff x="1152" y="960"/>
            <a:chExt cx="2640" cy="2304"/>
          </a:xfrm>
        </p:grpSpPr>
        <p:sp>
          <p:nvSpPr>
            <p:cNvPr id="36905" name="Arc 4"/>
            <p:cNvSpPr>
              <a:spLocks/>
            </p:cNvSpPr>
            <p:nvPr/>
          </p:nvSpPr>
          <p:spPr bwMode="auto">
            <a:xfrm rot="5400000">
              <a:off x="1945" y="1416"/>
              <a:ext cx="2302" cy="1393"/>
            </a:xfrm>
            <a:custGeom>
              <a:avLst/>
              <a:gdLst>
                <a:gd name="T0" fmla="*/ 0 w 21600"/>
                <a:gd name="T1" fmla="*/ 0 h 23173"/>
                <a:gd name="T2" fmla="*/ 0 w 21600"/>
                <a:gd name="T3" fmla="*/ 0 h 23173"/>
                <a:gd name="T4" fmla="*/ 0 w 21600"/>
                <a:gd name="T5" fmla="*/ 0 h 2317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173"/>
                <a:gd name="T11" fmla="*/ 21600 w 21600"/>
                <a:gd name="T12" fmla="*/ 23173 h 231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17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124"/>
                    <a:pt x="21580" y="22649"/>
                    <a:pt x="21542" y="23172"/>
                  </a:cubicBezTo>
                </a:path>
                <a:path w="21600" h="2317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124"/>
                    <a:pt x="21580" y="22649"/>
                    <a:pt x="21542" y="2317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36906" name="Arc 5"/>
            <p:cNvSpPr>
              <a:spLocks/>
            </p:cNvSpPr>
            <p:nvPr/>
          </p:nvSpPr>
          <p:spPr bwMode="auto">
            <a:xfrm rot="16200000" flipH="1">
              <a:off x="660" y="1452"/>
              <a:ext cx="2302" cy="1318"/>
            </a:xfrm>
            <a:custGeom>
              <a:avLst/>
              <a:gdLst>
                <a:gd name="T0" fmla="*/ 0 w 21600"/>
                <a:gd name="T1" fmla="*/ 0 h 21923"/>
                <a:gd name="T2" fmla="*/ 0 w 21600"/>
                <a:gd name="T3" fmla="*/ 0 h 21923"/>
                <a:gd name="T4" fmla="*/ 0 w 21600"/>
                <a:gd name="T5" fmla="*/ 0 h 219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923"/>
                <a:gd name="T11" fmla="*/ 21600 w 21600"/>
                <a:gd name="T12" fmla="*/ 21923 h 219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923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707"/>
                    <a:pt x="21599" y="21815"/>
                    <a:pt x="21597" y="21922"/>
                  </a:cubicBezTo>
                </a:path>
                <a:path w="21600" h="21923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707"/>
                    <a:pt x="21599" y="21815"/>
                    <a:pt x="21597" y="2192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dashDot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36869" name="Arc 6"/>
          <p:cNvSpPr>
            <a:spLocks/>
          </p:cNvSpPr>
          <p:nvPr/>
        </p:nvSpPr>
        <p:spPr bwMode="auto">
          <a:xfrm rot="16200000" flipH="1">
            <a:off x="1249363" y="3114675"/>
            <a:ext cx="3748088" cy="2414587"/>
          </a:xfrm>
          <a:custGeom>
            <a:avLst/>
            <a:gdLst>
              <a:gd name="T0" fmla="*/ 0 w 21600"/>
              <a:gd name="T1" fmla="*/ 0 h 21923"/>
              <a:gd name="T2" fmla="*/ 2147483646 w 21600"/>
              <a:gd name="T3" fmla="*/ 2147483646 h 21923"/>
              <a:gd name="T4" fmla="*/ 0 w 21600"/>
              <a:gd name="T5" fmla="*/ 2147483646 h 21923"/>
              <a:gd name="T6" fmla="*/ 0 60000 65536"/>
              <a:gd name="T7" fmla="*/ 0 60000 65536"/>
              <a:gd name="T8" fmla="*/ 0 60000 65536"/>
              <a:gd name="T9" fmla="*/ 0 w 21600"/>
              <a:gd name="T10" fmla="*/ 0 h 21923"/>
              <a:gd name="T11" fmla="*/ 21600 w 21600"/>
              <a:gd name="T12" fmla="*/ 21923 h 219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923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07"/>
                  <a:pt x="21599" y="21815"/>
                  <a:pt x="21597" y="21922"/>
                </a:cubicBezTo>
              </a:path>
              <a:path w="21600" h="21923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07"/>
                  <a:pt x="21599" y="21815"/>
                  <a:pt x="21597" y="2192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6870" name="Arc 7"/>
          <p:cNvSpPr>
            <a:spLocks/>
          </p:cNvSpPr>
          <p:nvPr/>
        </p:nvSpPr>
        <p:spPr bwMode="auto">
          <a:xfrm rot="5400000">
            <a:off x="3603625" y="3049588"/>
            <a:ext cx="3748088" cy="2551112"/>
          </a:xfrm>
          <a:custGeom>
            <a:avLst/>
            <a:gdLst>
              <a:gd name="T0" fmla="*/ 0 w 21600"/>
              <a:gd name="T1" fmla="*/ 0 h 23173"/>
              <a:gd name="T2" fmla="*/ 2147483646 w 21600"/>
              <a:gd name="T3" fmla="*/ 2147483646 h 23173"/>
              <a:gd name="T4" fmla="*/ 0 w 21600"/>
              <a:gd name="T5" fmla="*/ 2147483646 h 23173"/>
              <a:gd name="T6" fmla="*/ 0 60000 65536"/>
              <a:gd name="T7" fmla="*/ 0 60000 65536"/>
              <a:gd name="T8" fmla="*/ 0 60000 65536"/>
              <a:gd name="T9" fmla="*/ 0 w 21600"/>
              <a:gd name="T10" fmla="*/ 0 h 23173"/>
              <a:gd name="T11" fmla="*/ 21600 w 21600"/>
              <a:gd name="T12" fmla="*/ 23173 h 231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3173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124"/>
                  <a:pt x="21580" y="22649"/>
                  <a:pt x="21542" y="23172"/>
                </a:cubicBezTo>
              </a:path>
              <a:path w="21600" h="23173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124"/>
                  <a:pt x="21580" y="22649"/>
                  <a:pt x="21542" y="2317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6871" name="Text Box 8"/>
          <p:cNvSpPr txBox="1">
            <a:spLocks noChangeArrowheads="1"/>
          </p:cNvSpPr>
          <p:nvPr/>
        </p:nvSpPr>
        <p:spPr bwMode="auto">
          <a:xfrm>
            <a:off x="7775575" y="2540000"/>
            <a:ext cx="10461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ea typeface="ＭＳ Ｐゴシック" panose="020B0600070205080204" pitchFamily="34" charset="-128"/>
              </a:rPr>
              <a:t>Web-service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ea typeface="ＭＳ Ｐゴシック" panose="020B0600070205080204" pitchFamily="34" charset="-128"/>
              </a:rPr>
              <a:t>implementation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000">
                <a:latin typeface="Arial" panose="020B0604020202020204" pitchFamily="34" charset="0"/>
                <a:ea typeface="ＭＳ Ｐゴシック" panose="020B0600070205080204" pitchFamily="34" charset="-128"/>
              </a:rPr>
              <a:t>infrastructure</a:t>
            </a:r>
            <a:endParaRPr lang="en-GB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72" name="Text Box 9"/>
          <p:cNvSpPr txBox="1">
            <a:spLocks noChangeArrowheads="1"/>
          </p:cNvSpPr>
          <p:nvPr/>
        </p:nvSpPr>
        <p:spPr bwMode="auto">
          <a:xfrm>
            <a:off x="5876925" y="1295400"/>
            <a:ext cx="108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latin typeface="Arial" panose="020B0604020202020204" pitchFamily="34" charset="0"/>
                <a:ea typeface="ＭＳ Ｐゴシック" panose="020B0600070205080204" pitchFamily="34" charset="-128"/>
              </a:rPr>
              <a:t>Web-service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latin typeface="Arial" panose="020B0604020202020204" pitchFamily="34" charset="0"/>
                <a:ea typeface="ＭＳ Ｐゴシック" panose="020B0600070205080204" pitchFamily="34" charset="-128"/>
              </a:rPr>
              <a:t>provider</a:t>
            </a:r>
            <a:endParaRPr lang="en-GB" altLang="en-US" sz="12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73" name="Oval 10"/>
          <p:cNvSpPr>
            <a:spLocks noChangeArrowheads="1"/>
          </p:cNvSpPr>
          <p:nvPr/>
        </p:nvSpPr>
        <p:spPr bwMode="auto">
          <a:xfrm>
            <a:off x="7299325" y="2312988"/>
            <a:ext cx="203200" cy="201612"/>
          </a:xfrm>
          <a:prstGeom prst="ellipse">
            <a:avLst/>
          </a:prstGeom>
          <a:solidFill>
            <a:srgbClr val="FFFF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3</a:t>
            </a:r>
            <a:endParaRPr lang="en-GB" altLang="en-US" sz="1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6874" name="Oval 11"/>
          <p:cNvSpPr>
            <a:spLocks noChangeArrowheads="1"/>
          </p:cNvSpPr>
          <p:nvPr/>
        </p:nvSpPr>
        <p:spPr bwMode="auto">
          <a:xfrm>
            <a:off x="7515225" y="1708150"/>
            <a:ext cx="203200" cy="201613"/>
          </a:xfrm>
          <a:prstGeom prst="ellipse">
            <a:avLst/>
          </a:prstGeom>
          <a:solidFill>
            <a:srgbClr val="FFFF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4</a:t>
            </a:r>
            <a:endParaRPr lang="en-GB" altLang="en-US" sz="1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6875" name="Line 12"/>
          <p:cNvSpPr>
            <a:spLocks noChangeShapeType="1"/>
          </p:cNvSpPr>
          <p:nvPr/>
        </p:nvSpPr>
        <p:spPr bwMode="auto">
          <a:xfrm>
            <a:off x="1439863" y="5137150"/>
            <a:ext cx="5927725" cy="0"/>
          </a:xfrm>
          <a:prstGeom prst="line">
            <a:avLst/>
          </a:prstGeom>
          <a:noFill/>
          <a:ln w="76200">
            <a:solidFill>
              <a:schemeClr val="fol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6876" name="Line 13"/>
          <p:cNvSpPr>
            <a:spLocks noChangeShapeType="1"/>
          </p:cNvSpPr>
          <p:nvPr/>
        </p:nvSpPr>
        <p:spPr bwMode="auto">
          <a:xfrm rot="5400000" flipV="1">
            <a:off x="7427119" y="1631157"/>
            <a:ext cx="6350" cy="7413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36877" name="Group 14"/>
          <p:cNvGrpSpPr>
            <a:grpSpLocks/>
          </p:cNvGrpSpPr>
          <p:nvPr/>
        </p:nvGrpSpPr>
        <p:grpSpPr bwMode="auto">
          <a:xfrm>
            <a:off x="7775575" y="1708150"/>
            <a:ext cx="657225" cy="641350"/>
            <a:chOff x="2640" y="3120"/>
            <a:chExt cx="594" cy="580"/>
          </a:xfrm>
        </p:grpSpPr>
        <p:sp>
          <p:nvSpPr>
            <p:cNvPr id="36902" name="Gear"/>
            <p:cNvSpPr>
              <a:spLocks noEditPoints="1" noChangeArrowheads="1"/>
            </p:cNvSpPr>
            <p:nvPr/>
          </p:nvSpPr>
          <p:spPr bwMode="auto">
            <a:xfrm rot="10800000" flipH="1" flipV="1">
              <a:off x="2970" y="3120"/>
              <a:ext cx="264" cy="26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36 w 21600"/>
                <a:gd name="T13" fmla="*/ 3994 h 21600"/>
                <a:gd name="T14" fmla="*/ 17836 w 21600"/>
                <a:gd name="T15" fmla="*/ 1760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gradFill rotWithShape="0">
              <a:gsLst>
                <a:gs pos="0">
                  <a:srgbClr val="825600"/>
                </a:gs>
                <a:gs pos="13000">
                  <a:srgbClr val="FFA800"/>
                </a:gs>
                <a:gs pos="28000">
                  <a:srgbClr val="825600"/>
                </a:gs>
                <a:gs pos="42999">
                  <a:srgbClr val="FFA800"/>
                </a:gs>
                <a:gs pos="58000">
                  <a:srgbClr val="825600"/>
                </a:gs>
                <a:gs pos="72000">
                  <a:srgbClr val="FFA800"/>
                </a:gs>
                <a:gs pos="87000">
                  <a:srgbClr val="825600"/>
                </a:gs>
                <a:gs pos="100000">
                  <a:srgbClr val="FFA800"/>
                </a:gs>
              </a:gsLst>
              <a:lin ang="2700000" scaled="1"/>
            </a:gradFill>
            <a:ln w="9525">
              <a:round/>
              <a:headEnd/>
              <a:tailEnd/>
            </a:ln>
            <a:scene3d>
              <a:camera prst="legacyPerspectiveFront">
                <a:rot lat="20099975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825600"/>
              </a:extrusionClr>
              <a:contourClr>
                <a:srgbClr val="825600"/>
              </a:contourClr>
            </a:sp3d>
          </p:spPr>
          <p:txBody>
            <a:bodyPr>
              <a:flatTx/>
            </a:bodyPr>
            <a:lstStyle/>
            <a:p>
              <a:endParaRPr lang="en-AU"/>
            </a:p>
          </p:txBody>
        </p:sp>
        <p:sp>
          <p:nvSpPr>
            <p:cNvPr id="36903" name="AutoShape 16"/>
            <p:cNvSpPr>
              <a:spLocks noEditPoints="1" noChangeArrowheads="1"/>
            </p:cNvSpPr>
            <p:nvPr/>
          </p:nvSpPr>
          <p:spPr bwMode="auto">
            <a:xfrm rot="10800000" flipH="1" flipV="1">
              <a:off x="2640" y="3230"/>
              <a:ext cx="317" cy="31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61 w 21600"/>
                <a:gd name="T13" fmla="*/ 3940 h 21600"/>
                <a:gd name="T14" fmla="*/ 17852 w 21600"/>
                <a:gd name="T15" fmla="*/ 1766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gradFill rotWithShape="0">
              <a:gsLst>
                <a:gs pos="0">
                  <a:srgbClr val="825600"/>
                </a:gs>
                <a:gs pos="13000">
                  <a:srgbClr val="FFA800"/>
                </a:gs>
                <a:gs pos="28000">
                  <a:srgbClr val="825600"/>
                </a:gs>
                <a:gs pos="42999">
                  <a:srgbClr val="FFA800"/>
                </a:gs>
                <a:gs pos="58000">
                  <a:srgbClr val="825600"/>
                </a:gs>
                <a:gs pos="72000">
                  <a:srgbClr val="FFA800"/>
                </a:gs>
                <a:gs pos="87000">
                  <a:srgbClr val="825600"/>
                </a:gs>
                <a:gs pos="100000">
                  <a:srgbClr val="FFA800"/>
                </a:gs>
              </a:gsLst>
              <a:lin ang="2700000" scaled="1"/>
            </a:gradFill>
            <a:ln w="9525">
              <a:round/>
              <a:headEnd/>
              <a:tailEnd/>
            </a:ln>
            <a:scene3d>
              <a:camera prst="legacyPerspectiveFront">
                <a:rot lat="20099975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825600"/>
              </a:extrusionClr>
              <a:contourClr>
                <a:srgbClr val="825600"/>
              </a:contourClr>
            </a:sp3d>
          </p:spPr>
          <p:txBody>
            <a:bodyPr>
              <a:flatTx/>
            </a:bodyPr>
            <a:lstStyle/>
            <a:p>
              <a:endParaRPr lang="en-AU"/>
            </a:p>
          </p:txBody>
        </p:sp>
        <p:sp>
          <p:nvSpPr>
            <p:cNvPr id="36904" name="AutoShape 17"/>
            <p:cNvSpPr>
              <a:spLocks noEditPoints="1" noChangeArrowheads="1"/>
            </p:cNvSpPr>
            <p:nvPr/>
          </p:nvSpPr>
          <p:spPr bwMode="auto">
            <a:xfrm rot="10800000" flipH="1" flipV="1">
              <a:off x="2846" y="3347"/>
              <a:ext cx="352" cy="35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7 w 21600"/>
                <a:gd name="T13" fmla="*/ 3977 h 21600"/>
                <a:gd name="T14" fmla="*/ 17857 w 21600"/>
                <a:gd name="T15" fmla="*/ 1762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gradFill rotWithShape="0">
              <a:gsLst>
                <a:gs pos="0">
                  <a:srgbClr val="825600"/>
                </a:gs>
                <a:gs pos="13000">
                  <a:srgbClr val="FFA800"/>
                </a:gs>
                <a:gs pos="28000">
                  <a:srgbClr val="825600"/>
                </a:gs>
                <a:gs pos="42999">
                  <a:srgbClr val="FFA800"/>
                </a:gs>
                <a:gs pos="58000">
                  <a:srgbClr val="825600"/>
                </a:gs>
                <a:gs pos="72000">
                  <a:srgbClr val="FFA800"/>
                </a:gs>
                <a:gs pos="87000">
                  <a:srgbClr val="825600"/>
                </a:gs>
                <a:gs pos="100000">
                  <a:srgbClr val="FFA800"/>
                </a:gs>
              </a:gsLst>
              <a:lin ang="2700000" scaled="1"/>
            </a:gradFill>
            <a:ln w="9525">
              <a:round/>
              <a:headEnd/>
              <a:tailEnd/>
            </a:ln>
            <a:scene3d>
              <a:camera prst="legacyPerspectiveFront">
                <a:rot lat="20099975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825600"/>
              </a:extrusionClr>
              <a:contourClr>
                <a:srgbClr val="825600"/>
              </a:contourClr>
            </a:sp3d>
          </p:spPr>
          <p:txBody>
            <a:bodyPr>
              <a:flatTx/>
            </a:bodyPr>
            <a:lstStyle/>
            <a:p>
              <a:endParaRPr lang="en-AU"/>
            </a:p>
          </p:txBody>
        </p:sp>
      </p:grpSp>
      <p:sp>
        <p:nvSpPr>
          <p:cNvPr id="36878" name="Text Box 18"/>
          <p:cNvSpPr txBox="1">
            <a:spLocks noChangeArrowheads="1"/>
          </p:cNvSpPr>
          <p:nvPr/>
        </p:nvSpPr>
        <p:spPr bwMode="auto">
          <a:xfrm>
            <a:off x="1731963" y="1295400"/>
            <a:ext cx="108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latin typeface="Arial" panose="020B0604020202020204" pitchFamily="34" charset="0"/>
                <a:ea typeface="ＭＳ Ｐゴシック" panose="020B0600070205080204" pitchFamily="34" charset="-128"/>
              </a:rPr>
              <a:t>Web-service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200" b="1">
                <a:latin typeface="Arial" panose="020B0604020202020204" pitchFamily="34" charset="0"/>
                <a:ea typeface="ＭＳ Ｐゴシック" panose="020B0600070205080204" pitchFamily="34" charset="-128"/>
              </a:rPr>
              <a:t>requester</a:t>
            </a:r>
          </a:p>
        </p:txBody>
      </p:sp>
      <p:sp>
        <p:nvSpPr>
          <p:cNvPr id="36879" name="Oval 19"/>
          <p:cNvSpPr>
            <a:spLocks noChangeArrowheads="1"/>
          </p:cNvSpPr>
          <p:nvPr/>
        </p:nvSpPr>
        <p:spPr bwMode="auto">
          <a:xfrm>
            <a:off x="1644650" y="2514600"/>
            <a:ext cx="203200" cy="201613"/>
          </a:xfrm>
          <a:prstGeom prst="ellipse">
            <a:avLst/>
          </a:prstGeom>
          <a:solidFill>
            <a:srgbClr val="FFFF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1</a:t>
            </a:r>
            <a:endParaRPr lang="en-GB" altLang="en-US" sz="1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6880" name="Oval 20"/>
          <p:cNvSpPr>
            <a:spLocks noChangeArrowheads="1"/>
          </p:cNvSpPr>
          <p:nvPr/>
        </p:nvSpPr>
        <p:spPr bwMode="auto">
          <a:xfrm>
            <a:off x="2576513" y="2427288"/>
            <a:ext cx="204787" cy="201612"/>
          </a:xfrm>
          <a:prstGeom prst="ellipse">
            <a:avLst/>
          </a:prstGeom>
          <a:solidFill>
            <a:srgbClr val="FFFF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6</a:t>
            </a:r>
            <a:endParaRPr lang="en-GB" altLang="en-US" sz="1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pic>
        <p:nvPicPr>
          <p:cNvPr id="36881" name="Picture 21" descr="internet cloud small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04"/>
          <a:stretch>
            <a:fillRect/>
          </a:stretch>
        </p:blipFill>
        <p:spPr bwMode="auto">
          <a:xfrm>
            <a:off x="1371600" y="1708150"/>
            <a:ext cx="1976438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82" name="Text Box 22"/>
          <p:cNvSpPr txBox="1">
            <a:spLocks noChangeArrowheads="1"/>
          </p:cNvSpPr>
          <p:nvPr/>
        </p:nvSpPr>
        <p:spPr bwMode="gray">
          <a:xfrm>
            <a:off x="1520825" y="2790825"/>
            <a:ext cx="1633538" cy="1311275"/>
          </a:xfrm>
          <a:prstGeom prst="rect">
            <a:avLst/>
          </a:prstGeom>
          <a:solidFill>
            <a:srgbClr val="ABABFF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rgbClr val="A5002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3" name="Text Box 23"/>
          <p:cNvSpPr txBox="1">
            <a:spLocks noChangeArrowheads="1"/>
          </p:cNvSpPr>
          <p:nvPr/>
        </p:nvSpPr>
        <p:spPr bwMode="gray">
          <a:xfrm>
            <a:off x="1520825" y="4100513"/>
            <a:ext cx="1633538" cy="396875"/>
          </a:xfrm>
          <a:prstGeom prst="rect">
            <a:avLst/>
          </a:prstGeom>
          <a:solidFill>
            <a:srgbClr val="F5B76E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4" name="Text Box 24"/>
          <p:cNvSpPr txBox="1">
            <a:spLocks noChangeArrowheads="1"/>
          </p:cNvSpPr>
          <p:nvPr/>
        </p:nvSpPr>
        <p:spPr bwMode="gray">
          <a:xfrm>
            <a:off x="1690688" y="3059113"/>
            <a:ext cx="1293812" cy="7016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5" name="Text Box 25"/>
          <p:cNvSpPr txBox="1">
            <a:spLocks noChangeArrowheads="1"/>
          </p:cNvSpPr>
          <p:nvPr/>
        </p:nvSpPr>
        <p:spPr bwMode="auto">
          <a:xfrm>
            <a:off x="1778000" y="1943100"/>
            <a:ext cx="876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Client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Application</a:t>
            </a:r>
            <a:endParaRPr lang="en-GB" altLang="en-US" sz="10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6" name="Text Box 26"/>
          <p:cNvSpPr txBox="1">
            <a:spLocks noChangeArrowheads="1"/>
          </p:cNvSpPr>
          <p:nvPr/>
        </p:nvSpPr>
        <p:spPr bwMode="auto">
          <a:xfrm>
            <a:off x="1758950" y="3219450"/>
            <a:ext cx="1122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SOAP message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XML document</a:t>
            </a:r>
            <a:endParaRPr lang="en-GB" altLang="en-US" sz="10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7" name="Text Box 27"/>
          <p:cNvSpPr txBox="1">
            <a:spLocks noChangeArrowheads="1"/>
          </p:cNvSpPr>
          <p:nvPr/>
        </p:nvSpPr>
        <p:spPr bwMode="auto">
          <a:xfrm>
            <a:off x="1666875" y="4025900"/>
            <a:ext cx="1347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Network Transport 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Protocol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(HTTP)</a:t>
            </a:r>
            <a:endParaRPr lang="en-GB" altLang="en-US" sz="10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88" name="Oval 28"/>
          <p:cNvSpPr>
            <a:spLocks noChangeArrowheads="1"/>
          </p:cNvSpPr>
          <p:nvPr/>
        </p:nvSpPr>
        <p:spPr bwMode="auto">
          <a:xfrm>
            <a:off x="5292725" y="3573463"/>
            <a:ext cx="179388" cy="204787"/>
          </a:xfrm>
          <a:prstGeom prst="ellipse">
            <a:avLst/>
          </a:prstGeom>
          <a:solidFill>
            <a:srgbClr val="FFFF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5</a:t>
            </a:r>
            <a:endParaRPr lang="en-GB" altLang="en-US" sz="1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6889" name="Line 29"/>
          <p:cNvSpPr>
            <a:spLocks noChangeShapeType="1"/>
          </p:cNvSpPr>
          <p:nvPr/>
        </p:nvSpPr>
        <p:spPr bwMode="auto">
          <a:xfrm>
            <a:off x="6756400" y="2324100"/>
            <a:ext cx="0" cy="1349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6890" name="Rectangle 30"/>
          <p:cNvSpPr>
            <a:spLocks noChangeArrowheads="1"/>
          </p:cNvSpPr>
          <p:nvPr/>
        </p:nvSpPr>
        <p:spPr bwMode="auto">
          <a:xfrm>
            <a:off x="7007225" y="393700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rgbClr val="A5002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36891" name="Picture 31" descr="internet cloud small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04"/>
          <a:stretch>
            <a:fillRect/>
          </a:stretch>
        </p:blipFill>
        <p:spPr bwMode="auto">
          <a:xfrm>
            <a:off x="5459413" y="1708150"/>
            <a:ext cx="19748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92" name="Text Box 32"/>
          <p:cNvSpPr txBox="1">
            <a:spLocks noChangeArrowheads="1"/>
          </p:cNvSpPr>
          <p:nvPr/>
        </p:nvSpPr>
        <p:spPr bwMode="gray">
          <a:xfrm>
            <a:off x="5500688" y="2790825"/>
            <a:ext cx="1635125" cy="1311275"/>
          </a:xfrm>
          <a:prstGeom prst="rect">
            <a:avLst/>
          </a:prstGeom>
          <a:solidFill>
            <a:srgbClr val="ABABFF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rgbClr val="A5002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93" name="Text Box 33"/>
          <p:cNvSpPr txBox="1">
            <a:spLocks noChangeArrowheads="1"/>
          </p:cNvSpPr>
          <p:nvPr/>
        </p:nvSpPr>
        <p:spPr bwMode="gray">
          <a:xfrm>
            <a:off x="5500688" y="4100513"/>
            <a:ext cx="1635125" cy="396875"/>
          </a:xfrm>
          <a:prstGeom prst="rect">
            <a:avLst/>
          </a:prstGeom>
          <a:solidFill>
            <a:srgbClr val="F5B76E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endParaRPr lang="en-US" altLang="en-US" sz="2000" b="1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94" name="Text Box 34"/>
          <p:cNvSpPr txBox="1">
            <a:spLocks noChangeArrowheads="1"/>
          </p:cNvSpPr>
          <p:nvPr/>
        </p:nvSpPr>
        <p:spPr bwMode="gray">
          <a:xfrm>
            <a:off x="5670550" y="3059113"/>
            <a:ext cx="1296988" cy="7016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10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95" name="Text Box 35"/>
          <p:cNvSpPr txBox="1">
            <a:spLocks noChangeArrowheads="1"/>
          </p:cNvSpPr>
          <p:nvPr/>
        </p:nvSpPr>
        <p:spPr bwMode="auto">
          <a:xfrm>
            <a:off x="5756275" y="1943100"/>
            <a:ext cx="931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Web-service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Application</a:t>
            </a:r>
            <a:endParaRPr lang="en-GB" altLang="en-US" sz="10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96" name="Text Box 36"/>
          <p:cNvSpPr txBox="1">
            <a:spLocks noChangeArrowheads="1"/>
          </p:cNvSpPr>
          <p:nvPr/>
        </p:nvSpPr>
        <p:spPr bwMode="auto">
          <a:xfrm>
            <a:off x="5867400" y="3213100"/>
            <a:ext cx="9255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SOAPserver</a:t>
            </a:r>
            <a:endParaRPr lang="en-GB" altLang="en-US" sz="10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97" name="Text Box 37"/>
          <p:cNvSpPr txBox="1">
            <a:spLocks noChangeArrowheads="1"/>
          </p:cNvSpPr>
          <p:nvPr/>
        </p:nvSpPr>
        <p:spPr bwMode="auto">
          <a:xfrm>
            <a:off x="5645150" y="4025900"/>
            <a:ext cx="1347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Network Transport 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Protocol</a:t>
            </a:r>
          </a:p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(HTTP)</a:t>
            </a:r>
            <a:endParaRPr lang="en-GB" altLang="en-US" sz="10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898" name="Oval 38"/>
          <p:cNvSpPr>
            <a:spLocks noChangeArrowheads="1"/>
          </p:cNvSpPr>
          <p:nvPr/>
        </p:nvSpPr>
        <p:spPr bwMode="auto">
          <a:xfrm>
            <a:off x="6678613" y="3536950"/>
            <a:ext cx="204787" cy="201613"/>
          </a:xfrm>
          <a:prstGeom prst="ellipse">
            <a:avLst/>
          </a:prstGeom>
          <a:solidFill>
            <a:srgbClr val="FFFFA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2</a:t>
            </a:r>
            <a:endParaRPr lang="en-GB" altLang="en-US" sz="1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6899" name="Rectangle 39"/>
          <p:cNvSpPr>
            <a:spLocks noChangeArrowheads="1"/>
          </p:cNvSpPr>
          <p:nvPr/>
        </p:nvSpPr>
        <p:spPr bwMode="auto">
          <a:xfrm>
            <a:off x="4029075" y="4873625"/>
            <a:ext cx="622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000" b="1">
                <a:latin typeface="Arial" panose="020B0604020202020204" pitchFamily="34" charset="0"/>
                <a:ea typeface="ＭＳ Ｐゴシック" panose="020B0600070205080204" pitchFamily="34" charset="-128"/>
              </a:rPr>
              <a:t>firewall</a:t>
            </a:r>
            <a:endParaRPr lang="en-GB" altLang="en-US" sz="10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6900" name="Line 40"/>
          <p:cNvSpPr>
            <a:spLocks noChangeShapeType="1"/>
          </p:cNvSpPr>
          <p:nvPr/>
        </p:nvSpPr>
        <p:spPr bwMode="auto">
          <a:xfrm rot="5400000" flipV="1">
            <a:off x="7519194" y="1845469"/>
            <a:ext cx="6350" cy="7413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6901" name="Text Box 41"/>
          <p:cNvSpPr txBox="1">
            <a:spLocks noChangeArrowheads="1"/>
          </p:cNvSpPr>
          <p:nvPr/>
        </p:nvSpPr>
        <p:spPr bwMode="auto">
          <a:xfrm>
            <a:off x="6080125" y="5568950"/>
            <a:ext cx="1989138" cy="527050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Tahoma" panose="020B0604030504040204" pitchFamily="34" charset="0"/>
              </a:rPr>
              <a:t>Distributed messaging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Tahoma" panose="020B0604030504040204" pitchFamily="34" charset="0"/>
              </a:rPr>
              <a:t>using SOAP</a:t>
            </a:r>
          </a:p>
        </p:txBody>
      </p:sp>
    </p:spTree>
    <p:extLst>
      <p:ext uri="{BB962C8B-B14F-4D97-AF65-F5344CB8AC3E}">
        <p14:creationId xmlns:p14="http://schemas.microsoft.com/office/powerpoint/2010/main" val="379122089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900553D-C9EF-4773-91D8-2D3FA8CF02FD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51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SOAP messages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341438"/>
            <a:ext cx="4537075" cy="4824412"/>
          </a:xfrm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US" altLang="en-US" sz="2000"/>
              <a:t>SOAP is based on </a:t>
            </a:r>
            <a:r>
              <a:rPr lang="en-US" altLang="en-US" sz="2000" b="1"/>
              <a:t>message exchanges.</a:t>
            </a:r>
            <a:endParaRPr lang="en-US" altLang="en-US" sz="2000"/>
          </a:p>
          <a:p>
            <a:pPr marL="342900" indent="-342900">
              <a:lnSpc>
                <a:spcPct val="80000"/>
              </a:lnSpc>
            </a:pPr>
            <a:r>
              <a:rPr lang="en-US" altLang="en-US" sz="2000"/>
              <a:t>Messages are seen as </a:t>
            </a:r>
            <a:r>
              <a:rPr lang="en-US" altLang="en-US" sz="2000" b="1"/>
              <a:t>envelopes</a:t>
            </a:r>
            <a:r>
              <a:rPr lang="en-US" altLang="en-US" sz="2000"/>
              <a:t> where the application encloses the data to be sent.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sz="1800"/>
              <a:t>A SOAP message consists of an &lt;Envelope&gt; element containing an optional &lt;Header&gt; and a mandatory &lt;Body&gt; element.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sz="1800"/>
              <a:t>The contents of these elements are application defined and not a part of the SOAP specifications.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sz="1800"/>
              <a:t>A SOAP &lt;Header&gt; contains blocks of information relevant to how the message is to be processed. This helps pass information in SOAP messages and it is not application payload.</a:t>
            </a:r>
          </a:p>
          <a:p>
            <a:pPr marL="342900" indent="-342900">
              <a:lnSpc>
                <a:spcPct val="90000"/>
              </a:lnSpc>
            </a:pPr>
            <a:r>
              <a:rPr lang="en-US" altLang="en-US" sz="1800"/>
              <a:t>The SOAP &lt;Body&gt; is where the main end-to-end information conveyed in a SOAP message must be carried. </a:t>
            </a:r>
            <a:endParaRPr lang="en-US" altLang="en-US" sz="1600"/>
          </a:p>
        </p:txBody>
      </p:sp>
      <p:pic>
        <p:nvPicPr>
          <p:cNvPr id="4096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66800"/>
            <a:ext cx="4035425" cy="24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66" name="Group 5"/>
          <p:cNvGrpSpPr>
            <a:grpSpLocks/>
          </p:cNvGrpSpPr>
          <p:nvPr/>
        </p:nvGrpSpPr>
        <p:grpSpPr bwMode="auto">
          <a:xfrm>
            <a:off x="5664200" y="3505200"/>
            <a:ext cx="2552700" cy="2870200"/>
            <a:chOff x="1584" y="912"/>
            <a:chExt cx="2231" cy="2871"/>
          </a:xfrm>
        </p:grpSpPr>
        <p:sp>
          <p:nvSpPr>
            <p:cNvPr id="40967" name="Rectangle 6"/>
            <p:cNvSpPr>
              <a:spLocks noChangeArrowheads="1"/>
            </p:cNvSpPr>
            <p:nvPr/>
          </p:nvSpPr>
          <p:spPr bwMode="auto">
            <a:xfrm>
              <a:off x="1584" y="912"/>
              <a:ext cx="2231" cy="2871"/>
            </a:xfrm>
            <a:prstGeom prst="rect">
              <a:avLst/>
            </a:prstGeom>
            <a:solidFill>
              <a:srgbClr val="CC99FF"/>
            </a:solidFill>
            <a:ln w="444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AU" altLang="en-US" sz="2000">
                <a:solidFill>
                  <a:srgbClr val="9866CC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0968" name="Rectangle 7"/>
            <p:cNvSpPr>
              <a:spLocks noChangeArrowheads="1"/>
            </p:cNvSpPr>
            <p:nvPr/>
          </p:nvSpPr>
          <p:spPr bwMode="auto">
            <a:xfrm>
              <a:off x="1619" y="1041"/>
              <a:ext cx="988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1">
                  <a:latin typeface="Arial" panose="020B0604020202020204" pitchFamily="34" charset="0"/>
                </a:rPr>
                <a:t>SOAP envelope</a:t>
              </a:r>
            </a:p>
          </p:txBody>
        </p:sp>
        <p:sp>
          <p:nvSpPr>
            <p:cNvPr id="40969" name="Rectangle 8"/>
            <p:cNvSpPr>
              <a:spLocks noChangeArrowheads="1"/>
            </p:cNvSpPr>
            <p:nvPr/>
          </p:nvSpPr>
          <p:spPr bwMode="auto">
            <a:xfrm>
              <a:off x="1793" y="1309"/>
              <a:ext cx="1802" cy="1060"/>
            </a:xfrm>
            <a:prstGeom prst="rect">
              <a:avLst/>
            </a:prstGeom>
            <a:solidFill>
              <a:srgbClr val="99CCFF"/>
            </a:solid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AU" altLang="en-US" sz="2000">
                <a:solidFill>
                  <a:srgbClr val="9866CC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0970" name="Rectangle 9"/>
            <p:cNvSpPr>
              <a:spLocks noChangeArrowheads="1"/>
            </p:cNvSpPr>
            <p:nvPr/>
          </p:nvSpPr>
          <p:spPr bwMode="auto">
            <a:xfrm>
              <a:off x="1889" y="1482"/>
              <a:ext cx="870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1">
                  <a:latin typeface="Arial" panose="020B0604020202020204" pitchFamily="34" charset="0"/>
                </a:rPr>
                <a:t>SOAP header</a:t>
              </a:r>
              <a:endParaRPr lang="en-US" altLang="en-US" sz="1000">
                <a:latin typeface="Arial" panose="020B0604020202020204" pitchFamily="34" charset="0"/>
              </a:endParaRPr>
            </a:p>
          </p:txBody>
        </p:sp>
        <p:sp>
          <p:nvSpPr>
            <p:cNvPr id="40971" name="Rectangle 10"/>
            <p:cNvSpPr>
              <a:spLocks noChangeArrowheads="1"/>
            </p:cNvSpPr>
            <p:nvPr/>
          </p:nvSpPr>
          <p:spPr bwMode="auto">
            <a:xfrm>
              <a:off x="2126" y="1670"/>
              <a:ext cx="1270" cy="51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AU" altLang="en-US" sz="2000">
                <a:solidFill>
                  <a:srgbClr val="9866CC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40972" name="Group 11"/>
            <p:cNvGrpSpPr>
              <a:grpSpLocks/>
            </p:cNvGrpSpPr>
            <p:nvPr/>
          </p:nvGrpSpPr>
          <p:grpSpPr bwMode="auto">
            <a:xfrm>
              <a:off x="2189" y="1708"/>
              <a:ext cx="1263" cy="511"/>
              <a:chOff x="384" y="2336"/>
              <a:chExt cx="1655" cy="1166"/>
            </a:xfrm>
          </p:grpSpPr>
          <p:sp>
            <p:nvSpPr>
              <p:cNvPr id="40980" name="Rectangle 12"/>
              <p:cNvSpPr>
                <a:spLocks noChangeArrowheads="1"/>
              </p:cNvSpPr>
              <p:nvPr/>
            </p:nvSpPr>
            <p:spPr bwMode="auto">
              <a:xfrm>
                <a:off x="384" y="2336"/>
                <a:ext cx="1655" cy="116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40000"/>
                  </a:spcBef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AU" altLang="en-US" sz="2000">
                  <a:solidFill>
                    <a:srgbClr val="9866CC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40981" name="Rectangle 13"/>
              <p:cNvSpPr>
                <a:spLocks noChangeArrowheads="1"/>
              </p:cNvSpPr>
              <p:nvPr/>
            </p:nvSpPr>
            <p:spPr bwMode="auto">
              <a:xfrm>
                <a:off x="413" y="2560"/>
                <a:ext cx="1108" cy="5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40000"/>
                  </a:spcBef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000" b="1">
                    <a:latin typeface="Arial" panose="020B0604020202020204" pitchFamily="34" charset="0"/>
                  </a:rPr>
                  <a:t>header block</a:t>
                </a:r>
                <a:endParaRPr lang="en-US" altLang="en-US" sz="1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0973" name="Rectangle 14"/>
            <p:cNvSpPr>
              <a:spLocks noChangeArrowheads="1"/>
            </p:cNvSpPr>
            <p:nvPr/>
          </p:nvSpPr>
          <p:spPr bwMode="auto">
            <a:xfrm>
              <a:off x="1790" y="2512"/>
              <a:ext cx="1802" cy="1060"/>
            </a:xfrm>
            <a:prstGeom prst="rect">
              <a:avLst/>
            </a:prstGeom>
            <a:solidFill>
              <a:srgbClr val="99CCFF"/>
            </a:solidFill>
            <a:ln w="349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AU" altLang="en-US" sz="2000">
                <a:solidFill>
                  <a:srgbClr val="9866CC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0974" name="Rectangle 15"/>
            <p:cNvSpPr>
              <a:spLocks noChangeArrowheads="1"/>
            </p:cNvSpPr>
            <p:nvPr/>
          </p:nvSpPr>
          <p:spPr bwMode="auto">
            <a:xfrm>
              <a:off x="1888" y="2686"/>
              <a:ext cx="771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40000"/>
                </a:spcBef>
                <a:buSzPct val="7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40000"/>
                </a:spcBef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Font typeface="Wingdings" panose="05000000000000000000" pitchFamily="2" charset="2"/>
                <a:buChar char="¨"/>
                <a:defRPr sz="1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000" b="1">
                  <a:latin typeface="Arial" panose="020B0604020202020204" pitchFamily="34" charset="0"/>
                </a:rPr>
                <a:t>SOAP body</a:t>
              </a:r>
              <a:endParaRPr lang="en-US" altLang="en-US" sz="1000">
                <a:latin typeface="Arial" panose="020B0604020202020204" pitchFamily="34" charset="0"/>
              </a:endParaRPr>
            </a:p>
          </p:txBody>
        </p:sp>
        <p:grpSp>
          <p:nvGrpSpPr>
            <p:cNvPr id="40975" name="Group 16"/>
            <p:cNvGrpSpPr>
              <a:grpSpLocks/>
            </p:cNvGrpSpPr>
            <p:nvPr/>
          </p:nvGrpSpPr>
          <p:grpSpPr bwMode="auto">
            <a:xfrm>
              <a:off x="2123" y="2873"/>
              <a:ext cx="1326" cy="549"/>
              <a:chOff x="3008" y="2222"/>
              <a:chExt cx="1737" cy="1252"/>
            </a:xfrm>
          </p:grpSpPr>
          <p:sp>
            <p:nvSpPr>
              <p:cNvPr id="40976" name="Rectangle 17"/>
              <p:cNvSpPr>
                <a:spLocks noChangeArrowheads="1"/>
              </p:cNvSpPr>
              <p:nvPr/>
            </p:nvSpPr>
            <p:spPr bwMode="auto">
              <a:xfrm>
                <a:off x="3008" y="2222"/>
                <a:ext cx="1664" cy="1179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40000"/>
                  </a:spcBef>
                  <a:buSzPct val="7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spcBef>
                    <a:spcPct val="40000"/>
                  </a:spcBef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4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AU" altLang="en-US" sz="2000">
                  <a:solidFill>
                    <a:srgbClr val="9866CC"/>
                  </a:solidFill>
                  <a:latin typeface="Tahoma" panose="020B0604030504040204" pitchFamily="34" charset="0"/>
                </a:endParaRPr>
              </a:p>
            </p:txBody>
          </p:sp>
          <p:grpSp>
            <p:nvGrpSpPr>
              <p:cNvPr id="40977" name="Group 18"/>
              <p:cNvGrpSpPr>
                <a:grpSpLocks/>
              </p:cNvGrpSpPr>
              <p:nvPr/>
            </p:nvGrpSpPr>
            <p:grpSpPr bwMode="auto">
              <a:xfrm>
                <a:off x="3090" y="2308"/>
                <a:ext cx="1655" cy="1166"/>
                <a:chOff x="384" y="2336"/>
                <a:chExt cx="1655" cy="1166"/>
              </a:xfrm>
            </p:grpSpPr>
            <p:sp>
              <p:nvSpPr>
                <p:cNvPr id="40978" name="Rectangle 19"/>
                <p:cNvSpPr>
                  <a:spLocks noChangeArrowheads="1"/>
                </p:cNvSpPr>
                <p:nvPr/>
              </p:nvSpPr>
              <p:spPr bwMode="auto">
                <a:xfrm>
                  <a:off x="384" y="2336"/>
                  <a:ext cx="1655" cy="116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40000"/>
                    </a:spcBef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>
                    <a:spcBef>
                      <a:spcPct val="40000"/>
                    </a:spcBef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>
                    <a:spcBef>
                      <a:spcPct val="40000"/>
                    </a:spcBef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>
                    <a:spcBef>
                      <a:spcPct val="40000"/>
                    </a:spcBef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>
                    <a:spcBef>
                      <a:spcPct val="40000"/>
                    </a:spcBef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4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4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4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4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endParaRPr lang="en-AU" altLang="en-US" sz="2000">
                    <a:solidFill>
                      <a:srgbClr val="9866CC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0979" name="Rectangle 20"/>
                <p:cNvSpPr>
                  <a:spLocks noChangeArrowheads="1"/>
                </p:cNvSpPr>
                <p:nvPr/>
              </p:nvSpPr>
              <p:spPr bwMode="auto">
                <a:xfrm>
                  <a:off x="411" y="2561"/>
                  <a:ext cx="952" cy="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40000"/>
                    </a:spcBef>
                    <a:buSzPct val="7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>
                    <a:spcBef>
                      <a:spcPct val="40000"/>
                    </a:spcBef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>
                    <a:spcBef>
                      <a:spcPct val="40000"/>
                    </a:spcBef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>
                    <a:spcBef>
                      <a:spcPct val="40000"/>
                    </a:spcBef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>
                    <a:spcBef>
                      <a:spcPct val="40000"/>
                    </a:spcBef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4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4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4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4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Font typeface="Wingdings" panose="05000000000000000000" pitchFamily="2" charset="2"/>
                    <a:buChar char="¨"/>
                    <a:defRPr sz="16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SzTx/>
                    <a:buFontTx/>
                    <a:buNone/>
                  </a:pPr>
                  <a:r>
                    <a:rPr lang="en-US" altLang="en-US" sz="1000" b="1">
                      <a:latin typeface="Arial" panose="020B0604020202020204" pitchFamily="34" charset="0"/>
                    </a:rPr>
                    <a:t>body entry</a:t>
                  </a:r>
                  <a:endParaRPr lang="en-US" altLang="en-US" sz="1000">
                    <a:latin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871095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40DDCD0A-5549-4EC7-AACD-B615662AAADA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52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auto">
          <a:xfrm>
            <a:off x="0" y="1268413"/>
            <a:ext cx="898525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&lt;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env:Envelope</a:t>
            </a: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xmlns:SOAP</a:t>
            </a:r>
            <a:r>
              <a:rPr lang="en-US" altLang="en-US" sz="1600" b="1" dirty="0">
                <a:latin typeface="Courier New" panose="02070309020205020404" pitchFamily="49" charset="0"/>
              </a:rPr>
              <a:t>=“http://www.w3.org/2003/05/soap-envelope”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xmlns:</a:t>
            </a:r>
            <a:r>
              <a:rPr lang="en-US" altLang="en-US" sz="1600" b="1" dirty="0" err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1600" b="1" dirty="0">
                <a:latin typeface="Courier New" panose="02070309020205020404" pitchFamily="49" charset="0"/>
              </a:rPr>
              <a:t>="http://www.plastics_supply.com/product-prices"&gt;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&lt;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env:Header</a:t>
            </a:r>
            <a:r>
              <a:rPr lang="en-US" altLang="en-US" sz="1600" b="1" dirty="0">
                <a:latin typeface="Courier New" panose="02070309020205020404" pitchFamily="49" charset="0"/>
              </a:rPr>
              <a:t>&gt;	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&lt;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tx:Transaction-id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                   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xmlns:t</a:t>
            </a:r>
            <a:r>
              <a:rPr lang="en-US" altLang="en-US" sz="1600" b="1" dirty="0">
                <a:latin typeface="Courier New" panose="02070309020205020404" pitchFamily="49" charset="0"/>
              </a:rPr>
              <a:t>=”http://www.transaction.com/transactions”           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   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env:mustUnderstand</a:t>
            </a:r>
            <a:r>
              <a:rPr lang="en-US" altLang="en-US" sz="1600" b="1" dirty="0">
                <a:latin typeface="Courier New" panose="02070309020205020404" pitchFamily="49" charset="0"/>
              </a:rPr>
              <a:t>='1'&gt; 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512        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&lt;/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tx:Transaction-id</a:t>
            </a:r>
            <a:r>
              <a:rPr lang="en-US" altLang="en-US" sz="16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&lt;/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env:Header</a:t>
            </a:r>
            <a:r>
              <a:rPr lang="en-US" altLang="en-US" sz="16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env:Body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&lt;</a:t>
            </a:r>
            <a:r>
              <a:rPr lang="en-US" altLang="en-US" sz="1600" b="1" dirty="0" err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:GetProductPrice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                   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  &lt;</a:t>
            </a:r>
            <a:r>
              <a:rPr lang="en-US" altLang="en-US" sz="1600" b="1" dirty="0" err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:product-id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  450R6OP  &lt;/</a:t>
            </a:r>
            <a:r>
              <a:rPr lang="en-US" altLang="en-US" sz="1600" b="1" dirty="0" err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:product-id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&lt;/</a:t>
            </a:r>
            <a:r>
              <a:rPr lang="en-US" altLang="en-US" sz="1600" b="1" dirty="0" err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:GetProductPrice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&lt;/</a:t>
            </a:r>
            <a:r>
              <a:rPr lang="en-US" altLang="en-US" sz="16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env:Body</a:t>
            </a:r>
            <a:r>
              <a:rPr lang="en-US" altLang="en-US" sz="16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&lt;/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env:Envelope</a:t>
            </a:r>
            <a:r>
              <a:rPr lang="en-US" altLang="en-US" sz="1600" b="1" dirty="0">
                <a:latin typeface="Courier New" panose="02070309020205020404" pitchFamily="49" charset="0"/>
              </a:rPr>
              <a:t>&gt;</a:t>
            </a:r>
          </a:p>
        </p:txBody>
      </p:sp>
      <p:sp>
        <p:nvSpPr>
          <p:cNvPr id="6554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0">
                <a:solidFill>
                  <a:schemeClr val="tx1"/>
                </a:solidFill>
              </a:rPr>
              <a:t>Example of RPC-style SOAP body</a:t>
            </a:r>
            <a:endParaRPr lang="en-AU" altLang="en-US" b="0">
              <a:solidFill>
                <a:schemeClr val="tx1"/>
              </a:solidFill>
            </a:endParaRPr>
          </a:p>
        </p:txBody>
      </p:sp>
      <p:sp>
        <p:nvSpPr>
          <p:cNvPr id="65541" name="Text Box 9"/>
          <p:cNvSpPr txBox="1">
            <a:spLocks noChangeArrowheads="1"/>
          </p:cNvSpPr>
          <p:nvPr/>
        </p:nvSpPr>
        <p:spPr bwMode="auto">
          <a:xfrm>
            <a:off x="179388" y="5445125"/>
            <a:ext cx="75993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AU" altLang="en-US" sz="2000" dirty="0">
                <a:latin typeface="Tahoma" panose="020B0604030504040204" pitchFamily="34" charset="0"/>
              </a:rPr>
              <a:t>Corresponding method invocation in programming language style: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AU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AU" altLang="en-US" sz="2000" dirty="0">
                <a:latin typeface="Tahoma" panose="020B0604030504040204" pitchFamily="34" charset="0"/>
              </a:rPr>
              <a:t>	             </a:t>
            </a:r>
            <a:r>
              <a:rPr lang="en-AU" altLang="en-US" sz="1600" b="1" dirty="0" err="1">
                <a:latin typeface="Tahoma" panose="020B0604030504040204" pitchFamily="34" charset="0"/>
              </a:rPr>
              <a:t>GetProductPrice</a:t>
            </a:r>
            <a:r>
              <a:rPr lang="en-AU" altLang="en-US" sz="1600" b="1" dirty="0">
                <a:latin typeface="Tahoma" panose="020B0604030504040204" pitchFamily="34" charset="0"/>
              </a:rPr>
              <a:t>(“450R6OP”);</a:t>
            </a:r>
          </a:p>
        </p:txBody>
      </p:sp>
    </p:spTree>
    <p:extLst>
      <p:ext uri="{BB962C8B-B14F-4D97-AF65-F5344CB8AC3E}">
        <p14:creationId xmlns:p14="http://schemas.microsoft.com/office/powerpoint/2010/main" val="1950344122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0E02E4CE-6B34-4325-9A55-39F7ED3CF8DD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53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273050" y="1557338"/>
            <a:ext cx="8870950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&lt;env:Envelope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xmlns:SOAP=“http://www.w3.org/2003/05/soap-envelope”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xmlns:</a:t>
            </a:r>
            <a:r>
              <a:rPr lang="en-US" altLang="en-US" sz="2000" b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2000" b="1">
                <a:latin typeface="Courier New" panose="02070309020205020404" pitchFamily="49" charset="0"/>
              </a:rPr>
              <a:t>="http://www.plastics_supply.com/product-prices"&gt;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&lt;env:Header&gt;	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	&lt;--! – Optional context information --&gt;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&lt;/env:Header&gt;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&lt;env:Body&gt;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	</a:t>
            </a:r>
            <a:r>
              <a:rPr lang="en-U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&lt;</a:t>
            </a:r>
            <a:r>
              <a:rPr lang="en-US" altLang="en-US" sz="2000" b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:GetProductPriceResponse&gt;                   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	   &lt;</a:t>
            </a:r>
            <a:r>
              <a:rPr lang="en-US" altLang="en-US" sz="2000" b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:product-price&gt;   134.32  &lt;/</a:t>
            </a:r>
            <a:r>
              <a:rPr lang="en-US" altLang="en-US" sz="2000" b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:product-price&gt;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	&lt;/</a:t>
            </a:r>
            <a:r>
              <a:rPr lang="en-US" altLang="en-US" sz="2000" b="1">
                <a:solidFill>
                  <a:srgbClr val="1E168A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:GetProductPriceResponse&gt;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&lt;/env:Body&gt;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&lt;/env:Envelope&gt;</a:t>
            </a:r>
          </a:p>
        </p:txBody>
      </p:sp>
      <p:sp>
        <p:nvSpPr>
          <p:cNvPr id="67588" name="Rectangle 6"/>
          <p:cNvSpPr>
            <a:spLocks noGrp="1" noChangeArrowheads="1"/>
          </p:cNvSpPr>
          <p:nvPr>
            <p:ph type="title"/>
          </p:nvPr>
        </p:nvSpPr>
        <p:spPr>
          <a:xfrm>
            <a:off x="395288" y="358775"/>
            <a:ext cx="7681912" cy="685800"/>
          </a:xfrm>
        </p:spPr>
        <p:txBody>
          <a:bodyPr/>
          <a:lstStyle/>
          <a:p>
            <a:r>
              <a:rPr lang="en-US" altLang="en-US" sz="3200" b="0">
                <a:solidFill>
                  <a:schemeClr val="tx1"/>
                </a:solidFill>
              </a:rPr>
              <a:t>Example of RPC-style SOAP response message</a:t>
            </a:r>
            <a:endParaRPr lang="en-AU" altLang="en-US" sz="3200" b="0">
              <a:solidFill>
                <a:schemeClr val="tx1"/>
              </a:solidFill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683568" y="5394325"/>
            <a:ext cx="75993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AU" altLang="en-US" sz="2000" dirty="0">
                <a:latin typeface="Tahoma" panose="020B0604030504040204" pitchFamily="34" charset="0"/>
              </a:rPr>
              <a:t>Corresponding method invocation in programming language style: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AU" altLang="en-US" sz="20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AU" altLang="en-US" sz="2000" dirty="0">
                <a:latin typeface="Tahoma" panose="020B0604030504040204" pitchFamily="34" charset="0"/>
              </a:rPr>
              <a:t>	             </a:t>
            </a:r>
            <a:r>
              <a:rPr lang="en-AU" altLang="en-US" sz="1600" b="1" dirty="0">
                <a:latin typeface="Tahoma" panose="020B0604030504040204" pitchFamily="34" charset="0"/>
              </a:rPr>
              <a:t>134.32</a:t>
            </a:r>
          </a:p>
        </p:txBody>
      </p:sp>
    </p:spTree>
    <p:extLst>
      <p:ext uri="{BB962C8B-B14F-4D97-AF65-F5344CB8AC3E}">
        <p14:creationId xmlns:p14="http://schemas.microsoft.com/office/powerpoint/2010/main" val="77849377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Implementing WS* Web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Design and implement an OO software system</a:t>
            </a:r>
          </a:p>
          <a:p>
            <a:r>
              <a:rPr lang="en-AU" dirty="0"/>
              <a:t>Generate WSDL interface</a:t>
            </a:r>
          </a:p>
          <a:p>
            <a:r>
              <a:rPr lang="en-AU" dirty="0"/>
              <a:t>Deploy service</a:t>
            </a:r>
          </a:p>
          <a:p>
            <a:r>
              <a:rPr lang="en-AU" dirty="0"/>
              <a:t>Publish WSDL interface (API)</a:t>
            </a:r>
          </a:p>
          <a:p>
            <a:r>
              <a:rPr lang="en-AU" dirty="0"/>
              <a:t>Other services/systems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4790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492375"/>
            <a:ext cx="5102225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88913"/>
            <a:ext cx="4160837" cy="334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64" name="Title 1"/>
          <p:cNvSpPr>
            <a:spLocks noGrp="1"/>
          </p:cNvSpPr>
          <p:nvPr>
            <p:ph type="title"/>
          </p:nvPr>
        </p:nvSpPr>
        <p:spPr>
          <a:xfrm>
            <a:off x="250825" y="4202113"/>
            <a:ext cx="3021013" cy="685800"/>
          </a:xfrm>
        </p:spPr>
        <p:txBody>
          <a:bodyPr/>
          <a:lstStyle/>
          <a:p>
            <a:pPr algn="r"/>
            <a:r>
              <a:rPr lang="en-AU" altLang="en-US"/>
              <a:t>Code to WSDL</a:t>
            </a:r>
            <a:endParaRPr lang="en-US" altLang="en-US"/>
          </a:p>
        </p:txBody>
      </p:sp>
      <p:sp>
        <p:nvSpPr>
          <p:cNvPr id="4096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AE8AAF92-16A2-4B81-8E34-C112975A6DAC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55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40966" name="Right Arrow 4"/>
          <p:cNvSpPr>
            <a:spLocks noChangeArrowheads="1"/>
          </p:cNvSpPr>
          <p:nvPr/>
        </p:nvSpPr>
        <p:spPr bwMode="auto">
          <a:xfrm rot="3116357">
            <a:off x="3121025" y="3206750"/>
            <a:ext cx="1152525" cy="898525"/>
          </a:xfrm>
          <a:prstGeom prst="rightArrow">
            <a:avLst>
              <a:gd name="adj1" fmla="val 50000"/>
              <a:gd name="adj2" fmla="val 50096"/>
            </a:avLst>
          </a:prstGeom>
          <a:solidFill>
            <a:srgbClr val="CC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40967" name="Right Arrow 8"/>
          <p:cNvSpPr>
            <a:spLocks noChangeArrowheads="1"/>
          </p:cNvSpPr>
          <p:nvPr/>
        </p:nvSpPr>
        <p:spPr bwMode="auto">
          <a:xfrm rot="-5695074">
            <a:off x="4490244" y="6376194"/>
            <a:ext cx="368300" cy="217488"/>
          </a:xfrm>
          <a:prstGeom prst="rightArrow">
            <a:avLst>
              <a:gd name="adj1" fmla="val 50000"/>
              <a:gd name="adj2" fmla="val 49666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9906832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250825" y="4202113"/>
            <a:ext cx="3021013" cy="685800"/>
          </a:xfrm>
        </p:spPr>
        <p:txBody>
          <a:bodyPr/>
          <a:lstStyle/>
          <a:p>
            <a:pPr algn="r"/>
            <a:r>
              <a:rPr lang="en-AU" altLang="en-US"/>
              <a:t>Design tool to WSDL</a:t>
            </a:r>
            <a:endParaRPr lang="en-US" altLang="en-US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92CA9769-E650-417A-80C4-2AAD55BF7014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56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pic>
        <p:nvPicPr>
          <p:cNvPr id="4198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492375"/>
            <a:ext cx="5102225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115888"/>
            <a:ext cx="5091112" cy="331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991" name="Right Arrow 4"/>
          <p:cNvSpPr>
            <a:spLocks noChangeArrowheads="1"/>
          </p:cNvSpPr>
          <p:nvPr/>
        </p:nvSpPr>
        <p:spPr bwMode="auto">
          <a:xfrm rot="3116357">
            <a:off x="3121025" y="3206750"/>
            <a:ext cx="1152525" cy="898525"/>
          </a:xfrm>
          <a:prstGeom prst="rightArrow">
            <a:avLst>
              <a:gd name="adj1" fmla="val 50000"/>
              <a:gd name="adj2" fmla="val 50096"/>
            </a:avLst>
          </a:prstGeom>
          <a:solidFill>
            <a:srgbClr val="CC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41992" name="Right Arrow 5"/>
          <p:cNvSpPr>
            <a:spLocks noChangeArrowheads="1"/>
          </p:cNvSpPr>
          <p:nvPr/>
        </p:nvSpPr>
        <p:spPr bwMode="auto">
          <a:xfrm rot="-5400000">
            <a:off x="318293" y="3326607"/>
            <a:ext cx="442913" cy="215900"/>
          </a:xfrm>
          <a:prstGeom prst="rightArrow">
            <a:avLst>
              <a:gd name="adj1" fmla="val 50000"/>
              <a:gd name="adj2" fmla="val 50024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  <p:sp>
        <p:nvSpPr>
          <p:cNvPr id="41993" name="Right Arrow 8"/>
          <p:cNvSpPr>
            <a:spLocks noChangeArrowheads="1"/>
          </p:cNvSpPr>
          <p:nvPr/>
        </p:nvSpPr>
        <p:spPr bwMode="auto">
          <a:xfrm rot="-5695074">
            <a:off x="4490244" y="6376194"/>
            <a:ext cx="368300" cy="217488"/>
          </a:xfrm>
          <a:prstGeom prst="rightArrow">
            <a:avLst>
              <a:gd name="adj1" fmla="val 50000"/>
              <a:gd name="adj2" fmla="val 49666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3501549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D8ED4257-24D9-455C-8EB8-1410481EFCB1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57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0"/>
              <a:t>Content</a:t>
            </a:r>
            <a:endParaRPr lang="en-US" b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7740972" cy="4800600"/>
          </a:xfrm>
        </p:spPr>
        <p:txBody>
          <a:bodyPr/>
          <a:lstStyle/>
          <a:p>
            <a:endParaRPr lang="en-AU" b="1" dirty="0"/>
          </a:p>
          <a:p>
            <a:r>
              <a:rPr lang="en-AU" dirty="0"/>
              <a:t>Software services / web services</a:t>
            </a:r>
          </a:p>
          <a:p>
            <a:r>
              <a:rPr lang="en-AU" dirty="0"/>
              <a:t>Some concepts you need to understand</a:t>
            </a:r>
          </a:p>
          <a:p>
            <a:r>
              <a:rPr lang="en-AU" dirty="0"/>
              <a:t>Service oriented architecture (SOA)</a:t>
            </a:r>
          </a:p>
          <a:p>
            <a:r>
              <a:rPr lang="en-AU" dirty="0"/>
              <a:t>Web application architectural styles and middleware</a:t>
            </a:r>
          </a:p>
          <a:p>
            <a:r>
              <a:rPr lang="en-AU" dirty="0"/>
              <a:t>WS* (SOAP) approach</a:t>
            </a:r>
          </a:p>
          <a:p>
            <a:r>
              <a:rPr lang="en-AU" b="1" dirty="0"/>
              <a:t>REST approach</a:t>
            </a:r>
          </a:p>
          <a:p>
            <a:r>
              <a:rPr lang="en-AU" dirty="0" err="1"/>
              <a:t>Microservices</a:t>
            </a: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03051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REST based architectures</a:t>
            </a:r>
            <a:endParaRPr lang="en-AU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714375" y="1071563"/>
            <a:ext cx="8143875" cy="4800600"/>
          </a:xfrm>
        </p:spPr>
        <p:txBody>
          <a:bodyPr/>
          <a:lstStyle/>
          <a:p>
            <a:r>
              <a:rPr lang="en-US" sz="2400"/>
              <a:t>Purist and Hybrid approaches</a:t>
            </a:r>
          </a:p>
          <a:p>
            <a:r>
              <a:rPr lang="en-US" sz="2400"/>
              <a:t>RESTful Web Services (purists)</a:t>
            </a:r>
          </a:p>
          <a:p>
            <a:pPr lvl="1"/>
            <a:r>
              <a:rPr lang="en-US" sz="2000"/>
              <a:t>HTTP as an </a:t>
            </a:r>
            <a:r>
              <a:rPr lang="en-US" sz="2000" i="1"/>
              <a:t>application protocol</a:t>
            </a:r>
          </a:p>
          <a:p>
            <a:pPr lvl="1"/>
            <a:r>
              <a:rPr lang="en-US" sz="2000"/>
              <a:t>‘Resource-oriented’ architecture</a:t>
            </a:r>
          </a:p>
          <a:p>
            <a:pPr lvl="2"/>
            <a:r>
              <a:rPr lang="en-US" sz="1800"/>
              <a:t> Everything referenced as a URI</a:t>
            </a:r>
          </a:p>
          <a:p>
            <a:pPr lvl="1"/>
            <a:r>
              <a:rPr lang="en-US" sz="2000"/>
              <a:t>HTTP ‘verbs’ have specific meaning </a:t>
            </a:r>
            <a:r>
              <a:rPr lang="en-US" sz="2000">
                <a:sym typeface="Wingdings" pitchFamily="2" charset="2"/>
              </a:rPr>
              <a:t></a:t>
            </a:r>
            <a:r>
              <a:rPr lang="en-US" sz="2000"/>
              <a:t> uniform CRUD interface</a:t>
            </a:r>
          </a:p>
          <a:p>
            <a:pPr lvl="2"/>
            <a:r>
              <a:rPr lang="en-US" sz="1800" b="1"/>
              <a:t>GET</a:t>
            </a:r>
            <a:r>
              <a:rPr lang="en-US" sz="1800"/>
              <a:t> – retrieve information on a resource</a:t>
            </a:r>
          </a:p>
          <a:p>
            <a:pPr lvl="2"/>
            <a:r>
              <a:rPr lang="en-US" sz="1800" b="1"/>
              <a:t>POST</a:t>
            </a:r>
            <a:r>
              <a:rPr lang="en-US" sz="1800"/>
              <a:t> – Create a new resource</a:t>
            </a:r>
          </a:p>
          <a:p>
            <a:pPr lvl="2"/>
            <a:r>
              <a:rPr lang="en-US" sz="1800" b="1"/>
              <a:t>PUT</a:t>
            </a:r>
            <a:r>
              <a:rPr lang="en-US" sz="1800"/>
              <a:t> – Modify an existing resource</a:t>
            </a:r>
          </a:p>
          <a:p>
            <a:pPr lvl="2"/>
            <a:r>
              <a:rPr lang="en-US" sz="1800" b="1"/>
              <a:t>DELETE</a:t>
            </a:r>
            <a:r>
              <a:rPr lang="en-US" sz="1800"/>
              <a:t> – Delete an existing resource</a:t>
            </a:r>
          </a:p>
          <a:p>
            <a:pPr lvl="2"/>
            <a:r>
              <a:rPr lang="en-US" sz="1800"/>
              <a:t>Also use </a:t>
            </a:r>
            <a:r>
              <a:rPr lang="en-US" sz="1800" b="1"/>
              <a:t>HEAD</a:t>
            </a:r>
            <a:r>
              <a:rPr lang="en-US" sz="1800"/>
              <a:t> (get meta-data), </a:t>
            </a:r>
            <a:r>
              <a:rPr lang="en-US" sz="1800" b="1"/>
              <a:t>OPTIONS</a:t>
            </a:r>
            <a:r>
              <a:rPr lang="en-US" sz="1800"/>
              <a:t> (check which verbs supported)</a:t>
            </a:r>
          </a:p>
          <a:p>
            <a:pPr lvl="1"/>
            <a:r>
              <a:rPr lang="en-US" sz="2200"/>
              <a:t>E.g. Most Yahoo’s web services, Amazon’s S3 (Simple Storage Service)</a:t>
            </a:r>
          </a:p>
          <a:p>
            <a:pPr lvl="1"/>
            <a:endParaRPr lang="en-US" sz="220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2D24EBAD-5A29-40BF-9BE5-735D357CEACC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58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358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REST – </a:t>
            </a:r>
            <a:r>
              <a:rPr lang="en-AU" sz="3200" dirty="0"/>
              <a:t>a resource-oriented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FF0000"/>
                </a:solidFill>
              </a:rPr>
              <a:t>Re</a:t>
            </a:r>
            <a:r>
              <a:rPr lang="en-US" sz="2400" dirty="0"/>
              <a:t>presentational </a:t>
            </a:r>
            <a:r>
              <a:rPr lang="en-US" sz="2400" b="1" dirty="0">
                <a:solidFill>
                  <a:srgbClr val="FF0000"/>
                </a:solidFill>
              </a:rPr>
              <a:t>S</a:t>
            </a:r>
            <a:r>
              <a:rPr lang="en-US" sz="2400" dirty="0"/>
              <a:t>tate </a:t>
            </a:r>
            <a:r>
              <a:rPr lang="en-US" sz="2400" b="1" dirty="0">
                <a:solidFill>
                  <a:srgbClr val="FF0000"/>
                </a:solidFill>
              </a:rPr>
              <a:t>T</a:t>
            </a:r>
            <a:r>
              <a:rPr lang="en-US" sz="2400" dirty="0"/>
              <a:t>ransfer</a:t>
            </a:r>
          </a:p>
          <a:p>
            <a:r>
              <a:rPr lang="en-US" sz="2400" dirty="0"/>
              <a:t>Expose resources to clients on a networked system</a:t>
            </a:r>
          </a:p>
          <a:p>
            <a:pPr lvl="1"/>
            <a:r>
              <a:rPr lang="en-US" sz="2000" dirty="0"/>
              <a:t> Everything referenced as a URI</a:t>
            </a:r>
          </a:p>
          <a:p>
            <a:r>
              <a:rPr lang="en-US" sz="2400" dirty="0"/>
              <a:t>Client-server architecture</a:t>
            </a:r>
          </a:p>
          <a:p>
            <a:r>
              <a:rPr lang="en-US" sz="2400" dirty="0"/>
              <a:t>Application state is driven by the client’s updating resources across the resource network </a:t>
            </a:r>
            <a:r>
              <a:rPr lang="en-US" sz="2400" i="1" dirty="0"/>
              <a:t>using links </a:t>
            </a:r>
            <a:r>
              <a:rPr lang="en-US" sz="2400" dirty="0"/>
              <a:t>provided by the server(s)</a:t>
            </a:r>
          </a:p>
          <a:p>
            <a:pPr lvl="1"/>
            <a:r>
              <a:rPr lang="en-US" sz="2000" i="1" dirty="0"/>
              <a:t>“Hypermedia is the engine of state”</a:t>
            </a:r>
            <a:endParaRPr lang="en-AU" sz="2000" i="1" dirty="0"/>
          </a:p>
          <a:p>
            <a:r>
              <a:rPr lang="en-US" sz="2400" dirty="0"/>
              <a:t>What is a resource? Not just </a:t>
            </a:r>
            <a:r>
              <a:rPr lang="en-AU" sz="2400" dirty="0"/>
              <a:t>relational XML </a:t>
            </a:r>
            <a:r>
              <a:rPr lang="en-AU" sz="2400" dirty="0" err="1"/>
              <a:t>infosets</a:t>
            </a:r>
            <a:endParaRPr lang="en-AU" sz="2400" dirty="0"/>
          </a:p>
          <a:p>
            <a:pPr lvl="1">
              <a:spcBef>
                <a:spcPts val="0"/>
              </a:spcBef>
            </a:pPr>
            <a:r>
              <a:rPr lang="en-US" sz="2000" dirty="0"/>
              <a:t>something returned by an SQL query, text file, media file, </a:t>
            </a:r>
            <a:br>
              <a:rPr lang="en-US" sz="2000" dirty="0"/>
            </a:br>
            <a:r>
              <a:rPr lang="en-US" sz="2000" dirty="0"/>
              <a:t>a transaction, a queue, a web site, a downloadable program, ...</a:t>
            </a:r>
            <a:endParaRPr lang="en-AU" sz="2000" dirty="0"/>
          </a:p>
          <a:p>
            <a:r>
              <a:rPr lang="en-AU" sz="2400" dirty="0"/>
              <a:t>REST is a style or “design guideline” – </a:t>
            </a:r>
            <a:r>
              <a:rPr lang="en-AU" sz="2400" i="1" dirty="0"/>
              <a:t>not</a:t>
            </a:r>
            <a:r>
              <a:rPr lang="en-AU" sz="2400" dirty="0"/>
              <a:t> a standard </a:t>
            </a:r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2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REST </a:t>
            </a:r>
            <a:r>
              <a:rPr lang="en-AU" sz="2800" dirty="0"/>
              <a:t>– Resource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All resources (services) referenced by a unique URI</a:t>
            </a:r>
          </a:p>
          <a:p>
            <a:pPr lvl="1"/>
            <a:r>
              <a:rPr lang="en-AU" dirty="0"/>
              <a:t>e.g. GET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60</a:t>
            </a:fld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564904"/>
            <a:ext cx="50387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231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Methods – strict HTTP</a:t>
            </a:r>
            <a:endParaRPr lang="en-AU" dirty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714375" y="1071563"/>
            <a:ext cx="8143875" cy="4800600"/>
          </a:xfrm>
        </p:spPr>
        <p:txBody>
          <a:bodyPr/>
          <a:lstStyle/>
          <a:p>
            <a:r>
              <a:rPr lang="en-US" sz="2400" dirty="0" err="1"/>
              <a:t>RESTful</a:t>
            </a:r>
            <a:r>
              <a:rPr lang="en-US" sz="2400" dirty="0"/>
              <a:t> Web Services (purist)</a:t>
            </a:r>
          </a:p>
          <a:p>
            <a:pPr lvl="1"/>
            <a:r>
              <a:rPr lang="en-US" sz="2000" dirty="0"/>
              <a:t>HTTP as an </a:t>
            </a:r>
            <a:r>
              <a:rPr lang="en-US" sz="2000" i="1" dirty="0"/>
              <a:t>application protocol</a:t>
            </a:r>
          </a:p>
          <a:p>
            <a:pPr lvl="1"/>
            <a:r>
              <a:rPr lang="en-US" sz="2000" dirty="0"/>
              <a:t>HTTP ‘verbs’ have specific meaning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uniform CRUD interface for keeping resources updated:</a:t>
            </a:r>
          </a:p>
          <a:p>
            <a:pPr lvl="2"/>
            <a:r>
              <a:rPr lang="en-US" sz="1800" b="1" dirty="0"/>
              <a:t>GET</a:t>
            </a:r>
            <a:r>
              <a:rPr lang="en-US" sz="1800" dirty="0"/>
              <a:t> – retrieve information on a resource</a:t>
            </a:r>
          </a:p>
          <a:p>
            <a:pPr lvl="2"/>
            <a:r>
              <a:rPr lang="en-US" sz="1800" b="1" dirty="0"/>
              <a:t>POST</a:t>
            </a:r>
            <a:r>
              <a:rPr lang="en-US" sz="1800" dirty="0"/>
              <a:t> – Create a new resource</a:t>
            </a:r>
          </a:p>
          <a:p>
            <a:pPr lvl="2"/>
            <a:r>
              <a:rPr lang="en-US" sz="1800" b="1" dirty="0"/>
              <a:t>PUT</a:t>
            </a:r>
            <a:r>
              <a:rPr lang="en-US" sz="1800" dirty="0"/>
              <a:t> – Modify an existing resource</a:t>
            </a:r>
          </a:p>
          <a:p>
            <a:pPr lvl="2"/>
            <a:r>
              <a:rPr lang="en-US" sz="1800" b="1" dirty="0"/>
              <a:t>DELETE</a:t>
            </a:r>
            <a:r>
              <a:rPr lang="en-US" sz="1800" dirty="0"/>
              <a:t> – Delete an existing resource</a:t>
            </a:r>
          </a:p>
          <a:p>
            <a:pPr lvl="2"/>
            <a:r>
              <a:rPr lang="en-US" sz="1800" dirty="0"/>
              <a:t>Also use </a:t>
            </a:r>
            <a:r>
              <a:rPr lang="en-US" sz="1800" b="1" dirty="0"/>
              <a:t>HEAD</a:t>
            </a:r>
            <a:r>
              <a:rPr lang="en-US" sz="1800" dirty="0"/>
              <a:t> (get meta-data), </a:t>
            </a:r>
            <a:r>
              <a:rPr lang="en-US" sz="1800" b="1" dirty="0"/>
              <a:t>OPTIONS</a:t>
            </a:r>
            <a:r>
              <a:rPr lang="en-US" sz="1800" dirty="0"/>
              <a:t> (check which verbs supported)</a:t>
            </a:r>
          </a:p>
          <a:p>
            <a:pPr lvl="1"/>
            <a:r>
              <a:rPr lang="en-US" sz="2000" dirty="0"/>
              <a:t>E.g. Most Yahoo’s web services, Amazon’s S3 (Simple Storage Service)</a:t>
            </a:r>
          </a:p>
          <a:p>
            <a:pPr lvl="1"/>
            <a:endParaRPr lang="en-US" sz="2000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2D24EBAD-5A29-40BF-9BE5-735D357CEACC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61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6593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REST presents a uniform interface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343817"/>
            <a:ext cx="4284588" cy="249844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62</a:t>
            </a:fld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084168" y="6093296"/>
            <a:ext cx="1980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i="1" dirty="0">
                <a:solidFill>
                  <a:schemeClr val="tx1"/>
                </a:solidFill>
              </a:rPr>
              <a:t>Graphic courtesy of CSE UNSW </a:t>
            </a:r>
          </a:p>
        </p:txBody>
      </p:sp>
    </p:spTree>
    <p:extLst>
      <p:ext uri="{BB962C8B-B14F-4D97-AF65-F5344CB8AC3E}">
        <p14:creationId xmlns:p14="http://schemas.microsoft.com/office/powerpoint/2010/main" val="34354492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Step 1 : Client asks for a list of parts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63</a:t>
            </a:fld>
            <a:endParaRPr lang="en-AU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640" y="1772816"/>
            <a:ext cx="6746492" cy="3999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084168" y="6093296"/>
            <a:ext cx="1980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i="1" dirty="0">
                <a:solidFill>
                  <a:schemeClr val="tx1"/>
                </a:solidFill>
              </a:rPr>
              <a:t>Graphic courtesy of CSE UNSW </a:t>
            </a:r>
          </a:p>
        </p:txBody>
      </p:sp>
    </p:spTree>
    <p:extLst>
      <p:ext uri="{BB962C8B-B14F-4D97-AF65-F5344CB8AC3E}">
        <p14:creationId xmlns:p14="http://schemas.microsoft.com/office/powerpoint/2010/main" val="12247386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Step 2. Given the part number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64</a:t>
            </a:fld>
            <a:endParaRPr lang="en-AU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9806" y="1556792"/>
            <a:ext cx="6959700" cy="4362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084168" y="6093296"/>
            <a:ext cx="1980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i="1" dirty="0">
                <a:solidFill>
                  <a:schemeClr val="tx1"/>
                </a:solidFill>
              </a:rPr>
              <a:t>Graphic courtesy of CSE UNSW </a:t>
            </a:r>
          </a:p>
        </p:txBody>
      </p:sp>
    </p:spTree>
    <p:extLst>
      <p:ext uri="{BB962C8B-B14F-4D97-AF65-F5344CB8AC3E}">
        <p14:creationId xmlns:p14="http://schemas.microsoft.com/office/powerpoint/2010/main" val="7509129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Placing an order (i.e. creating a new order resource)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65</a:t>
            </a:fld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792392"/>
            <a:ext cx="7256831" cy="4283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4168" y="6093296"/>
            <a:ext cx="1980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i="1" dirty="0">
                <a:solidFill>
                  <a:schemeClr val="tx1"/>
                </a:solidFill>
              </a:rPr>
              <a:t>Graphic courtesy of CSE UNSW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4230" y="2573505"/>
            <a:ext cx="5688632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1400" b="1" dirty="0">
                <a:solidFill>
                  <a:schemeClr val="tx1"/>
                </a:solidFill>
              </a:rPr>
              <a:t>POST http://www.parts-depot.com/order/00345 HTTP/1.1</a:t>
            </a:r>
          </a:p>
        </p:txBody>
      </p:sp>
    </p:spTree>
    <p:extLst>
      <p:ext uri="{BB962C8B-B14F-4D97-AF65-F5344CB8AC3E}">
        <p14:creationId xmlns:p14="http://schemas.microsoft.com/office/powerpoint/2010/main" val="38625130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Updating a resource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66</a:t>
            </a:fld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084168" y="6093296"/>
            <a:ext cx="1980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i="1" dirty="0">
                <a:solidFill>
                  <a:schemeClr val="tx1"/>
                </a:solidFill>
              </a:rPr>
              <a:t>Graphic courtesy of CSE UNSW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772816"/>
            <a:ext cx="6373713" cy="379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045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Implementing REST Web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Design and implement an OO software system (main class with CRUD)</a:t>
            </a:r>
          </a:p>
          <a:p>
            <a:r>
              <a:rPr lang="en-AU" dirty="0"/>
              <a:t>Deploy service (with API)</a:t>
            </a:r>
          </a:p>
          <a:p>
            <a:r>
              <a:rPr lang="en-AU" dirty="0"/>
              <a:t>Publish API interface</a:t>
            </a:r>
          </a:p>
          <a:p>
            <a:r>
              <a:rPr lang="en-AU" dirty="0"/>
              <a:t>Other services/systems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67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83162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WS* vs RESTful? </a:t>
            </a:r>
            <a:endParaRPr lang="en-AU" altLang="en-US"/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anose="05000000000000000000" pitchFamily="2" charset="2"/>
              <a:buChar char="¨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69FE56C-2C43-4274-BF49-309ABE780BF2}" type="slidenum">
              <a:rPr lang="en-AU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68</a:t>
            </a:fld>
            <a:endParaRPr lang="en-AU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1357313"/>
          <a:ext cx="6477000" cy="4090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595"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WS*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RESTful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595">
                <a:tc>
                  <a:txBody>
                    <a:bodyPr/>
                    <a:lstStyle/>
                    <a:p>
                      <a:r>
                        <a:rPr lang="en-US" sz="1800" dirty="0"/>
                        <a:t>Easy to understand approach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Complex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Simpler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95">
                <a:tc>
                  <a:txBody>
                    <a:bodyPr/>
                    <a:lstStyle/>
                    <a:p>
                      <a:r>
                        <a:rPr lang="en-US" sz="1800" dirty="0"/>
                        <a:t>Easy to implement</a:t>
                      </a:r>
                      <a:r>
                        <a:rPr lang="en-US" sz="1800" baseline="0" dirty="0"/>
                        <a:t> 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Depends...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Depends...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595">
                <a:tc>
                  <a:txBody>
                    <a:bodyPr/>
                    <a:lstStyle/>
                    <a:p>
                      <a:r>
                        <a:rPr lang="en-US" sz="1800" dirty="0"/>
                        <a:t>Interface definition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Specific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Generic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66">
                <a:tc>
                  <a:txBody>
                    <a:bodyPr/>
                    <a:lstStyle/>
                    <a:p>
                      <a:r>
                        <a:rPr lang="en-US" sz="1800" dirty="0"/>
                        <a:t>Interface Contracts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 - WSDL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Not yet (WADL?)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595">
                <a:tc>
                  <a:txBody>
                    <a:bodyPr/>
                    <a:lstStyle/>
                    <a:p>
                      <a:r>
                        <a:rPr lang="en-US" sz="1800" dirty="0"/>
                        <a:t>Specific to the Web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595">
                <a:tc>
                  <a:txBody>
                    <a:bodyPr/>
                    <a:lstStyle/>
                    <a:p>
                      <a:r>
                        <a:rPr lang="en-US" sz="1800" dirty="0"/>
                        <a:t>Implementation of SOA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Not really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595">
                <a:tc>
                  <a:txBody>
                    <a:bodyPr/>
                    <a:lstStyle/>
                    <a:p>
                      <a:r>
                        <a:rPr lang="en-US" sz="1800" dirty="0"/>
                        <a:t>Scalable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Hmmm....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6562">
                <a:tc>
                  <a:txBody>
                    <a:bodyPr/>
                    <a:lstStyle/>
                    <a:p>
                      <a:r>
                        <a:rPr lang="en-US" sz="1800" dirty="0"/>
                        <a:t>Addresses</a:t>
                      </a:r>
                      <a:r>
                        <a:rPr lang="en-US" sz="1800" baseline="0" dirty="0"/>
                        <a:t> enterprise concerns (e.g. transactions, end-end security)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Not directly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595">
                <a:tc>
                  <a:txBody>
                    <a:bodyPr/>
                    <a:lstStyle/>
                    <a:p>
                      <a:r>
                        <a:rPr lang="en-US" sz="1800" dirty="0"/>
                        <a:t>Orientation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Method</a:t>
                      </a:r>
                      <a:endParaRPr lang="en-AU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Resource</a:t>
                      </a:r>
                      <a:endParaRPr lang="en-AU" sz="1800" dirty="0"/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4635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1pPr>
            <a:lvl2pPr marL="742950" indent="-28575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2pPr>
            <a:lvl3pPr marL="11430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3pPr>
            <a:lvl4pPr marL="16002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4pPr>
            <a:lvl5pPr marL="2057400" indent="-228600" eaLnBrk="0" hangingPunct="0">
              <a:defRPr sz="2000">
                <a:solidFill>
                  <a:srgbClr val="9866CC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9866CC"/>
                </a:solidFill>
                <a:latin typeface="Tahoma" pitchFamily="34" charset="0"/>
              </a:defRPr>
            </a:lvl9pPr>
          </a:lstStyle>
          <a:p>
            <a:fld id="{D8ED4257-24D9-455C-8EB8-1410481EFCB1}" type="slidenum">
              <a:rPr lang="en-AU" sz="1400" smtClean="0">
                <a:solidFill>
                  <a:schemeClr val="tx1"/>
                </a:solidFill>
                <a:latin typeface="Times New Roman" pitchFamily="18" charset="0"/>
              </a:rPr>
              <a:pPr/>
              <a:t>69</a:t>
            </a:fld>
            <a:endParaRPr lang="en-AU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0"/>
              <a:t>Content</a:t>
            </a:r>
            <a:endParaRPr lang="en-US" b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0" y="1143000"/>
            <a:ext cx="7740972" cy="4800600"/>
          </a:xfrm>
        </p:spPr>
        <p:txBody>
          <a:bodyPr/>
          <a:lstStyle/>
          <a:p>
            <a:endParaRPr lang="en-AU" b="1" dirty="0"/>
          </a:p>
          <a:p>
            <a:r>
              <a:rPr lang="en-AU" dirty="0"/>
              <a:t>Software services / web services</a:t>
            </a:r>
          </a:p>
          <a:p>
            <a:r>
              <a:rPr lang="en-AU" dirty="0"/>
              <a:t>Some concepts you need to understand</a:t>
            </a:r>
          </a:p>
          <a:p>
            <a:r>
              <a:rPr lang="en-AU" dirty="0"/>
              <a:t>Service oriented architecture (SOA)</a:t>
            </a:r>
          </a:p>
          <a:p>
            <a:r>
              <a:rPr lang="en-AU" dirty="0"/>
              <a:t>Web application architectural styles and middleware</a:t>
            </a:r>
          </a:p>
          <a:p>
            <a:r>
              <a:rPr lang="en-AU" dirty="0"/>
              <a:t>WS* (SOAP) approach</a:t>
            </a:r>
          </a:p>
          <a:p>
            <a:r>
              <a:rPr lang="en-AU" dirty="0"/>
              <a:t>REST approach</a:t>
            </a:r>
          </a:p>
          <a:p>
            <a:r>
              <a:rPr lang="en-AU" b="1" dirty="0" err="1"/>
              <a:t>Microservices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89211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Microservices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An architectural approach - Some perspectives </a:t>
            </a:r>
          </a:p>
          <a:p>
            <a:r>
              <a:rPr lang="en-AU" sz="2400" dirty="0"/>
              <a:t>A type of SOA</a:t>
            </a:r>
          </a:p>
          <a:p>
            <a:r>
              <a:rPr lang="en-AU" sz="2400" dirty="0"/>
              <a:t>Functional perspective </a:t>
            </a:r>
            <a:br>
              <a:rPr lang="en-AU" sz="2400" dirty="0"/>
            </a:br>
            <a:r>
              <a:rPr lang="en-AU" sz="2400" dirty="0"/>
              <a:t>- Business functionality/capability oriented partition</a:t>
            </a:r>
          </a:p>
          <a:p>
            <a:r>
              <a:rPr lang="en-AU" sz="2400" dirty="0"/>
              <a:t>Modular</a:t>
            </a:r>
          </a:p>
          <a:p>
            <a:r>
              <a:rPr lang="en-AU" sz="2400" dirty="0"/>
              <a:t>Small (capability) &amp; light-weight </a:t>
            </a:r>
            <a:r>
              <a:rPr lang="en-AU" sz="2400"/>
              <a:t>(technology: REST)</a:t>
            </a:r>
            <a:endParaRPr lang="en-AU" sz="2400" dirty="0"/>
          </a:p>
          <a:p>
            <a:r>
              <a:rPr lang="en-AU" sz="2400" dirty="0"/>
              <a:t>Self-contained &amp; deployable</a:t>
            </a:r>
          </a:p>
          <a:p>
            <a:r>
              <a:rPr lang="en-AU" sz="2400" dirty="0"/>
              <a:t>Oriented towards development, delivery &amp; deployment</a:t>
            </a:r>
          </a:p>
          <a:p>
            <a:r>
              <a:rPr lang="en-AU" sz="2400" dirty="0"/>
              <a:t>Scalable</a:t>
            </a:r>
          </a:p>
          <a:p>
            <a:r>
              <a:rPr lang="en-AU" sz="2400" dirty="0"/>
              <a:t>Granularity vs Complexity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6FF4BA-C1E7-4541-A44C-35CE9F212FB1}" type="slidenum">
              <a:rPr lang="en-AU" smtClean="0"/>
              <a:pPr>
                <a:defRPr/>
              </a:pPr>
              <a:t>70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5838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  <a:cs typeface="+mj-cs"/>
              </a:rPr>
              <a:t>Question to Answer – Week </a:t>
            </a:r>
            <a:r>
              <a:rPr lang="en-US" dirty="0"/>
              <a:t>10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82563" indent="-182563">
              <a:buFont typeface="Wingdings" charset="0"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marL="182563" indent="-182563">
              <a:buFont typeface="Wingdings" charset="0"/>
              <a:buNone/>
              <a:defRPr/>
            </a:pPr>
            <a:r>
              <a:rPr lang="en-US" dirty="0">
                <a:ea typeface="+mn-ea"/>
                <a:cs typeface="+mn-cs"/>
              </a:rPr>
              <a:t>	</a:t>
            </a:r>
            <a:r>
              <a:rPr lang="en-AU" i="1" dirty="0"/>
              <a:t>Discuss the relationships (commonalities and differences) between the concepts of software service, SOAP web service, REST web service, and </a:t>
            </a:r>
            <a:r>
              <a:rPr lang="en-AU" i="1" dirty="0" err="1"/>
              <a:t>microservice</a:t>
            </a:r>
            <a:r>
              <a:rPr lang="en-AU" i="1" dirty="0"/>
              <a:t>.</a:t>
            </a:r>
            <a:endParaRPr lang="en-US" dirty="0"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18EB07F9-02F3-426F-9DEA-F9BC5DAA76B8}" type="slidenum">
              <a:rPr lang="en-AU" altLang="en-US" sz="1400" smtClean="0">
                <a:latin typeface="Times New Roman" panose="02020603050405020304" pitchFamily="18" charset="0"/>
              </a:rPr>
              <a:pPr>
                <a:defRPr/>
              </a:pPr>
              <a:t>71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defRPr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8439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>
                <a:ea typeface="+mj-ea"/>
                <a:cs typeface="+mj-cs"/>
              </a:rPr>
              <a:t>Required Reading Week 11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0"/>
              <a:buNone/>
              <a:defRPr/>
            </a:pPr>
            <a:endParaRPr lang="en-GB" dirty="0">
              <a:ea typeface="+mn-ea"/>
              <a:cs typeface="+mn-cs"/>
            </a:endParaRPr>
          </a:p>
          <a:p>
            <a:pPr>
              <a:buFont typeface="Wingdings" charset="0"/>
              <a:buChar char="n"/>
              <a:defRPr/>
            </a:pPr>
            <a:r>
              <a:rPr lang="en-GB" dirty="0"/>
              <a:t>Len Bass, Paul Clements, and Rick </a:t>
            </a:r>
            <a:r>
              <a:rPr lang="en-GB" dirty="0" err="1"/>
              <a:t>Kazman</a:t>
            </a:r>
            <a:r>
              <a:rPr lang="en-GB" dirty="0"/>
              <a:t>, </a:t>
            </a:r>
            <a:r>
              <a:rPr lang="en-GB" i="1" dirty="0">
                <a:solidFill>
                  <a:srgbClr val="7E0401"/>
                </a:solidFill>
              </a:rPr>
              <a:t>Software Architecture in Practice</a:t>
            </a:r>
            <a:r>
              <a:rPr lang="en-GB" i="1" dirty="0"/>
              <a:t> </a:t>
            </a:r>
            <a:r>
              <a:rPr lang="en-GB" dirty="0"/>
              <a:t>(</a:t>
            </a:r>
            <a:r>
              <a:rPr lang="en-GB" b="1" dirty="0"/>
              <a:t>4</a:t>
            </a:r>
            <a:r>
              <a:rPr lang="en-GB" b="1" baseline="30000" dirty="0"/>
              <a:t>th</a:t>
            </a:r>
            <a:r>
              <a:rPr lang="en-GB" b="1" dirty="0"/>
              <a:t> Edition</a:t>
            </a:r>
            <a:r>
              <a:rPr lang="en-GB" dirty="0"/>
              <a:t>), Addison-Wesley, 2021, Chapter 22.              </a:t>
            </a:r>
            <a:r>
              <a:rPr lang="en-GB" u="sng" dirty="0"/>
              <a:t>OR</a:t>
            </a:r>
            <a:r>
              <a:rPr lang="en-GB" dirty="0"/>
              <a:t>,</a:t>
            </a:r>
            <a:endParaRPr lang="en-US" dirty="0"/>
          </a:p>
          <a:p>
            <a:pPr>
              <a:buFont typeface="Wingdings" charset="0"/>
              <a:buChar char="n"/>
              <a:defRPr/>
            </a:pPr>
            <a:r>
              <a:rPr lang="en-GB" dirty="0">
                <a:ea typeface="+mn-ea"/>
                <a:cs typeface="+mn-cs"/>
              </a:rPr>
              <a:t>Len Bass, Paul Clements, and Rick </a:t>
            </a:r>
            <a:r>
              <a:rPr lang="en-GB" dirty="0" err="1">
                <a:ea typeface="+mn-ea"/>
                <a:cs typeface="+mn-cs"/>
              </a:rPr>
              <a:t>Kazman</a:t>
            </a:r>
            <a:r>
              <a:rPr lang="en-GB" dirty="0">
                <a:ea typeface="+mn-ea"/>
                <a:cs typeface="+mn-cs"/>
              </a:rPr>
              <a:t>, </a:t>
            </a:r>
            <a:r>
              <a:rPr lang="en-GB" i="1" dirty="0">
                <a:solidFill>
                  <a:srgbClr val="7E0401"/>
                </a:solidFill>
                <a:ea typeface="+mn-ea"/>
                <a:cs typeface="+mn-cs"/>
              </a:rPr>
              <a:t>Software Architecture in Practice</a:t>
            </a:r>
            <a:r>
              <a:rPr lang="en-GB" i="1" dirty="0">
                <a:ea typeface="+mn-ea"/>
                <a:cs typeface="+mn-cs"/>
              </a:rPr>
              <a:t> </a:t>
            </a:r>
            <a:r>
              <a:rPr lang="en-GB" dirty="0">
                <a:ea typeface="+mn-ea"/>
                <a:cs typeface="+mn-cs"/>
              </a:rPr>
              <a:t>(</a:t>
            </a:r>
            <a:r>
              <a:rPr lang="en-GB" b="1" dirty="0">
                <a:ea typeface="+mn-ea"/>
                <a:cs typeface="+mn-cs"/>
              </a:rPr>
              <a:t>3</a:t>
            </a:r>
            <a:r>
              <a:rPr lang="en-GB" b="1" baseline="30000" dirty="0">
                <a:ea typeface="+mn-ea"/>
                <a:cs typeface="+mn-cs"/>
              </a:rPr>
              <a:t>rd</a:t>
            </a:r>
            <a:r>
              <a:rPr lang="en-GB" b="1" dirty="0">
                <a:ea typeface="+mn-ea"/>
                <a:cs typeface="+mn-cs"/>
              </a:rPr>
              <a:t> Edition</a:t>
            </a:r>
            <a:r>
              <a:rPr lang="en-GB" dirty="0">
                <a:ea typeface="+mn-ea"/>
                <a:cs typeface="+mn-cs"/>
              </a:rPr>
              <a:t>), Addison-Wesley, 2013, Chapter 18.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fld id="{CC3F954F-E993-4173-BBB6-DA728EB3E5CC}" type="slidenum">
              <a:rPr lang="en-AU" altLang="en-US" sz="1400" smtClean="0">
                <a:latin typeface="Times New Roman" panose="02020603050405020304" pitchFamily="18" charset="0"/>
              </a:rPr>
              <a:pPr>
                <a:defRPr/>
              </a:pPr>
              <a:t>72</a:t>
            </a:fld>
            <a:endParaRPr lang="en-AU" altLang="en-US" sz="1400">
              <a:latin typeface="Times New Roman" panose="02020603050405020304" pitchFamily="18" charset="0"/>
            </a:endParaRPr>
          </a:p>
          <a:p>
            <a:pPr>
              <a:defRPr/>
            </a:pPr>
            <a:endParaRPr lang="en-AU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044985"/>
      </p:ext>
    </p:extLst>
  </p:cSld>
  <p:clrMapOvr>
    <a:masterClrMapping/>
  </p:clrMapOvr>
</p:sld>
</file>

<file path=ppt/theme/theme1.xml><?xml version="1.0" encoding="utf-8"?>
<a:theme xmlns:a="http://schemas.openxmlformats.org/drawingml/2006/main" name="swin_hed03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FF00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E70000"/>
      </a:accent6>
      <a:hlink>
        <a:srgbClr val="5F5F5F"/>
      </a:hlink>
      <a:folHlink>
        <a:srgbClr val="B2B2B2"/>
      </a:folHlink>
    </a:clrScheme>
    <a:fontScheme name="swin_hed0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rgbClr val="9866CC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rgbClr val="9866CC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swin_hed0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win_hed0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win_hed0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win_hed0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win_hed0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win_hed0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win_hed0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FF00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E70000"/>
      </a:accent6>
      <a:hlink>
        <a:srgbClr val="5F5F5F"/>
      </a:hlink>
      <a:folHlink>
        <a:srgbClr val="B2B2B2"/>
      </a:folHlink>
    </a:clrScheme>
    <a:fontScheme name="Default Design">
      <a:majorFont>
        <a:latin typeface="Arial Narrow"/>
        <a:ea typeface="ＭＳ Ｐゴシック"/>
        <a:cs typeface=""/>
      </a:majorFont>
      <a:minorFont>
        <a:latin typeface="Arial Narrow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 Narrow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 Narrow" charset="0"/>
            <a:ea typeface="ＭＳ Ｐゴシック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win_hed03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9FF901F214C743957BA58699663E36" ma:contentTypeVersion="10" ma:contentTypeDescription="Create a new document." ma:contentTypeScope="" ma:versionID="060ff08cacd564dfe221b3356fa1e257">
  <xsd:schema xmlns:xsd="http://www.w3.org/2001/XMLSchema" xmlns:xs="http://www.w3.org/2001/XMLSchema" xmlns:p="http://schemas.microsoft.com/office/2006/metadata/properties" xmlns:ns3="ac4245a9-d0fe-4b59-a0f5-835f3723c0b2" targetNamespace="http://schemas.microsoft.com/office/2006/metadata/properties" ma:root="true" ma:fieldsID="283b7fe8e6968f1f51bb045e1e6e8d74" ns3:_="">
    <xsd:import namespace="ac4245a9-d0fe-4b59-a0f5-835f3723c0b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4245a9-d0fe-4b59-a0f5-835f3723c0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65CAD3-1AB4-476E-B523-6401AAC6BD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DCFFCC-A9E2-42D4-8D9D-DC899C6BF97D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ac4245a9-d0fe-4b59-a0f5-835f3723c0b2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5C8A581-9D43-4FB0-9D92-915408A9F3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4245a9-d0fe-4b59-a0f5-835f3723c0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9948</TotalTime>
  <Words>6006</Words>
  <Application>Microsoft Office PowerPoint</Application>
  <PresentationFormat>On-screen Show (4:3)</PresentationFormat>
  <Paragraphs>1043</Paragraphs>
  <Slides>72</Slides>
  <Notes>29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72</vt:i4>
      </vt:variant>
    </vt:vector>
  </HeadingPairs>
  <TitlesOfParts>
    <vt:vector size="80" baseType="lpstr">
      <vt:lpstr>Arial</vt:lpstr>
      <vt:lpstr>Arial Narrow</vt:lpstr>
      <vt:lpstr>Courier New</vt:lpstr>
      <vt:lpstr>Tahoma</vt:lpstr>
      <vt:lpstr>Times New Roman</vt:lpstr>
      <vt:lpstr>Wingdings</vt:lpstr>
      <vt:lpstr>swin_hed03</vt:lpstr>
      <vt:lpstr>Default Design</vt:lpstr>
      <vt:lpstr>SWE30003 Software Architectures and Design</vt:lpstr>
      <vt:lpstr>Logistical matters</vt:lpstr>
      <vt:lpstr>Question to Answer – Week 9</vt:lpstr>
      <vt:lpstr>Required Readings - Week 10</vt:lpstr>
      <vt:lpstr>Additional Resources/Readings</vt:lpstr>
      <vt:lpstr>Content</vt:lpstr>
      <vt:lpstr>The Web</vt:lpstr>
      <vt:lpstr>Enterprise (Software) Systems</vt:lpstr>
      <vt:lpstr>Service / Software Service / Web Service</vt:lpstr>
      <vt:lpstr>Web Services: W3C Definition </vt:lpstr>
      <vt:lpstr>Need to make an existing business process more  flexible</vt:lpstr>
      <vt:lpstr>PowerPoint Presentation</vt:lpstr>
      <vt:lpstr>PowerPoint Presentation</vt:lpstr>
      <vt:lpstr>Content</vt:lpstr>
      <vt:lpstr>Some underlying concepts …</vt:lpstr>
      <vt:lpstr>Service Properties &amp; State</vt:lpstr>
      <vt:lpstr>Granularity</vt:lpstr>
      <vt:lpstr>Synchronous &amp; asynchronous communication</vt:lpstr>
      <vt:lpstr>Service Interface (API) &amp; Implementation </vt:lpstr>
      <vt:lpstr>Perspectives on Web Services</vt:lpstr>
      <vt:lpstr>Loose Coupling</vt:lpstr>
      <vt:lpstr>Content</vt:lpstr>
      <vt:lpstr>Service Oriented Architecture</vt:lpstr>
      <vt:lpstr>Web Architectural Styles</vt:lpstr>
      <vt:lpstr>Remote Procedure Calls - an oo/component approach</vt:lpstr>
      <vt:lpstr>Asynchronous request/reply messaging</vt:lpstr>
      <vt:lpstr>Message-oriented Middleware</vt:lpstr>
      <vt:lpstr>Resource-oriented Architecture</vt:lpstr>
      <vt:lpstr>EDA – Event Driven Architectures</vt:lpstr>
      <vt:lpstr>How does SOA help achieve loose coupling?</vt:lpstr>
      <vt:lpstr>Content</vt:lpstr>
      <vt:lpstr>Web Application (Standard) Approaches</vt:lpstr>
      <vt:lpstr>Technologies for Web Architectures</vt:lpstr>
      <vt:lpstr>????</vt:lpstr>
      <vt:lpstr>Content</vt:lpstr>
      <vt:lpstr>WS* (SOAP) Architectures</vt:lpstr>
      <vt:lpstr>Message Exchange Patterns</vt:lpstr>
      <vt:lpstr>Web Services and Messaging</vt:lpstr>
      <vt:lpstr>WS Technology Stack implementation of SOA</vt:lpstr>
      <vt:lpstr>WSDL – Web Service (Interface) Description </vt:lpstr>
      <vt:lpstr>An example:  in programming language style (illustration only)</vt:lpstr>
      <vt:lpstr>Web services in context</vt:lpstr>
      <vt:lpstr>Web Services Description Language </vt:lpstr>
      <vt:lpstr>Structure of WSDL documents</vt:lpstr>
      <vt:lpstr>PowerPoint Presentation</vt:lpstr>
      <vt:lpstr>PowerPoint Presentation</vt:lpstr>
      <vt:lpstr>SOAP (Simple Object Access Protocol)</vt:lpstr>
      <vt:lpstr>What is SOAP?</vt:lpstr>
      <vt:lpstr>SOAP as a lightweight protocol </vt:lpstr>
      <vt:lpstr>Distributed messaging with SOAP</vt:lpstr>
      <vt:lpstr>SOAP messages</vt:lpstr>
      <vt:lpstr>Example of RPC-style SOAP body</vt:lpstr>
      <vt:lpstr>Example of RPC-style SOAP response message</vt:lpstr>
      <vt:lpstr>Implementing WS* Web Services</vt:lpstr>
      <vt:lpstr>Code to WSDL</vt:lpstr>
      <vt:lpstr>Design tool to WSDL</vt:lpstr>
      <vt:lpstr>Content</vt:lpstr>
      <vt:lpstr>REST based architectures</vt:lpstr>
      <vt:lpstr>REST – a resource-oriented architecture</vt:lpstr>
      <vt:lpstr>REST – Resource identification</vt:lpstr>
      <vt:lpstr>REST Methods – strict HTTP</vt:lpstr>
      <vt:lpstr>REST presents a uniform interface</vt:lpstr>
      <vt:lpstr>REST Example</vt:lpstr>
      <vt:lpstr>REST Example</vt:lpstr>
      <vt:lpstr>REST example</vt:lpstr>
      <vt:lpstr>REST example</vt:lpstr>
      <vt:lpstr>Implementing REST Web Services</vt:lpstr>
      <vt:lpstr>WS* vs RESTful? </vt:lpstr>
      <vt:lpstr>Content</vt:lpstr>
      <vt:lpstr>Microservices</vt:lpstr>
      <vt:lpstr>Question to Answer – Week 10</vt:lpstr>
      <vt:lpstr>Required Reading Week 11</vt:lpstr>
    </vt:vector>
  </TitlesOfParts>
  <Company>Swinburne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Applicatoin Architecture</dc:title>
  <dc:creator>Alan Colman</dc:creator>
  <cp:lastModifiedBy>Jun Han</cp:lastModifiedBy>
  <cp:revision>315</cp:revision>
  <cp:lastPrinted>2020-05-21T14:02:49Z</cp:lastPrinted>
  <dcterms:created xsi:type="dcterms:W3CDTF">2005-01-13T10:52:59Z</dcterms:created>
  <dcterms:modified xsi:type="dcterms:W3CDTF">2023-05-10T23:23:28Z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0x0101001E9FF901F214C743957BA58699663E36</vt:lpwstr>
  </property>
</Properties>
</file>