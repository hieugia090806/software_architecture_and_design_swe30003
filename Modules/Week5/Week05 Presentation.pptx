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We're diving deep into architectural strategies for software design today. Our focus is Responsibility-Driven Design and its application in automated systems control. This presentation explores how robust architectural principles solve complex development challenges. We'll use two case studies: an Automated Attendance System and the Towers of Hanoi Project. These examples will illustrate key concepts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set the stage, we're examining two distinct domain contexts. First, the Swinburne Automated Attendance System. It's modernizing from manual logs to a digital card-swipe system. This isn't just about attendance; it's about security and building a modular foundation for future access control. Second, we have the Towers of Hanoi simulation. While a classic puzzle, we treat it as a rigorous Object-Oriented Design exercise. The rules translate directly into software constraints: state management, encapsulation, and rule validation. These scenarios provide rich ground for architectural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scenario, Group 1's first task is Object Discovery using Noun-Phrase analysis. By scanning our system brief, we identify key entities that have both state and behavior. Student, Lecturer, ClassSession, AttendanceRecord, and AccessDevice emerge as our primary candidate classes. Each is defined by its structural attributes. For instance, a ClassSession is defined by its ID, course, and time boundaries. This step is crucial for establishing the initial domain model. But not every noun makes the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noun becomes a class, and we must be disciplined to avoid 'class bloat.' We discard External Actors like 'Swinburne' because we don't manage the university's internal state. We discard Irrelevant Concepts like 'Hallway' as they don't impact our business logic. Finally, we demote Simple Attributes like 'CardUID' or 'Timestamp' to properties of other classes. This ensures our class diagram remains focused on entities with meaningful responsibilities. Now, let's see what responsibilities these chosen classes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ClassSession. In a Responsibility-Driven Design, we don't just see it as a data table. It is an Information Holder for the session's context and a Coordinator for the attendance process. Most importantly, it encapsulates intelligence. It manages its own collection of records and performs grace period calculations. By putting this logic here, we ensure that the 'knowledge' of what constitutes a valid attendance event stays within the object that owns the session data. This distribution of intelligence is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2 focuses on the "Knowing vs. Doing" distinction. To avoid a centralized God Class, we split responsibilities. Knowing is about state—like mapping cards to IDs or tracking session status. Doing is about action—validating a record's lifecycle or broadcasting signals to hardware. By separating these, we ensure that no single class becomes an all-knowing "Blob," making the system more modular and easier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Hanoi project, we apply the Information Expert principle. When we ask, "Can I place this ring here?", who should answer? The Pole is the expert because it owns the stack and knows what's on top. If we put this logic in the GameController, we'd be forcing the controller to "ask" the pole for its data, breaking encapsulation. By making the Pole responsible, we keep the logic where the data lives. This leads us to consider another common architectural pitfall.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mistake is "OOD Creep," where we force domain objects like Ring or Pole to handle their own setup. This is a clear SRP breach. A Pole should be an expert on its stack, not an expert on how to initialize a 64-ring game. This creates unnecessary coupling. The architectural fix is to use a Creational Pattern or a dedicated Coordinator to set up the world, leaving our domain objects clean and focused on their core logic. This separation of concerns extends to how objects communicate.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3 explores Alan Kay's vision of Message-Passing. We view our objects as a network of Clients and Servers. When moving a ring, the GameController (Client) sends a message to the Pole (Server). The controller doesn't need to know how the pole stores rings—it just trusts the contract. This "Contractual Interaction" is the heart of true OOD, ensuring that objects interact through interfaces, not by poking at each other's guts. Let's see this in action with a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the collaboration. It's a 5-step dance. The controller first asks the destination if it can accept the ring. Only after validation does it ask the source to release the ring and then tells the destination to receive it. Notice that at no point does the GameController touch an array or a list. It passes messages, preserving the encapsulation of both poles. This perfectly illustrates the "Tell, Don't Ask"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"Tell, Don't Ask" principle is the antidote to procedural coding in an OO language. In a bad design, you "ask" for data and then do the work yourself. This contrasts sharply with our previous discussion on object collaboration. In a clean design, you "tell" the object what to do. This hides whether the Pole uses a Stack or a List and prevents "Temporal Coupling," where the state might change between the time you asked and the time you acted. Now, let's look at what happens when we ignore these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4 looks at a "Junior Developer" design, a stark contrast to the principles we just discussed. We see a 500-line Monk class and a giant 2D array. This is a disaster. Cohesion is low because the Monk is doing too many unrelated things. Coupling is fragile because the entire logic is hard-coded to a specific array structure. If you wanted to change the number of poles, you'd have to rewrite the whole 500 lines. This is what we call "Technical Debt" in the making. This flawed design leads directly to several architectural anti-patterns.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diagnosed two classic Anti-Patterns here, stemming from the poor design we just critiqued. First, The God Class. The Monk is a "Blob" that has sucked all the intelligence out of the system. Second, the Anemic Domain Model. Ring and Pole are "anemic"—they have no life, no behavior. This is procedural code wearing an OO mask. True OOD requires that intelligence be distributed, not hoarded. So, how do we fix this mess?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fix it? We dismantle the 2D array and give each Pole its own stack. This directly addresses the issues of low cohesion and tight coupling. We move the validation logic to the Pole because it's the expert. We move the actions there too. Finally, we demote the Monk to a simple coordinator. Now, the system intelligence is evenly distributed. Each object is small, focused, and handles its own business. This architectural fix ensures high cohesion, low coupling, and robust encapsulation. But architecture isn't just about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architecture isn't just about classes; it's about meeting non-functional standards. We need Performance, Security, and Availability. To achieve this, we use advanced patterns: CQRS to separate heavy writing from fast reading, Event-Driven architecture to link attendance to door locks without tight coupling, and API Gateways to secure our endpoints. This holistic view ensures our software is not just well-designed, but production-ready.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4" name="Shape 0"/>
          <p:cNvSpPr/>
          <p:nvPr/>
        </p:nvSpPr>
        <p:spPr>
          <a:xfrm>
            <a:off x="900113" y="877453"/>
            <a:ext cx="7343775" cy="2640285"/>
          </a:xfrm>
          <a:prstGeom prst="rect">
            <a:avLst/>
          </a:prstGeom>
          <a:solidFill>
            <a:srgbClr val="FBC02D"/>
          </a:solidFill>
          <a:ln w="27432">
            <a:solidFill>
              <a:srgbClr val="263238"/>
            </a:solidFill>
            <a:prstDash val="solid"/>
          </a:ln>
        </p:spPr>
      </p:sp>
      <p:sp>
        <p:nvSpPr>
          <p:cNvPr id="5" name="Text 1"/>
          <p:cNvSpPr/>
          <p:nvPr/>
        </p:nvSpPr>
        <p:spPr>
          <a:xfrm>
            <a:off x="1357313" y="1191778"/>
            <a:ext cx="6429375" cy="2011635"/>
          </a:xfrm>
          <a:prstGeom prst="rect">
            <a:avLst/>
          </a:prstGeom>
          <a:noFill/>
          <a:ln/>
        </p:spPr>
        <p:txBody>
          <a:bodyPr wrap="square" lIns="0" tIns="0" rIns="0" bIns="0" rtlCol="0" anchor="t">
            <a:spAutoFit/>
          </a:bodyPr>
          <a:lstStyle/>
          <a:p>
            <a:pPr algn="ctr" indent="0" marL="0">
              <a:lnSpc>
                <a:spcPct val="88000"/>
              </a:lnSpc>
              <a:buNone/>
            </a:pPr>
            <a:r>
              <a:rPr lang="en-US" sz="3300" b="1" dirty="0">
                <a:solidFill>
                  <a:srgbClr val="263238"/>
                </a:solidFill>
                <a:latin typeface="Space Grotesk Bold" pitchFamily="34" charset="0"/>
                <a:ea typeface="Space Grotesk Bold" pitchFamily="34" charset="-122"/>
                <a:cs typeface="Space Grotesk Bold" pitchFamily="34" charset="-120"/>
              </a:rPr>
              <a:t>ARCHITECTURAL STRIKE TEAMS: RESPONSIBILITY-DRIVEN DESIGN &amp; SYSTEMS CONTROL</a:t>
            </a:r>
            <a:endParaRPr lang="en-US" sz="3300" dirty="0"/>
          </a:p>
        </p:txBody>
      </p:sp>
      <p:sp>
        <p:nvSpPr>
          <p:cNvPr id="6" name="Shape 2"/>
          <p:cNvSpPr/>
          <p:nvPr/>
        </p:nvSpPr>
        <p:spPr>
          <a:xfrm>
            <a:off x="2008287" y="3774914"/>
            <a:ext cx="5127427" cy="448270"/>
          </a:xfrm>
          <a:prstGeom prst="rect">
            <a:avLst/>
          </a:prstGeom>
          <a:solidFill>
            <a:srgbClr val="000000">
              <a:alpha val="0"/>
            </a:srgbClr>
          </a:solidFill>
          <a:ln/>
        </p:spPr>
      </p:sp>
      <p:sp>
        <p:nvSpPr>
          <p:cNvPr id="7" name="Shape 3"/>
          <p:cNvSpPr/>
          <p:nvPr/>
        </p:nvSpPr>
        <p:spPr>
          <a:xfrm>
            <a:off x="2008287" y="3774914"/>
            <a:ext cx="5127427" cy="28575"/>
          </a:xfrm>
          <a:prstGeom prst="rect">
            <a:avLst/>
          </a:prstGeom>
          <a:solidFill>
            <a:srgbClr val="263238"/>
          </a:solidFill>
          <a:ln/>
        </p:spPr>
      </p:sp>
      <p:sp>
        <p:nvSpPr>
          <p:cNvPr id="8" name="Text 4"/>
          <p:cNvSpPr/>
          <p:nvPr/>
        </p:nvSpPr>
        <p:spPr>
          <a:xfrm>
            <a:off x="2008287" y="3774914"/>
            <a:ext cx="5127427" cy="448270"/>
          </a:xfrm>
          <a:prstGeom prst="rect">
            <a:avLst/>
          </a:prstGeom>
          <a:noFill/>
          <a:ln/>
        </p:spPr>
        <p:txBody>
          <a:bodyPr wrap="square" lIns="0" tIns="170053" rIns="0" bIns="0" rtlCol="0" anchor="t">
            <a:spAutoFit/>
          </a:bodyPr>
          <a:lstStyle/>
          <a:p>
            <a:pPr algn="l" indent="0" marL="0">
              <a:buNone/>
            </a:pPr>
            <a:r>
              <a:rPr lang="en-US" sz="1700" dirty="0">
                <a:solidFill>
                  <a:srgbClr val="263238"/>
                </a:solidFill>
                <a:latin typeface="Inter" pitchFamily="34" charset="0"/>
                <a:ea typeface="Inter" pitchFamily="34" charset="-122"/>
                <a:cs typeface="Inter" pitchFamily="34" charset="-120"/>
              </a:rPr>
              <a:t>SWE30003 - Week 6 Case Study Presentations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THE SCENARIO - SYSTEM BACKGROUND</a:t>
            </a:r>
            <a:endParaRPr lang="en-US" sz="1600" dirty="0"/>
          </a:p>
        </p:txBody>
      </p:sp>
      <p:sp>
        <p:nvSpPr>
          <p:cNvPr id="6" name="Shape 2"/>
          <p:cNvSpPr/>
          <p:nvPr/>
        </p:nvSpPr>
        <p:spPr>
          <a:xfrm>
            <a:off x="428625" y="1128713"/>
            <a:ext cx="4129088" cy="414338"/>
          </a:xfrm>
          <a:prstGeom prst="rect">
            <a:avLst/>
          </a:prstGeom>
          <a:solidFill>
            <a:srgbClr val="FBC02D"/>
          </a:solidFill>
          <a:ln w="18288">
            <a:solidFill>
              <a:srgbClr val="263238"/>
            </a:solidFill>
            <a:prstDash val="solid"/>
          </a:ln>
        </p:spPr>
      </p:sp>
      <p:sp>
        <p:nvSpPr>
          <p:cNvPr id="7" name="Text 3"/>
          <p:cNvSpPr/>
          <p:nvPr/>
        </p:nvSpPr>
        <p:spPr>
          <a:xfrm>
            <a:off x="428625" y="1128713"/>
            <a:ext cx="4129088" cy="414338"/>
          </a:xfrm>
          <a:prstGeom prst="rect">
            <a:avLst/>
          </a:prstGeom>
          <a:noFill/>
          <a:ln/>
        </p:spPr>
        <p:txBody>
          <a:bodyPr wrap="square" lIns="170053" tIns="85090" rIns="170053" bIns="0" rtlCol="0" anchor="t">
            <a:spAutoFit/>
          </a:bodyPr>
          <a:lstStyle/>
          <a:p>
            <a:pPr algn="l" indent="0" marL="0">
              <a:buNone/>
            </a:pPr>
            <a:r>
              <a:rPr lang="en-US" sz="1250" dirty="0">
                <a:solidFill>
                  <a:srgbClr val="263238"/>
                </a:solidFill>
                <a:latin typeface="Space Grotesk Bold" pitchFamily="34" charset="0"/>
                <a:ea typeface="Space Grotesk Bold" pitchFamily="34" charset="-122"/>
                <a:cs typeface="Space Grotesk Bold" pitchFamily="34" charset="-120"/>
              </a:rPr>
              <a:t>Automated Attendance System</a:t>
            </a:r>
            <a:endParaRPr lang="en-US" sz="1250" dirty="0"/>
          </a:p>
        </p:txBody>
      </p:sp>
      <p:sp>
        <p:nvSpPr>
          <p:cNvPr id="8" name="Shape 4"/>
          <p:cNvSpPr/>
          <p:nvPr/>
        </p:nvSpPr>
        <p:spPr>
          <a:xfrm>
            <a:off x="428625" y="1643063"/>
            <a:ext cx="85725" cy="85725"/>
          </a:xfrm>
          <a:prstGeom prst="rect">
            <a:avLst/>
          </a:prstGeom>
          <a:solidFill>
            <a:srgbClr val="263238"/>
          </a:solidFill>
          <a:ln/>
        </p:spPr>
      </p:sp>
      <p:sp>
        <p:nvSpPr>
          <p:cNvPr id="9" name="Text 5"/>
          <p:cNvSpPr/>
          <p:nvPr/>
        </p:nvSpPr>
        <p:spPr>
          <a:xfrm>
            <a:off x="428625" y="1600200"/>
            <a:ext cx="4129088"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Transition:</a:t>
            </a:r>
            <a:r>
              <a:rPr lang="en-US" sz="950" dirty="0">
                <a:solidFill>
                  <a:srgbClr val="455A64"/>
                </a:solidFill>
                <a:latin typeface="Inter" pitchFamily="34" charset="0"/>
                <a:ea typeface="Inter" pitchFamily="34" charset="-122"/>
                <a:cs typeface="Inter" pitchFamily="34" charset="-120"/>
              </a:rPr>
              <a:t> From manual paper-based logs to rapid card-swiping.</a:t>
            </a:r>
            <a:endParaRPr lang="en-US" sz="900" dirty="0"/>
          </a:p>
        </p:txBody>
      </p:sp>
      <p:sp>
        <p:nvSpPr>
          <p:cNvPr id="10" name="Shape 6"/>
          <p:cNvSpPr/>
          <p:nvPr/>
        </p:nvSpPr>
        <p:spPr>
          <a:xfrm>
            <a:off x="428625" y="2088821"/>
            <a:ext cx="85725" cy="85725"/>
          </a:xfrm>
          <a:prstGeom prst="rect">
            <a:avLst/>
          </a:prstGeom>
          <a:solidFill>
            <a:srgbClr val="263238"/>
          </a:solidFill>
          <a:ln/>
        </p:spPr>
      </p:sp>
      <p:sp>
        <p:nvSpPr>
          <p:cNvPr id="11" name="Text 7"/>
          <p:cNvSpPr/>
          <p:nvPr/>
        </p:nvSpPr>
        <p:spPr>
          <a:xfrm>
            <a:off x="428625" y="2045959"/>
            <a:ext cx="4129088"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Primary Goal:</a:t>
            </a:r>
            <a:r>
              <a:rPr lang="en-US" sz="950" dirty="0">
                <a:solidFill>
                  <a:srgbClr val="455A64"/>
                </a:solidFill>
                <a:latin typeface="Inter" pitchFamily="34" charset="0"/>
                <a:ea typeface="Inter" pitchFamily="34" charset="-122"/>
                <a:cs typeface="Inter" pitchFamily="34" charset="-120"/>
              </a:rPr>
              <a:t> Eliminate proxy cheating and improve data accuracy.</a:t>
            </a:r>
            <a:endParaRPr lang="en-US" sz="900" dirty="0"/>
          </a:p>
        </p:txBody>
      </p:sp>
      <p:sp>
        <p:nvSpPr>
          <p:cNvPr id="12" name="Shape 8"/>
          <p:cNvSpPr/>
          <p:nvPr/>
        </p:nvSpPr>
        <p:spPr>
          <a:xfrm>
            <a:off x="428625" y="2534580"/>
            <a:ext cx="85725" cy="85725"/>
          </a:xfrm>
          <a:prstGeom prst="rect">
            <a:avLst/>
          </a:prstGeom>
          <a:solidFill>
            <a:srgbClr val="263238"/>
          </a:solidFill>
          <a:ln/>
        </p:spPr>
      </p:sp>
      <p:sp>
        <p:nvSpPr>
          <p:cNvPr id="13" name="Text 9"/>
          <p:cNvSpPr/>
          <p:nvPr/>
        </p:nvSpPr>
        <p:spPr>
          <a:xfrm>
            <a:off x="428625" y="2491718"/>
            <a:ext cx="4129088"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Foundational:</a:t>
            </a:r>
            <a:r>
              <a:rPr lang="en-US" sz="950" dirty="0">
                <a:solidFill>
                  <a:srgbClr val="455A64"/>
                </a:solidFill>
                <a:latin typeface="Inter" pitchFamily="34" charset="0"/>
                <a:ea typeface="Inter" pitchFamily="34" charset="-122"/>
                <a:cs typeface="Inter" pitchFamily="34" charset="-120"/>
              </a:rPr>
              <a:t> Laying the groundwork for future modular door-locking and facility management.</a:t>
            </a:r>
            <a:endParaRPr lang="en-US" sz="900" dirty="0"/>
          </a:p>
        </p:txBody>
      </p:sp>
      <p:sp>
        <p:nvSpPr>
          <p:cNvPr id="14" name="Shape 10"/>
          <p:cNvSpPr/>
          <p:nvPr/>
        </p:nvSpPr>
        <p:spPr>
          <a:xfrm>
            <a:off x="4586288" y="1128713"/>
            <a:ext cx="4129088" cy="414338"/>
          </a:xfrm>
          <a:prstGeom prst="rect">
            <a:avLst/>
          </a:prstGeom>
          <a:solidFill>
            <a:srgbClr val="FBC02D"/>
          </a:solidFill>
          <a:ln w="18288">
            <a:solidFill>
              <a:srgbClr val="263238"/>
            </a:solidFill>
            <a:prstDash val="solid"/>
          </a:ln>
        </p:spPr>
      </p:sp>
      <p:sp>
        <p:nvSpPr>
          <p:cNvPr id="15" name="Text 11"/>
          <p:cNvSpPr/>
          <p:nvPr/>
        </p:nvSpPr>
        <p:spPr>
          <a:xfrm>
            <a:off x="4586288" y="1128713"/>
            <a:ext cx="4129088" cy="414338"/>
          </a:xfrm>
          <a:prstGeom prst="rect">
            <a:avLst/>
          </a:prstGeom>
          <a:noFill/>
          <a:ln/>
        </p:spPr>
        <p:txBody>
          <a:bodyPr wrap="square" lIns="170053" tIns="85090" rIns="170053" bIns="0" rtlCol="0" anchor="t">
            <a:spAutoFit/>
          </a:bodyPr>
          <a:lstStyle/>
          <a:p>
            <a:pPr algn="l" indent="0" marL="0">
              <a:buNone/>
            </a:pPr>
            <a:r>
              <a:rPr lang="en-US" sz="1250" dirty="0">
                <a:solidFill>
                  <a:srgbClr val="263238"/>
                </a:solidFill>
                <a:latin typeface="Space Grotesk Bold" pitchFamily="34" charset="0"/>
                <a:ea typeface="Space Grotesk Bold" pitchFamily="34" charset="-122"/>
                <a:cs typeface="Space Grotesk Bold" pitchFamily="34" charset="-120"/>
              </a:rPr>
              <a:t>Towers of Hanoi Simulation</a:t>
            </a:r>
            <a:endParaRPr lang="en-US" sz="1250" dirty="0"/>
          </a:p>
        </p:txBody>
      </p:sp>
      <p:sp>
        <p:nvSpPr>
          <p:cNvPr id="16" name="Shape 12"/>
          <p:cNvSpPr/>
          <p:nvPr/>
        </p:nvSpPr>
        <p:spPr>
          <a:xfrm>
            <a:off x="4586288" y="1643063"/>
            <a:ext cx="85725" cy="85725"/>
          </a:xfrm>
          <a:prstGeom prst="rect">
            <a:avLst/>
          </a:prstGeom>
          <a:solidFill>
            <a:srgbClr val="263238"/>
          </a:solidFill>
          <a:ln/>
        </p:spPr>
      </p:sp>
      <p:sp>
        <p:nvSpPr>
          <p:cNvPr id="17" name="Text 13"/>
          <p:cNvSpPr/>
          <p:nvPr/>
        </p:nvSpPr>
        <p:spPr>
          <a:xfrm>
            <a:off x="4586288" y="1600200"/>
            <a:ext cx="4129088" cy="180017"/>
          </a:xfrm>
          <a:prstGeom prst="rect">
            <a:avLst/>
          </a:prstGeom>
          <a:noFill/>
          <a:ln/>
        </p:spPr>
        <p:txBody>
          <a:bodyPr wrap="none" lIns="255143"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Background:</a:t>
            </a:r>
            <a:r>
              <a:rPr lang="en-US" sz="950" dirty="0">
                <a:solidFill>
                  <a:srgbClr val="455A64"/>
                </a:solidFill>
                <a:latin typeface="Inter" pitchFamily="34" charset="0"/>
                <a:ea typeface="Inter" pitchFamily="34" charset="-122"/>
                <a:cs typeface="Inter" pitchFamily="34" charset="-120"/>
              </a:rPr>
              <a:t> Ancient puzzle of moving 64 rings across 3 poles.</a:t>
            </a:r>
            <a:endParaRPr lang="en-US" sz="900" dirty="0"/>
          </a:p>
        </p:txBody>
      </p:sp>
      <p:sp>
        <p:nvSpPr>
          <p:cNvPr id="18" name="Shape 14"/>
          <p:cNvSpPr/>
          <p:nvPr/>
        </p:nvSpPr>
        <p:spPr>
          <a:xfrm>
            <a:off x="4586288" y="1908804"/>
            <a:ext cx="85725" cy="85725"/>
          </a:xfrm>
          <a:prstGeom prst="rect">
            <a:avLst/>
          </a:prstGeom>
          <a:solidFill>
            <a:srgbClr val="263238"/>
          </a:solidFill>
          <a:ln/>
        </p:spPr>
      </p:sp>
      <p:sp>
        <p:nvSpPr>
          <p:cNvPr id="19" name="Text 15"/>
          <p:cNvSpPr/>
          <p:nvPr/>
        </p:nvSpPr>
        <p:spPr>
          <a:xfrm>
            <a:off x="4586288" y="1865942"/>
            <a:ext cx="4129088" cy="180017"/>
          </a:xfrm>
          <a:prstGeom prst="rect">
            <a:avLst/>
          </a:prstGeom>
          <a:noFill/>
          <a:ln/>
        </p:spPr>
        <p:txBody>
          <a:bodyPr wrap="none" lIns="255143"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OOD Rule 1:</a:t>
            </a:r>
            <a:r>
              <a:rPr lang="en-US" sz="950" dirty="0">
                <a:solidFill>
                  <a:srgbClr val="455A64"/>
                </a:solidFill>
                <a:latin typeface="Inter" pitchFamily="34" charset="0"/>
                <a:ea typeface="Inter" pitchFamily="34" charset="-122"/>
                <a:cs typeface="Inter" pitchFamily="34" charset="-120"/>
              </a:rPr>
              <a:t> Only one ring can be moved at a time.</a:t>
            </a:r>
            <a:endParaRPr lang="en-US" sz="900" dirty="0"/>
          </a:p>
        </p:txBody>
      </p:sp>
      <p:sp>
        <p:nvSpPr>
          <p:cNvPr id="20" name="Shape 16"/>
          <p:cNvSpPr/>
          <p:nvPr/>
        </p:nvSpPr>
        <p:spPr>
          <a:xfrm>
            <a:off x="4586288" y="2174546"/>
            <a:ext cx="85725" cy="85725"/>
          </a:xfrm>
          <a:prstGeom prst="rect">
            <a:avLst/>
          </a:prstGeom>
          <a:solidFill>
            <a:srgbClr val="263238"/>
          </a:solidFill>
          <a:ln/>
        </p:spPr>
      </p:sp>
      <p:sp>
        <p:nvSpPr>
          <p:cNvPr id="21" name="Text 17"/>
          <p:cNvSpPr/>
          <p:nvPr/>
        </p:nvSpPr>
        <p:spPr>
          <a:xfrm>
            <a:off x="4586288" y="2131684"/>
            <a:ext cx="4129088" cy="180017"/>
          </a:xfrm>
          <a:prstGeom prst="rect">
            <a:avLst/>
          </a:prstGeom>
          <a:noFill/>
          <a:ln/>
        </p:spPr>
        <p:txBody>
          <a:bodyPr wrap="none" lIns="255143"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OOD Rule 2:</a:t>
            </a:r>
            <a:r>
              <a:rPr lang="en-US" sz="950" dirty="0">
                <a:solidFill>
                  <a:srgbClr val="455A64"/>
                </a:solidFill>
                <a:latin typeface="Inter" pitchFamily="34" charset="0"/>
                <a:ea typeface="Inter" pitchFamily="34" charset="-122"/>
                <a:cs typeface="Inter" pitchFamily="34" charset="-120"/>
              </a:rPr>
              <a:t> A larger ring cannot sit on a smaller ring.</a:t>
            </a:r>
            <a:endParaRPr lang="en-US" sz="900" dirty="0"/>
          </a:p>
        </p:txBody>
      </p:sp>
      <p:sp>
        <p:nvSpPr>
          <p:cNvPr id="22" name="Shape 18"/>
          <p:cNvSpPr/>
          <p:nvPr/>
        </p:nvSpPr>
        <p:spPr>
          <a:xfrm>
            <a:off x="4586288" y="2440288"/>
            <a:ext cx="85725" cy="85725"/>
          </a:xfrm>
          <a:prstGeom prst="rect">
            <a:avLst/>
          </a:prstGeom>
          <a:solidFill>
            <a:srgbClr val="263238"/>
          </a:solidFill>
          <a:ln/>
        </p:spPr>
      </p:sp>
      <p:sp>
        <p:nvSpPr>
          <p:cNvPr id="23" name="Text 19"/>
          <p:cNvSpPr/>
          <p:nvPr/>
        </p:nvSpPr>
        <p:spPr>
          <a:xfrm>
            <a:off x="4586288" y="2397426"/>
            <a:ext cx="4129088"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Constraint:</a:t>
            </a:r>
            <a:r>
              <a:rPr lang="en-US" sz="950" dirty="0">
                <a:solidFill>
                  <a:srgbClr val="455A64"/>
                </a:solidFill>
                <a:latin typeface="Inter" pitchFamily="34" charset="0"/>
                <a:ea typeface="Inter" pitchFamily="34" charset="-122"/>
                <a:cs typeface="Inter" pitchFamily="34" charset="-120"/>
              </a:rPr>
              <a:t> Objects must encapsulate their own state and validation logic.</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OBJECT DISCOVERY - ANALYSIS &amp; CANDIDATE CLASSES</a:t>
            </a:r>
            <a:endParaRPr lang="en-US" sz="1600" dirty="0"/>
          </a:p>
        </p:txBody>
      </p:sp>
      <p:sp>
        <p:nvSpPr>
          <p:cNvPr id="6" name="Text 2"/>
          <p:cNvSpPr/>
          <p:nvPr/>
        </p:nvSpPr>
        <p:spPr>
          <a:xfrm>
            <a:off x="0" y="928688"/>
            <a:ext cx="9144000" cy="316111"/>
          </a:xfrm>
          <a:prstGeom prst="rect">
            <a:avLst/>
          </a:prstGeom>
          <a:noFill/>
          <a:ln/>
        </p:spPr>
        <p:txBody>
          <a:bodyPr wrap="square" lIns="510286" tIns="170053" rIns="0" bIns="0" rtlCol="0" anchor="t">
            <a:spAutoFit/>
          </a:bodyPr>
          <a:lstStyle/>
          <a:p>
            <a:pPr algn="l" indent="0" marL="0">
              <a:buNone/>
            </a:pPr>
            <a:r>
              <a:rPr lang="en-US" sz="1000" b="1" dirty="0">
                <a:solidFill>
                  <a:srgbClr val="263238"/>
                </a:solidFill>
                <a:latin typeface="Inter" pitchFamily="34" charset="0"/>
                <a:ea typeface="Inter" pitchFamily="34" charset="-122"/>
                <a:cs typeface="Inter" pitchFamily="34" charset="-120"/>
              </a:rPr>
              <a:t>Noun-Phrase Analysis: Identifying potential objects from the requirement specifications.</a:t>
            </a:r>
            <a:endParaRPr lang="en-US" sz="1000" dirty="0"/>
          </a:p>
        </p:txBody>
      </p:sp>
      <p:sp>
        <p:nvSpPr>
          <p:cNvPr id="7" name="Shape 3"/>
          <p:cNvSpPr/>
          <p:nvPr/>
        </p:nvSpPr>
        <p:spPr>
          <a:xfrm>
            <a:off x="428625" y="1459111"/>
            <a:ext cx="2666991" cy="1485900"/>
          </a:xfrm>
          <a:prstGeom prst="rect">
            <a:avLst/>
          </a:prstGeom>
          <a:solidFill>
            <a:srgbClr val="FFFFFF"/>
          </a:solidFill>
          <a:ln w="27432">
            <a:solidFill>
              <a:srgbClr val="263238"/>
            </a:solidFill>
            <a:prstDash val="solid"/>
          </a:ln>
        </p:spPr>
      </p:sp>
      <p:sp>
        <p:nvSpPr>
          <p:cNvPr id="8" name="Shape 4"/>
          <p:cNvSpPr/>
          <p:nvPr/>
        </p:nvSpPr>
        <p:spPr>
          <a:xfrm>
            <a:off x="571500" y="1601986"/>
            <a:ext cx="732234" cy="282178"/>
          </a:xfrm>
          <a:prstGeom prst="rect">
            <a:avLst/>
          </a:prstGeom>
          <a:solidFill>
            <a:srgbClr val="FBC02D"/>
          </a:solidFill>
          <a:ln w="18288">
            <a:solidFill>
              <a:srgbClr val="263238"/>
            </a:solidFill>
            <a:prstDash val="solid"/>
          </a:ln>
        </p:spPr>
      </p:sp>
      <p:sp>
        <p:nvSpPr>
          <p:cNvPr id="9" name="Text 5"/>
          <p:cNvSpPr/>
          <p:nvPr/>
        </p:nvSpPr>
        <p:spPr>
          <a:xfrm>
            <a:off x="571500" y="1601986"/>
            <a:ext cx="732234" cy="282178"/>
          </a:xfrm>
          <a:prstGeom prst="rect">
            <a:avLst/>
          </a:prstGeom>
          <a:noFill/>
          <a:ln/>
        </p:spPr>
        <p:txBody>
          <a:bodyPr wrap="none" lIns="85090" tIns="42545" rIns="85090" bIns="42545"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Student</a:t>
            </a:r>
            <a:endParaRPr lang="en-US" sz="1050" dirty="0"/>
          </a:p>
        </p:txBody>
      </p:sp>
      <p:sp>
        <p:nvSpPr>
          <p:cNvPr id="10" name="Text 6"/>
          <p:cNvSpPr/>
          <p:nvPr/>
        </p:nvSpPr>
        <p:spPr>
          <a:xfrm>
            <a:off x="571500" y="1962745"/>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StudentId</a:t>
            </a:r>
            <a:endParaRPr lang="en-US" sz="850" dirty="0"/>
          </a:p>
        </p:txBody>
      </p:sp>
      <p:sp>
        <p:nvSpPr>
          <p:cNvPr id="11" name="Text 7"/>
          <p:cNvSpPr/>
          <p:nvPr/>
        </p:nvSpPr>
        <p:spPr>
          <a:xfrm>
            <a:off x="571500" y="2158473"/>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Name</a:t>
            </a:r>
            <a:endParaRPr lang="en-US" sz="850" dirty="0"/>
          </a:p>
        </p:txBody>
      </p:sp>
      <p:sp>
        <p:nvSpPr>
          <p:cNvPr id="12" name="Text 8"/>
          <p:cNvSpPr/>
          <p:nvPr/>
        </p:nvSpPr>
        <p:spPr>
          <a:xfrm>
            <a:off x="571500" y="2354200"/>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CardUID</a:t>
            </a:r>
            <a:endParaRPr lang="en-US" sz="850" dirty="0"/>
          </a:p>
        </p:txBody>
      </p:sp>
      <p:sp>
        <p:nvSpPr>
          <p:cNvPr id="13" name="Shape 9"/>
          <p:cNvSpPr/>
          <p:nvPr/>
        </p:nvSpPr>
        <p:spPr>
          <a:xfrm>
            <a:off x="3238491" y="1459111"/>
            <a:ext cx="2666991" cy="1485900"/>
          </a:xfrm>
          <a:prstGeom prst="rect">
            <a:avLst/>
          </a:prstGeom>
          <a:solidFill>
            <a:srgbClr val="FFFFFF"/>
          </a:solidFill>
          <a:ln w="27432">
            <a:solidFill>
              <a:srgbClr val="263238"/>
            </a:solidFill>
            <a:prstDash val="solid"/>
          </a:ln>
        </p:spPr>
      </p:sp>
      <p:sp>
        <p:nvSpPr>
          <p:cNvPr id="14" name="Shape 10"/>
          <p:cNvSpPr/>
          <p:nvPr/>
        </p:nvSpPr>
        <p:spPr>
          <a:xfrm>
            <a:off x="3381366" y="1601986"/>
            <a:ext cx="759023" cy="282178"/>
          </a:xfrm>
          <a:prstGeom prst="rect">
            <a:avLst/>
          </a:prstGeom>
          <a:solidFill>
            <a:srgbClr val="FBC02D"/>
          </a:solidFill>
          <a:ln w="18288">
            <a:solidFill>
              <a:srgbClr val="263238"/>
            </a:solidFill>
            <a:prstDash val="solid"/>
          </a:ln>
        </p:spPr>
      </p:sp>
      <p:sp>
        <p:nvSpPr>
          <p:cNvPr id="15" name="Text 11"/>
          <p:cNvSpPr/>
          <p:nvPr/>
        </p:nvSpPr>
        <p:spPr>
          <a:xfrm>
            <a:off x="3381366" y="1601986"/>
            <a:ext cx="759023" cy="282178"/>
          </a:xfrm>
          <a:prstGeom prst="rect">
            <a:avLst/>
          </a:prstGeom>
          <a:noFill/>
          <a:ln/>
        </p:spPr>
        <p:txBody>
          <a:bodyPr wrap="none" lIns="85090" tIns="42545" rIns="85090" bIns="42545"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Lecturer</a:t>
            </a:r>
            <a:endParaRPr lang="en-US" sz="1050" dirty="0"/>
          </a:p>
        </p:txBody>
      </p:sp>
      <p:sp>
        <p:nvSpPr>
          <p:cNvPr id="16" name="Text 12"/>
          <p:cNvSpPr/>
          <p:nvPr/>
        </p:nvSpPr>
        <p:spPr>
          <a:xfrm>
            <a:off x="3381366" y="1962745"/>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StaffId</a:t>
            </a:r>
            <a:endParaRPr lang="en-US" sz="850" dirty="0"/>
          </a:p>
        </p:txBody>
      </p:sp>
      <p:sp>
        <p:nvSpPr>
          <p:cNvPr id="17" name="Text 13"/>
          <p:cNvSpPr/>
          <p:nvPr/>
        </p:nvSpPr>
        <p:spPr>
          <a:xfrm>
            <a:off x="3381366" y="2158473"/>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Name</a:t>
            </a:r>
            <a:endParaRPr lang="en-US" sz="850" dirty="0"/>
          </a:p>
        </p:txBody>
      </p:sp>
      <p:sp>
        <p:nvSpPr>
          <p:cNvPr id="18" name="Text 14"/>
          <p:cNvSpPr/>
          <p:nvPr/>
        </p:nvSpPr>
        <p:spPr>
          <a:xfrm>
            <a:off x="3381366" y="2354200"/>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Department</a:t>
            </a:r>
            <a:endParaRPr lang="en-US" sz="850" dirty="0"/>
          </a:p>
        </p:txBody>
      </p:sp>
      <p:sp>
        <p:nvSpPr>
          <p:cNvPr id="19" name="Shape 15"/>
          <p:cNvSpPr/>
          <p:nvPr/>
        </p:nvSpPr>
        <p:spPr>
          <a:xfrm>
            <a:off x="6048356" y="1459111"/>
            <a:ext cx="2667019" cy="1485900"/>
          </a:xfrm>
          <a:prstGeom prst="rect">
            <a:avLst/>
          </a:prstGeom>
          <a:solidFill>
            <a:srgbClr val="FFFFFF"/>
          </a:solidFill>
          <a:ln w="27432">
            <a:solidFill>
              <a:srgbClr val="263238"/>
            </a:solidFill>
            <a:prstDash val="solid"/>
          </a:ln>
        </p:spPr>
      </p:sp>
      <p:sp>
        <p:nvSpPr>
          <p:cNvPr id="20" name="Shape 16"/>
          <p:cNvSpPr/>
          <p:nvPr/>
        </p:nvSpPr>
        <p:spPr>
          <a:xfrm>
            <a:off x="6191231" y="1601986"/>
            <a:ext cx="1064419" cy="282178"/>
          </a:xfrm>
          <a:prstGeom prst="rect">
            <a:avLst/>
          </a:prstGeom>
          <a:solidFill>
            <a:srgbClr val="FBC02D"/>
          </a:solidFill>
          <a:ln w="18288">
            <a:solidFill>
              <a:srgbClr val="263238"/>
            </a:solidFill>
            <a:prstDash val="solid"/>
          </a:ln>
        </p:spPr>
      </p:sp>
      <p:sp>
        <p:nvSpPr>
          <p:cNvPr id="21" name="Text 17"/>
          <p:cNvSpPr/>
          <p:nvPr/>
        </p:nvSpPr>
        <p:spPr>
          <a:xfrm>
            <a:off x="6191231" y="1601986"/>
            <a:ext cx="1064419" cy="282178"/>
          </a:xfrm>
          <a:prstGeom prst="rect">
            <a:avLst/>
          </a:prstGeom>
          <a:noFill/>
          <a:ln/>
        </p:spPr>
        <p:txBody>
          <a:bodyPr wrap="none" lIns="85090" tIns="42545" rIns="85090" bIns="42545"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ClassSession</a:t>
            </a:r>
            <a:endParaRPr lang="en-US" sz="1050" dirty="0"/>
          </a:p>
        </p:txBody>
      </p:sp>
      <p:sp>
        <p:nvSpPr>
          <p:cNvPr id="22" name="Text 18"/>
          <p:cNvSpPr/>
          <p:nvPr/>
        </p:nvSpPr>
        <p:spPr>
          <a:xfrm>
            <a:off x="6191231" y="1962745"/>
            <a:ext cx="2381269"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SessionID</a:t>
            </a:r>
            <a:endParaRPr lang="en-US" sz="850" dirty="0"/>
          </a:p>
        </p:txBody>
      </p:sp>
      <p:sp>
        <p:nvSpPr>
          <p:cNvPr id="23" name="Text 19"/>
          <p:cNvSpPr/>
          <p:nvPr/>
        </p:nvSpPr>
        <p:spPr>
          <a:xfrm>
            <a:off x="6191231" y="2158473"/>
            <a:ext cx="2381269"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CourseCode</a:t>
            </a:r>
            <a:endParaRPr lang="en-US" sz="850" dirty="0"/>
          </a:p>
        </p:txBody>
      </p:sp>
      <p:sp>
        <p:nvSpPr>
          <p:cNvPr id="24" name="Text 20"/>
          <p:cNvSpPr/>
          <p:nvPr/>
        </p:nvSpPr>
        <p:spPr>
          <a:xfrm>
            <a:off x="6191231" y="2354200"/>
            <a:ext cx="2381269"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StartTime</a:t>
            </a:r>
            <a:endParaRPr lang="en-US" sz="850" dirty="0"/>
          </a:p>
        </p:txBody>
      </p:sp>
      <p:sp>
        <p:nvSpPr>
          <p:cNvPr id="25" name="Text 21"/>
          <p:cNvSpPr/>
          <p:nvPr/>
        </p:nvSpPr>
        <p:spPr>
          <a:xfrm>
            <a:off x="6191231" y="2549928"/>
            <a:ext cx="2381269"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EndTime</a:t>
            </a:r>
            <a:endParaRPr lang="en-US" sz="850" dirty="0"/>
          </a:p>
        </p:txBody>
      </p:sp>
      <p:sp>
        <p:nvSpPr>
          <p:cNvPr id="26" name="Shape 22"/>
          <p:cNvSpPr/>
          <p:nvPr/>
        </p:nvSpPr>
        <p:spPr>
          <a:xfrm>
            <a:off x="428625" y="3030736"/>
            <a:ext cx="2666991" cy="1485900"/>
          </a:xfrm>
          <a:prstGeom prst="rect">
            <a:avLst/>
          </a:prstGeom>
          <a:solidFill>
            <a:srgbClr val="FFFFFF"/>
          </a:solidFill>
          <a:ln w="27432">
            <a:solidFill>
              <a:srgbClr val="263238"/>
            </a:solidFill>
            <a:prstDash val="solid"/>
          </a:ln>
        </p:spPr>
      </p:sp>
      <p:sp>
        <p:nvSpPr>
          <p:cNvPr id="27" name="Shape 23"/>
          <p:cNvSpPr/>
          <p:nvPr/>
        </p:nvSpPr>
        <p:spPr>
          <a:xfrm>
            <a:off x="571500" y="3173611"/>
            <a:ext cx="1462683" cy="282178"/>
          </a:xfrm>
          <a:prstGeom prst="rect">
            <a:avLst/>
          </a:prstGeom>
          <a:solidFill>
            <a:srgbClr val="FBC02D"/>
          </a:solidFill>
          <a:ln w="18288">
            <a:solidFill>
              <a:srgbClr val="263238"/>
            </a:solidFill>
            <a:prstDash val="solid"/>
          </a:ln>
        </p:spPr>
      </p:sp>
      <p:sp>
        <p:nvSpPr>
          <p:cNvPr id="28" name="Text 24"/>
          <p:cNvSpPr/>
          <p:nvPr/>
        </p:nvSpPr>
        <p:spPr>
          <a:xfrm>
            <a:off x="571500" y="3173611"/>
            <a:ext cx="1462683" cy="282178"/>
          </a:xfrm>
          <a:prstGeom prst="rect">
            <a:avLst/>
          </a:prstGeom>
          <a:noFill/>
          <a:ln/>
        </p:spPr>
        <p:txBody>
          <a:bodyPr wrap="square" lIns="85090" tIns="42545" rIns="85090" bIns="42545"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AttendanceRecord</a:t>
            </a:r>
            <a:endParaRPr lang="en-US" sz="1050" dirty="0"/>
          </a:p>
        </p:txBody>
      </p:sp>
      <p:sp>
        <p:nvSpPr>
          <p:cNvPr id="29" name="Text 25"/>
          <p:cNvSpPr/>
          <p:nvPr/>
        </p:nvSpPr>
        <p:spPr>
          <a:xfrm>
            <a:off x="571500" y="3534370"/>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RecordID</a:t>
            </a:r>
            <a:endParaRPr lang="en-US" sz="850" dirty="0"/>
          </a:p>
        </p:txBody>
      </p:sp>
      <p:sp>
        <p:nvSpPr>
          <p:cNvPr id="30" name="Text 26"/>
          <p:cNvSpPr/>
          <p:nvPr/>
        </p:nvSpPr>
        <p:spPr>
          <a:xfrm>
            <a:off x="571500" y="3730098"/>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Timestamp</a:t>
            </a:r>
            <a:endParaRPr lang="en-US" sz="850" dirty="0"/>
          </a:p>
        </p:txBody>
      </p:sp>
      <p:sp>
        <p:nvSpPr>
          <p:cNvPr id="31" name="Text 27"/>
          <p:cNvSpPr/>
          <p:nvPr/>
        </p:nvSpPr>
        <p:spPr>
          <a:xfrm>
            <a:off x="571500" y="3925825"/>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Status (Present/Late)</a:t>
            </a:r>
            <a:endParaRPr lang="en-US" sz="850" dirty="0"/>
          </a:p>
        </p:txBody>
      </p:sp>
      <p:sp>
        <p:nvSpPr>
          <p:cNvPr id="32" name="Shape 28"/>
          <p:cNvSpPr/>
          <p:nvPr/>
        </p:nvSpPr>
        <p:spPr>
          <a:xfrm>
            <a:off x="3238491" y="3030736"/>
            <a:ext cx="2666991" cy="1485900"/>
          </a:xfrm>
          <a:prstGeom prst="rect">
            <a:avLst/>
          </a:prstGeom>
          <a:solidFill>
            <a:srgbClr val="FFFFFF"/>
          </a:solidFill>
          <a:ln w="27432">
            <a:solidFill>
              <a:srgbClr val="263238"/>
            </a:solidFill>
            <a:prstDash val="solid"/>
          </a:ln>
        </p:spPr>
      </p:sp>
      <p:sp>
        <p:nvSpPr>
          <p:cNvPr id="33" name="Shape 29"/>
          <p:cNvSpPr/>
          <p:nvPr/>
        </p:nvSpPr>
        <p:spPr>
          <a:xfrm>
            <a:off x="3381366" y="3173611"/>
            <a:ext cx="1119783" cy="282178"/>
          </a:xfrm>
          <a:prstGeom prst="rect">
            <a:avLst/>
          </a:prstGeom>
          <a:solidFill>
            <a:srgbClr val="FBC02D"/>
          </a:solidFill>
          <a:ln w="18288">
            <a:solidFill>
              <a:srgbClr val="263238"/>
            </a:solidFill>
            <a:prstDash val="solid"/>
          </a:ln>
        </p:spPr>
      </p:sp>
      <p:sp>
        <p:nvSpPr>
          <p:cNvPr id="34" name="Text 30"/>
          <p:cNvSpPr/>
          <p:nvPr/>
        </p:nvSpPr>
        <p:spPr>
          <a:xfrm>
            <a:off x="3381366" y="3173611"/>
            <a:ext cx="1119783" cy="282178"/>
          </a:xfrm>
          <a:prstGeom prst="rect">
            <a:avLst/>
          </a:prstGeom>
          <a:noFill/>
          <a:ln/>
        </p:spPr>
        <p:txBody>
          <a:bodyPr wrap="none" lIns="85090" tIns="42545" rIns="85090" bIns="42545"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AccessDevice</a:t>
            </a:r>
            <a:endParaRPr lang="en-US" sz="1050" dirty="0"/>
          </a:p>
        </p:txBody>
      </p:sp>
      <p:sp>
        <p:nvSpPr>
          <p:cNvPr id="35" name="Text 31"/>
          <p:cNvSpPr/>
          <p:nvPr/>
        </p:nvSpPr>
        <p:spPr>
          <a:xfrm>
            <a:off x="3381366" y="3534370"/>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DeviceID</a:t>
            </a:r>
            <a:endParaRPr lang="en-US" sz="850" dirty="0"/>
          </a:p>
        </p:txBody>
      </p:sp>
      <p:sp>
        <p:nvSpPr>
          <p:cNvPr id="36" name="Text 32"/>
          <p:cNvSpPr/>
          <p:nvPr/>
        </p:nvSpPr>
        <p:spPr>
          <a:xfrm>
            <a:off x="3381366" y="3730098"/>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Location</a:t>
            </a:r>
            <a:endParaRPr lang="en-US" sz="850" dirty="0"/>
          </a:p>
        </p:txBody>
      </p:sp>
      <p:sp>
        <p:nvSpPr>
          <p:cNvPr id="37" name="Text 33"/>
          <p:cNvSpPr/>
          <p:nvPr/>
        </p:nvSpPr>
        <p:spPr>
          <a:xfrm>
            <a:off x="3381366" y="3925825"/>
            <a:ext cx="2381241"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Status (Active/Offline)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THE OBJECT DISCOVERY DISCARD PILE</a:t>
            </a:r>
            <a:endParaRPr lang="en-US" sz="1600" dirty="0"/>
          </a:p>
        </p:txBody>
      </p:sp>
      <p:sp>
        <p:nvSpPr>
          <p:cNvPr id="6" name="Shape 2"/>
          <p:cNvSpPr/>
          <p:nvPr/>
        </p:nvSpPr>
        <p:spPr>
          <a:xfrm>
            <a:off x="428625" y="1214438"/>
            <a:ext cx="2743200" cy="3271838"/>
          </a:xfrm>
          <a:prstGeom prst="rect">
            <a:avLst/>
          </a:prstGeom>
          <a:solidFill>
            <a:srgbClr val="FFFFFF"/>
          </a:solidFill>
          <a:ln w="27432">
            <a:solidFill>
              <a:srgbClr val="263238"/>
            </a:solidFill>
            <a:prstDash val="solid"/>
          </a:ln>
        </p:spPr>
      </p:sp>
      <p:sp>
        <p:nvSpPr>
          <p:cNvPr id="7" name="Shape 3"/>
          <p:cNvSpPr/>
          <p:nvPr/>
        </p:nvSpPr>
        <p:spPr>
          <a:xfrm>
            <a:off x="428625" y="1214438"/>
            <a:ext cx="2705109" cy="492919"/>
          </a:xfrm>
          <a:prstGeom prst="rect">
            <a:avLst/>
          </a:prstGeom>
          <a:solidFill>
            <a:srgbClr val="FBC02D"/>
          </a:solidFill>
          <a:ln/>
        </p:spPr>
      </p:sp>
      <p:sp>
        <p:nvSpPr>
          <p:cNvPr id="8" name="Shape 4"/>
          <p:cNvSpPr/>
          <p:nvPr/>
        </p:nvSpPr>
        <p:spPr>
          <a:xfrm>
            <a:off x="428625" y="1678781"/>
            <a:ext cx="2705109" cy="28575"/>
          </a:xfrm>
          <a:prstGeom prst="rect">
            <a:avLst/>
          </a:prstGeom>
          <a:solidFill>
            <a:srgbClr val="263238"/>
          </a:solidFill>
          <a:ln/>
        </p:spPr>
      </p:sp>
      <p:sp>
        <p:nvSpPr>
          <p:cNvPr id="9" name="Text 5"/>
          <p:cNvSpPr/>
          <p:nvPr/>
        </p:nvSpPr>
        <p:spPr>
          <a:xfrm>
            <a:off x="428625" y="1214438"/>
            <a:ext cx="2705109" cy="492919"/>
          </a:xfrm>
          <a:prstGeom prst="rect">
            <a:avLst/>
          </a:prstGeom>
          <a:noFill/>
          <a:ln/>
        </p:spPr>
        <p:txBody>
          <a:bodyPr wrap="square" lIns="170053" tIns="127508" rIns="170053" bIns="0" rtlCol="0" anchor="t">
            <a:spAutoFit/>
          </a:bodyPr>
          <a:lstStyle/>
          <a:p>
            <a:pPr algn="l" indent="0" marL="0">
              <a:buNone/>
            </a:pPr>
            <a:r>
              <a:rPr lang="en-US" sz="1150" dirty="0">
                <a:solidFill>
                  <a:srgbClr val="263238"/>
                </a:solidFill>
                <a:latin typeface="Space Grotesk Bold" pitchFamily="34" charset="0"/>
                <a:ea typeface="Space Grotesk Bold" pitchFamily="34" charset="-122"/>
                <a:cs typeface="Space Grotesk Bold" pitchFamily="34" charset="-120"/>
              </a:rPr>
              <a:t>EXTERNAL ACTOR</a:t>
            </a:r>
            <a:endParaRPr lang="en-US" sz="1150" dirty="0"/>
          </a:p>
        </p:txBody>
      </p:sp>
      <p:sp>
        <p:nvSpPr>
          <p:cNvPr id="10" name="Text 6"/>
          <p:cNvSpPr/>
          <p:nvPr/>
        </p:nvSpPr>
        <p:spPr>
          <a:xfrm>
            <a:off x="700088" y="1821656"/>
            <a:ext cx="1298377" cy="155377"/>
          </a:xfrm>
          <a:prstGeom prst="rect">
            <a:avLst/>
          </a:prstGeom>
          <a:noFill/>
          <a:ln/>
        </p:spPr>
        <p:txBody>
          <a:bodyPr wrap="square" lIns="0" tIns="0" rIns="0" bIns="0" rtlCol="0" anchor="t">
            <a:spAutoFit/>
          </a:bodyPr>
          <a:lstStyle/>
          <a:p>
            <a:pPr algn="l" indent="0" marL="0">
              <a:buNone/>
            </a:pPr>
            <a:r>
              <a:rPr lang="en-US" sz="900" b="1" dirty="0">
                <a:solidFill>
                  <a:srgbClr val="263238"/>
                </a:solidFill>
                <a:latin typeface="Inter" pitchFamily="34" charset="0"/>
                <a:ea typeface="Inter" pitchFamily="34" charset="-122"/>
                <a:cs typeface="Inter" pitchFamily="34" charset="-120"/>
              </a:rPr>
              <a:t>Swinburne University</a:t>
            </a:r>
            <a:endParaRPr lang="en-US" sz="900" dirty="0"/>
          </a:p>
        </p:txBody>
      </p:sp>
      <p:sp>
        <p:nvSpPr>
          <p:cNvPr id="11" name="Shape 7"/>
          <p:cNvSpPr/>
          <p:nvPr/>
        </p:nvSpPr>
        <p:spPr>
          <a:xfrm>
            <a:off x="571500" y="2119908"/>
            <a:ext cx="2419359" cy="964406"/>
          </a:xfrm>
          <a:prstGeom prst="rect">
            <a:avLst/>
          </a:prstGeom>
          <a:solidFill>
            <a:srgbClr val="E3F2FD"/>
          </a:solidFill>
          <a:ln w="18288">
            <a:solidFill>
              <a:srgbClr val="263238"/>
            </a:solidFill>
            <a:prstDash val="solid"/>
          </a:ln>
        </p:spPr>
      </p:sp>
      <p:sp>
        <p:nvSpPr>
          <p:cNvPr id="12" name="Text 8"/>
          <p:cNvSpPr/>
          <p:nvPr/>
        </p:nvSpPr>
        <p:spPr>
          <a:xfrm>
            <a:off x="678656" y="2227064"/>
            <a:ext cx="2205047" cy="150019"/>
          </a:xfrm>
          <a:prstGeom prst="rect">
            <a:avLst/>
          </a:prstGeom>
          <a:noFill/>
          <a:ln/>
        </p:spPr>
        <p:txBody>
          <a:bodyPr wrap="none" lIns="0" tIns="0" rIns="0" bIns="0" rtlCol="0" anchor="t">
            <a:spAutoFit/>
          </a:bodyPr>
          <a:lstStyle/>
          <a:p>
            <a:pPr algn="l" indent="0" marL="0">
              <a:lnSpc>
                <a:spcPct val="120000"/>
              </a:lnSpc>
              <a:buNone/>
            </a:pPr>
            <a:r>
              <a:rPr lang="en-US" sz="750" dirty="0">
                <a:solidFill>
                  <a:srgbClr val="263238"/>
                </a:solidFill>
                <a:latin typeface="Space Grotesk Bold" pitchFamily="34" charset="0"/>
                <a:ea typeface="Space Grotesk Bold" pitchFamily="34" charset="-122"/>
                <a:cs typeface="Space Grotesk Bold" pitchFamily="34" charset="-120"/>
              </a:rPr>
              <a:t>ARCHITECTURAL RATIONALE</a:t>
            </a:r>
            <a:endParaRPr lang="en-US" sz="750" dirty="0"/>
          </a:p>
        </p:txBody>
      </p:sp>
      <p:sp>
        <p:nvSpPr>
          <p:cNvPr id="13" name="Text 9"/>
          <p:cNvSpPr/>
          <p:nvPr/>
        </p:nvSpPr>
        <p:spPr>
          <a:xfrm>
            <a:off x="678656" y="2428875"/>
            <a:ext cx="2035969" cy="128588"/>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Entities that interact with the system but</a:t>
            </a:r>
            <a:endParaRPr lang="en-US" sz="800" dirty="0"/>
          </a:p>
        </p:txBody>
      </p:sp>
      <p:sp>
        <p:nvSpPr>
          <p:cNvPr id="14" name="Text 10"/>
          <p:cNvSpPr/>
          <p:nvPr/>
        </p:nvSpPr>
        <p:spPr>
          <a:xfrm>
            <a:off x="678656" y="2589609"/>
            <a:ext cx="2055614" cy="128588"/>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are not *of* the system. It is the context,</a:t>
            </a:r>
            <a:endParaRPr lang="en-US" sz="800" dirty="0"/>
          </a:p>
        </p:txBody>
      </p:sp>
      <p:sp>
        <p:nvSpPr>
          <p:cNvPr id="15" name="Text 11"/>
          <p:cNvSpPr/>
          <p:nvPr/>
        </p:nvSpPr>
        <p:spPr>
          <a:xfrm>
            <a:off x="678656" y="2750344"/>
            <a:ext cx="1921669" cy="128588"/>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not a class we need to model internal</a:t>
            </a:r>
            <a:endParaRPr lang="en-US" sz="800" dirty="0"/>
          </a:p>
        </p:txBody>
      </p:sp>
      <p:sp>
        <p:nvSpPr>
          <p:cNvPr id="16" name="Text 12"/>
          <p:cNvSpPr/>
          <p:nvPr/>
        </p:nvSpPr>
        <p:spPr>
          <a:xfrm>
            <a:off x="678656" y="2750344"/>
            <a:ext cx="2166342" cy="289322"/>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logic for.</a:t>
            </a:r>
            <a:endParaRPr lang="en-US" sz="800" dirty="0"/>
          </a:p>
        </p:txBody>
      </p:sp>
      <p:sp>
        <p:nvSpPr>
          <p:cNvPr id="17" name="Shape 13"/>
          <p:cNvSpPr/>
          <p:nvPr/>
        </p:nvSpPr>
        <p:spPr>
          <a:xfrm>
            <a:off x="3162309" y="1214438"/>
            <a:ext cx="2762259" cy="3271838"/>
          </a:xfrm>
          <a:prstGeom prst="rect">
            <a:avLst/>
          </a:prstGeom>
          <a:solidFill>
            <a:srgbClr val="FFFFFF"/>
          </a:solidFill>
          <a:ln w="27432">
            <a:solidFill>
              <a:srgbClr val="263238"/>
            </a:solidFill>
            <a:prstDash val="solid"/>
          </a:ln>
        </p:spPr>
      </p:sp>
      <p:sp>
        <p:nvSpPr>
          <p:cNvPr id="18" name="Shape 14"/>
          <p:cNvSpPr/>
          <p:nvPr/>
        </p:nvSpPr>
        <p:spPr>
          <a:xfrm>
            <a:off x="3181341" y="1214438"/>
            <a:ext cx="2724141" cy="492919"/>
          </a:xfrm>
          <a:prstGeom prst="rect">
            <a:avLst/>
          </a:prstGeom>
          <a:solidFill>
            <a:srgbClr val="FBC02D"/>
          </a:solidFill>
          <a:ln/>
        </p:spPr>
      </p:sp>
      <p:sp>
        <p:nvSpPr>
          <p:cNvPr id="19" name="Shape 15"/>
          <p:cNvSpPr/>
          <p:nvPr/>
        </p:nvSpPr>
        <p:spPr>
          <a:xfrm>
            <a:off x="3181341" y="1678781"/>
            <a:ext cx="2724141" cy="28575"/>
          </a:xfrm>
          <a:prstGeom prst="rect">
            <a:avLst/>
          </a:prstGeom>
          <a:solidFill>
            <a:srgbClr val="263238"/>
          </a:solidFill>
          <a:ln/>
        </p:spPr>
      </p:sp>
      <p:sp>
        <p:nvSpPr>
          <p:cNvPr id="20" name="Text 16"/>
          <p:cNvSpPr/>
          <p:nvPr/>
        </p:nvSpPr>
        <p:spPr>
          <a:xfrm>
            <a:off x="3181341" y="1214438"/>
            <a:ext cx="2724141" cy="492919"/>
          </a:xfrm>
          <a:prstGeom prst="rect">
            <a:avLst/>
          </a:prstGeom>
          <a:noFill/>
          <a:ln/>
        </p:spPr>
        <p:txBody>
          <a:bodyPr wrap="square" lIns="170053" tIns="127508" rIns="170053" bIns="0" rtlCol="0" anchor="t">
            <a:spAutoFit/>
          </a:bodyPr>
          <a:lstStyle/>
          <a:p>
            <a:pPr algn="l" indent="0" marL="0">
              <a:buNone/>
            </a:pPr>
            <a:r>
              <a:rPr lang="en-US" sz="1150" dirty="0">
                <a:solidFill>
                  <a:srgbClr val="263238"/>
                </a:solidFill>
                <a:latin typeface="Space Grotesk Bold" pitchFamily="34" charset="0"/>
                <a:ea typeface="Space Grotesk Bold" pitchFamily="34" charset="-122"/>
                <a:cs typeface="Space Grotesk Bold" pitchFamily="34" charset="-120"/>
              </a:rPr>
              <a:t>IRRELEVANT CONCEPT</a:t>
            </a:r>
            <a:endParaRPr lang="en-US" sz="1150" dirty="0"/>
          </a:p>
        </p:txBody>
      </p:sp>
      <p:sp>
        <p:nvSpPr>
          <p:cNvPr id="21" name="Text 17"/>
          <p:cNvSpPr/>
          <p:nvPr/>
        </p:nvSpPr>
        <p:spPr>
          <a:xfrm>
            <a:off x="3452803" y="1821656"/>
            <a:ext cx="1289447" cy="155377"/>
          </a:xfrm>
          <a:prstGeom prst="rect">
            <a:avLst/>
          </a:prstGeom>
          <a:noFill/>
          <a:ln/>
        </p:spPr>
        <p:txBody>
          <a:bodyPr wrap="square" lIns="0" tIns="0" rIns="0" bIns="0" rtlCol="0" anchor="t">
            <a:spAutoFit/>
          </a:bodyPr>
          <a:lstStyle/>
          <a:p>
            <a:pPr algn="l" indent="0" marL="0">
              <a:buNone/>
            </a:pPr>
            <a:r>
              <a:rPr lang="en-US" sz="900" b="1" dirty="0">
                <a:solidFill>
                  <a:srgbClr val="263238"/>
                </a:solidFill>
                <a:latin typeface="Inter" pitchFamily="34" charset="0"/>
                <a:ea typeface="Inter" pitchFamily="34" charset="-122"/>
                <a:cs typeface="Inter" pitchFamily="34" charset="-120"/>
              </a:rPr>
              <a:t>Hallway / Congestion</a:t>
            </a:r>
            <a:endParaRPr lang="en-US" sz="900" dirty="0"/>
          </a:p>
        </p:txBody>
      </p:sp>
      <p:sp>
        <p:nvSpPr>
          <p:cNvPr id="22" name="Shape 18"/>
          <p:cNvSpPr/>
          <p:nvPr/>
        </p:nvSpPr>
        <p:spPr>
          <a:xfrm>
            <a:off x="3324216" y="2119908"/>
            <a:ext cx="2438391" cy="964406"/>
          </a:xfrm>
          <a:prstGeom prst="rect">
            <a:avLst/>
          </a:prstGeom>
          <a:solidFill>
            <a:srgbClr val="E3F2FD"/>
          </a:solidFill>
          <a:ln w="18288">
            <a:solidFill>
              <a:srgbClr val="263238"/>
            </a:solidFill>
            <a:prstDash val="solid"/>
          </a:ln>
        </p:spPr>
      </p:sp>
      <p:sp>
        <p:nvSpPr>
          <p:cNvPr id="23" name="Text 19"/>
          <p:cNvSpPr/>
          <p:nvPr/>
        </p:nvSpPr>
        <p:spPr>
          <a:xfrm>
            <a:off x="3431372" y="2227064"/>
            <a:ext cx="2224078" cy="150019"/>
          </a:xfrm>
          <a:prstGeom prst="rect">
            <a:avLst/>
          </a:prstGeom>
          <a:noFill/>
          <a:ln/>
        </p:spPr>
        <p:txBody>
          <a:bodyPr wrap="none" lIns="0" tIns="0" rIns="0" bIns="0" rtlCol="0" anchor="t">
            <a:spAutoFit/>
          </a:bodyPr>
          <a:lstStyle/>
          <a:p>
            <a:pPr algn="l" indent="0" marL="0">
              <a:lnSpc>
                <a:spcPct val="120000"/>
              </a:lnSpc>
              <a:buNone/>
            </a:pPr>
            <a:r>
              <a:rPr lang="en-US" sz="750" dirty="0">
                <a:solidFill>
                  <a:srgbClr val="263238"/>
                </a:solidFill>
                <a:latin typeface="Space Grotesk Bold" pitchFamily="34" charset="0"/>
                <a:ea typeface="Space Grotesk Bold" pitchFamily="34" charset="-122"/>
                <a:cs typeface="Space Grotesk Bold" pitchFamily="34" charset="-120"/>
              </a:rPr>
              <a:t>ARCHITECTURAL RATIONALE</a:t>
            </a:r>
            <a:endParaRPr lang="en-US" sz="750" dirty="0"/>
          </a:p>
        </p:txBody>
      </p:sp>
      <p:sp>
        <p:nvSpPr>
          <p:cNvPr id="24" name="Text 20"/>
          <p:cNvSpPr/>
          <p:nvPr/>
        </p:nvSpPr>
        <p:spPr>
          <a:xfrm>
            <a:off x="3431372" y="2428875"/>
            <a:ext cx="2052042" cy="128588"/>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Nouns that don't contribute to functional</a:t>
            </a:r>
            <a:endParaRPr lang="en-US" sz="800" dirty="0"/>
          </a:p>
        </p:txBody>
      </p:sp>
      <p:sp>
        <p:nvSpPr>
          <p:cNvPr id="25" name="Text 21"/>
          <p:cNvSpPr/>
          <p:nvPr/>
        </p:nvSpPr>
        <p:spPr>
          <a:xfrm>
            <a:off x="3431372" y="2589609"/>
            <a:ext cx="2132409" cy="128588"/>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requirements. While physical factors, they</a:t>
            </a:r>
            <a:endParaRPr lang="en-US" sz="800" dirty="0"/>
          </a:p>
        </p:txBody>
      </p:sp>
      <p:sp>
        <p:nvSpPr>
          <p:cNvPr id="26" name="Text 22"/>
          <p:cNvSpPr/>
          <p:nvPr/>
        </p:nvSpPr>
        <p:spPr>
          <a:xfrm>
            <a:off x="3431372" y="2750344"/>
            <a:ext cx="1968103" cy="128588"/>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don't hold state or behavior relevant to</a:t>
            </a:r>
            <a:endParaRPr lang="en-US" sz="800" dirty="0"/>
          </a:p>
        </p:txBody>
      </p:sp>
      <p:sp>
        <p:nvSpPr>
          <p:cNvPr id="27" name="Text 23"/>
          <p:cNvSpPr/>
          <p:nvPr/>
        </p:nvSpPr>
        <p:spPr>
          <a:xfrm>
            <a:off x="3431372" y="2911078"/>
            <a:ext cx="873323" cy="128588"/>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attendance logic.</a:t>
            </a:r>
            <a:endParaRPr lang="en-US" sz="800" dirty="0"/>
          </a:p>
        </p:txBody>
      </p:sp>
      <p:sp>
        <p:nvSpPr>
          <p:cNvPr id="28" name="Shape 24"/>
          <p:cNvSpPr/>
          <p:nvPr/>
        </p:nvSpPr>
        <p:spPr>
          <a:xfrm>
            <a:off x="5934056" y="1214438"/>
            <a:ext cx="2781291" cy="3271838"/>
          </a:xfrm>
          <a:prstGeom prst="rect">
            <a:avLst/>
          </a:prstGeom>
          <a:solidFill>
            <a:srgbClr val="FFFFFF"/>
          </a:solidFill>
          <a:ln w="27432">
            <a:solidFill>
              <a:srgbClr val="263238"/>
            </a:solidFill>
            <a:prstDash val="solid"/>
          </a:ln>
        </p:spPr>
      </p:sp>
      <p:sp>
        <p:nvSpPr>
          <p:cNvPr id="29" name="Shape 25"/>
          <p:cNvSpPr/>
          <p:nvPr/>
        </p:nvSpPr>
        <p:spPr>
          <a:xfrm>
            <a:off x="5972175" y="1214438"/>
            <a:ext cx="2743200" cy="492919"/>
          </a:xfrm>
          <a:prstGeom prst="rect">
            <a:avLst/>
          </a:prstGeom>
          <a:solidFill>
            <a:srgbClr val="FBC02D"/>
          </a:solidFill>
          <a:ln/>
        </p:spPr>
      </p:sp>
      <p:sp>
        <p:nvSpPr>
          <p:cNvPr id="30" name="Shape 26"/>
          <p:cNvSpPr/>
          <p:nvPr/>
        </p:nvSpPr>
        <p:spPr>
          <a:xfrm>
            <a:off x="5972175" y="1678781"/>
            <a:ext cx="2743200" cy="28575"/>
          </a:xfrm>
          <a:prstGeom prst="rect">
            <a:avLst/>
          </a:prstGeom>
          <a:solidFill>
            <a:srgbClr val="263238"/>
          </a:solidFill>
          <a:ln/>
        </p:spPr>
      </p:sp>
      <p:sp>
        <p:nvSpPr>
          <p:cNvPr id="31" name="Text 27"/>
          <p:cNvSpPr/>
          <p:nvPr/>
        </p:nvSpPr>
        <p:spPr>
          <a:xfrm>
            <a:off x="5972175" y="1214438"/>
            <a:ext cx="2743200" cy="492919"/>
          </a:xfrm>
          <a:prstGeom prst="rect">
            <a:avLst/>
          </a:prstGeom>
          <a:noFill/>
          <a:ln/>
        </p:spPr>
        <p:txBody>
          <a:bodyPr wrap="square" lIns="170053" tIns="127508" rIns="170053" bIns="0" rtlCol="0" anchor="t">
            <a:spAutoFit/>
          </a:bodyPr>
          <a:lstStyle/>
          <a:p>
            <a:pPr algn="l" indent="0" marL="0">
              <a:buNone/>
            </a:pPr>
            <a:r>
              <a:rPr lang="en-US" sz="1150" dirty="0">
                <a:solidFill>
                  <a:srgbClr val="263238"/>
                </a:solidFill>
                <a:latin typeface="Space Grotesk Bold" pitchFamily="34" charset="0"/>
                <a:ea typeface="Space Grotesk Bold" pitchFamily="34" charset="-122"/>
                <a:cs typeface="Space Grotesk Bold" pitchFamily="34" charset="-120"/>
              </a:rPr>
              <a:t>SIMPLE ATTRIBUTE</a:t>
            </a:r>
            <a:endParaRPr lang="en-US" sz="1150" dirty="0"/>
          </a:p>
        </p:txBody>
      </p:sp>
      <p:sp>
        <p:nvSpPr>
          <p:cNvPr id="32" name="Text 28"/>
          <p:cNvSpPr/>
          <p:nvPr/>
        </p:nvSpPr>
        <p:spPr>
          <a:xfrm>
            <a:off x="6243638" y="1821656"/>
            <a:ext cx="1305520" cy="155377"/>
          </a:xfrm>
          <a:prstGeom prst="rect">
            <a:avLst/>
          </a:prstGeom>
          <a:noFill/>
          <a:ln/>
        </p:spPr>
        <p:txBody>
          <a:bodyPr wrap="square" lIns="0" tIns="0" rIns="0" bIns="0" rtlCol="0" anchor="t">
            <a:spAutoFit/>
          </a:bodyPr>
          <a:lstStyle/>
          <a:p>
            <a:pPr algn="l" indent="0" marL="0">
              <a:buNone/>
            </a:pPr>
            <a:r>
              <a:rPr lang="en-US" sz="900" b="1" dirty="0">
                <a:solidFill>
                  <a:srgbClr val="263238"/>
                </a:solidFill>
                <a:latin typeface="Inter" pitchFamily="34" charset="0"/>
                <a:ea typeface="Inter" pitchFamily="34" charset="-122"/>
                <a:cs typeface="Inter" pitchFamily="34" charset="-120"/>
              </a:rPr>
              <a:t>CardUID / Timestamp</a:t>
            </a:r>
            <a:endParaRPr lang="en-US" sz="900" dirty="0"/>
          </a:p>
        </p:txBody>
      </p:sp>
      <p:sp>
        <p:nvSpPr>
          <p:cNvPr id="33" name="Shape 29"/>
          <p:cNvSpPr/>
          <p:nvPr/>
        </p:nvSpPr>
        <p:spPr>
          <a:xfrm>
            <a:off x="6115050" y="2119908"/>
            <a:ext cx="2457450" cy="803672"/>
          </a:xfrm>
          <a:prstGeom prst="rect">
            <a:avLst/>
          </a:prstGeom>
          <a:solidFill>
            <a:srgbClr val="E3F2FD"/>
          </a:solidFill>
          <a:ln w="18288">
            <a:solidFill>
              <a:srgbClr val="263238"/>
            </a:solidFill>
            <a:prstDash val="solid"/>
          </a:ln>
        </p:spPr>
      </p:sp>
      <p:sp>
        <p:nvSpPr>
          <p:cNvPr id="34" name="Text 30"/>
          <p:cNvSpPr/>
          <p:nvPr/>
        </p:nvSpPr>
        <p:spPr>
          <a:xfrm>
            <a:off x="6222206" y="2227064"/>
            <a:ext cx="2243138" cy="150019"/>
          </a:xfrm>
          <a:prstGeom prst="rect">
            <a:avLst/>
          </a:prstGeom>
          <a:noFill/>
          <a:ln/>
        </p:spPr>
        <p:txBody>
          <a:bodyPr wrap="none" lIns="0" tIns="0" rIns="0" bIns="0" rtlCol="0" anchor="t">
            <a:spAutoFit/>
          </a:bodyPr>
          <a:lstStyle/>
          <a:p>
            <a:pPr algn="l" indent="0" marL="0">
              <a:lnSpc>
                <a:spcPct val="120000"/>
              </a:lnSpc>
              <a:buNone/>
            </a:pPr>
            <a:r>
              <a:rPr lang="en-US" sz="750" dirty="0">
                <a:solidFill>
                  <a:srgbClr val="263238"/>
                </a:solidFill>
                <a:latin typeface="Space Grotesk Bold" pitchFamily="34" charset="0"/>
                <a:ea typeface="Space Grotesk Bold" pitchFamily="34" charset="-122"/>
                <a:cs typeface="Space Grotesk Bold" pitchFamily="34" charset="-120"/>
              </a:rPr>
              <a:t>ARCHITECTURAL RATIONALE</a:t>
            </a:r>
            <a:endParaRPr lang="en-US" sz="750" dirty="0"/>
          </a:p>
        </p:txBody>
      </p:sp>
      <p:sp>
        <p:nvSpPr>
          <p:cNvPr id="35" name="Text 31"/>
          <p:cNvSpPr/>
          <p:nvPr/>
        </p:nvSpPr>
        <p:spPr>
          <a:xfrm>
            <a:off x="6222206" y="2428875"/>
            <a:ext cx="1953816" cy="128588"/>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Nouns better represented as primitive</a:t>
            </a:r>
            <a:endParaRPr lang="en-US" sz="800" dirty="0"/>
          </a:p>
        </p:txBody>
      </p:sp>
      <p:sp>
        <p:nvSpPr>
          <p:cNvPr id="36" name="Text 32"/>
          <p:cNvSpPr/>
          <p:nvPr/>
        </p:nvSpPr>
        <p:spPr>
          <a:xfrm>
            <a:off x="6222206" y="2428875"/>
            <a:ext cx="2177058" cy="289322"/>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data types. These lack independent</a:t>
            </a:r>
            <a:endParaRPr lang="en-US" sz="800" dirty="0"/>
          </a:p>
        </p:txBody>
      </p:sp>
      <p:sp>
        <p:nvSpPr>
          <p:cNvPr id="37" name="Text 33"/>
          <p:cNvSpPr/>
          <p:nvPr/>
        </p:nvSpPr>
        <p:spPr>
          <a:xfrm>
            <a:off x="6222206" y="2589609"/>
            <a:ext cx="2068116" cy="289322"/>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behavior; they describe a Student or a</a:t>
            </a:r>
            <a:endParaRPr lang="en-US" sz="800" dirty="0"/>
          </a:p>
        </p:txBody>
      </p:sp>
      <p:sp>
        <p:nvSpPr>
          <p:cNvPr id="38" name="Text 34"/>
          <p:cNvSpPr/>
          <p:nvPr/>
        </p:nvSpPr>
        <p:spPr>
          <a:xfrm>
            <a:off x="7690247" y="2750344"/>
            <a:ext cx="391120" cy="128588"/>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55A64"/>
                </a:solidFill>
                <a:latin typeface="Inter" pitchFamily="34" charset="0"/>
                <a:ea typeface="Inter" pitchFamily="34" charset="-122"/>
                <a:cs typeface="Inter" pitchFamily="34" charset="-120"/>
              </a:rPr>
              <a:t>Record.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CLASS ROLES &amp; SYSTEM INTELLIGENCE</a:t>
            </a:r>
            <a:endParaRPr lang="en-US" sz="1600" dirty="0"/>
          </a:p>
        </p:txBody>
      </p:sp>
      <p:sp>
        <p:nvSpPr>
          <p:cNvPr id="6" name="Shape 2"/>
          <p:cNvSpPr/>
          <p:nvPr/>
        </p:nvSpPr>
        <p:spPr>
          <a:xfrm>
            <a:off x="428625" y="1143000"/>
            <a:ext cx="8286750" cy="592931"/>
          </a:xfrm>
          <a:prstGeom prst="rect">
            <a:avLst/>
          </a:prstGeom>
          <a:solidFill>
            <a:srgbClr val="FBC02D"/>
          </a:solidFill>
          <a:ln w="27432">
            <a:solidFill>
              <a:srgbClr val="263238"/>
            </a:solidFill>
            <a:prstDash val="solid"/>
          </a:ln>
        </p:spPr>
      </p:sp>
      <p:sp>
        <p:nvSpPr>
          <p:cNvPr id="7" name="Text 3"/>
          <p:cNvSpPr/>
          <p:nvPr/>
        </p:nvSpPr>
        <p:spPr>
          <a:xfrm>
            <a:off x="642938" y="1250156"/>
            <a:ext cx="8072438" cy="255389"/>
          </a:xfrm>
          <a:prstGeom prst="rect">
            <a:avLst/>
          </a:prstGeom>
          <a:noFill/>
          <a:ln/>
        </p:spPr>
        <p:txBody>
          <a:bodyPr wrap="square" lIns="0" tIns="0" rIns="0" bIns="0" rtlCol="0" anchor="t">
            <a:spAutoFit/>
          </a:bodyPr>
          <a:lstStyle/>
          <a:p>
            <a:pPr algn="l" indent="0" marL="0">
              <a:buNone/>
            </a:pPr>
            <a:r>
              <a:rPr lang="en-US" sz="1400" b="1" dirty="0">
                <a:solidFill>
                  <a:srgbClr val="263238"/>
                </a:solidFill>
                <a:latin typeface="Space Grotesk Bold" pitchFamily="34" charset="0"/>
                <a:ea typeface="Space Grotesk Bold" pitchFamily="34" charset="-122"/>
                <a:cs typeface="Space Grotesk Bold" pitchFamily="34" charset="-120"/>
              </a:rPr>
              <a:t>FOCUS: THE CLASSSESSION CLASS</a:t>
            </a:r>
            <a:endParaRPr lang="en-US" sz="1400" dirty="0"/>
          </a:p>
        </p:txBody>
      </p:sp>
      <p:sp>
        <p:nvSpPr>
          <p:cNvPr id="8" name="Shape 4"/>
          <p:cNvSpPr/>
          <p:nvPr/>
        </p:nvSpPr>
        <p:spPr>
          <a:xfrm>
            <a:off x="428625" y="1893094"/>
            <a:ext cx="4000500" cy="2378869"/>
          </a:xfrm>
          <a:prstGeom prst="rect">
            <a:avLst/>
          </a:prstGeom>
          <a:solidFill>
            <a:srgbClr val="FFFFFF"/>
          </a:solidFill>
          <a:ln w="27432">
            <a:solidFill>
              <a:srgbClr val="263238"/>
            </a:solidFill>
            <a:prstDash val="solid"/>
          </a:ln>
        </p:spPr>
      </p:sp>
      <p:sp>
        <p:nvSpPr>
          <p:cNvPr id="9" name="Text 5"/>
          <p:cNvSpPr/>
          <p:nvPr/>
        </p:nvSpPr>
        <p:spPr>
          <a:xfrm>
            <a:off x="607219" y="2071688"/>
            <a:ext cx="3643313" cy="301823"/>
          </a:xfrm>
          <a:prstGeom prst="rect">
            <a:avLst/>
          </a:prstGeom>
          <a:noFill/>
          <a:ln/>
        </p:spPr>
        <p:txBody>
          <a:bodyPr wrap="square" lIns="0" tIns="0" rIns="0" bIns="85090" rtlCol="0" anchor="t">
            <a:spAutoFit/>
          </a:bodyPr>
          <a:lstStyle/>
          <a:p>
            <a:pPr algn="l" indent="0" marL="0">
              <a:buNone/>
            </a:pPr>
            <a:r>
              <a:rPr lang="en-US" sz="1150" dirty="0">
                <a:solidFill>
                  <a:srgbClr val="263238"/>
                </a:solidFill>
                <a:latin typeface="Space Grotesk Bold" pitchFamily="34" charset="0"/>
                <a:ea typeface="Space Grotesk Bold" pitchFamily="34" charset="-122"/>
                <a:cs typeface="Space Grotesk Bold" pitchFamily="34" charset="-120"/>
              </a:rPr>
              <a:t>PRIMARY ROLES</a:t>
            </a:r>
            <a:endParaRPr lang="en-US" sz="1150" dirty="0"/>
          </a:p>
        </p:txBody>
      </p:sp>
      <p:sp>
        <p:nvSpPr>
          <p:cNvPr id="10" name="Shape 6"/>
          <p:cNvSpPr/>
          <p:nvPr/>
        </p:nvSpPr>
        <p:spPr>
          <a:xfrm>
            <a:off x="607219" y="2559248"/>
            <a:ext cx="85725" cy="85725"/>
          </a:xfrm>
          <a:prstGeom prst="rect">
            <a:avLst/>
          </a:prstGeom>
          <a:solidFill>
            <a:srgbClr val="263238"/>
          </a:solidFill>
          <a:ln/>
        </p:spPr>
      </p:sp>
      <p:sp>
        <p:nvSpPr>
          <p:cNvPr id="11" name="Text 7"/>
          <p:cNvSpPr/>
          <p:nvPr/>
        </p:nvSpPr>
        <p:spPr>
          <a:xfrm>
            <a:off x="607219" y="2516386"/>
            <a:ext cx="3643313"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Information Holder:</a:t>
            </a:r>
            <a:r>
              <a:rPr lang="en-US" sz="950" dirty="0">
                <a:solidFill>
                  <a:srgbClr val="455A64"/>
                </a:solidFill>
                <a:latin typeface="Inter" pitchFamily="34" charset="0"/>
                <a:ea typeface="Inter" pitchFamily="34" charset="-122"/>
                <a:cs typeface="Inter" pitchFamily="34" charset="-120"/>
              </a:rPr>
              <a:t> Maintains the definitive list of expected students and session metadata.</a:t>
            </a:r>
            <a:endParaRPr lang="en-US" sz="900" dirty="0"/>
          </a:p>
        </p:txBody>
      </p:sp>
      <p:sp>
        <p:nvSpPr>
          <p:cNvPr id="12" name="Shape 8"/>
          <p:cNvSpPr/>
          <p:nvPr/>
        </p:nvSpPr>
        <p:spPr>
          <a:xfrm>
            <a:off x="607219" y="3026439"/>
            <a:ext cx="85725" cy="85725"/>
          </a:xfrm>
          <a:prstGeom prst="rect">
            <a:avLst/>
          </a:prstGeom>
          <a:solidFill>
            <a:srgbClr val="263238"/>
          </a:solidFill>
          <a:ln/>
        </p:spPr>
      </p:sp>
      <p:sp>
        <p:nvSpPr>
          <p:cNvPr id="13" name="Text 9"/>
          <p:cNvSpPr/>
          <p:nvPr/>
        </p:nvSpPr>
        <p:spPr>
          <a:xfrm>
            <a:off x="607219" y="2983576"/>
            <a:ext cx="3643313"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Coordinator:</a:t>
            </a:r>
            <a:r>
              <a:rPr lang="en-US" sz="950" dirty="0">
                <a:solidFill>
                  <a:srgbClr val="455A64"/>
                </a:solidFill>
                <a:latin typeface="Inter" pitchFamily="34" charset="0"/>
                <a:ea typeface="Inter" pitchFamily="34" charset="-122"/>
                <a:cs typeface="Inter" pitchFamily="34" charset="-120"/>
              </a:rPr>
              <a:t> Acts as the central hub for the attendance event lifecycle and synchronization.</a:t>
            </a:r>
            <a:endParaRPr lang="en-US" sz="900" dirty="0"/>
          </a:p>
        </p:txBody>
      </p:sp>
      <p:sp>
        <p:nvSpPr>
          <p:cNvPr id="14" name="Shape 10"/>
          <p:cNvSpPr/>
          <p:nvPr/>
        </p:nvSpPr>
        <p:spPr>
          <a:xfrm>
            <a:off x="4714875" y="1893094"/>
            <a:ext cx="4000500" cy="2378869"/>
          </a:xfrm>
          <a:prstGeom prst="rect">
            <a:avLst/>
          </a:prstGeom>
          <a:solidFill>
            <a:srgbClr val="FFFFFF"/>
          </a:solidFill>
          <a:ln w="27432">
            <a:solidFill>
              <a:srgbClr val="263238"/>
            </a:solidFill>
            <a:prstDash val="solid"/>
          </a:ln>
        </p:spPr>
      </p:sp>
      <p:sp>
        <p:nvSpPr>
          <p:cNvPr id="15" name="Text 11"/>
          <p:cNvSpPr/>
          <p:nvPr/>
        </p:nvSpPr>
        <p:spPr>
          <a:xfrm>
            <a:off x="4893469" y="2071688"/>
            <a:ext cx="3643313" cy="301823"/>
          </a:xfrm>
          <a:prstGeom prst="rect">
            <a:avLst/>
          </a:prstGeom>
          <a:noFill/>
          <a:ln/>
        </p:spPr>
        <p:txBody>
          <a:bodyPr wrap="square" lIns="0" tIns="0" rIns="0" bIns="85090" rtlCol="0" anchor="t">
            <a:spAutoFit/>
          </a:bodyPr>
          <a:lstStyle/>
          <a:p>
            <a:pPr algn="l" indent="0" marL="0">
              <a:buNone/>
            </a:pPr>
            <a:r>
              <a:rPr lang="en-US" sz="1150" dirty="0">
                <a:solidFill>
                  <a:srgbClr val="263238"/>
                </a:solidFill>
                <a:latin typeface="Space Grotesk Bold" pitchFamily="34" charset="0"/>
                <a:ea typeface="Space Grotesk Bold" pitchFamily="34" charset="-122"/>
                <a:cs typeface="Space Grotesk Bold" pitchFamily="34" charset="-120"/>
              </a:rPr>
              <a:t>ENCAPSULATED INTELLIGENCE</a:t>
            </a:r>
            <a:endParaRPr lang="en-US" sz="1150" dirty="0"/>
          </a:p>
        </p:txBody>
      </p:sp>
      <p:sp>
        <p:nvSpPr>
          <p:cNvPr id="16" name="Shape 12"/>
          <p:cNvSpPr/>
          <p:nvPr/>
        </p:nvSpPr>
        <p:spPr>
          <a:xfrm>
            <a:off x="4893469" y="2559248"/>
            <a:ext cx="85725" cy="85725"/>
          </a:xfrm>
          <a:prstGeom prst="rect">
            <a:avLst/>
          </a:prstGeom>
          <a:solidFill>
            <a:srgbClr val="263238"/>
          </a:solidFill>
          <a:ln/>
        </p:spPr>
      </p:sp>
      <p:sp>
        <p:nvSpPr>
          <p:cNvPr id="17" name="Text 13"/>
          <p:cNvSpPr/>
          <p:nvPr/>
        </p:nvSpPr>
        <p:spPr>
          <a:xfrm>
            <a:off x="4893469" y="2516386"/>
            <a:ext cx="3643313"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Collection Management:</a:t>
            </a:r>
            <a:r>
              <a:rPr lang="en-US" sz="950" dirty="0">
                <a:solidFill>
                  <a:srgbClr val="455A64"/>
                </a:solidFill>
                <a:latin typeface="Inter" pitchFamily="34" charset="0"/>
                <a:ea typeface="Inter" pitchFamily="34" charset="-122"/>
                <a:cs typeface="Inter" pitchFamily="34" charset="-120"/>
              </a:rPr>
              <a:t> Responsible for maintaining the set of AttendanceRecords for its specific instance.</a:t>
            </a:r>
            <a:endParaRPr lang="en-US" sz="900" dirty="0"/>
          </a:p>
        </p:txBody>
      </p:sp>
      <p:sp>
        <p:nvSpPr>
          <p:cNvPr id="18" name="Shape 14"/>
          <p:cNvSpPr/>
          <p:nvPr/>
        </p:nvSpPr>
        <p:spPr>
          <a:xfrm>
            <a:off x="4893469" y="3026439"/>
            <a:ext cx="85725" cy="85725"/>
          </a:xfrm>
          <a:prstGeom prst="rect">
            <a:avLst/>
          </a:prstGeom>
          <a:solidFill>
            <a:srgbClr val="263238"/>
          </a:solidFill>
          <a:ln/>
        </p:spPr>
      </p:sp>
      <p:sp>
        <p:nvSpPr>
          <p:cNvPr id="19" name="Text 15"/>
          <p:cNvSpPr/>
          <p:nvPr/>
        </p:nvSpPr>
        <p:spPr>
          <a:xfrm>
            <a:off x="4893469" y="2983576"/>
            <a:ext cx="3643313"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Grace Period Logic:</a:t>
            </a:r>
            <a:r>
              <a:rPr lang="en-US" sz="950" dirty="0">
                <a:solidFill>
                  <a:srgbClr val="455A64"/>
                </a:solidFill>
                <a:latin typeface="Inter" pitchFamily="34" charset="0"/>
                <a:ea typeface="Inter" pitchFamily="34" charset="-122"/>
                <a:cs typeface="Inter" pitchFamily="34" charset="-120"/>
              </a:rPr>
              <a:t> Determines if a swipe is "On-Time" or "Late" based on university policy.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RESPONSIBILITY ARCHITECTURE - DOING VS. KNOWING</a:t>
            </a:r>
            <a:endParaRPr lang="en-US" sz="1600" dirty="0"/>
          </a:p>
        </p:txBody>
      </p:sp>
      <p:sp>
        <p:nvSpPr>
          <p:cNvPr id="6" name="Shape 2"/>
          <p:cNvSpPr/>
          <p:nvPr/>
        </p:nvSpPr>
        <p:spPr>
          <a:xfrm>
            <a:off x="0" y="957263"/>
            <a:ext cx="9144000" cy="457200"/>
          </a:xfrm>
          <a:prstGeom prst="rect">
            <a:avLst/>
          </a:prstGeom>
          <a:solidFill>
            <a:srgbClr val="FBC02D"/>
          </a:solidFill>
          <a:ln/>
        </p:spPr>
      </p:sp>
      <p:sp>
        <p:nvSpPr>
          <p:cNvPr id="7" name="Shape 3"/>
          <p:cNvSpPr/>
          <p:nvPr/>
        </p:nvSpPr>
        <p:spPr>
          <a:xfrm>
            <a:off x="0" y="1385888"/>
            <a:ext cx="9144000" cy="28575"/>
          </a:xfrm>
          <a:prstGeom prst="rect">
            <a:avLst/>
          </a:prstGeom>
          <a:solidFill>
            <a:srgbClr val="263238"/>
          </a:solidFill>
          <a:ln/>
        </p:spPr>
      </p:sp>
      <p:sp>
        <p:nvSpPr>
          <p:cNvPr id="8" name="Text 4"/>
          <p:cNvSpPr/>
          <p:nvPr/>
        </p:nvSpPr>
        <p:spPr>
          <a:xfrm>
            <a:off x="428625" y="1064419"/>
            <a:ext cx="8715375" cy="182166"/>
          </a:xfrm>
          <a:prstGeom prst="rect">
            <a:avLst/>
          </a:prstGeom>
          <a:noFill/>
          <a:ln/>
        </p:spPr>
        <p:txBody>
          <a:bodyPr wrap="square" lIns="0" tIns="0" rIns="0" bIns="0" rtlCol="0" anchor="t">
            <a:spAutoFit/>
          </a:bodyPr>
          <a:lstStyle/>
          <a:p>
            <a:pPr algn="l" indent="0" marL="0">
              <a:buNone/>
            </a:pPr>
            <a:r>
              <a:rPr lang="en-US" sz="1000" b="1" dirty="0">
                <a:solidFill>
                  <a:srgbClr val="263238"/>
                </a:solidFill>
                <a:latin typeface="Space Grotesk Bold" pitchFamily="34" charset="0"/>
                <a:ea typeface="Space Grotesk Bold" pitchFamily="34" charset="-122"/>
                <a:cs typeface="Space Grotesk Bold" pitchFamily="34" charset="-120"/>
              </a:rPr>
              <a:t>ARCHITECTURAL GOAL: PREVENT THE GOD CLASS (THE BLOB)</a:t>
            </a:r>
            <a:endParaRPr lang="en-US" sz="1000" dirty="0"/>
          </a:p>
        </p:txBody>
      </p:sp>
      <p:sp>
        <p:nvSpPr>
          <p:cNvPr id="9" name="Shape 5"/>
          <p:cNvSpPr/>
          <p:nvPr/>
        </p:nvSpPr>
        <p:spPr>
          <a:xfrm>
            <a:off x="428625" y="1671638"/>
            <a:ext cx="4000500" cy="428625"/>
          </a:xfrm>
          <a:prstGeom prst="rect">
            <a:avLst/>
          </a:prstGeom>
          <a:solidFill>
            <a:srgbClr val="263238"/>
          </a:solidFill>
          <a:ln/>
        </p:spPr>
      </p:sp>
      <p:sp>
        <p:nvSpPr>
          <p:cNvPr id="10" name="Text 6"/>
          <p:cNvSpPr/>
          <p:nvPr/>
        </p:nvSpPr>
        <p:spPr>
          <a:xfrm>
            <a:off x="428625" y="1671638"/>
            <a:ext cx="4000500" cy="428625"/>
          </a:xfrm>
          <a:prstGeom prst="rect">
            <a:avLst/>
          </a:prstGeom>
          <a:noFill/>
          <a:ln/>
        </p:spPr>
        <p:txBody>
          <a:bodyPr wrap="square" lIns="170053" tIns="127508" rIns="0" bIns="0" rtlCol="0" anchor="t">
            <a:spAutoFit/>
          </a:bodyPr>
          <a:lstStyle/>
          <a:p>
            <a:pPr algn="l" indent="0" marL="0">
              <a:buNone/>
            </a:pPr>
            <a:r>
              <a:rPr lang="en-US" sz="1250" dirty="0">
                <a:solidFill>
                  <a:srgbClr val="FBC02D"/>
                </a:solidFill>
                <a:latin typeface="Space Grotesk Bold" pitchFamily="34" charset="0"/>
                <a:ea typeface="Space Grotesk Bold" pitchFamily="34" charset="-122"/>
                <a:cs typeface="Space Grotesk Bold" pitchFamily="34" charset="-120"/>
              </a:rPr>
              <a:t>KNOWING RESPONSIBILITIES</a:t>
            </a:r>
            <a:endParaRPr lang="en-US" sz="1250" dirty="0"/>
          </a:p>
        </p:txBody>
      </p:sp>
      <p:sp>
        <p:nvSpPr>
          <p:cNvPr id="11" name="Shape 7"/>
          <p:cNvSpPr/>
          <p:nvPr/>
        </p:nvSpPr>
        <p:spPr>
          <a:xfrm>
            <a:off x="428625" y="2100263"/>
            <a:ext cx="4000500" cy="2414588"/>
          </a:xfrm>
          <a:prstGeom prst="rect">
            <a:avLst/>
          </a:prstGeom>
          <a:solidFill>
            <a:srgbClr val="FFFFFF"/>
          </a:solidFill>
          <a:ln w="27432">
            <a:solidFill>
              <a:srgbClr val="263238"/>
            </a:solidFill>
            <a:prstDash val="solid"/>
          </a:ln>
        </p:spPr>
      </p:sp>
      <p:sp>
        <p:nvSpPr>
          <p:cNvPr id="12" name="Shape 8"/>
          <p:cNvSpPr/>
          <p:nvPr/>
        </p:nvSpPr>
        <p:spPr>
          <a:xfrm>
            <a:off x="642938" y="2357438"/>
            <a:ext cx="142875" cy="142875"/>
          </a:xfrm>
          <a:prstGeom prst="rect">
            <a:avLst/>
          </a:prstGeom>
          <a:solidFill>
            <a:srgbClr val="FBC02D"/>
          </a:solidFill>
          <a:ln w="18288">
            <a:solidFill>
              <a:srgbClr val="263238"/>
            </a:solidFill>
            <a:prstDash val="solid"/>
          </a:ln>
        </p:spPr>
      </p:sp>
      <p:sp>
        <p:nvSpPr>
          <p:cNvPr id="13" name="Text 9"/>
          <p:cNvSpPr/>
          <p:nvPr/>
        </p:nvSpPr>
        <p:spPr>
          <a:xfrm>
            <a:off x="892969" y="2314575"/>
            <a:ext cx="3321844" cy="200025"/>
          </a:xfrm>
          <a:prstGeom prst="rect">
            <a:avLst/>
          </a:prstGeom>
          <a:noFill/>
          <a:ln/>
        </p:spPr>
        <p:txBody>
          <a:bodyPr wrap="none" lIns="0" tIns="0" rIns="0" bIns="0" rtlCol="0" anchor="t">
            <a:spAutoFit/>
          </a:bodyPr>
          <a:lstStyle/>
          <a:p>
            <a:pPr algn="l" indent="0" marL="0">
              <a:lnSpc>
                <a:spcPct val="112000"/>
              </a:lnSpc>
              <a:buNone/>
            </a:pPr>
            <a:r>
              <a:rPr lang="en-US" sz="1000" b="1" dirty="0">
                <a:solidFill>
                  <a:srgbClr val="263238"/>
                </a:solidFill>
                <a:latin typeface="Inter Bold" pitchFamily="34" charset="0"/>
                <a:ea typeface="Inter Bold" pitchFamily="34" charset="-122"/>
                <a:cs typeface="Inter Bold" pitchFamily="34" charset="-120"/>
              </a:rPr>
              <a:t>Student Card Mapping</a:t>
            </a:r>
            <a:endParaRPr lang="en-US" sz="1000" dirty="0"/>
          </a:p>
        </p:txBody>
      </p:sp>
      <p:sp>
        <p:nvSpPr>
          <p:cNvPr id="14" name="Text 10"/>
          <p:cNvSpPr/>
          <p:nvPr/>
        </p:nvSpPr>
        <p:spPr>
          <a:xfrm>
            <a:off x="892969" y="2562820"/>
            <a:ext cx="2830711" cy="373261"/>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455A64"/>
                </a:solidFill>
                <a:latin typeface="Inter" pitchFamily="34" charset="0"/>
                <a:ea typeface="Inter" pitchFamily="34" charset="-122"/>
                <a:cs typeface="Inter" pitchFamily="34" charset="-120"/>
              </a:rPr>
              <a:t>Knowing which CardUID belongs to which StudentId.</a:t>
            </a:r>
            <a:endParaRPr lang="en-US" sz="1050" dirty="0"/>
          </a:p>
        </p:txBody>
      </p:sp>
      <p:sp>
        <p:nvSpPr>
          <p:cNvPr id="15" name="Shape 11"/>
          <p:cNvSpPr/>
          <p:nvPr/>
        </p:nvSpPr>
        <p:spPr>
          <a:xfrm>
            <a:off x="642938" y="3171825"/>
            <a:ext cx="142875" cy="142875"/>
          </a:xfrm>
          <a:prstGeom prst="rect">
            <a:avLst/>
          </a:prstGeom>
          <a:solidFill>
            <a:srgbClr val="FBC02D"/>
          </a:solidFill>
          <a:ln w="18288">
            <a:solidFill>
              <a:srgbClr val="263238"/>
            </a:solidFill>
            <a:prstDash val="solid"/>
          </a:ln>
        </p:spPr>
      </p:sp>
      <p:sp>
        <p:nvSpPr>
          <p:cNvPr id="16" name="Text 12"/>
          <p:cNvSpPr/>
          <p:nvPr/>
        </p:nvSpPr>
        <p:spPr>
          <a:xfrm>
            <a:off x="892969" y="3128963"/>
            <a:ext cx="3321844" cy="200025"/>
          </a:xfrm>
          <a:prstGeom prst="rect">
            <a:avLst/>
          </a:prstGeom>
          <a:noFill/>
          <a:ln/>
        </p:spPr>
        <p:txBody>
          <a:bodyPr wrap="none" lIns="0" tIns="0" rIns="0" bIns="0" rtlCol="0" anchor="t">
            <a:spAutoFit/>
          </a:bodyPr>
          <a:lstStyle/>
          <a:p>
            <a:pPr algn="l" indent="0" marL="0">
              <a:lnSpc>
                <a:spcPct val="112000"/>
              </a:lnSpc>
              <a:buNone/>
            </a:pPr>
            <a:r>
              <a:rPr lang="en-US" sz="1000" b="1" dirty="0">
                <a:solidFill>
                  <a:srgbClr val="263238"/>
                </a:solidFill>
                <a:latin typeface="Inter Bold" pitchFamily="34" charset="0"/>
                <a:ea typeface="Inter Bold" pitchFamily="34" charset="-122"/>
                <a:cs typeface="Inter Bold" pitchFamily="34" charset="-120"/>
              </a:rPr>
              <a:t>ClassSession State Tracking</a:t>
            </a:r>
            <a:endParaRPr lang="en-US" sz="1000" dirty="0"/>
          </a:p>
        </p:txBody>
      </p:sp>
      <p:sp>
        <p:nvSpPr>
          <p:cNvPr id="17" name="Text 13"/>
          <p:cNvSpPr/>
          <p:nvPr/>
        </p:nvSpPr>
        <p:spPr>
          <a:xfrm>
            <a:off x="892969" y="3377208"/>
            <a:ext cx="3084314" cy="373261"/>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455A64"/>
                </a:solidFill>
                <a:latin typeface="Inter" pitchFamily="34" charset="0"/>
                <a:ea typeface="Inter" pitchFamily="34" charset="-122"/>
                <a:cs typeface="Inter" pitchFamily="34" charset="-120"/>
              </a:rPr>
              <a:t>Knowing if the session is active, expired, or in grace period.</a:t>
            </a:r>
            <a:endParaRPr lang="en-US" sz="1050" dirty="0"/>
          </a:p>
        </p:txBody>
      </p:sp>
      <p:sp>
        <p:nvSpPr>
          <p:cNvPr id="18" name="Shape 14"/>
          <p:cNvSpPr/>
          <p:nvPr/>
        </p:nvSpPr>
        <p:spPr>
          <a:xfrm>
            <a:off x="4714875" y="1671638"/>
            <a:ext cx="4000500" cy="428625"/>
          </a:xfrm>
          <a:prstGeom prst="rect">
            <a:avLst/>
          </a:prstGeom>
          <a:solidFill>
            <a:srgbClr val="263238"/>
          </a:solidFill>
          <a:ln/>
        </p:spPr>
      </p:sp>
      <p:sp>
        <p:nvSpPr>
          <p:cNvPr id="19" name="Text 15"/>
          <p:cNvSpPr/>
          <p:nvPr/>
        </p:nvSpPr>
        <p:spPr>
          <a:xfrm>
            <a:off x="4714875" y="1671638"/>
            <a:ext cx="4000500" cy="428625"/>
          </a:xfrm>
          <a:prstGeom prst="rect">
            <a:avLst/>
          </a:prstGeom>
          <a:noFill/>
          <a:ln/>
        </p:spPr>
        <p:txBody>
          <a:bodyPr wrap="square" lIns="170053" tIns="127508" rIns="0" bIns="0" rtlCol="0" anchor="t">
            <a:spAutoFit/>
          </a:bodyPr>
          <a:lstStyle/>
          <a:p>
            <a:pPr algn="l" indent="0" marL="0">
              <a:buNone/>
            </a:pPr>
            <a:r>
              <a:rPr lang="en-US" sz="1250" dirty="0">
                <a:solidFill>
                  <a:srgbClr val="FBC02D"/>
                </a:solidFill>
                <a:latin typeface="Space Grotesk Bold" pitchFamily="34" charset="0"/>
                <a:ea typeface="Space Grotesk Bold" pitchFamily="34" charset="-122"/>
                <a:cs typeface="Space Grotesk Bold" pitchFamily="34" charset="-120"/>
              </a:rPr>
              <a:t>DOING RESPONSIBILITIES</a:t>
            </a:r>
            <a:endParaRPr lang="en-US" sz="1250" dirty="0"/>
          </a:p>
        </p:txBody>
      </p:sp>
      <p:sp>
        <p:nvSpPr>
          <p:cNvPr id="20" name="Shape 16"/>
          <p:cNvSpPr/>
          <p:nvPr/>
        </p:nvSpPr>
        <p:spPr>
          <a:xfrm>
            <a:off x="4714875" y="2100263"/>
            <a:ext cx="4000500" cy="2414588"/>
          </a:xfrm>
          <a:prstGeom prst="rect">
            <a:avLst/>
          </a:prstGeom>
          <a:solidFill>
            <a:srgbClr val="FFFFFF"/>
          </a:solidFill>
          <a:ln w="27432">
            <a:solidFill>
              <a:srgbClr val="263238"/>
            </a:solidFill>
            <a:prstDash val="solid"/>
          </a:ln>
        </p:spPr>
      </p:sp>
      <p:sp>
        <p:nvSpPr>
          <p:cNvPr id="21" name="Shape 17"/>
          <p:cNvSpPr/>
          <p:nvPr/>
        </p:nvSpPr>
        <p:spPr>
          <a:xfrm>
            <a:off x="4929188" y="2357438"/>
            <a:ext cx="142875" cy="142875"/>
          </a:xfrm>
          <a:prstGeom prst="rect">
            <a:avLst/>
          </a:prstGeom>
          <a:solidFill>
            <a:srgbClr val="FBC02D"/>
          </a:solidFill>
          <a:ln w="18288">
            <a:solidFill>
              <a:srgbClr val="263238"/>
            </a:solidFill>
            <a:prstDash val="solid"/>
          </a:ln>
        </p:spPr>
      </p:sp>
      <p:sp>
        <p:nvSpPr>
          <p:cNvPr id="22" name="Text 18"/>
          <p:cNvSpPr/>
          <p:nvPr/>
        </p:nvSpPr>
        <p:spPr>
          <a:xfrm>
            <a:off x="5179219" y="2314575"/>
            <a:ext cx="3321844" cy="200025"/>
          </a:xfrm>
          <a:prstGeom prst="rect">
            <a:avLst/>
          </a:prstGeom>
          <a:noFill/>
          <a:ln/>
        </p:spPr>
        <p:txBody>
          <a:bodyPr wrap="none" lIns="0" tIns="0" rIns="0" bIns="0" rtlCol="0" anchor="t">
            <a:spAutoFit/>
          </a:bodyPr>
          <a:lstStyle/>
          <a:p>
            <a:pPr algn="l" indent="0" marL="0">
              <a:lnSpc>
                <a:spcPct val="112000"/>
              </a:lnSpc>
              <a:buNone/>
            </a:pPr>
            <a:r>
              <a:rPr lang="en-US" sz="1000" b="1" dirty="0">
                <a:solidFill>
                  <a:srgbClr val="263238"/>
                </a:solidFill>
                <a:latin typeface="Inter Bold" pitchFamily="34" charset="0"/>
                <a:ea typeface="Inter Bold" pitchFamily="34" charset="-122"/>
                <a:cs typeface="Inter Bold" pitchFamily="34" charset="-120"/>
              </a:rPr>
              <a:t>Lifecycle Validation</a:t>
            </a:r>
            <a:endParaRPr lang="en-US" sz="1000" dirty="0"/>
          </a:p>
        </p:txBody>
      </p:sp>
      <p:sp>
        <p:nvSpPr>
          <p:cNvPr id="23" name="Text 19"/>
          <p:cNvSpPr/>
          <p:nvPr/>
        </p:nvSpPr>
        <p:spPr>
          <a:xfrm>
            <a:off x="5179219" y="2562820"/>
            <a:ext cx="2294930" cy="373261"/>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455A64"/>
                </a:solidFill>
                <a:latin typeface="Inter" pitchFamily="34" charset="0"/>
                <a:ea typeface="Inter" pitchFamily="34" charset="-122"/>
                <a:cs typeface="Inter" pitchFamily="34" charset="-120"/>
              </a:rPr>
              <a:t>Executing state transitions of an AttendanceRecord (e.g., Verified).</a:t>
            </a:r>
            <a:endParaRPr lang="en-US" sz="1050" dirty="0"/>
          </a:p>
        </p:txBody>
      </p:sp>
      <p:sp>
        <p:nvSpPr>
          <p:cNvPr id="24" name="Shape 20"/>
          <p:cNvSpPr/>
          <p:nvPr/>
        </p:nvSpPr>
        <p:spPr>
          <a:xfrm>
            <a:off x="4929188" y="3171825"/>
            <a:ext cx="142875" cy="142875"/>
          </a:xfrm>
          <a:prstGeom prst="rect">
            <a:avLst/>
          </a:prstGeom>
          <a:solidFill>
            <a:srgbClr val="FBC02D"/>
          </a:solidFill>
          <a:ln w="18288">
            <a:solidFill>
              <a:srgbClr val="263238"/>
            </a:solidFill>
            <a:prstDash val="solid"/>
          </a:ln>
        </p:spPr>
      </p:sp>
      <p:sp>
        <p:nvSpPr>
          <p:cNvPr id="25" name="Text 21"/>
          <p:cNvSpPr/>
          <p:nvPr/>
        </p:nvSpPr>
        <p:spPr>
          <a:xfrm>
            <a:off x="5179219" y="3128963"/>
            <a:ext cx="3321844" cy="200025"/>
          </a:xfrm>
          <a:prstGeom prst="rect">
            <a:avLst/>
          </a:prstGeom>
          <a:noFill/>
          <a:ln/>
        </p:spPr>
        <p:txBody>
          <a:bodyPr wrap="none" lIns="0" tIns="0" rIns="0" bIns="0" rtlCol="0" anchor="t">
            <a:spAutoFit/>
          </a:bodyPr>
          <a:lstStyle/>
          <a:p>
            <a:pPr algn="l" indent="0" marL="0">
              <a:lnSpc>
                <a:spcPct val="112000"/>
              </a:lnSpc>
              <a:buNone/>
            </a:pPr>
            <a:r>
              <a:rPr lang="en-US" sz="1000" b="1" dirty="0">
                <a:solidFill>
                  <a:srgbClr val="263238"/>
                </a:solidFill>
                <a:latin typeface="Inter Bold" pitchFamily="34" charset="0"/>
                <a:ea typeface="Inter Bold" pitchFamily="34" charset="-122"/>
                <a:cs typeface="Inter Bold" pitchFamily="34" charset="-120"/>
              </a:rPr>
              <a:t>Signal Broadcasting</a:t>
            </a:r>
            <a:endParaRPr lang="en-US" sz="1000" dirty="0"/>
          </a:p>
        </p:txBody>
      </p:sp>
      <p:sp>
        <p:nvSpPr>
          <p:cNvPr id="26" name="Text 22"/>
          <p:cNvSpPr/>
          <p:nvPr/>
        </p:nvSpPr>
        <p:spPr>
          <a:xfrm>
            <a:off x="5179219" y="3377208"/>
            <a:ext cx="3143250" cy="373261"/>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455A64"/>
                </a:solidFill>
                <a:latin typeface="Inter" pitchFamily="34" charset="0"/>
                <a:ea typeface="Inter" pitchFamily="34" charset="-122"/>
                <a:cs typeface="Inter" pitchFamily="34" charset="-120"/>
              </a:rPr>
              <a:t>Triggering physical hardware responses (lock-control) based on logic.</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THE INFORMATION EXPERT PRINCIPLE</a:t>
            </a:r>
            <a:endParaRPr lang="en-US" sz="1600" dirty="0"/>
          </a:p>
        </p:txBody>
      </p:sp>
      <p:sp>
        <p:nvSpPr>
          <p:cNvPr id="6" name="Shape 2"/>
          <p:cNvSpPr/>
          <p:nvPr/>
        </p:nvSpPr>
        <p:spPr>
          <a:xfrm>
            <a:off x="428625" y="1143000"/>
            <a:ext cx="8286750" cy="1057275"/>
          </a:xfrm>
          <a:prstGeom prst="rect">
            <a:avLst/>
          </a:prstGeom>
          <a:solidFill>
            <a:srgbClr val="FBC02D"/>
          </a:solidFill>
          <a:ln w="27432">
            <a:solidFill>
              <a:srgbClr val="263238"/>
            </a:solidFill>
            <a:prstDash val="solid"/>
          </a:ln>
        </p:spPr>
      </p:sp>
      <p:sp>
        <p:nvSpPr>
          <p:cNvPr id="7" name="Text 3"/>
          <p:cNvSpPr/>
          <p:nvPr/>
        </p:nvSpPr>
        <p:spPr>
          <a:xfrm>
            <a:off x="642938" y="1285875"/>
            <a:ext cx="7858125" cy="217884"/>
          </a:xfrm>
          <a:prstGeom prst="rect">
            <a:avLst/>
          </a:prstGeom>
          <a:noFill/>
          <a:ln/>
        </p:spPr>
        <p:txBody>
          <a:bodyPr wrap="square" lIns="0" tIns="0" rIns="0" bIns="0" rtlCol="0" anchor="t">
            <a:spAutoFit/>
          </a:bodyPr>
          <a:lstStyle/>
          <a:p>
            <a:pPr algn="l" indent="0" marL="0">
              <a:buNone/>
            </a:pPr>
            <a:r>
              <a:rPr lang="en-US" sz="1250" dirty="0">
                <a:solidFill>
                  <a:srgbClr val="263238"/>
                </a:solidFill>
                <a:latin typeface="Space Grotesk Bold" pitchFamily="34" charset="0"/>
                <a:ea typeface="Space Grotesk Bold" pitchFamily="34" charset="-122"/>
                <a:cs typeface="Space Grotesk Bold" pitchFamily="34" charset="-120"/>
              </a:rPr>
              <a:t>GRASP INFORMATION EXPERT</a:t>
            </a:r>
            <a:endParaRPr lang="en-US" sz="1250" dirty="0"/>
          </a:p>
        </p:txBody>
      </p:sp>
      <p:sp>
        <p:nvSpPr>
          <p:cNvPr id="8" name="Text 4"/>
          <p:cNvSpPr/>
          <p:nvPr/>
        </p:nvSpPr>
        <p:spPr>
          <a:xfrm>
            <a:off x="642938" y="1575197"/>
            <a:ext cx="7858125" cy="189309"/>
          </a:xfrm>
          <a:prstGeom prst="rect">
            <a:avLst/>
          </a:prstGeom>
          <a:noFill/>
          <a:ln/>
        </p:spPr>
        <p:txBody>
          <a:bodyPr wrap="square" lIns="0" tIns="0" rIns="0" bIns="0" rtlCol="0" anchor="t">
            <a:spAutoFit/>
          </a:bodyPr>
          <a:lstStyle/>
          <a:p>
            <a:pPr algn="l" indent="0" marL="0">
              <a:buNone/>
            </a:pPr>
            <a:r>
              <a:rPr lang="en-US" sz="1100" b="1" i="1" dirty="0">
                <a:solidFill>
                  <a:srgbClr val="263238"/>
                </a:solidFill>
                <a:latin typeface="Inter Bold" pitchFamily="34" charset="0"/>
                <a:ea typeface="Inter Bold" pitchFamily="34" charset="-122"/>
                <a:cs typeface="Inter Bold" pitchFamily="34" charset="-120"/>
              </a:rPr>
              <a:t>"Assign a responsibility to the class that has the information necessary to fulfill it."</a:t>
            </a:r>
            <a:endParaRPr lang="en-US" sz="1100" dirty="0"/>
          </a:p>
        </p:txBody>
      </p:sp>
      <p:sp>
        <p:nvSpPr>
          <p:cNvPr id="9" name="Text 5"/>
          <p:cNvSpPr/>
          <p:nvPr/>
        </p:nvSpPr>
        <p:spPr>
          <a:xfrm>
            <a:off x="628650" y="2600325"/>
            <a:ext cx="3436786" cy="217884"/>
          </a:xfrm>
          <a:prstGeom prst="rect">
            <a:avLst/>
          </a:prstGeom>
          <a:noFill/>
          <a:ln/>
        </p:spPr>
        <p:txBody>
          <a:bodyPr wrap="square" lIns="0" tIns="0" rIns="0" bIns="0" rtlCol="0" anchor="t">
            <a:spAutoFit/>
          </a:bodyPr>
          <a:lstStyle/>
          <a:p>
            <a:pPr algn="l" indent="0" marL="0">
              <a:buNone/>
            </a:pPr>
            <a:r>
              <a:rPr lang="en-US" sz="1200" b="1" dirty="0">
                <a:solidFill>
                  <a:srgbClr val="263238"/>
                </a:solidFill>
                <a:latin typeface="Space Grotesk Bold" pitchFamily="34" charset="0"/>
                <a:ea typeface="Space Grotesk Bold" pitchFamily="34" charset="-122"/>
                <a:cs typeface="Space Grotesk Bold" pitchFamily="34" charset="-120"/>
              </a:rPr>
              <a:t>Case Study: Hanoi Move Legality</a:t>
            </a:r>
            <a:endParaRPr lang="en-US" sz="1200" dirty="0"/>
          </a:p>
        </p:txBody>
      </p:sp>
      <p:sp>
        <p:nvSpPr>
          <p:cNvPr id="10" name="Shape 6"/>
          <p:cNvSpPr/>
          <p:nvPr/>
        </p:nvSpPr>
        <p:spPr>
          <a:xfrm>
            <a:off x="628650" y="2975372"/>
            <a:ext cx="85725" cy="85725"/>
          </a:xfrm>
          <a:prstGeom prst="rect">
            <a:avLst/>
          </a:prstGeom>
          <a:solidFill>
            <a:srgbClr val="263238"/>
          </a:solidFill>
          <a:ln/>
        </p:spPr>
      </p:sp>
      <p:sp>
        <p:nvSpPr>
          <p:cNvPr id="11" name="Text 7"/>
          <p:cNvSpPr/>
          <p:nvPr/>
        </p:nvSpPr>
        <p:spPr>
          <a:xfrm>
            <a:off x="628650" y="2932509"/>
            <a:ext cx="3436786"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The Rule:</a:t>
            </a:r>
            <a:r>
              <a:rPr lang="en-US" sz="950" dirty="0">
                <a:solidFill>
                  <a:srgbClr val="455A64"/>
                </a:solidFill>
                <a:latin typeface="Inter" pitchFamily="34" charset="0"/>
                <a:ea typeface="Inter" pitchFamily="34" charset="-122"/>
                <a:cs typeface="Inter" pitchFamily="34" charset="-120"/>
              </a:rPr>
              <a:t> A larger ring cannot be placed on a smaller ring.</a:t>
            </a:r>
            <a:endParaRPr lang="en-US" sz="900" dirty="0"/>
          </a:p>
        </p:txBody>
      </p:sp>
      <p:sp>
        <p:nvSpPr>
          <p:cNvPr id="12" name="Shape 8"/>
          <p:cNvSpPr/>
          <p:nvPr/>
        </p:nvSpPr>
        <p:spPr>
          <a:xfrm>
            <a:off x="628650" y="3442562"/>
            <a:ext cx="85725" cy="85725"/>
          </a:xfrm>
          <a:prstGeom prst="rect">
            <a:avLst/>
          </a:prstGeom>
          <a:solidFill>
            <a:srgbClr val="263238"/>
          </a:solidFill>
          <a:ln/>
        </p:spPr>
      </p:sp>
      <p:sp>
        <p:nvSpPr>
          <p:cNvPr id="13" name="Text 9"/>
          <p:cNvSpPr/>
          <p:nvPr/>
        </p:nvSpPr>
        <p:spPr>
          <a:xfrm>
            <a:off x="628650" y="3399699"/>
            <a:ext cx="3436786"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pitchFamily="34" charset="0"/>
                <a:ea typeface="Inter" pitchFamily="34" charset="-122"/>
                <a:cs typeface="Inter" pitchFamily="34" charset="-120"/>
              </a:rPr>
              <a:t>The Question:</a:t>
            </a:r>
            <a:r>
              <a:rPr lang="en-US" sz="950" dirty="0">
                <a:solidFill>
                  <a:srgbClr val="455A64"/>
                </a:solidFill>
                <a:latin typeface="Inter" pitchFamily="34" charset="0"/>
                <a:ea typeface="Inter" pitchFamily="34" charset="-122"/>
                <a:cs typeface="Inter" pitchFamily="34" charset="-120"/>
              </a:rPr>
              <a:t> Who should validate if a move is legal?</a:t>
            </a:r>
            <a:endParaRPr lang="en-US" sz="900" dirty="0"/>
          </a:p>
        </p:txBody>
      </p:sp>
      <p:sp>
        <p:nvSpPr>
          <p:cNvPr id="14" name="Shape 10"/>
          <p:cNvSpPr/>
          <p:nvPr/>
        </p:nvSpPr>
        <p:spPr>
          <a:xfrm>
            <a:off x="4351186" y="2428875"/>
            <a:ext cx="4364189" cy="1752340"/>
          </a:xfrm>
          <a:prstGeom prst="rect">
            <a:avLst/>
          </a:prstGeom>
          <a:solidFill>
            <a:srgbClr val="FFFFFF"/>
          </a:solidFill>
          <a:ln w="27432">
            <a:solidFill>
              <a:srgbClr val="263238"/>
            </a:solidFill>
            <a:prstDash val="solid"/>
          </a:ln>
        </p:spPr>
      </p:sp>
      <p:sp>
        <p:nvSpPr>
          <p:cNvPr id="15" name="Text 11"/>
          <p:cNvSpPr/>
          <p:nvPr/>
        </p:nvSpPr>
        <p:spPr>
          <a:xfrm>
            <a:off x="4565498" y="2743200"/>
            <a:ext cx="3935564" cy="217884"/>
          </a:xfrm>
          <a:prstGeom prst="rect">
            <a:avLst/>
          </a:prstGeom>
          <a:noFill/>
          <a:ln/>
        </p:spPr>
        <p:txBody>
          <a:bodyPr wrap="square" lIns="0" tIns="0" rIns="0" bIns="0" rtlCol="0" anchor="t">
            <a:spAutoFit/>
          </a:bodyPr>
          <a:lstStyle/>
          <a:p>
            <a:pPr algn="l" indent="0" marL="0">
              <a:buNone/>
            </a:pPr>
            <a:r>
              <a:rPr lang="en-US" sz="1200" b="1" dirty="0">
                <a:solidFill>
                  <a:srgbClr val="263238"/>
                </a:solidFill>
                <a:latin typeface="Space Grotesk Bold" pitchFamily="34" charset="0"/>
                <a:ea typeface="Space Grotesk Bold" pitchFamily="34" charset="-122"/>
                <a:cs typeface="Space Grotesk Bold" pitchFamily="34" charset="-120"/>
              </a:rPr>
              <a:t>Architectural Proof</a:t>
            </a:r>
            <a:endParaRPr lang="en-US" sz="1200" dirty="0"/>
          </a:p>
        </p:txBody>
      </p:sp>
      <p:sp>
        <p:nvSpPr>
          <p:cNvPr id="16" name="Shape 12"/>
          <p:cNvSpPr/>
          <p:nvPr/>
        </p:nvSpPr>
        <p:spPr>
          <a:xfrm>
            <a:off x="4565498" y="3118247"/>
            <a:ext cx="85725" cy="85725"/>
          </a:xfrm>
          <a:prstGeom prst="rect">
            <a:avLst/>
          </a:prstGeom>
          <a:solidFill>
            <a:srgbClr val="263238"/>
          </a:solidFill>
          <a:ln/>
        </p:spPr>
      </p:sp>
      <p:sp>
        <p:nvSpPr>
          <p:cNvPr id="17" name="Text 13"/>
          <p:cNvSpPr/>
          <p:nvPr/>
        </p:nvSpPr>
        <p:spPr>
          <a:xfrm>
            <a:off x="4565498" y="3075384"/>
            <a:ext cx="3935564" cy="180017"/>
          </a:xfrm>
          <a:prstGeom prst="rect">
            <a:avLst/>
          </a:prstGeom>
          <a:noFill/>
          <a:ln/>
        </p:spPr>
        <p:txBody>
          <a:bodyPr wrap="none" lIns="255143"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The </a:t>
            </a:r>
            <a:r>
              <a:rPr lang="en-US" sz="900" b="1" dirty="0">
                <a:solidFill>
                  <a:srgbClr val="263238"/>
                </a:solidFill>
                <a:latin typeface="Inter" pitchFamily="34" charset="0"/>
                <a:ea typeface="Inter" pitchFamily="34" charset="-122"/>
                <a:cs typeface="Inter" pitchFamily="34" charset="-120"/>
              </a:rPr>
              <a:t>Pole</a:t>
            </a:r>
            <a:r>
              <a:rPr lang="en-US" sz="950" dirty="0">
                <a:solidFill>
                  <a:srgbClr val="455A64"/>
                </a:solidFill>
                <a:latin typeface="Inter" pitchFamily="34" charset="0"/>
                <a:ea typeface="Inter" pitchFamily="34" charset="-122"/>
                <a:cs typeface="Inter" pitchFamily="34" charset="-120"/>
              </a:rPr>
              <a:t> class maintains the stack of rings.</a:t>
            </a:r>
            <a:endParaRPr lang="en-US" sz="950" dirty="0"/>
          </a:p>
        </p:txBody>
      </p:sp>
      <p:sp>
        <p:nvSpPr>
          <p:cNvPr id="18" name="Shape 14"/>
          <p:cNvSpPr/>
          <p:nvPr/>
        </p:nvSpPr>
        <p:spPr>
          <a:xfrm>
            <a:off x="4565498" y="3405420"/>
            <a:ext cx="85725" cy="85725"/>
          </a:xfrm>
          <a:prstGeom prst="rect">
            <a:avLst/>
          </a:prstGeom>
          <a:solidFill>
            <a:srgbClr val="263238"/>
          </a:solidFill>
          <a:ln/>
        </p:spPr>
      </p:sp>
      <p:sp>
        <p:nvSpPr>
          <p:cNvPr id="19" name="Text 15"/>
          <p:cNvSpPr/>
          <p:nvPr/>
        </p:nvSpPr>
        <p:spPr>
          <a:xfrm>
            <a:off x="4565498" y="3362558"/>
            <a:ext cx="3935564" cy="180017"/>
          </a:xfrm>
          <a:prstGeom prst="rect">
            <a:avLst/>
          </a:prstGeom>
          <a:noFill/>
          <a:ln/>
        </p:spPr>
        <p:txBody>
          <a:bodyPr wrap="none" lIns="255143"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The </a:t>
            </a:r>
            <a:r>
              <a:rPr lang="en-US" sz="900" b="1" dirty="0">
                <a:solidFill>
                  <a:srgbClr val="263238"/>
                </a:solidFill>
                <a:latin typeface="Inter" pitchFamily="34" charset="0"/>
                <a:ea typeface="Inter" pitchFamily="34" charset="-122"/>
                <a:cs typeface="Inter" pitchFamily="34" charset="-120"/>
              </a:rPr>
              <a:t>Pole</a:t>
            </a:r>
            <a:r>
              <a:rPr lang="en-US" sz="950" dirty="0">
                <a:solidFill>
                  <a:srgbClr val="455A64"/>
                </a:solidFill>
                <a:latin typeface="Inter" pitchFamily="34" charset="0"/>
                <a:ea typeface="Inter" pitchFamily="34" charset="-122"/>
                <a:cs typeface="Inter" pitchFamily="34" charset="-120"/>
              </a:rPr>
              <a:t> knows the size of its current top ring.</a:t>
            </a:r>
            <a:endParaRPr lang="en-US" sz="950" dirty="0"/>
          </a:p>
        </p:txBody>
      </p:sp>
      <p:sp>
        <p:nvSpPr>
          <p:cNvPr id="20" name="Shape 16"/>
          <p:cNvSpPr/>
          <p:nvPr/>
        </p:nvSpPr>
        <p:spPr>
          <a:xfrm>
            <a:off x="4565498" y="3692593"/>
            <a:ext cx="85725" cy="85725"/>
          </a:xfrm>
          <a:prstGeom prst="rect">
            <a:avLst/>
          </a:prstGeom>
          <a:solidFill>
            <a:srgbClr val="263238"/>
          </a:solidFill>
          <a:ln/>
        </p:spPr>
      </p:sp>
      <p:sp>
        <p:nvSpPr>
          <p:cNvPr id="21" name="Text 17"/>
          <p:cNvSpPr/>
          <p:nvPr/>
        </p:nvSpPr>
        <p:spPr>
          <a:xfrm>
            <a:off x="4565498" y="3649731"/>
            <a:ext cx="3935564" cy="360034"/>
          </a:xfrm>
          <a:prstGeom prst="rect">
            <a:avLst/>
          </a:prstGeom>
          <a:noFill/>
          <a:ln/>
        </p:spPr>
        <p:txBody>
          <a:bodyPr wrap="square" lIns="255143"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Therefore, the </a:t>
            </a:r>
            <a:r>
              <a:rPr lang="en-US" sz="900" b="1" dirty="0">
                <a:solidFill>
                  <a:srgbClr val="263238"/>
                </a:solidFill>
                <a:latin typeface="Inter" pitchFamily="34" charset="0"/>
                <a:ea typeface="Inter" pitchFamily="34" charset="-122"/>
                <a:cs typeface="Inter" pitchFamily="34" charset="-120"/>
              </a:rPr>
              <a:t>Pole</a:t>
            </a:r>
            <a:r>
              <a:rPr lang="en-US" sz="950" dirty="0">
                <a:solidFill>
                  <a:srgbClr val="455A64"/>
                </a:solidFill>
                <a:latin typeface="Inter" pitchFamily="34" charset="0"/>
                <a:ea typeface="Inter" pitchFamily="34" charset="-122"/>
                <a:cs typeface="Inter" pitchFamily="34" charset="-120"/>
              </a:rPr>
              <a:t>—not the Ring or Controller—must be the entity that validates move legality.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THE SETUP PROBLEM &amp; OOD CREEP</a:t>
            </a:r>
            <a:endParaRPr lang="en-US" sz="1600" dirty="0"/>
          </a:p>
        </p:txBody>
      </p:sp>
      <p:sp>
        <p:nvSpPr>
          <p:cNvPr id="6" name="Text 2"/>
          <p:cNvSpPr/>
          <p:nvPr/>
        </p:nvSpPr>
        <p:spPr>
          <a:xfrm>
            <a:off x="0" y="928688"/>
            <a:ext cx="9144000" cy="403622"/>
          </a:xfrm>
          <a:prstGeom prst="rect">
            <a:avLst/>
          </a:prstGeom>
          <a:noFill/>
          <a:ln/>
        </p:spPr>
        <p:txBody>
          <a:bodyPr wrap="square" lIns="510286" tIns="255143" rIns="510286" bIns="0" rtlCol="0" anchor="t">
            <a:spAutoFit/>
          </a:bodyPr>
          <a:lstStyle/>
          <a:p>
            <a:pPr algn="l" indent="0" marL="0">
              <a:buNone/>
            </a:pPr>
            <a:r>
              <a:rPr lang="en-US" sz="1100" b="1" dirty="0">
                <a:solidFill>
                  <a:srgbClr val="263238"/>
                </a:solidFill>
                <a:latin typeface="Inter Bold" pitchFamily="34" charset="0"/>
                <a:ea typeface="Inter Bold" pitchFamily="34" charset="-122"/>
                <a:cs typeface="Inter Bold" pitchFamily="34" charset="-120"/>
              </a:rPr>
              <a:t>Critique: Forcing Ring or Pole to handle game initialization is a fundamental design flaw.</a:t>
            </a:r>
            <a:endParaRPr lang="en-US" sz="1100" dirty="0"/>
          </a:p>
        </p:txBody>
      </p:sp>
      <p:sp>
        <p:nvSpPr>
          <p:cNvPr id="7" name="Shape 3"/>
          <p:cNvSpPr/>
          <p:nvPr/>
        </p:nvSpPr>
        <p:spPr>
          <a:xfrm>
            <a:off x="428625" y="1546622"/>
            <a:ext cx="2743200" cy="2200275"/>
          </a:xfrm>
          <a:prstGeom prst="rect">
            <a:avLst/>
          </a:prstGeom>
          <a:solidFill>
            <a:srgbClr val="FFFFFF"/>
          </a:solidFill>
          <a:ln w="27432">
            <a:solidFill>
              <a:srgbClr val="263238"/>
            </a:solidFill>
            <a:prstDash val="solid"/>
          </a:ln>
        </p:spPr>
      </p:sp>
      <p:sp>
        <p:nvSpPr>
          <p:cNvPr id="8" name="Shape 4"/>
          <p:cNvSpPr/>
          <p:nvPr/>
        </p:nvSpPr>
        <p:spPr>
          <a:xfrm>
            <a:off x="571500" y="1689497"/>
            <a:ext cx="2457450" cy="357188"/>
          </a:xfrm>
          <a:prstGeom prst="rect">
            <a:avLst/>
          </a:prstGeom>
          <a:solidFill>
            <a:srgbClr val="263238"/>
          </a:solidFill>
          <a:ln/>
        </p:spPr>
      </p:sp>
      <p:sp>
        <p:nvSpPr>
          <p:cNvPr id="9" name="Text 5"/>
          <p:cNvSpPr/>
          <p:nvPr/>
        </p:nvSpPr>
        <p:spPr>
          <a:xfrm>
            <a:off x="571500" y="1689497"/>
            <a:ext cx="2457450" cy="357188"/>
          </a:xfrm>
          <a:prstGeom prst="rect">
            <a:avLst/>
          </a:prstGeom>
          <a:noFill/>
          <a:ln/>
        </p:spPr>
        <p:txBody>
          <a:bodyPr wrap="square" lIns="127508" tIns="85090" rIns="0" bIns="0" rtlCol="0" anchor="t">
            <a:spAutoFit/>
          </a:bodyPr>
          <a:lstStyle/>
          <a:p>
            <a:pPr algn="l" indent="0" marL="0">
              <a:buNone/>
            </a:pPr>
            <a:r>
              <a:rPr lang="en-US" sz="950" dirty="0">
                <a:solidFill>
                  <a:srgbClr val="FBC02D"/>
                </a:solidFill>
                <a:latin typeface="Space Grotesk Bold" pitchFamily="34" charset="0"/>
                <a:ea typeface="Space Grotesk Bold" pitchFamily="34" charset="-122"/>
                <a:cs typeface="Space Grotesk Bold" pitchFamily="34" charset="-120"/>
              </a:rPr>
              <a:t>1. SRP BREACH</a:t>
            </a:r>
            <a:endParaRPr lang="en-US" sz="950" dirty="0"/>
          </a:p>
        </p:txBody>
      </p:sp>
      <p:sp>
        <p:nvSpPr>
          <p:cNvPr id="10" name="Text 6"/>
          <p:cNvSpPr/>
          <p:nvPr/>
        </p:nvSpPr>
        <p:spPr>
          <a:xfrm>
            <a:off x="700088" y="2205633"/>
            <a:ext cx="2244923" cy="137517"/>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55A64"/>
                </a:solidFill>
                <a:latin typeface="Inter" pitchFamily="34" charset="0"/>
                <a:ea typeface="Inter" pitchFamily="34" charset="-122"/>
                <a:cs typeface="Inter" pitchFamily="34" charset="-120"/>
              </a:rPr>
              <a:t>A Pole should manage its stack, not know</a:t>
            </a:r>
            <a:endParaRPr lang="en-US" sz="850" dirty="0"/>
          </a:p>
        </p:txBody>
      </p:sp>
      <p:sp>
        <p:nvSpPr>
          <p:cNvPr id="11" name="Text 7"/>
          <p:cNvSpPr/>
          <p:nvPr/>
        </p:nvSpPr>
        <p:spPr>
          <a:xfrm>
            <a:off x="571500" y="2377083"/>
            <a:ext cx="2319933" cy="137517"/>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55A64"/>
                </a:solidFill>
                <a:latin typeface="Inter" pitchFamily="34" charset="0"/>
                <a:ea typeface="Inter" pitchFamily="34" charset="-122"/>
                <a:cs typeface="Inter" pitchFamily="34" charset="-120"/>
              </a:rPr>
              <a:t>how to "create" a game world. Mixing logic</a:t>
            </a:r>
            <a:endParaRPr lang="en-US" sz="850" dirty="0"/>
          </a:p>
        </p:txBody>
      </p:sp>
      <p:sp>
        <p:nvSpPr>
          <p:cNvPr id="12" name="Text 8"/>
          <p:cNvSpPr/>
          <p:nvPr/>
        </p:nvSpPr>
        <p:spPr>
          <a:xfrm>
            <a:off x="571500" y="2548533"/>
            <a:ext cx="1998464" cy="137517"/>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55A64"/>
                </a:solidFill>
                <a:latin typeface="Inter" pitchFamily="34" charset="0"/>
                <a:ea typeface="Inter" pitchFamily="34" charset="-122"/>
                <a:cs typeface="Inter" pitchFamily="34" charset="-120"/>
              </a:rPr>
              <a:t>leads to multiple reasons for change.</a:t>
            </a:r>
            <a:endParaRPr lang="en-US" sz="850" dirty="0"/>
          </a:p>
        </p:txBody>
      </p:sp>
      <p:sp>
        <p:nvSpPr>
          <p:cNvPr id="13" name="Shape 9"/>
          <p:cNvSpPr/>
          <p:nvPr/>
        </p:nvSpPr>
        <p:spPr>
          <a:xfrm>
            <a:off x="3200400" y="1546622"/>
            <a:ext cx="2743200" cy="2200275"/>
          </a:xfrm>
          <a:prstGeom prst="rect">
            <a:avLst/>
          </a:prstGeom>
          <a:solidFill>
            <a:srgbClr val="FFFFFF"/>
          </a:solidFill>
          <a:ln w="27432">
            <a:solidFill>
              <a:srgbClr val="263238"/>
            </a:solidFill>
            <a:prstDash val="solid"/>
          </a:ln>
        </p:spPr>
      </p:sp>
      <p:sp>
        <p:nvSpPr>
          <p:cNvPr id="14" name="Shape 10"/>
          <p:cNvSpPr/>
          <p:nvPr/>
        </p:nvSpPr>
        <p:spPr>
          <a:xfrm>
            <a:off x="3343275" y="1689497"/>
            <a:ext cx="2457450" cy="357188"/>
          </a:xfrm>
          <a:prstGeom prst="rect">
            <a:avLst/>
          </a:prstGeom>
          <a:solidFill>
            <a:srgbClr val="263238"/>
          </a:solidFill>
          <a:ln/>
        </p:spPr>
      </p:sp>
      <p:sp>
        <p:nvSpPr>
          <p:cNvPr id="15" name="Text 11"/>
          <p:cNvSpPr/>
          <p:nvPr/>
        </p:nvSpPr>
        <p:spPr>
          <a:xfrm>
            <a:off x="3343275" y="1689497"/>
            <a:ext cx="2457450" cy="357188"/>
          </a:xfrm>
          <a:prstGeom prst="rect">
            <a:avLst/>
          </a:prstGeom>
          <a:noFill/>
          <a:ln/>
        </p:spPr>
        <p:txBody>
          <a:bodyPr wrap="square" lIns="127508" tIns="85090" rIns="0" bIns="0" rtlCol="0" anchor="t">
            <a:spAutoFit/>
          </a:bodyPr>
          <a:lstStyle/>
          <a:p>
            <a:pPr algn="l" indent="0" marL="0">
              <a:buNone/>
            </a:pPr>
            <a:r>
              <a:rPr lang="en-US" sz="950" dirty="0">
                <a:solidFill>
                  <a:srgbClr val="FBC02D"/>
                </a:solidFill>
                <a:latin typeface="Space Grotesk Bold" pitchFamily="34" charset="0"/>
                <a:ea typeface="Space Grotesk Bold" pitchFamily="34" charset="-122"/>
                <a:cs typeface="Space Grotesk Bold" pitchFamily="34" charset="-120"/>
              </a:rPr>
              <a:t>2. HIGH COUPLING</a:t>
            </a:r>
            <a:endParaRPr lang="en-US" sz="950" dirty="0"/>
          </a:p>
        </p:txBody>
      </p:sp>
      <p:sp>
        <p:nvSpPr>
          <p:cNvPr id="16" name="Text 12"/>
          <p:cNvSpPr/>
          <p:nvPr/>
        </p:nvSpPr>
        <p:spPr>
          <a:xfrm>
            <a:off x="3471863" y="2205633"/>
            <a:ext cx="2085975" cy="137517"/>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55A64"/>
                </a:solidFill>
                <a:latin typeface="Inter" pitchFamily="34" charset="0"/>
                <a:ea typeface="Inter" pitchFamily="34" charset="-122"/>
                <a:cs typeface="Inter" pitchFamily="34" charset="-120"/>
              </a:rPr>
              <a:t>Domain objects become dependent on</a:t>
            </a:r>
            <a:endParaRPr lang="en-US" sz="850" dirty="0"/>
          </a:p>
        </p:txBody>
      </p:sp>
      <p:sp>
        <p:nvSpPr>
          <p:cNvPr id="17" name="Text 13"/>
          <p:cNvSpPr/>
          <p:nvPr/>
        </p:nvSpPr>
        <p:spPr>
          <a:xfrm>
            <a:off x="3343275" y="2377083"/>
            <a:ext cx="2336006" cy="137517"/>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55A64"/>
                </a:solidFill>
                <a:latin typeface="Inter" pitchFamily="34" charset="0"/>
                <a:ea typeface="Inter" pitchFamily="34" charset="-122"/>
                <a:cs typeface="Inter" pitchFamily="34" charset="-120"/>
              </a:rPr>
              <a:t>specific setup configurations, making them</a:t>
            </a:r>
            <a:endParaRPr lang="en-US" sz="850" dirty="0"/>
          </a:p>
        </p:txBody>
      </p:sp>
      <p:sp>
        <p:nvSpPr>
          <p:cNvPr id="18" name="Text 14"/>
          <p:cNvSpPr/>
          <p:nvPr/>
        </p:nvSpPr>
        <p:spPr>
          <a:xfrm>
            <a:off x="3343275" y="2548533"/>
            <a:ext cx="2343150" cy="137517"/>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55A64"/>
                </a:solidFill>
                <a:latin typeface="Inter" pitchFamily="34" charset="0"/>
                <a:ea typeface="Inter" pitchFamily="34" charset="-122"/>
                <a:cs typeface="Inter" pitchFamily="34" charset="-120"/>
              </a:rPr>
              <a:t>less reusable and harder to test in isolation.</a:t>
            </a:r>
            <a:endParaRPr lang="en-US" sz="850" dirty="0"/>
          </a:p>
        </p:txBody>
      </p:sp>
      <p:sp>
        <p:nvSpPr>
          <p:cNvPr id="19" name="Shape 15"/>
          <p:cNvSpPr/>
          <p:nvPr/>
        </p:nvSpPr>
        <p:spPr>
          <a:xfrm>
            <a:off x="5972175" y="1546622"/>
            <a:ext cx="2743200" cy="2200275"/>
          </a:xfrm>
          <a:prstGeom prst="rect">
            <a:avLst/>
          </a:prstGeom>
          <a:solidFill>
            <a:srgbClr val="FFFFFF"/>
          </a:solidFill>
          <a:ln w="27432">
            <a:solidFill>
              <a:srgbClr val="263238"/>
            </a:solidFill>
            <a:prstDash val="solid"/>
          </a:ln>
        </p:spPr>
      </p:sp>
      <p:sp>
        <p:nvSpPr>
          <p:cNvPr id="20" name="Shape 16"/>
          <p:cNvSpPr/>
          <p:nvPr/>
        </p:nvSpPr>
        <p:spPr>
          <a:xfrm>
            <a:off x="6115050" y="1689497"/>
            <a:ext cx="2457450" cy="357188"/>
          </a:xfrm>
          <a:prstGeom prst="rect">
            <a:avLst/>
          </a:prstGeom>
          <a:solidFill>
            <a:srgbClr val="263238"/>
          </a:solidFill>
          <a:ln/>
        </p:spPr>
      </p:sp>
      <p:sp>
        <p:nvSpPr>
          <p:cNvPr id="21" name="Text 17"/>
          <p:cNvSpPr/>
          <p:nvPr/>
        </p:nvSpPr>
        <p:spPr>
          <a:xfrm>
            <a:off x="6115050" y="1689497"/>
            <a:ext cx="2457450" cy="357188"/>
          </a:xfrm>
          <a:prstGeom prst="rect">
            <a:avLst/>
          </a:prstGeom>
          <a:noFill/>
          <a:ln/>
        </p:spPr>
        <p:txBody>
          <a:bodyPr wrap="square" lIns="127508" tIns="85090" rIns="0" bIns="0" rtlCol="0" anchor="t">
            <a:spAutoFit/>
          </a:bodyPr>
          <a:lstStyle/>
          <a:p>
            <a:pPr algn="l" indent="0" marL="0">
              <a:buNone/>
            </a:pPr>
            <a:r>
              <a:rPr lang="en-US" sz="950" dirty="0">
                <a:solidFill>
                  <a:srgbClr val="FBC02D"/>
                </a:solidFill>
                <a:latin typeface="Space Grotesk Bold" pitchFamily="34" charset="0"/>
                <a:ea typeface="Space Grotesk Bold" pitchFamily="34" charset="-122"/>
                <a:cs typeface="Space Grotesk Bold" pitchFamily="34" charset="-120"/>
              </a:rPr>
              <a:t>3. COHESION BREAKDOWN</a:t>
            </a:r>
            <a:endParaRPr lang="en-US" sz="950" dirty="0"/>
          </a:p>
        </p:txBody>
      </p:sp>
      <p:sp>
        <p:nvSpPr>
          <p:cNvPr id="22" name="Text 18"/>
          <p:cNvSpPr/>
          <p:nvPr/>
        </p:nvSpPr>
        <p:spPr>
          <a:xfrm>
            <a:off x="6243638" y="2205633"/>
            <a:ext cx="2168128" cy="137517"/>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55A64"/>
                </a:solidFill>
                <a:latin typeface="Inter" pitchFamily="34" charset="0"/>
                <a:ea typeface="Inter" pitchFamily="34" charset="-122"/>
                <a:cs typeface="Inter" pitchFamily="34" charset="-120"/>
              </a:rPr>
              <a:t>The class becomes a fragmented mix of</a:t>
            </a:r>
            <a:endParaRPr lang="en-US" sz="850" dirty="0"/>
          </a:p>
        </p:txBody>
      </p:sp>
      <p:sp>
        <p:nvSpPr>
          <p:cNvPr id="23" name="Text 19"/>
          <p:cNvSpPr/>
          <p:nvPr/>
        </p:nvSpPr>
        <p:spPr>
          <a:xfrm>
            <a:off x="6115050" y="2377083"/>
            <a:ext cx="2321719" cy="137517"/>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55A64"/>
                </a:solidFill>
                <a:latin typeface="Inter" pitchFamily="34" charset="0"/>
                <a:ea typeface="Inter" pitchFamily="34" charset="-122"/>
                <a:cs typeface="Inter" pitchFamily="34" charset="-120"/>
              </a:rPr>
              <a:t>"being a domain entity" and "being a game</a:t>
            </a:r>
            <a:endParaRPr lang="en-US" sz="850" dirty="0"/>
          </a:p>
        </p:txBody>
      </p:sp>
      <p:sp>
        <p:nvSpPr>
          <p:cNvPr id="24" name="Text 20"/>
          <p:cNvSpPr/>
          <p:nvPr/>
        </p:nvSpPr>
        <p:spPr>
          <a:xfrm>
            <a:off x="6115050" y="2548533"/>
            <a:ext cx="1912739" cy="137517"/>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55A64"/>
                </a:solidFill>
                <a:latin typeface="Inter" pitchFamily="34" charset="0"/>
                <a:ea typeface="Inter" pitchFamily="34" charset="-122"/>
                <a:cs typeface="Inter" pitchFamily="34" charset="-120"/>
              </a:rPr>
              <a:t>launcher," diluting its core purpose.</a:t>
            </a:r>
            <a:endParaRPr lang="en-US" sz="850" dirty="0"/>
          </a:p>
        </p:txBody>
      </p:sp>
      <p:sp>
        <p:nvSpPr>
          <p:cNvPr id="25" name="Shape 21"/>
          <p:cNvSpPr/>
          <p:nvPr/>
        </p:nvSpPr>
        <p:spPr>
          <a:xfrm>
            <a:off x="428625" y="3975497"/>
            <a:ext cx="8286750" cy="771525"/>
          </a:xfrm>
          <a:prstGeom prst="rect">
            <a:avLst/>
          </a:prstGeom>
          <a:solidFill>
            <a:srgbClr val="FBC02D"/>
          </a:solidFill>
          <a:ln w="27432">
            <a:solidFill>
              <a:srgbClr val="263238"/>
            </a:solidFill>
            <a:prstDash val="solid"/>
          </a:ln>
        </p:spPr>
      </p:sp>
      <p:sp>
        <p:nvSpPr>
          <p:cNvPr id="26" name="Text 22"/>
          <p:cNvSpPr/>
          <p:nvPr/>
        </p:nvSpPr>
        <p:spPr>
          <a:xfrm>
            <a:off x="642938" y="4118372"/>
            <a:ext cx="8072438" cy="182166"/>
          </a:xfrm>
          <a:prstGeom prst="rect">
            <a:avLst/>
          </a:prstGeom>
          <a:noFill/>
          <a:ln/>
        </p:spPr>
        <p:txBody>
          <a:bodyPr wrap="square" lIns="0" tIns="0" rIns="0" bIns="0" rtlCol="0" anchor="t">
            <a:spAutoFit/>
          </a:bodyPr>
          <a:lstStyle/>
          <a:p>
            <a:pPr algn="l" indent="0" marL="0">
              <a:buNone/>
            </a:pPr>
            <a:r>
              <a:rPr lang="en-US" sz="1000" b="1" dirty="0">
                <a:solidFill>
                  <a:srgbClr val="263238"/>
                </a:solidFill>
                <a:latin typeface="Space Grotesk Bold" pitchFamily="34" charset="0"/>
                <a:ea typeface="Space Grotesk Bold" pitchFamily="34" charset="-122"/>
                <a:cs typeface="Space Grotesk Bold" pitchFamily="34" charset="-120"/>
              </a:rPr>
              <a:t>ARCHITECTURAL SOLUTION</a:t>
            </a:r>
            <a:endParaRPr lang="en-US" sz="1000" dirty="0"/>
          </a:p>
        </p:txBody>
      </p:sp>
      <p:sp>
        <p:nvSpPr>
          <p:cNvPr id="27" name="Text 23"/>
          <p:cNvSpPr/>
          <p:nvPr/>
        </p:nvSpPr>
        <p:spPr>
          <a:xfrm>
            <a:off x="642938" y="4336256"/>
            <a:ext cx="8072438" cy="155377"/>
          </a:xfrm>
          <a:prstGeom prst="rect">
            <a:avLst/>
          </a:prstGeom>
          <a:noFill/>
          <a:ln/>
        </p:spPr>
        <p:txBody>
          <a:bodyPr wrap="square" lIns="0" tIns="0" rIns="0" bIns="0" rtlCol="0" anchor="t">
            <a:spAutoFit/>
          </a:bodyPr>
          <a:lstStyle/>
          <a:p>
            <a:pPr algn="l" indent="0" marL="0">
              <a:buNone/>
            </a:pPr>
            <a:r>
              <a:rPr lang="en-US" sz="950" dirty="0">
                <a:solidFill>
                  <a:srgbClr val="263238"/>
                </a:solidFill>
                <a:latin typeface="Inter" pitchFamily="34" charset="0"/>
                <a:ea typeface="Inter" pitchFamily="34" charset="-122"/>
                <a:cs typeface="Inter" pitchFamily="34" charset="-120"/>
              </a:rPr>
              <a:t>Implement a </a:t>
            </a:r>
            <a:r>
              <a:rPr lang="en-US" sz="900" b="1" dirty="0">
                <a:solidFill>
                  <a:srgbClr val="263238"/>
                </a:solidFill>
                <a:latin typeface="Inter Bold" pitchFamily="34" charset="0"/>
                <a:ea typeface="Inter Bold" pitchFamily="34" charset="-122"/>
                <a:cs typeface="Inter Bold" pitchFamily="34" charset="-120"/>
              </a:rPr>
              <a:t>Creational Pattern</a:t>
            </a:r>
            <a:r>
              <a:rPr lang="en-US" sz="950" dirty="0">
                <a:solidFill>
                  <a:srgbClr val="263238"/>
                </a:solidFill>
                <a:latin typeface="Inter" pitchFamily="34" charset="0"/>
                <a:ea typeface="Inter" pitchFamily="34" charset="-122"/>
                <a:cs typeface="Inter" pitchFamily="34" charset="-120"/>
              </a:rPr>
              <a:t> (Factory) or a dedicated </a:t>
            </a:r>
            <a:r>
              <a:rPr lang="en-US" sz="900" b="1" dirty="0">
                <a:solidFill>
                  <a:srgbClr val="263238"/>
                </a:solidFill>
                <a:latin typeface="Inter Bold" pitchFamily="34" charset="0"/>
                <a:ea typeface="Inter Bold" pitchFamily="34" charset="-122"/>
                <a:cs typeface="Inter Bold" pitchFamily="34" charset="-120"/>
              </a:rPr>
              <a:t>Coordinator</a:t>
            </a:r>
            <a:r>
              <a:rPr lang="en-US" sz="950" dirty="0">
                <a:solidFill>
                  <a:srgbClr val="263238"/>
                </a:solidFill>
                <a:latin typeface="Inter" pitchFamily="34" charset="0"/>
                <a:ea typeface="Inter" pitchFamily="34" charset="-122"/>
                <a:cs typeface="Inter" pitchFamily="34" charset="-120"/>
              </a:rPr>
              <a:t> class to handle orchestration.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MESSAGE-PASSING CONTRACTS - CLIENTS &amp; SERVERS</a:t>
            </a:r>
            <a:endParaRPr lang="en-US" sz="1600" dirty="0"/>
          </a:p>
        </p:txBody>
      </p:sp>
      <p:sp>
        <p:nvSpPr>
          <p:cNvPr id="6" name="Shape 2"/>
          <p:cNvSpPr/>
          <p:nvPr/>
        </p:nvSpPr>
        <p:spPr>
          <a:xfrm>
            <a:off x="0" y="957263"/>
            <a:ext cx="9144000" cy="457200"/>
          </a:xfrm>
          <a:prstGeom prst="rect">
            <a:avLst/>
          </a:prstGeom>
          <a:solidFill>
            <a:srgbClr val="FBC02D"/>
          </a:solidFill>
          <a:ln/>
        </p:spPr>
      </p:sp>
      <p:sp>
        <p:nvSpPr>
          <p:cNvPr id="7" name="Shape 3"/>
          <p:cNvSpPr/>
          <p:nvPr/>
        </p:nvSpPr>
        <p:spPr>
          <a:xfrm>
            <a:off x="0" y="1385888"/>
            <a:ext cx="9144000" cy="28575"/>
          </a:xfrm>
          <a:prstGeom prst="rect">
            <a:avLst/>
          </a:prstGeom>
          <a:solidFill>
            <a:srgbClr val="263238"/>
          </a:solidFill>
          <a:ln/>
        </p:spPr>
      </p:sp>
      <p:sp>
        <p:nvSpPr>
          <p:cNvPr id="8" name="Text 4"/>
          <p:cNvSpPr/>
          <p:nvPr/>
        </p:nvSpPr>
        <p:spPr>
          <a:xfrm>
            <a:off x="428625" y="1064419"/>
            <a:ext cx="8715375" cy="182166"/>
          </a:xfrm>
          <a:prstGeom prst="rect">
            <a:avLst/>
          </a:prstGeom>
          <a:noFill/>
          <a:ln/>
        </p:spPr>
        <p:txBody>
          <a:bodyPr wrap="square" lIns="0" tIns="0" rIns="0" bIns="0" rtlCol="0" anchor="t">
            <a:spAutoFit/>
          </a:bodyPr>
          <a:lstStyle/>
          <a:p>
            <a:pPr algn="l" indent="0" marL="0">
              <a:buNone/>
            </a:pPr>
            <a:r>
              <a:rPr lang="en-US" sz="1000" b="1" dirty="0">
                <a:solidFill>
                  <a:srgbClr val="263238"/>
                </a:solidFill>
                <a:latin typeface="Space Grotesk Bold" pitchFamily="34" charset="0"/>
                <a:ea typeface="Space Grotesk Bold" pitchFamily="34" charset="-122"/>
                <a:cs typeface="Space Grotesk Bold" pitchFamily="34" charset="-120"/>
              </a:rPr>
              <a:t>ALAN KAY’S VISION: OBJECTS AS BIOLOGICAL CELLS</a:t>
            </a:r>
            <a:endParaRPr lang="en-US" sz="1000" dirty="0"/>
          </a:p>
        </p:txBody>
      </p:sp>
      <p:sp>
        <p:nvSpPr>
          <p:cNvPr id="9" name="Shape 5"/>
          <p:cNvSpPr/>
          <p:nvPr/>
        </p:nvSpPr>
        <p:spPr>
          <a:xfrm>
            <a:off x="428625" y="1671638"/>
            <a:ext cx="4000500" cy="2736056"/>
          </a:xfrm>
          <a:prstGeom prst="rect">
            <a:avLst/>
          </a:prstGeom>
          <a:solidFill>
            <a:srgbClr val="FFFFFF"/>
          </a:solidFill>
          <a:ln w="27432">
            <a:solidFill>
              <a:srgbClr val="263238"/>
            </a:solidFill>
            <a:prstDash val="solid"/>
          </a:ln>
        </p:spPr>
      </p:sp>
      <p:sp>
        <p:nvSpPr>
          <p:cNvPr id="10" name="Shape 6"/>
          <p:cNvSpPr/>
          <p:nvPr/>
        </p:nvSpPr>
        <p:spPr>
          <a:xfrm>
            <a:off x="607219" y="1850231"/>
            <a:ext cx="3643313" cy="357188"/>
          </a:xfrm>
          <a:prstGeom prst="rect">
            <a:avLst/>
          </a:prstGeom>
          <a:solidFill>
            <a:srgbClr val="263238"/>
          </a:solidFill>
          <a:ln/>
        </p:spPr>
      </p:sp>
      <p:sp>
        <p:nvSpPr>
          <p:cNvPr id="11" name="Text 7"/>
          <p:cNvSpPr/>
          <p:nvPr/>
        </p:nvSpPr>
        <p:spPr>
          <a:xfrm>
            <a:off x="607219" y="1850231"/>
            <a:ext cx="3643313" cy="357188"/>
          </a:xfrm>
          <a:prstGeom prst="rect">
            <a:avLst/>
          </a:prstGeom>
          <a:noFill/>
          <a:ln/>
        </p:spPr>
        <p:txBody>
          <a:bodyPr wrap="square" lIns="127508" tIns="85090" rIns="0" bIns="0" rtlCol="0" anchor="t">
            <a:spAutoFit/>
          </a:bodyPr>
          <a:lstStyle/>
          <a:p>
            <a:pPr algn="l" indent="0" marL="0">
              <a:buNone/>
            </a:pPr>
            <a:r>
              <a:rPr lang="en-US" sz="1150" dirty="0">
                <a:solidFill>
                  <a:srgbClr val="FBC02D"/>
                </a:solidFill>
                <a:latin typeface="Space Grotesk Bold" pitchFamily="34" charset="0"/>
                <a:ea typeface="Space Grotesk Bold" pitchFamily="34" charset="-122"/>
                <a:cs typeface="Space Grotesk Bold" pitchFamily="34" charset="-120"/>
              </a:rPr>
              <a:t>CLIENT: GAMECONTROLLER</a:t>
            </a:r>
            <a:endParaRPr lang="en-US" sz="1150" dirty="0"/>
          </a:p>
        </p:txBody>
      </p:sp>
      <p:sp>
        <p:nvSpPr>
          <p:cNvPr id="12" name="Shape 8"/>
          <p:cNvSpPr/>
          <p:nvPr/>
        </p:nvSpPr>
        <p:spPr>
          <a:xfrm>
            <a:off x="607219" y="2393156"/>
            <a:ext cx="85725" cy="85725"/>
          </a:xfrm>
          <a:prstGeom prst="rect">
            <a:avLst/>
          </a:prstGeom>
          <a:solidFill>
            <a:srgbClr val="263238"/>
          </a:solidFill>
          <a:ln/>
        </p:spPr>
      </p:sp>
      <p:sp>
        <p:nvSpPr>
          <p:cNvPr id="13" name="Text 9"/>
          <p:cNvSpPr/>
          <p:nvPr/>
        </p:nvSpPr>
        <p:spPr>
          <a:xfrm>
            <a:off x="607219" y="2350294"/>
            <a:ext cx="3643313"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Responsibility:</a:t>
            </a:r>
            <a:r>
              <a:rPr lang="en-US" sz="950" dirty="0">
                <a:solidFill>
                  <a:srgbClr val="455A64"/>
                </a:solidFill>
                <a:latin typeface="Inter" pitchFamily="34" charset="0"/>
                <a:ea typeface="Inter" pitchFamily="34" charset="-122"/>
                <a:cs typeface="Inter" pitchFamily="34" charset="-120"/>
              </a:rPr>
              <a:t> Orchestrates the high-level sequence of the game.</a:t>
            </a:r>
            <a:endParaRPr lang="en-US" sz="900" dirty="0"/>
          </a:p>
        </p:txBody>
      </p:sp>
      <p:sp>
        <p:nvSpPr>
          <p:cNvPr id="14" name="Shape 10"/>
          <p:cNvSpPr/>
          <p:nvPr/>
        </p:nvSpPr>
        <p:spPr>
          <a:xfrm>
            <a:off x="607219" y="2896065"/>
            <a:ext cx="85725" cy="85725"/>
          </a:xfrm>
          <a:prstGeom prst="rect">
            <a:avLst/>
          </a:prstGeom>
          <a:solidFill>
            <a:srgbClr val="263238"/>
          </a:solidFill>
          <a:ln/>
        </p:spPr>
      </p:sp>
      <p:sp>
        <p:nvSpPr>
          <p:cNvPr id="15" name="Text 11"/>
          <p:cNvSpPr/>
          <p:nvPr/>
        </p:nvSpPr>
        <p:spPr>
          <a:xfrm>
            <a:off x="607219" y="2853203"/>
            <a:ext cx="3643313"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Interaction:</a:t>
            </a:r>
            <a:r>
              <a:rPr lang="en-US" sz="950" dirty="0">
                <a:solidFill>
                  <a:srgbClr val="455A64"/>
                </a:solidFill>
                <a:latin typeface="Inter" pitchFamily="34" charset="0"/>
                <a:ea typeface="Inter" pitchFamily="34" charset="-122"/>
                <a:cs typeface="Inter" pitchFamily="34" charset="-120"/>
              </a:rPr>
              <a:t> Does not "move" rings; it sends requests to the Poles.</a:t>
            </a:r>
            <a:endParaRPr lang="en-US" sz="900" dirty="0"/>
          </a:p>
        </p:txBody>
      </p:sp>
      <p:sp>
        <p:nvSpPr>
          <p:cNvPr id="16" name="Shape 12"/>
          <p:cNvSpPr/>
          <p:nvPr/>
        </p:nvSpPr>
        <p:spPr>
          <a:xfrm>
            <a:off x="607219" y="3398974"/>
            <a:ext cx="85725" cy="85725"/>
          </a:xfrm>
          <a:prstGeom prst="rect">
            <a:avLst/>
          </a:prstGeom>
          <a:solidFill>
            <a:srgbClr val="263238"/>
          </a:solidFill>
          <a:ln/>
        </p:spPr>
      </p:sp>
      <p:sp>
        <p:nvSpPr>
          <p:cNvPr id="17" name="Text 13"/>
          <p:cNvSpPr/>
          <p:nvPr/>
        </p:nvSpPr>
        <p:spPr>
          <a:xfrm>
            <a:off x="607219" y="3356111"/>
            <a:ext cx="3643313"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Knowledge:</a:t>
            </a:r>
            <a:r>
              <a:rPr lang="en-US" sz="950" dirty="0">
                <a:solidFill>
                  <a:srgbClr val="455A64"/>
                </a:solidFill>
                <a:latin typeface="Inter" pitchFamily="34" charset="0"/>
                <a:ea typeface="Inter" pitchFamily="34" charset="-122"/>
                <a:cs typeface="Inter" pitchFamily="34" charset="-120"/>
              </a:rPr>
              <a:t> Knows the game state but not the internal structure of the Poles.</a:t>
            </a:r>
            <a:endParaRPr lang="en-US" sz="900" dirty="0"/>
          </a:p>
        </p:txBody>
      </p:sp>
      <p:sp>
        <p:nvSpPr>
          <p:cNvPr id="18" name="Shape 14"/>
          <p:cNvSpPr/>
          <p:nvPr/>
        </p:nvSpPr>
        <p:spPr>
          <a:xfrm>
            <a:off x="4714875" y="1671638"/>
            <a:ext cx="4000500" cy="2736056"/>
          </a:xfrm>
          <a:prstGeom prst="rect">
            <a:avLst/>
          </a:prstGeom>
          <a:solidFill>
            <a:srgbClr val="FFFFFF"/>
          </a:solidFill>
          <a:ln w="27432">
            <a:solidFill>
              <a:srgbClr val="263238"/>
            </a:solidFill>
            <a:prstDash val="solid"/>
          </a:ln>
        </p:spPr>
      </p:sp>
      <p:sp>
        <p:nvSpPr>
          <p:cNvPr id="19" name="Shape 15"/>
          <p:cNvSpPr/>
          <p:nvPr/>
        </p:nvSpPr>
        <p:spPr>
          <a:xfrm>
            <a:off x="4893469" y="1850231"/>
            <a:ext cx="3643313" cy="357188"/>
          </a:xfrm>
          <a:prstGeom prst="rect">
            <a:avLst/>
          </a:prstGeom>
          <a:solidFill>
            <a:srgbClr val="263238"/>
          </a:solidFill>
          <a:ln/>
        </p:spPr>
      </p:sp>
      <p:sp>
        <p:nvSpPr>
          <p:cNvPr id="20" name="Text 16"/>
          <p:cNvSpPr/>
          <p:nvPr/>
        </p:nvSpPr>
        <p:spPr>
          <a:xfrm>
            <a:off x="4893469" y="1850231"/>
            <a:ext cx="3643313" cy="357188"/>
          </a:xfrm>
          <a:prstGeom prst="rect">
            <a:avLst/>
          </a:prstGeom>
          <a:noFill/>
          <a:ln/>
        </p:spPr>
        <p:txBody>
          <a:bodyPr wrap="square" lIns="127508" tIns="85090" rIns="0" bIns="0" rtlCol="0" anchor="t">
            <a:spAutoFit/>
          </a:bodyPr>
          <a:lstStyle/>
          <a:p>
            <a:pPr algn="l" indent="0" marL="0">
              <a:buNone/>
            </a:pPr>
            <a:r>
              <a:rPr lang="en-US" sz="1150" dirty="0">
                <a:solidFill>
                  <a:srgbClr val="FBC02D"/>
                </a:solidFill>
                <a:latin typeface="Space Grotesk Bold" pitchFamily="34" charset="0"/>
                <a:ea typeface="Space Grotesk Bold" pitchFamily="34" charset="-122"/>
                <a:cs typeface="Space Grotesk Bold" pitchFamily="34" charset="-120"/>
              </a:rPr>
              <a:t>SERVER: POLE CLASS</a:t>
            </a:r>
            <a:endParaRPr lang="en-US" sz="1150" dirty="0"/>
          </a:p>
        </p:txBody>
      </p:sp>
      <p:sp>
        <p:nvSpPr>
          <p:cNvPr id="21" name="Shape 17"/>
          <p:cNvSpPr/>
          <p:nvPr/>
        </p:nvSpPr>
        <p:spPr>
          <a:xfrm>
            <a:off x="4893469" y="2393156"/>
            <a:ext cx="85725" cy="85725"/>
          </a:xfrm>
          <a:prstGeom prst="rect">
            <a:avLst/>
          </a:prstGeom>
          <a:solidFill>
            <a:srgbClr val="263238"/>
          </a:solidFill>
          <a:ln/>
        </p:spPr>
      </p:sp>
      <p:sp>
        <p:nvSpPr>
          <p:cNvPr id="22" name="Text 18"/>
          <p:cNvSpPr/>
          <p:nvPr/>
        </p:nvSpPr>
        <p:spPr>
          <a:xfrm>
            <a:off x="4893469" y="2350294"/>
            <a:ext cx="3643313"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Responsibility:</a:t>
            </a:r>
            <a:r>
              <a:rPr lang="en-US" sz="950" dirty="0">
                <a:solidFill>
                  <a:srgbClr val="455A64"/>
                </a:solidFill>
                <a:latin typeface="Inter" pitchFamily="34" charset="0"/>
                <a:ea typeface="Inter" pitchFamily="34" charset="-122"/>
                <a:cs typeface="Inter" pitchFamily="34" charset="-120"/>
              </a:rPr>
              <a:t> Executes internal logic and maintains stack integrity.</a:t>
            </a:r>
            <a:endParaRPr lang="en-US" sz="900" dirty="0"/>
          </a:p>
        </p:txBody>
      </p:sp>
      <p:sp>
        <p:nvSpPr>
          <p:cNvPr id="23" name="Shape 19"/>
          <p:cNvSpPr/>
          <p:nvPr/>
        </p:nvSpPr>
        <p:spPr>
          <a:xfrm>
            <a:off x="4893469" y="2896065"/>
            <a:ext cx="85725" cy="85725"/>
          </a:xfrm>
          <a:prstGeom prst="rect">
            <a:avLst/>
          </a:prstGeom>
          <a:solidFill>
            <a:srgbClr val="263238"/>
          </a:solidFill>
          <a:ln/>
        </p:spPr>
      </p:sp>
      <p:sp>
        <p:nvSpPr>
          <p:cNvPr id="24" name="Text 20"/>
          <p:cNvSpPr/>
          <p:nvPr/>
        </p:nvSpPr>
        <p:spPr>
          <a:xfrm>
            <a:off x="5107781" y="2865704"/>
            <a:ext cx="721519" cy="15537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Interaction:</a:t>
            </a:r>
            <a:endParaRPr lang="en-US" sz="900" dirty="0"/>
          </a:p>
        </p:txBody>
      </p:sp>
      <p:sp>
        <p:nvSpPr>
          <p:cNvPr id="25" name="Text 21"/>
          <p:cNvSpPr/>
          <p:nvPr/>
        </p:nvSpPr>
        <p:spPr>
          <a:xfrm>
            <a:off x="5829300" y="2865704"/>
            <a:ext cx="1509117"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Receives messages like</a:t>
            </a:r>
            <a:endParaRPr lang="en-US" sz="950" dirty="0"/>
          </a:p>
        </p:txBody>
      </p:sp>
      <p:sp>
        <p:nvSpPr>
          <p:cNvPr id="26" name="Shape 22"/>
          <p:cNvSpPr/>
          <p:nvPr/>
        </p:nvSpPr>
        <p:spPr>
          <a:xfrm>
            <a:off x="7338417" y="2840701"/>
            <a:ext cx="982991" cy="203597"/>
          </a:xfrm>
          <a:prstGeom prst="rect">
            <a:avLst/>
          </a:prstGeom>
          <a:solidFill>
            <a:srgbClr val="E3F2FD"/>
          </a:solidFill>
          <a:ln/>
        </p:spPr>
      </p:sp>
      <p:sp>
        <p:nvSpPr>
          <p:cNvPr id="27" name="Text 23"/>
          <p:cNvSpPr/>
          <p:nvPr/>
        </p:nvSpPr>
        <p:spPr>
          <a:xfrm>
            <a:off x="7338417" y="2840701"/>
            <a:ext cx="982991" cy="203597"/>
          </a:xfrm>
          <a:prstGeom prst="rect">
            <a:avLst/>
          </a:prstGeom>
          <a:noFill/>
          <a:ln/>
        </p:spPr>
        <p:txBody>
          <a:bodyPr wrap="none" lIns="34036" tIns="17018" rIns="34036" bIns="17018" rtlCol="0" anchor="t">
            <a:spAutoFit/>
          </a:bodyPr>
          <a:lstStyle/>
          <a:p>
            <a:pPr algn="l" indent="0" marL="0">
              <a:lnSpc>
                <a:spcPct val="112000"/>
              </a:lnSpc>
              <a:buNone/>
            </a:pPr>
            <a:r>
              <a:rPr lang="en-US" sz="950" dirty="0">
                <a:solidFill>
                  <a:srgbClr val="455A64"/>
                </a:solidFill>
                <a:latin typeface="monospace" pitchFamily="34" charset="0"/>
                <a:ea typeface="monospace" pitchFamily="34" charset="-122"/>
                <a:cs typeface="monospace" pitchFamily="34" charset="-120"/>
              </a:rPr>
              <a:t>accept(Ring)</a:t>
            </a:r>
            <a:endParaRPr lang="en-US" sz="950" dirty="0"/>
          </a:p>
        </p:txBody>
      </p:sp>
      <p:sp>
        <p:nvSpPr>
          <p:cNvPr id="28" name="Text 24"/>
          <p:cNvSpPr/>
          <p:nvPr/>
        </p:nvSpPr>
        <p:spPr>
          <a:xfrm>
            <a:off x="8321408" y="2865704"/>
            <a:ext cx="37505"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a:t>
            </a:r>
            <a:endParaRPr lang="en-US" sz="950" dirty="0"/>
          </a:p>
        </p:txBody>
      </p:sp>
      <p:sp>
        <p:nvSpPr>
          <p:cNvPr id="29" name="Shape 25"/>
          <p:cNvSpPr/>
          <p:nvPr/>
        </p:nvSpPr>
        <p:spPr>
          <a:xfrm>
            <a:off x="4893469" y="3220743"/>
            <a:ext cx="85725" cy="85725"/>
          </a:xfrm>
          <a:prstGeom prst="rect">
            <a:avLst/>
          </a:prstGeom>
          <a:solidFill>
            <a:srgbClr val="263238"/>
          </a:solidFill>
          <a:ln/>
        </p:spPr>
      </p:sp>
      <p:sp>
        <p:nvSpPr>
          <p:cNvPr id="30" name="Text 26"/>
          <p:cNvSpPr/>
          <p:nvPr/>
        </p:nvSpPr>
        <p:spPr>
          <a:xfrm>
            <a:off x="4893469" y="3177880"/>
            <a:ext cx="3643313" cy="360034"/>
          </a:xfrm>
          <a:prstGeom prst="rect">
            <a:avLst/>
          </a:prstGeom>
          <a:noFill/>
          <a:ln/>
        </p:spPr>
        <p:txBody>
          <a:bodyPr wrap="square" lIns="255143"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Knowledge:</a:t>
            </a:r>
            <a:r>
              <a:rPr lang="en-US" sz="950" dirty="0">
                <a:solidFill>
                  <a:srgbClr val="455A64"/>
                </a:solidFill>
                <a:latin typeface="Inter" pitchFamily="34" charset="0"/>
                <a:ea typeface="Inter" pitchFamily="34" charset="-122"/>
                <a:cs typeface="Inter" pitchFamily="34" charset="-120"/>
              </a:rPr>
              <a:t> Expert on its own ring stack and validation rules.</a:t>
            </a:r>
            <a:endParaRPr lang="en-US" sz="900" dirty="0"/>
          </a:p>
        </p:txBody>
      </p:sp>
      <p:sp>
        <p:nvSpPr>
          <p:cNvPr id="31" name="Shape 27"/>
          <p:cNvSpPr/>
          <p:nvPr/>
        </p:nvSpPr>
        <p:spPr>
          <a:xfrm>
            <a:off x="428625" y="4564856"/>
            <a:ext cx="8286750" cy="464344"/>
          </a:xfrm>
          <a:prstGeom prst="rect">
            <a:avLst/>
          </a:prstGeom>
          <a:solidFill>
            <a:srgbClr val="263238"/>
          </a:solidFill>
          <a:ln/>
        </p:spPr>
      </p:sp>
      <p:sp>
        <p:nvSpPr>
          <p:cNvPr id="32" name="Text 28"/>
          <p:cNvSpPr/>
          <p:nvPr/>
        </p:nvSpPr>
        <p:spPr>
          <a:xfrm>
            <a:off x="428625" y="4564856"/>
            <a:ext cx="8286750" cy="464344"/>
          </a:xfrm>
          <a:prstGeom prst="rect">
            <a:avLst/>
          </a:prstGeom>
          <a:noFill/>
          <a:ln/>
        </p:spPr>
        <p:txBody>
          <a:bodyPr wrap="square" lIns="255143" tIns="127508" rIns="0" bIns="0" rtlCol="0" anchor="t">
            <a:spAutoFit/>
          </a:bodyPr>
          <a:lstStyle/>
          <a:p>
            <a:pPr algn="l" indent="0" marL="0">
              <a:buNone/>
            </a:pPr>
            <a:r>
              <a:rPr lang="en-US" sz="950" dirty="0">
                <a:solidFill>
                  <a:srgbClr val="FFFFFF"/>
                </a:solidFill>
                <a:latin typeface="Space Grotesk Bold" pitchFamily="34" charset="0"/>
                <a:ea typeface="Space Grotesk Bold" pitchFamily="34" charset="-122"/>
                <a:cs typeface="Space Grotesk Bold" pitchFamily="34" charset="-120"/>
              </a:rPr>
              <a:t>THE CONTRACT: Interaction through interfaces, preserving encapsulation and hiding internal complexity.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THE OBJECT COLLABORATION WALKTHROUGH</a:t>
            </a:r>
            <a:endParaRPr lang="en-US" sz="1600" dirty="0"/>
          </a:p>
        </p:txBody>
      </p:sp>
      <p:sp>
        <p:nvSpPr>
          <p:cNvPr id="6" name="Shape 2"/>
          <p:cNvSpPr/>
          <p:nvPr/>
        </p:nvSpPr>
        <p:spPr>
          <a:xfrm>
            <a:off x="428625" y="1143000"/>
            <a:ext cx="8286750" cy="650081"/>
          </a:xfrm>
          <a:prstGeom prst="rect">
            <a:avLst/>
          </a:prstGeom>
          <a:solidFill>
            <a:srgbClr val="FFFFFF"/>
          </a:solidFill>
          <a:ln w="18288">
            <a:solidFill>
              <a:srgbClr val="263238"/>
            </a:solidFill>
            <a:prstDash val="solid"/>
          </a:ln>
        </p:spPr>
      </p:sp>
      <p:sp>
        <p:nvSpPr>
          <p:cNvPr id="7" name="Shape 3"/>
          <p:cNvSpPr/>
          <p:nvPr/>
        </p:nvSpPr>
        <p:spPr>
          <a:xfrm>
            <a:off x="428625" y="1143000"/>
            <a:ext cx="592931" cy="607219"/>
          </a:xfrm>
          <a:prstGeom prst="rect">
            <a:avLst/>
          </a:prstGeom>
          <a:solidFill>
            <a:srgbClr val="FBC02D"/>
          </a:solidFill>
          <a:ln/>
        </p:spPr>
      </p:sp>
      <p:sp>
        <p:nvSpPr>
          <p:cNvPr id="8" name="Shape 4"/>
          <p:cNvSpPr/>
          <p:nvPr/>
        </p:nvSpPr>
        <p:spPr>
          <a:xfrm>
            <a:off x="1000125" y="1143000"/>
            <a:ext cx="21431" cy="607219"/>
          </a:xfrm>
          <a:prstGeom prst="rect">
            <a:avLst/>
          </a:prstGeom>
          <a:solidFill>
            <a:srgbClr val="263238"/>
          </a:solidFill>
          <a:ln/>
        </p:spPr>
      </p:sp>
      <p:sp>
        <p:nvSpPr>
          <p:cNvPr id="9" name="Text 5"/>
          <p:cNvSpPr/>
          <p:nvPr/>
        </p:nvSpPr>
        <p:spPr>
          <a:xfrm>
            <a:off x="428625" y="1143000"/>
            <a:ext cx="592931" cy="607219"/>
          </a:xfrm>
          <a:prstGeom prst="rect">
            <a:avLst/>
          </a:prstGeom>
          <a:noFill/>
          <a:ln/>
        </p:spPr>
        <p:txBody>
          <a:bodyPr wrap="none" lIns="0" tIns="0" rIns="0" bIns="0" rtlCol="0" anchor="ctr">
            <a:spAutoFit/>
          </a:bodyPr>
          <a:lstStyle/>
          <a:p>
            <a:pPr algn="ctr" indent="0" marL="0">
              <a:buNone/>
            </a:pPr>
            <a:r>
              <a:rPr lang="en-US" sz="1700" dirty="0">
                <a:solidFill>
                  <a:srgbClr val="263238"/>
                </a:solidFill>
                <a:latin typeface="Space Grotesk Bold" pitchFamily="34" charset="0"/>
                <a:ea typeface="Space Grotesk Bold" pitchFamily="34" charset="-122"/>
                <a:cs typeface="Space Grotesk Bold" pitchFamily="34" charset="-120"/>
              </a:rPr>
              <a:t>01</a:t>
            </a:r>
            <a:endParaRPr lang="en-US" sz="1700" dirty="0"/>
          </a:p>
        </p:txBody>
      </p:sp>
      <p:sp>
        <p:nvSpPr>
          <p:cNvPr id="10" name="Text 6"/>
          <p:cNvSpPr/>
          <p:nvPr/>
        </p:nvSpPr>
        <p:spPr>
          <a:xfrm>
            <a:off x="1214438" y="1263551"/>
            <a:ext cx="7500938" cy="182166"/>
          </a:xfrm>
          <a:prstGeom prst="rect">
            <a:avLst/>
          </a:prstGeom>
          <a:noFill/>
          <a:ln/>
        </p:spPr>
        <p:txBody>
          <a:bodyPr wrap="square" lIns="0" tIns="0" rIns="0" bIns="0"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REQUEST</a:t>
            </a:r>
            <a:endParaRPr lang="en-US" sz="1050" dirty="0"/>
          </a:p>
        </p:txBody>
      </p:sp>
      <p:sp>
        <p:nvSpPr>
          <p:cNvPr id="11" name="Text 7"/>
          <p:cNvSpPr/>
          <p:nvPr/>
        </p:nvSpPr>
        <p:spPr>
          <a:xfrm>
            <a:off x="1214438" y="1474291"/>
            <a:ext cx="7500938" cy="155377"/>
          </a:xfrm>
          <a:prstGeom prst="rect">
            <a:avLst/>
          </a:prstGeom>
          <a:noFill/>
          <a:ln/>
        </p:spPr>
        <p:txBody>
          <a:bodyPr wrap="square" lIns="0" tIns="0" rIns="0" bIns="0" rtlCol="0" anchor="t">
            <a:spAutoFit/>
          </a:bodyPr>
          <a:lstStyle/>
          <a:p>
            <a:pPr algn="l" indent="0" marL="0">
              <a:buNone/>
            </a:pPr>
            <a:r>
              <a:rPr lang="en-US" sz="800" b="1" dirty="0">
                <a:solidFill>
                  <a:srgbClr val="263238"/>
                </a:solidFill>
                <a:latin typeface="monospace" pitchFamily="34" charset="0"/>
                <a:ea typeface="monospace" pitchFamily="34" charset="-122"/>
                <a:cs typeface="monospace" pitchFamily="34" charset="-120"/>
              </a:rPr>
              <a:t>GameController</a:t>
            </a:r>
            <a:r>
              <a:rPr lang="en-US" sz="850" dirty="0">
                <a:solidFill>
                  <a:srgbClr val="455A64"/>
                </a:solidFill>
                <a:latin typeface="Inter" pitchFamily="34" charset="0"/>
                <a:ea typeface="Inter" pitchFamily="34" charset="-122"/>
                <a:cs typeface="Inter" pitchFamily="34" charset="-120"/>
              </a:rPr>
              <a:t> sends </a:t>
            </a:r>
            <a:r>
              <a:rPr lang="en-US" sz="800" b="1" dirty="0">
                <a:solidFill>
                  <a:srgbClr val="263238"/>
                </a:solidFill>
                <a:latin typeface="monospace" pitchFamily="34" charset="0"/>
                <a:ea typeface="monospace" pitchFamily="34" charset="-122"/>
                <a:cs typeface="monospace" pitchFamily="34" charset="-120"/>
              </a:rPr>
              <a:t>canAccept(Ring)</a:t>
            </a:r>
            <a:r>
              <a:rPr lang="en-US" sz="850" dirty="0">
                <a:solidFill>
                  <a:srgbClr val="455A64"/>
                </a:solidFill>
                <a:latin typeface="Inter" pitchFamily="34" charset="0"/>
                <a:ea typeface="Inter" pitchFamily="34" charset="-122"/>
                <a:cs typeface="Inter" pitchFamily="34" charset="-120"/>
              </a:rPr>
              <a:t> to </a:t>
            </a:r>
            <a:r>
              <a:rPr lang="en-US" sz="800" b="1" dirty="0">
                <a:solidFill>
                  <a:srgbClr val="263238"/>
                </a:solidFill>
                <a:latin typeface="monospace" pitchFamily="34" charset="0"/>
                <a:ea typeface="monospace" pitchFamily="34" charset="-122"/>
                <a:cs typeface="monospace" pitchFamily="34" charset="-120"/>
              </a:rPr>
              <a:t>Pole 3</a:t>
            </a:r>
            <a:r>
              <a:rPr lang="en-US" sz="850" dirty="0">
                <a:solidFill>
                  <a:srgbClr val="455A64"/>
                </a:solidFill>
                <a:latin typeface="Inter" pitchFamily="34" charset="0"/>
                <a:ea typeface="Inter" pitchFamily="34" charset="-122"/>
                <a:cs typeface="Inter" pitchFamily="34" charset="-120"/>
              </a:rPr>
              <a:t>.</a:t>
            </a:r>
            <a:endParaRPr lang="en-US" sz="800" dirty="0"/>
          </a:p>
        </p:txBody>
      </p:sp>
      <p:sp>
        <p:nvSpPr>
          <p:cNvPr id="12" name="Shape 8"/>
          <p:cNvSpPr/>
          <p:nvPr/>
        </p:nvSpPr>
        <p:spPr>
          <a:xfrm>
            <a:off x="428625" y="1807369"/>
            <a:ext cx="8286750" cy="650081"/>
          </a:xfrm>
          <a:prstGeom prst="rect">
            <a:avLst/>
          </a:prstGeom>
          <a:solidFill>
            <a:srgbClr val="FFFFFF"/>
          </a:solidFill>
          <a:ln w="18288">
            <a:solidFill>
              <a:srgbClr val="263238"/>
            </a:solidFill>
            <a:prstDash val="solid"/>
          </a:ln>
        </p:spPr>
      </p:sp>
      <p:sp>
        <p:nvSpPr>
          <p:cNvPr id="13" name="Shape 9"/>
          <p:cNvSpPr/>
          <p:nvPr/>
        </p:nvSpPr>
        <p:spPr>
          <a:xfrm>
            <a:off x="428625" y="1807369"/>
            <a:ext cx="592931" cy="607219"/>
          </a:xfrm>
          <a:prstGeom prst="rect">
            <a:avLst/>
          </a:prstGeom>
          <a:solidFill>
            <a:srgbClr val="FBC02D"/>
          </a:solidFill>
          <a:ln/>
        </p:spPr>
      </p:sp>
      <p:sp>
        <p:nvSpPr>
          <p:cNvPr id="14" name="Shape 10"/>
          <p:cNvSpPr/>
          <p:nvPr/>
        </p:nvSpPr>
        <p:spPr>
          <a:xfrm>
            <a:off x="1000125" y="1807369"/>
            <a:ext cx="21431" cy="607219"/>
          </a:xfrm>
          <a:prstGeom prst="rect">
            <a:avLst/>
          </a:prstGeom>
          <a:solidFill>
            <a:srgbClr val="263238"/>
          </a:solidFill>
          <a:ln/>
        </p:spPr>
      </p:sp>
      <p:sp>
        <p:nvSpPr>
          <p:cNvPr id="15" name="Text 11"/>
          <p:cNvSpPr/>
          <p:nvPr/>
        </p:nvSpPr>
        <p:spPr>
          <a:xfrm>
            <a:off x="428625" y="1807369"/>
            <a:ext cx="592931" cy="607219"/>
          </a:xfrm>
          <a:prstGeom prst="rect">
            <a:avLst/>
          </a:prstGeom>
          <a:noFill/>
          <a:ln/>
        </p:spPr>
        <p:txBody>
          <a:bodyPr wrap="none" lIns="0" tIns="0" rIns="0" bIns="0" rtlCol="0" anchor="ctr">
            <a:spAutoFit/>
          </a:bodyPr>
          <a:lstStyle/>
          <a:p>
            <a:pPr algn="ctr" indent="0" marL="0">
              <a:buNone/>
            </a:pPr>
            <a:r>
              <a:rPr lang="en-US" sz="1700" dirty="0">
                <a:solidFill>
                  <a:srgbClr val="263238"/>
                </a:solidFill>
                <a:latin typeface="Space Grotesk Bold" pitchFamily="34" charset="0"/>
                <a:ea typeface="Space Grotesk Bold" pitchFamily="34" charset="-122"/>
                <a:cs typeface="Space Grotesk Bold" pitchFamily="34" charset="-120"/>
              </a:rPr>
              <a:t>02</a:t>
            </a:r>
            <a:endParaRPr lang="en-US" sz="1700" dirty="0"/>
          </a:p>
        </p:txBody>
      </p:sp>
      <p:sp>
        <p:nvSpPr>
          <p:cNvPr id="16" name="Text 12"/>
          <p:cNvSpPr/>
          <p:nvPr/>
        </p:nvSpPr>
        <p:spPr>
          <a:xfrm>
            <a:off x="1214438" y="1927920"/>
            <a:ext cx="7500938" cy="182166"/>
          </a:xfrm>
          <a:prstGeom prst="rect">
            <a:avLst/>
          </a:prstGeom>
          <a:noFill/>
          <a:ln/>
        </p:spPr>
        <p:txBody>
          <a:bodyPr wrap="square" lIns="0" tIns="0" rIns="0" bIns="0"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VALIDATION</a:t>
            </a:r>
            <a:endParaRPr lang="en-US" sz="1050" dirty="0"/>
          </a:p>
        </p:txBody>
      </p:sp>
      <p:sp>
        <p:nvSpPr>
          <p:cNvPr id="17" name="Text 13"/>
          <p:cNvSpPr/>
          <p:nvPr/>
        </p:nvSpPr>
        <p:spPr>
          <a:xfrm>
            <a:off x="1214438" y="2138660"/>
            <a:ext cx="7500938" cy="155377"/>
          </a:xfrm>
          <a:prstGeom prst="rect">
            <a:avLst/>
          </a:prstGeom>
          <a:noFill/>
          <a:ln/>
        </p:spPr>
        <p:txBody>
          <a:bodyPr wrap="square" lIns="0" tIns="0" rIns="0" bIns="0" rtlCol="0" anchor="t">
            <a:spAutoFit/>
          </a:bodyPr>
          <a:lstStyle/>
          <a:p>
            <a:pPr algn="l" indent="0" marL="0">
              <a:buNone/>
            </a:pPr>
            <a:r>
              <a:rPr lang="en-US" sz="800" b="1" dirty="0">
                <a:solidFill>
                  <a:srgbClr val="263238"/>
                </a:solidFill>
                <a:latin typeface="monospace" pitchFamily="34" charset="0"/>
                <a:ea typeface="monospace" pitchFamily="34" charset="-122"/>
                <a:cs typeface="monospace" pitchFamily="34" charset="-120"/>
              </a:rPr>
              <a:t>Pole 3</a:t>
            </a:r>
            <a:r>
              <a:rPr lang="en-US" sz="850" dirty="0">
                <a:solidFill>
                  <a:srgbClr val="455A64"/>
                </a:solidFill>
                <a:latin typeface="Inter" pitchFamily="34" charset="0"/>
                <a:ea typeface="Inter" pitchFamily="34" charset="-122"/>
                <a:cs typeface="Inter" pitchFamily="34" charset="-120"/>
              </a:rPr>
              <a:t> checks its top ring and returns </a:t>
            </a:r>
            <a:r>
              <a:rPr lang="en-US" sz="800" b="1" dirty="0">
                <a:solidFill>
                  <a:srgbClr val="263238"/>
                </a:solidFill>
                <a:latin typeface="monospace" pitchFamily="34" charset="0"/>
                <a:ea typeface="monospace" pitchFamily="34" charset="-122"/>
                <a:cs typeface="monospace" pitchFamily="34" charset="-120"/>
              </a:rPr>
              <a:t>True</a:t>
            </a:r>
            <a:r>
              <a:rPr lang="en-US" sz="850" dirty="0">
                <a:solidFill>
                  <a:srgbClr val="455A64"/>
                </a:solidFill>
                <a:latin typeface="Inter" pitchFamily="34" charset="0"/>
                <a:ea typeface="Inter" pitchFamily="34" charset="-122"/>
                <a:cs typeface="Inter" pitchFamily="34" charset="-120"/>
              </a:rPr>
              <a:t>.</a:t>
            </a:r>
            <a:endParaRPr lang="en-US" sz="800" dirty="0"/>
          </a:p>
        </p:txBody>
      </p:sp>
      <p:sp>
        <p:nvSpPr>
          <p:cNvPr id="18" name="Shape 14"/>
          <p:cNvSpPr/>
          <p:nvPr/>
        </p:nvSpPr>
        <p:spPr>
          <a:xfrm>
            <a:off x="428625" y="2471738"/>
            <a:ext cx="8286750" cy="650081"/>
          </a:xfrm>
          <a:prstGeom prst="rect">
            <a:avLst/>
          </a:prstGeom>
          <a:solidFill>
            <a:srgbClr val="FFFFFF"/>
          </a:solidFill>
          <a:ln w="18288">
            <a:solidFill>
              <a:srgbClr val="263238"/>
            </a:solidFill>
            <a:prstDash val="solid"/>
          </a:ln>
        </p:spPr>
      </p:sp>
      <p:sp>
        <p:nvSpPr>
          <p:cNvPr id="19" name="Shape 15"/>
          <p:cNvSpPr/>
          <p:nvPr/>
        </p:nvSpPr>
        <p:spPr>
          <a:xfrm>
            <a:off x="428625" y="2471738"/>
            <a:ext cx="592931" cy="607219"/>
          </a:xfrm>
          <a:prstGeom prst="rect">
            <a:avLst/>
          </a:prstGeom>
          <a:solidFill>
            <a:srgbClr val="FBC02D"/>
          </a:solidFill>
          <a:ln/>
        </p:spPr>
      </p:sp>
      <p:sp>
        <p:nvSpPr>
          <p:cNvPr id="20" name="Shape 16"/>
          <p:cNvSpPr/>
          <p:nvPr/>
        </p:nvSpPr>
        <p:spPr>
          <a:xfrm>
            <a:off x="1000125" y="2471738"/>
            <a:ext cx="21431" cy="607219"/>
          </a:xfrm>
          <a:prstGeom prst="rect">
            <a:avLst/>
          </a:prstGeom>
          <a:solidFill>
            <a:srgbClr val="263238"/>
          </a:solidFill>
          <a:ln/>
        </p:spPr>
      </p:sp>
      <p:sp>
        <p:nvSpPr>
          <p:cNvPr id="21" name="Text 17"/>
          <p:cNvSpPr/>
          <p:nvPr/>
        </p:nvSpPr>
        <p:spPr>
          <a:xfrm>
            <a:off x="428625" y="2471738"/>
            <a:ext cx="592931" cy="607219"/>
          </a:xfrm>
          <a:prstGeom prst="rect">
            <a:avLst/>
          </a:prstGeom>
          <a:noFill/>
          <a:ln/>
        </p:spPr>
        <p:txBody>
          <a:bodyPr wrap="none" lIns="0" tIns="0" rIns="0" bIns="0" rtlCol="0" anchor="ctr">
            <a:spAutoFit/>
          </a:bodyPr>
          <a:lstStyle/>
          <a:p>
            <a:pPr algn="ctr" indent="0" marL="0">
              <a:buNone/>
            </a:pPr>
            <a:r>
              <a:rPr lang="en-US" sz="1700" dirty="0">
                <a:solidFill>
                  <a:srgbClr val="263238"/>
                </a:solidFill>
                <a:latin typeface="Space Grotesk Bold" pitchFamily="34" charset="0"/>
                <a:ea typeface="Space Grotesk Bold" pitchFamily="34" charset="-122"/>
                <a:cs typeface="Space Grotesk Bold" pitchFamily="34" charset="-120"/>
              </a:rPr>
              <a:t>03</a:t>
            </a:r>
            <a:endParaRPr lang="en-US" sz="1700" dirty="0"/>
          </a:p>
        </p:txBody>
      </p:sp>
      <p:sp>
        <p:nvSpPr>
          <p:cNvPr id="22" name="Text 18"/>
          <p:cNvSpPr/>
          <p:nvPr/>
        </p:nvSpPr>
        <p:spPr>
          <a:xfrm>
            <a:off x="1214438" y="2592288"/>
            <a:ext cx="7500938" cy="182166"/>
          </a:xfrm>
          <a:prstGeom prst="rect">
            <a:avLst/>
          </a:prstGeom>
          <a:noFill/>
          <a:ln/>
        </p:spPr>
        <p:txBody>
          <a:bodyPr wrap="square" lIns="0" tIns="0" rIns="0" bIns="0"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EXTRACTION</a:t>
            </a:r>
            <a:endParaRPr lang="en-US" sz="1050" dirty="0"/>
          </a:p>
        </p:txBody>
      </p:sp>
      <p:sp>
        <p:nvSpPr>
          <p:cNvPr id="23" name="Text 19"/>
          <p:cNvSpPr/>
          <p:nvPr/>
        </p:nvSpPr>
        <p:spPr>
          <a:xfrm>
            <a:off x="1214438" y="2803029"/>
            <a:ext cx="7500938" cy="155377"/>
          </a:xfrm>
          <a:prstGeom prst="rect">
            <a:avLst/>
          </a:prstGeom>
          <a:noFill/>
          <a:ln/>
        </p:spPr>
        <p:txBody>
          <a:bodyPr wrap="square" lIns="0" tIns="0" rIns="0" bIns="0" rtlCol="0" anchor="t">
            <a:spAutoFit/>
          </a:bodyPr>
          <a:lstStyle/>
          <a:p>
            <a:pPr algn="l" indent="0" marL="0">
              <a:buNone/>
            </a:pPr>
            <a:r>
              <a:rPr lang="en-US" sz="800" b="1" dirty="0">
                <a:solidFill>
                  <a:srgbClr val="263238"/>
                </a:solidFill>
                <a:latin typeface="monospace" pitchFamily="34" charset="0"/>
                <a:ea typeface="monospace" pitchFamily="34" charset="-122"/>
                <a:cs typeface="monospace" pitchFamily="34" charset="-120"/>
              </a:rPr>
              <a:t>GameController</a:t>
            </a:r>
            <a:r>
              <a:rPr lang="en-US" sz="850" dirty="0">
                <a:solidFill>
                  <a:srgbClr val="455A64"/>
                </a:solidFill>
                <a:latin typeface="Inter" pitchFamily="34" charset="0"/>
                <a:ea typeface="Inter" pitchFamily="34" charset="-122"/>
                <a:cs typeface="Inter" pitchFamily="34" charset="-120"/>
              </a:rPr>
              <a:t> sends </a:t>
            </a:r>
            <a:r>
              <a:rPr lang="en-US" sz="800" b="1" dirty="0">
                <a:solidFill>
                  <a:srgbClr val="263238"/>
                </a:solidFill>
                <a:latin typeface="monospace" pitchFamily="34" charset="0"/>
                <a:ea typeface="monospace" pitchFamily="34" charset="-122"/>
                <a:cs typeface="monospace" pitchFamily="34" charset="-120"/>
              </a:rPr>
              <a:t>releaseTop()</a:t>
            </a:r>
            <a:r>
              <a:rPr lang="en-US" sz="850" dirty="0">
                <a:solidFill>
                  <a:srgbClr val="455A64"/>
                </a:solidFill>
                <a:latin typeface="Inter" pitchFamily="34" charset="0"/>
                <a:ea typeface="Inter" pitchFamily="34" charset="-122"/>
                <a:cs typeface="Inter" pitchFamily="34" charset="-120"/>
              </a:rPr>
              <a:t> to </a:t>
            </a:r>
            <a:r>
              <a:rPr lang="en-US" sz="800" b="1" dirty="0">
                <a:solidFill>
                  <a:srgbClr val="263238"/>
                </a:solidFill>
                <a:latin typeface="monospace" pitchFamily="34" charset="0"/>
                <a:ea typeface="monospace" pitchFamily="34" charset="-122"/>
                <a:cs typeface="monospace" pitchFamily="34" charset="-120"/>
              </a:rPr>
              <a:t>Pole 1</a:t>
            </a:r>
            <a:r>
              <a:rPr lang="en-US" sz="850" dirty="0">
                <a:solidFill>
                  <a:srgbClr val="455A64"/>
                </a:solidFill>
                <a:latin typeface="Inter" pitchFamily="34" charset="0"/>
                <a:ea typeface="Inter" pitchFamily="34" charset="-122"/>
                <a:cs typeface="Inter" pitchFamily="34" charset="-120"/>
              </a:rPr>
              <a:t>.</a:t>
            </a:r>
            <a:endParaRPr lang="en-US" sz="800" dirty="0"/>
          </a:p>
        </p:txBody>
      </p:sp>
      <p:sp>
        <p:nvSpPr>
          <p:cNvPr id="24" name="Shape 20"/>
          <p:cNvSpPr/>
          <p:nvPr/>
        </p:nvSpPr>
        <p:spPr>
          <a:xfrm>
            <a:off x="428625" y="3136106"/>
            <a:ext cx="8286750" cy="650081"/>
          </a:xfrm>
          <a:prstGeom prst="rect">
            <a:avLst/>
          </a:prstGeom>
          <a:solidFill>
            <a:srgbClr val="FFFFFF"/>
          </a:solidFill>
          <a:ln w="18288">
            <a:solidFill>
              <a:srgbClr val="263238"/>
            </a:solidFill>
            <a:prstDash val="solid"/>
          </a:ln>
        </p:spPr>
      </p:sp>
      <p:sp>
        <p:nvSpPr>
          <p:cNvPr id="25" name="Shape 21"/>
          <p:cNvSpPr/>
          <p:nvPr/>
        </p:nvSpPr>
        <p:spPr>
          <a:xfrm>
            <a:off x="428625" y="3136106"/>
            <a:ext cx="592931" cy="607219"/>
          </a:xfrm>
          <a:prstGeom prst="rect">
            <a:avLst/>
          </a:prstGeom>
          <a:solidFill>
            <a:srgbClr val="FBC02D"/>
          </a:solidFill>
          <a:ln/>
        </p:spPr>
      </p:sp>
      <p:sp>
        <p:nvSpPr>
          <p:cNvPr id="26" name="Shape 22"/>
          <p:cNvSpPr/>
          <p:nvPr/>
        </p:nvSpPr>
        <p:spPr>
          <a:xfrm>
            <a:off x="1000125" y="3136106"/>
            <a:ext cx="21431" cy="607219"/>
          </a:xfrm>
          <a:prstGeom prst="rect">
            <a:avLst/>
          </a:prstGeom>
          <a:solidFill>
            <a:srgbClr val="263238"/>
          </a:solidFill>
          <a:ln/>
        </p:spPr>
      </p:sp>
      <p:sp>
        <p:nvSpPr>
          <p:cNvPr id="27" name="Text 23"/>
          <p:cNvSpPr/>
          <p:nvPr/>
        </p:nvSpPr>
        <p:spPr>
          <a:xfrm>
            <a:off x="428625" y="3136106"/>
            <a:ext cx="592931" cy="607219"/>
          </a:xfrm>
          <a:prstGeom prst="rect">
            <a:avLst/>
          </a:prstGeom>
          <a:noFill/>
          <a:ln/>
        </p:spPr>
        <p:txBody>
          <a:bodyPr wrap="none" lIns="0" tIns="0" rIns="0" bIns="0" rtlCol="0" anchor="ctr">
            <a:spAutoFit/>
          </a:bodyPr>
          <a:lstStyle/>
          <a:p>
            <a:pPr algn="ctr" indent="0" marL="0">
              <a:buNone/>
            </a:pPr>
            <a:r>
              <a:rPr lang="en-US" sz="1700" dirty="0">
                <a:solidFill>
                  <a:srgbClr val="263238"/>
                </a:solidFill>
                <a:latin typeface="Space Grotesk Bold" pitchFamily="34" charset="0"/>
                <a:ea typeface="Space Grotesk Bold" pitchFamily="34" charset="-122"/>
                <a:cs typeface="Space Grotesk Bold" pitchFamily="34" charset="-120"/>
              </a:rPr>
              <a:t>04</a:t>
            </a:r>
            <a:endParaRPr lang="en-US" sz="1700" dirty="0"/>
          </a:p>
        </p:txBody>
      </p:sp>
      <p:sp>
        <p:nvSpPr>
          <p:cNvPr id="28" name="Text 24"/>
          <p:cNvSpPr/>
          <p:nvPr/>
        </p:nvSpPr>
        <p:spPr>
          <a:xfrm>
            <a:off x="1214438" y="3256657"/>
            <a:ext cx="7500938" cy="182166"/>
          </a:xfrm>
          <a:prstGeom prst="rect">
            <a:avLst/>
          </a:prstGeom>
          <a:noFill/>
          <a:ln/>
        </p:spPr>
        <p:txBody>
          <a:bodyPr wrap="square" lIns="0" tIns="0" rIns="0" bIns="0"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TRANSFER</a:t>
            </a:r>
            <a:endParaRPr lang="en-US" sz="1050" dirty="0"/>
          </a:p>
        </p:txBody>
      </p:sp>
      <p:sp>
        <p:nvSpPr>
          <p:cNvPr id="29" name="Text 25"/>
          <p:cNvSpPr/>
          <p:nvPr/>
        </p:nvSpPr>
        <p:spPr>
          <a:xfrm>
            <a:off x="1214438" y="3467398"/>
            <a:ext cx="7500938" cy="155377"/>
          </a:xfrm>
          <a:prstGeom prst="rect">
            <a:avLst/>
          </a:prstGeom>
          <a:noFill/>
          <a:ln/>
        </p:spPr>
        <p:txBody>
          <a:bodyPr wrap="square" lIns="0" tIns="0" rIns="0" bIns="0" rtlCol="0" anchor="t">
            <a:spAutoFit/>
          </a:bodyPr>
          <a:lstStyle/>
          <a:p>
            <a:pPr algn="l" indent="0" marL="0">
              <a:buNone/>
            </a:pPr>
            <a:r>
              <a:rPr lang="en-US" sz="800" b="1" dirty="0">
                <a:solidFill>
                  <a:srgbClr val="263238"/>
                </a:solidFill>
                <a:latin typeface="monospace" pitchFamily="34" charset="0"/>
                <a:ea typeface="monospace" pitchFamily="34" charset="-122"/>
                <a:cs typeface="monospace" pitchFamily="34" charset="-120"/>
              </a:rPr>
              <a:t>GameController</a:t>
            </a:r>
            <a:r>
              <a:rPr lang="en-US" sz="850" dirty="0">
                <a:solidFill>
                  <a:srgbClr val="455A64"/>
                </a:solidFill>
                <a:latin typeface="Inter" pitchFamily="34" charset="0"/>
                <a:ea typeface="Inter" pitchFamily="34" charset="-122"/>
                <a:cs typeface="Inter" pitchFamily="34" charset="-120"/>
              </a:rPr>
              <a:t> sends </a:t>
            </a:r>
            <a:r>
              <a:rPr lang="en-US" sz="800" b="1" dirty="0">
                <a:solidFill>
                  <a:srgbClr val="263238"/>
                </a:solidFill>
                <a:latin typeface="monospace" pitchFamily="34" charset="0"/>
                <a:ea typeface="monospace" pitchFamily="34" charset="-122"/>
                <a:cs typeface="monospace" pitchFamily="34" charset="-120"/>
              </a:rPr>
              <a:t>receive(Ring)</a:t>
            </a:r>
            <a:r>
              <a:rPr lang="en-US" sz="850" dirty="0">
                <a:solidFill>
                  <a:srgbClr val="455A64"/>
                </a:solidFill>
                <a:latin typeface="Inter" pitchFamily="34" charset="0"/>
                <a:ea typeface="Inter" pitchFamily="34" charset="-122"/>
                <a:cs typeface="Inter" pitchFamily="34" charset="-120"/>
              </a:rPr>
              <a:t> to </a:t>
            </a:r>
            <a:r>
              <a:rPr lang="en-US" sz="800" b="1" dirty="0">
                <a:solidFill>
                  <a:srgbClr val="263238"/>
                </a:solidFill>
                <a:latin typeface="monospace" pitchFamily="34" charset="0"/>
                <a:ea typeface="monospace" pitchFamily="34" charset="-122"/>
                <a:cs typeface="monospace" pitchFamily="34" charset="-120"/>
              </a:rPr>
              <a:t>Pole 3</a:t>
            </a:r>
            <a:r>
              <a:rPr lang="en-US" sz="850" dirty="0">
                <a:solidFill>
                  <a:srgbClr val="455A64"/>
                </a:solidFill>
                <a:latin typeface="Inter" pitchFamily="34" charset="0"/>
                <a:ea typeface="Inter" pitchFamily="34" charset="-122"/>
                <a:cs typeface="Inter" pitchFamily="34" charset="-120"/>
              </a:rPr>
              <a:t>.</a:t>
            </a:r>
            <a:endParaRPr lang="en-US" sz="800" dirty="0"/>
          </a:p>
        </p:txBody>
      </p:sp>
      <p:sp>
        <p:nvSpPr>
          <p:cNvPr id="30" name="Shape 26"/>
          <p:cNvSpPr/>
          <p:nvPr/>
        </p:nvSpPr>
        <p:spPr>
          <a:xfrm>
            <a:off x="428625" y="3800475"/>
            <a:ext cx="8286750" cy="650081"/>
          </a:xfrm>
          <a:prstGeom prst="rect">
            <a:avLst/>
          </a:prstGeom>
          <a:solidFill>
            <a:srgbClr val="FFFFFF"/>
          </a:solidFill>
          <a:ln w="18288">
            <a:solidFill>
              <a:srgbClr val="263238"/>
            </a:solidFill>
            <a:prstDash val="solid"/>
          </a:ln>
        </p:spPr>
      </p:sp>
      <p:sp>
        <p:nvSpPr>
          <p:cNvPr id="31" name="Shape 27"/>
          <p:cNvSpPr/>
          <p:nvPr/>
        </p:nvSpPr>
        <p:spPr>
          <a:xfrm>
            <a:off x="428625" y="3800475"/>
            <a:ext cx="592931" cy="607219"/>
          </a:xfrm>
          <a:prstGeom prst="rect">
            <a:avLst/>
          </a:prstGeom>
          <a:solidFill>
            <a:srgbClr val="FBC02D"/>
          </a:solidFill>
          <a:ln/>
        </p:spPr>
      </p:sp>
      <p:sp>
        <p:nvSpPr>
          <p:cNvPr id="32" name="Shape 28"/>
          <p:cNvSpPr/>
          <p:nvPr/>
        </p:nvSpPr>
        <p:spPr>
          <a:xfrm>
            <a:off x="1000125" y="3800475"/>
            <a:ext cx="21431" cy="607219"/>
          </a:xfrm>
          <a:prstGeom prst="rect">
            <a:avLst/>
          </a:prstGeom>
          <a:solidFill>
            <a:srgbClr val="263238"/>
          </a:solidFill>
          <a:ln/>
        </p:spPr>
      </p:sp>
      <p:sp>
        <p:nvSpPr>
          <p:cNvPr id="33" name="Text 29"/>
          <p:cNvSpPr/>
          <p:nvPr/>
        </p:nvSpPr>
        <p:spPr>
          <a:xfrm>
            <a:off x="428625" y="3800475"/>
            <a:ext cx="592931" cy="607219"/>
          </a:xfrm>
          <a:prstGeom prst="rect">
            <a:avLst/>
          </a:prstGeom>
          <a:noFill/>
          <a:ln/>
        </p:spPr>
        <p:txBody>
          <a:bodyPr wrap="none" lIns="0" tIns="0" rIns="0" bIns="0" rtlCol="0" anchor="ctr">
            <a:spAutoFit/>
          </a:bodyPr>
          <a:lstStyle/>
          <a:p>
            <a:pPr algn="ctr" indent="0" marL="0">
              <a:buNone/>
            </a:pPr>
            <a:r>
              <a:rPr lang="en-US" sz="1700" dirty="0">
                <a:solidFill>
                  <a:srgbClr val="263238"/>
                </a:solidFill>
                <a:latin typeface="Space Grotesk Bold" pitchFamily="34" charset="0"/>
                <a:ea typeface="Space Grotesk Bold" pitchFamily="34" charset="-122"/>
                <a:cs typeface="Space Grotesk Bold" pitchFamily="34" charset="-120"/>
              </a:rPr>
              <a:t>05</a:t>
            </a:r>
            <a:endParaRPr lang="en-US" sz="1700" dirty="0"/>
          </a:p>
        </p:txBody>
      </p:sp>
      <p:sp>
        <p:nvSpPr>
          <p:cNvPr id="34" name="Text 30"/>
          <p:cNvSpPr/>
          <p:nvPr/>
        </p:nvSpPr>
        <p:spPr>
          <a:xfrm>
            <a:off x="1214438" y="3921026"/>
            <a:ext cx="7500938" cy="182166"/>
          </a:xfrm>
          <a:prstGeom prst="rect">
            <a:avLst/>
          </a:prstGeom>
          <a:noFill/>
          <a:ln/>
        </p:spPr>
        <p:txBody>
          <a:bodyPr wrap="square" lIns="0" tIns="0" rIns="0" bIns="0"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CONFIRMATION</a:t>
            </a:r>
            <a:endParaRPr lang="en-US" sz="1050" dirty="0"/>
          </a:p>
        </p:txBody>
      </p:sp>
      <p:sp>
        <p:nvSpPr>
          <p:cNvPr id="35" name="Text 31"/>
          <p:cNvSpPr/>
          <p:nvPr/>
        </p:nvSpPr>
        <p:spPr>
          <a:xfrm>
            <a:off x="1214438" y="4131766"/>
            <a:ext cx="7500938" cy="155377"/>
          </a:xfrm>
          <a:prstGeom prst="rect">
            <a:avLst/>
          </a:prstGeom>
          <a:noFill/>
          <a:ln/>
        </p:spPr>
        <p:txBody>
          <a:bodyPr wrap="square" lIns="0" tIns="0" rIns="0" bIns="0" rtlCol="0" anchor="t">
            <a:spAutoFit/>
          </a:bodyPr>
          <a:lstStyle/>
          <a:p>
            <a:pPr algn="l" indent="0" marL="0">
              <a:buNone/>
            </a:pPr>
            <a:r>
              <a:rPr lang="en-US" sz="800" b="1" dirty="0">
                <a:solidFill>
                  <a:srgbClr val="263238"/>
                </a:solidFill>
                <a:latin typeface="monospace" pitchFamily="34" charset="0"/>
                <a:ea typeface="monospace" pitchFamily="34" charset="-122"/>
                <a:cs typeface="monospace" pitchFamily="34" charset="-120"/>
              </a:rPr>
              <a:t>Pole 3</a:t>
            </a:r>
            <a:r>
              <a:rPr lang="en-US" sz="850" dirty="0">
                <a:solidFill>
                  <a:srgbClr val="455A64"/>
                </a:solidFill>
                <a:latin typeface="Inter" pitchFamily="34" charset="0"/>
                <a:ea typeface="Inter" pitchFamily="34" charset="-122"/>
                <a:cs typeface="Inter" pitchFamily="34" charset="-120"/>
              </a:rPr>
              <a:t> updates its internal stack and confirms success.</a:t>
            </a:r>
            <a:endParaRPr lang="en-US" sz="800" dirty="0"/>
          </a:p>
        </p:txBody>
      </p:sp>
      <p:sp>
        <p:nvSpPr>
          <p:cNvPr id="36" name="Shape 32"/>
          <p:cNvSpPr/>
          <p:nvPr/>
        </p:nvSpPr>
        <p:spPr>
          <a:xfrm>
            <a:off x="428625" y="4586288"/>
            <a:ext cx="8715375" cy="291108"/>
          </a:xfrm>
          <a:prstGeom prst="rect">
            <a:avLst/>
          </a:prstGeom>
          <a:solidFill>
            <a:srgbClr val="000000">
              <a:alpha val="0"/>
            </a:srgbClr>
          </a:solidFill>
          <a:ln/>
        </p:spPr>
      </p:sp>
      <p:sp>
        <p:nvSpPr>
          <p:cNvPr id="37" name="Shape 33"/>
          <p:cNvSpPr/>
          <p:nvPr/>
        </p:nvSpPr>
        <p:spPr>
          <a:xfrm>
            <a:off x="428625" y="4586288"/>
            <a:ext cx="8715375" cy="28575"/>
          </a:xfrm>
          <a:prstGeom prst="rect">
            <a:avLst/>
          </a:prstGeom>
          <a:solidFill>
            <a:srgbClr val="263238"/>
          </a:solidFill>
          <a:ln/>
        </p:spPr>
      </p:sp>
      <p:sp>
        <p:nvSpPr>
          <p:cNvPr id="38" name="Text 34"/>
          <p:cNvSpPr/>
          <p:nvPr/>
        </p:nvSpPr>
        <p:spPr>
          <a:xfrm>
            <a:off x="428625" y="4586288"/>
            <a:ext cx="8715375" cy="291108"/>
          </a:xfrm>
          <a:prstGeom prst="rect">
            <a:avLst/>
          </a:prstGeom>
          <a:noFill/>
          <a:ln/>
        </p:spPr>
        <p:txBody>
          <a:bodyPr wrap="square" lIns="0" tIns="127508" rIns="0" bIns="0" rtlCol="0" anchor="t">
            <a:spAutoFit/>
          </a:bodyPr>
          <a:lstStyle/>
          <a:p>
            <a:pPr algn="l" indent="0" marL="0">
              <a:buNone/>
            </a:pPr>
            <a:r>
              <a:rPr lang="en-US" sz="900" b="1" dirty="0">
                <a:solidFill>
                  <a:srgbClr val="263238"/>
                </a:solidFill>
                <a:latin typeface="Inter Bold" pitchFamily="34" charset="0"/>
                <a:ea typeface="Inter Bold" pitchFamily="34" charset="-122"/>
                <a:cs typeface="Inter Bold" pitchFamily="34" charset="-120"/>
              </a:rPr>
              <a:t>RESULT: ENCAPSULATION BOUNDARIES PRESERVED; NO DIRECT COLLECTION ACCESS.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THE "TELL, DON'T ASK" PRINCIPLE</a:t>
            </a:r>
            <a:endParaRPr lang="en-US" sz="1600" dirty="0"/>
          </a:p>
        </p:txBody>
      </p:sp>
      <p:sp>
        <p:nvSpPr>
          <p:cNvPr id="6" name="Shape 2"/>
          <p:cNvSpPr/>
          <p:nvPr/>
        </p:nvSpPr>
        <p:spPr>
          <a:xfrm>
            <a:off x="428625" y="1214438"/>
            <a:ext cx="4129088" cy="1628775"/>
          </a:xfrm>
          <a:prstGeom prst="rect">
            <a:avLst/>
          </a:prstGeom>
          <a:solidFill>
            <a:srgbClr val="455A64"/>
          </a:solidFill>
          <a:ln w="27432">
            <a:solidFill>
              <a:srgbClr val="263238"/>
            </a:solidFill>
            <a:prstDash val="solid"/>
          </a:ln>
        </p:spPr>
      </p:sp>
      <p:sp>
        <p:nvSpPr>
          <p:cNvPr id="7" name="Text 3"/>
          <p:cNvSpPr/>
          <p:nvPr/>
        </p:nvSpPr>
        <p:spPr>
          <a:xfrm>
            <a:off x="428625" y="1214438"/>
            <a:ext cx="4129088" cy="421481"/>
          </a:xfrm>
          <a:prstGeom prst="rect">
            <a:avLst/>
          </a:prstGeom>
          <a:noFill/>
          <a:ln/>
        </p:spPr>
        <p:txBody>
          <a:bodyPr wrap="square" lIns="170053" tIns="127508" rIns="0" bIns="0" rtlCol="0" anchor="t">
            <a:spAutoFit/>
          </a:bodyPr>
          <a:lstStyle/>
          <a:p>
            <a:pPr algn="l" indent="0" marL="0">
              <a:buNone/>
            </a:pPr>
            <a:r>
              <a:rPr lang="en-US" sz="1050" dirty="0">
                <a:solidFill>
                  <a:srgbClr val="FFFFFF"/>
                </a:solidFill>
                <a:latin typeface="Space Grotesk Bold" pitchFamily="34" charset="0"/>
                <a:ea typeface="Space Grotesk Bold" pitchFamily="34" charset="-122"/>
                <a:cs typeface="Space Grotesk Bold" pitchFamily="34" charset="-120"/>
              </a:rPr>
              <a:t>PROCEDURAL (BAD)</a:t>
            </a:r>
            <a:endParaRPr lang="en-US" sz="1050" dirty="0"/>
          </a:p>
        </p:txBody>
      </p:sp>
      <p:sp>
        <p:nvSpPr>
          <p:cNvPr id="8" name="Text 4"/>
          <p:cNvSpPr/>
          <p:nvPr/>
        </p:nvSpPr>
        <p:spPr>
          <a:xfrm>
            <a:off x="428625" y="1635919"/>
            <a:ext cx="4129088" cy="942919"/>
          </a:xfrm>
          <a:prstGeom prst="rect">
            <a:avLst/>
          </a:prstGeom>
          <a:noFill/>
          <a:ln/>
        </p:spPr>
        <p:txBody>
          <a:bodyPr wrap="square" lIns="170053" tIns="170053" rIns="170053" bIns="0" rtlCol="0" anchor="t">
            <a:spAutoFit/>
          </a:bodyPr>
          <a:lstStyle/>
          <a:p>
            <a:pPr algn="l" indent="0" marL="0">
              <a:lnSpc>
                <a:spcPct val="112000"/>
              </a:lnSpc>
              <a:buNone/>
            </a:pPr>
            <a:r>
              <a:rPr lang="en-US" sz="850" dirty="0">
                <a:solidFill>
                  <a:srgbClr val="FFFFFF"/>
                </a:solidFill>
                <a:latin typeface="Courier New" pitchFamily="34" charset="0"/>
                <a:ea typeface="Courier New" pitchFamily="34" charset="-122"/>
                <a:cs typeface="Courier New" pitchFamily="34" charset="-120"/>
              </a:rPr>
              <a:t>// Asking for data</a:t>
            </a:r>
            <a:r>
              <a:rPr lang="en-US" sz="850" dirty="0">
                <a:solidFill>
                  <a:srgbClr val="FFFFFF"/>
                </a:solidFill>
                <a:latin typeface="Courier New" pitchFamily="34" charset="0"/>
                <a:ea typeface="Courier New" pitchFamily="34" charset="-122"/>
                <a:cs typeface="Courier New" pitchFamily="34" charset="-120"/>
              </a:rPr>
              <a:t>
</a:t>
            </a:r>
            <a:r>
              <a:rPr lang="en-US" sz="850" dirty="0">
                <a:solidFill>
                  <a:srgbClr val="FFFFFF"/>
                </a:solidFill>
                <a:latin typeface="Courier New" pitchFamily="34" charset="0"/>
                <a:ea typeface="Courier New" pitchFamily="34" charset="-122"/>
                <a:cs typeface="Courier New" pitchFamily="34" charset="-120"/>
              </a:rPr>
              <a:t>var stack = pole.getStack();</a:t>
            </a:r>
            <a:r>
              <a:rPr lang="en-US" sz="850" dirty="0">
                <a:solidFill>
                  <a:srgbClr val="FFFFFF"/>
                </a:solidFill>
                <a:latin typeface="Courier New" pitchFamily="34" charset="0"/>
                <a:ea typeface="Courier New" pitchFamily="34" charset="-122"/>
                <a:cs typeface="Courier New" pitchFamily="34" charset="-120"/>
              </a:rPr>
              <a:t>
</a:t>
            </a:r>
            <a:r>
              <a:rPr lang="en-US" sz="850" dirty="0">
                <a:solidFill>
                  <a:srgbClr val="FFFFFF"/>
                </a:solidFill>
                <a:latin typeface="Courier New" pitchFamily="34" charset="0"/>
                <a:ea typeface="Courier New" pitchFamily="34" charset="-122"/>
                <a:cs typeface="Courier New" pitchFamily="34" charset="-120"/>
              </a:rPr>
              <a:t>if (ring.size &lt; stack.top().size) {</a:t>
            </a:r>
            <a:r>
              <a:rPr lang="en-US" sz="850" dirty="0">
                <a:solidFill>
                  <a:srgbClr val="FFFFFF"/>
                </a:solidFill>
                <a:latin typeface="Courier New" pitchFamily="34" charset="0"/>
                <a:ea typeface="Courier New" pitchFamily="34" charset="-122"/>
                <a:cs typeface="Courier New" pitchFamily="34" charset="-120"/>
              </a:rPr>
              <a:t>
</a:t>
            </a:r>
            <a:r>
              <a:rPr lang="en-US" sz="850" dirty="0">
                <a:solidFill>
                  <a:srgbClr val="FFFFFF"/>
                </a:solidFill>
                <a:latin typeface="Courier New" pitchFamily="34" charset="0"/>
                <a:ea typeface="Courier New" pitchFamily="34" charset="-122"/>
                <a:cs typeface="Courier New" pitchFamily="34" charset="-120"/>
              </a:rPr>
              <a:t>stack.push(ring);</a:t>
            </a:r>
            <a:r>
              <a:rPr lang="en-US" sz="850" dirty="0">
                <a:solidFill>
                  <a:srgbClr val="FFFFFF"/>
                </a:solidFill>
                <a:latin typeface="Courier New" pitchFamily="34" charset="0"/>
                <a:ea typeface="Courier New" pitchFamily="34" charset="-122"/>
                <a:cs typeface="Courier New" pitchFamily="34" charset="-120"/>
              </a:rPr>
              <a:t>
</a:t>
            </a:r>
            <a:r>
              <a:rPr lang="en-US" sz="850" dirty="0">
                <a:solidFill>
                  <a:srgbClr val="FFFFFF"/>
                </a:solidFill>
                <a:latin typeface="Courier New" pitchFamily="34" charset="0"/>
                <a:ea typeface="Courier New" pitchFamily="34" charset="-122"/>
                <a:cs typeface="Courier New" pitchFamily="34" charset="-120"/>
              </a:rPr>
              <a:t>}</a:t>
            </a:r>
            <a:endParaRPr lang="en-US" sz="850" dirty="0"/>
          </a:p>
        </p:txBody>
      </p:sp>
      <p:sp>
        <p:nvSpPr>
          <p:cNvPr id="9" name="Shape 5"/>
          <p:cNvSpPr/>
          <p:nvPr/>
        </p:nvSpPr>
        <p:spPr>
          <a:xfrm>
            <a:off x="4586288" y="1214438"/>
            <a:ext cx="4129088" cy="1628775"/>
          </a:xfrm>
          <a:prstGeom prst="rect">
            <a:avLst/>
          </a:prstGeom>
          <a:solidFill>
            <a:srgbClr val="FBC02D"/>
          </a:solidFill>
          <a:ln w="27432">
            <a:solidFill>
              <a:srgbClr val="263238"/>
            </a:solidFill>
            <a:prstDash val="solid"/>
          </a:ln>
        </p:spPr>
      </p:sp>
      <p:sp>
        <p:nvSpPr>
          <p:cNvPr id="10" name="Text 6"/>
          <p:cNvSpPr/>
          <p:nvPr/>
        </p:nvSpPr>
        <p:spPr>
          <a:xfrm>
            <a:off x="4586288" y="1214438"/>
            <a:ext cx="4129088" cy="421481"/>
          </a:xfrm>
          <a:prstGeom prst="rect">
            <a:avLst/>
          </a:prstGeom>
          <a:noFill/>
          <a:ln/>
        </p:spPr>
        <p:txBody>
          <a:bodyPr wrap="square" lIns="170053" tIns="127508" rIns="0" bIns="0"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CLEAN OOD (GOOD)</a:t>
            </a:r>
            <a:endParaRPr lang="en-US" sz="1050" dirty="0"/>
          </a:p>
        </p:txBody>
      </p:sp>
      <p:sp>
        <p:nvSpPr>
          <p:cNvPr id="11" name="Text 7"/>
          <p:cNvSpPr/>
          <p:nvPr/>
        </p:nvSpPr>
        <p:spPr>
          <a:xfrm>
            <a:off x="4586288" y="1635919"/>
            <a:ext cx="4129088" cy="782910"/>
          </a:xfrm>
          <a:prstGeom prst="rect">
            <a:avLst/>
          </a:prstGeom>
          <a:noFill/>
          <a:ln/>
        </p:spPr>
        <p:txBody>
          <a:bodyPr wrap="square" lIns="170053" tIns="170053" rIns="170053" bIns="0" rtlCol="0" anchor="t">
            <a:spAutoFit/>
          </a:bodyPr>
          <a:lstStyle/>
          <a:p>
            <a:pPr algn="l" indent="0" marL="0">
              <a:lnSpc>
                <a:spcPct val="112000"/>
              </a:lnSpc>
              <a:buNone/>
            </a:pPr>
            <a:r>
              <a:rPr lang="en-US" sz="850" dirty="0">
                <a:solidFill>
                  <a:srgbClr val="263238"/>
                </a:solidFill>
                <a:latin typeface="Courier New" pitchFamily="34" charset="0"/>
                <a:ea typeface="Courier New" pitchFamily="34" charset="-122"/>
                <a:cs typeface="Courier New" pitchFamily="34" charset="-120"/>
              </a:rPr>
              <a:t>// Telling the object to act</a:t>
            </a:r>
            <a:r>
              <a:rPr lang="en-US" sz="850" dirty="0">
                <a:solidFill>
                  <a:srgbClr val="263238"/>
                </a:solidFill>
                <a:latin typeface="Courier New" pitchFamily="34" charset="0"/>
                <a:ea typeface="Courier New" pitchFamily="34" charset="-122"/>
                <a:cs typeface="Courier New" pitchFamily="34" charset="-120"/>
              </a:rPr>
              <a:t>
</a:t>
            </a:r>
            <a:r>
              <a:rPr lang="en-US" sz="850" dirty="0">
                <a:solidFill>
                  <a:srgbClr val="263238"/>
                </a:solidFill>
                <a:latin typeface="Courier New" pitchFamily="34" charset="0"/>
                <a:ea typeface="Courier New" pitchFamily="34" charset="-122"/>
                <a:cs typeface="Courier New" pitchFamily="34" charset="-120"/>
              </a:rPr>
              <a:t>pole.add(ring);</a:t>
            </a:r>
            <a:r>
              <a:rPr lang="en-US" sz="850" dirty="0">
                <a:solidFill>
                  <a:srgbClr val="263238"/>
                </a:solidFill>
                <a:latin typeface="Courier New" pitchFamily="34" charset="0"/>
                <a:ea typeface="Courier New" pitchFamily="34" charset="-122"/>
                <a:cs typeface="Courier New" pitchFamily="34" charset="-120"/>
              </a:rPr>
              <a:t>
</a:t>
            </a:r>
            <a:r>
              <a:rPr lang="en-US" sz="850" dirty="0">
                <a:solidFill>
                  <a:srgbClr val="263238"/>
                </a:solidFill>
                <a:latin typeface="Courier New" pitchFamily="34" charset="0"/>
                <a:ea typeface="Courier New" pitchFamily="34" charset="-122"/>
                <a:cs typeface="Courier New" pitchFamily="34" charset="-120"/>
              </a:rPr>
              <a:t>
</a:t>
            </a:r>
            <a:r>
              <a:rPr lang="en-US" sz="850" dirty="0">
                <a:solidFill>
                  <a:srgbClr val="263238"/>
                </a:solidFill>
                <a:latin typeface="Courier New" pitchFamily="34" charset="0"/>
                <a:ea typeface="Courier New" pitchFamily="34" charset="-122"/>
                <a:cs typeface="Courier New" pitchFamily="34" charset="-120"/>
              </a:rPr>
              <a:t>// Internal logic is hidden</a:t>
            </a:r>
            <a:endParaRPr lang="en-US" sz="850" dirty="0"/>
          </a:p>
        </p:txBody>
      </p:sp>
      <p:sp>
        <p:nvSpPr>
          <p:cNvPr id="12" name="Text 8"/>
          <p:cNvSpPr/>
          <p:nvPr/>
        </p:nvSpPr>
        <p:spPr>
          <a:xfrm>
            <a:off x="428625" y="3071813"/>
            <a:ext cx="8286750" cy="217884"/>
          </a:xfrm>
          <a:prstGeom prst="rect">
            <a:avLst/>
          </a:prstGeom>
          <a:noFill/>
          <a:ln/>
        </p:spPr>
        <p:txBody>
          <a:bodyPr wrap="square" lIns="0" tIns="0" rIns="0" bIns="0" rtlCol="0" anchor="t">
            <a:spAutoFit/>
          </a:bodyPr>
          <a:lstStyle/>
          <a:p>
            <a:pPr algn="l" indent="0" marL="0">
              <a:buNone/>
            </a:pPr>
            <a:r>
              <a:rPr lang="en-US" sz="1200" b="1" dirty="0">
                <a:solidFill>
                  <a:srgbClr val="263238"/>
                </a:solidFill>
                <a:latin typeface="Space Grotesk Bold" pitchFamily="34" charset="0"/>
                <a:ea typeface="Space Grotesk Bold" pitchFamily="34" charset="-122"/>
                <a:cs typeface="Space Grotesk Bold" pitchFamily="34" charset="-120"/>
              </a:rPr>
              <a:t>ARCHITECTURAL BENEFITS</a:t>
            </a:r>
            <a:endParaRPr lang="en-US" sz="1200" dirty="0"/>
          </a:p>
        </p:txBody>
      </p:sp>
      <p:sp>
        <p:nvSpPr>
          <p:cNvPr id="13" name="Shape 9"/>
          <p:cNvSpPr/>
          <p:nvPr/>
        </p:nvSpPr>
        <p:spPr>
          <a:xfrm>
            <a:off x="428625" y="3475434"/>
            <a:ext cx="85725" cy="85725"/>
          </a:xfrm>
          <a:prstGeom prst="rect">
            <a:avLst/>
          </a:prstGeom>
          <a:solidFill>
            <a:srgbClr val="263238"/>
          </a:solidFill>
          <a:ln/>
        </p:spPr>
      </p:sp>
      <p:sp>
        <p:nvSpPr>
          <p:cNvPr id="14" name="Text 10"/>
          <p:cNvSpPr/>
          <p:nvPr/>
        </p:nvSpPr>
        <p:spPr>
          <a:xfrm>
            <a:off x="642938" y="3432572"/>
            <a:ext cx="3786188" cy="155377"/>
          </a:xfrm>
          <a:prstGeom prst="rect">
            <a:avLst/>
          </a:prstGeom>
          <a:noFill/>
          <a:ln/>
        </p:spPr>
        <p:txBody>
          <a:bodyPr wrap="square" lIns="0" tIns="0" rIns="0" bIns="0" rtlCol="0" anchor="t">
            <a:spAutoFit/>
          </a:bodyPr>
          <a:lstStyle/>
          <a:p>
            <a:pPr algn="l" indent="0" marL="0">
              <a:buNone/>
            </a:pPr>
            <a:r>
              <a:rPr lang="en-US" sz="900" b="1" dirty="0">
                <a:solidFill>
                  <a:srgbClr val="263238"/>
                </a:solidFill>
                <a:latin typeface="Inter Bold" pitchFamily="34" charset="0"/>
                <a:ea typeface="Inter Bold" pitchFamily="34" charset="-122"/>
                <a:cs typeface="Inter Bold" pitchFamily="34" charset="-120"/>
              </a:rPr>
              <a:t>Hides Data Structures</a:t>
            </a:r>
            <a:endParaRPr lang="en-US" sz="900" dirty="0"/>
          </a:p>
        </p:txBody>
      </p:sp>
      <p:sp>
        <p:nvSpPr>
          <p:cNvPr id="15" name="Text 11"/>
          <p:cNvSpPr/>
          <p:nvPr/>
        </p:nvSpPr>
        <p:spPr>
          <a:xfrm>
            <a:off x="642938" y="3634383"/>
            <a:ext cx="3712964" cy="137517"/>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The Pole could use a List, Stack, or Array—the Client never knows or</a:t>
            </a:r>
            <a:endParaRPr lang="en-US" sz="850" dirty="0"/>
          </a:p>
        </p:txBody>
      </p:sp>
      <p:sp>
        <p:nvSpPr>
          <p:cNvPr id="16" name="Text 12"/>
          <p:cNvSpPr/>
          <p:nvPr/>
        </p:nvSpPr>
        <p:spPr>
          <a:xfrm>
            <a:off x="642938" y="3794392"/>
            <a:ext cx="2173486" cy="137517"/>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cares about the internal implementation.</a:t>
            </a:r>
            <a:endParaRPr lang="en-US" sz="850" dirty="0"/>
          </a:p>
        </p:txBody>
      </p:sp>
      <p:sp>
        <p:nvSpPr>
          <p:cNvPr id="17" name="Shape 13"/>
          <p:cNvSpPr/>
          <p:nvPr/>
        </p:nvSpPr>
        <p:spPr>
          <a:xfrm>
            <a:off x="4714875" y="3475434"/>
            <a:ext cx="85725" cy="85725"/>
          </a:xfrm>
          <a:prstGeom prst="rect">
            <a:avLst/>
          </a:prstGeom>
          <a:solidFill>
            <a:srgbClr val="263238"/>
          </a:solidFill>
          <a:ln/>
        </p:spPr>
      </p:sp>
      <p:sp>
        <p:nvSpPr>
          <p:cNvPr id="18" name="Text 14"/>
          <p:cNvSpPr/>
          <p:nvPr/>
        </p:nvSpPr>
        <p:spPr>
          <a:xfrm>
            <a:off x="4929188" y="3432572"/>
            <a:ext cx="3786188" cy="155377"/>
          </a:xfrm>
          <a:prstGeom prst="rect">
            <a:avLst/>
          </a:prstGeom>
          <a:noFill/>
          <a:ln/>
        </p:spPr>
        <p:txBody>
          <a:bodyPr wrap="square" lIns="0" tIns="0" rIns="0" bIns="0" rtlCol="0" anchor="t">
            <a:spAutoFit/>
          </a:bodyPr>
          <a:lstStyle/>
          <a:p>
            <a:pPr algn="l" indent="0" marL="0">
              <a:buNone/>
            </a:pPr>
            <a:r>
              <a:rPr lang="en-US" sz="900" b="1" dirty="0">
                <a:solidFill>
                  <a:srgbClr val="263238"/>
                </a:solidFill>
                <a:latin typeface="Inter Bold" pitchFamily="34" charset="0"/>
                <a:ea typeface="Inter Bold" pitchFamily="34" charset="-122"/>
                <a:cs typeface="Inter Bold" pitchFamily="34" charset="-120"/>
              </a:rPr>
              <a:t>Reduced Temporal Coupling</a:t>
            </a:r>
            <a:endParaRPr lang="en-US" sz="900" dirty="0"/>
          </a:p>
        </p:txBody>
      </p:sp>
      <p:sp>
        <p:nvSpPr>
          <p:cNvPr id="19" name="Text 15"/>
          <p:cNvSpPr/>
          <p:nvPr/>
        </p:nvSpPr>
        <p:spPr>
          <a:xfrm>
            <a:off x="4929188" y="3634383"/>
            <a:ext cx="3593306" cy="137517"/>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Logic is bundled with the action, preventing invalid states between</a:t>
            </a:r>
            <a:endParaRPr lang="en-US" sz="850" dirty="0"/>
          </a:p>
        </p:txBody>
      </p:sp>
      <p:sp>
        <p:nvSpPr>
          <p:cNvPr id="20" name="Text 16"/>
          <p:cNvSpPr/>
          <p:nvPr/>
        </p:nvSpPr>
        <p:spPr>
          <a:xfrm>
            <a:off x="4929188" y="3794392"/>
            <a:ext cx="2380655" cy="137517"/>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455A64"/>
                </a:solidFill>
                <a:latin typeface="Inter" pitchFamily="34" charset="0"/>
                <a:ea typeface="Inter" pitchFamily="34" charset="-122"/>
                <a:cs typeface="Inter" pitchFamily="34" charset="-120"/>
              </a:rPr>
              <a:t>the time of "asking" and the time of "doing."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REFACTORING CRITIQUE - COHESION &amp; COUPLING METRICS</a:t>
            </a:r>
            <a:endParaRPr lang="en-US" sz="1600" dirty="0"/>
          </a:p>
        </p:txBody>
      </p:sp>
      <p:sp>
        <p:nvSpPr>
          <p:cNvPr id="6" name="Shape 2"/>
          <p:cNvSpPr/>
          <p:nvPr/>
        </p:nvSpPr>
        <p:spPr>
          <a:xfrm>
            <a:off x="428625" y="1214438"/>
            <a:ext cx="3636811" cy="3614738"/>
          </a:xfrm>
          <a:prstGeom prst="rect">
            <a:avLst/>
          </a:prstGeom>
          <a:solidFill>
            <a:srgbClr val="FFFFFF"/>
          </a:solidFill>
          <a:ln w="27432">
            <a:solidFill>
              <a:srgbClr val="263238"/>
            </a:solidFill>
            <a:prstDash val="solid"/>
          </a:ln>
        </p:spPr>
      </p:sp>
      <p:sp>
        <p:nvSpPr>
          <p:cNvPr id="7" name="Text 3"/>
          <p:cNvSpPr/>
          <p:nvPr/>
        </p:nvSpPr>
        <p:spPr>
          <a:xfrm>
            <a:off x="642938" y="1600200"/>
            <a:ext cx="3208186" cy="435769"/>
          </a:xfrm>
          <a:prstGeom prst="rect">
            <a:avLst/>
          </a:prstGeom>
          <a:noFill/>
          <a:ln/>
        </p:spPr>
        <p:txBody>
          <a:bodyPr wrap="square" lIns="0" tIns="0" rIns="0" bIns="0" rtlCol="0" anchor="t">
            <a:spAutoFit/>
          </a:bodyPr>
          <a:lstStyle/>
          <a:p>
            <a:pPr algn="l" indent="0" marL="0">
              <a:buNone/>
            </a:pPr>
            <a:r>
              <a:rPr lang="en-US" sz="1200" b="1" dirty="0">
                <a:solidFill>
                  <a:srgbClr val="263238"/>
                </a:solidFill>
                <a:latin typeface="Space Grotesk Bold" pitchFamily="34" charset="0"/>
                <a:ea typeface="Space Grotesk Bold" pitchFamily="34" charset="-122"/>
                <a:cs typeface="Space Grotesk Bold" pitchFamily="34" charset="-120"/>
              </a:rPr>
              <a:t>THE JUNIOR DEVELOPER’S FLAWED DESIGN</a:t>
            </a:r>
            <a:endParaRPr lang="en-US" sz="1200" dirty="0"/>
          </a:p>
        </p:txBody>
      </p:sp>
      <p:sp>
        <p:nvSpPr>
          <p:cNvPr id="8" name="Shape 4"/>
          <p:cNvSpPr/>
          <p:nvPr/>
        </p:nvSpPr>
        <p:spPr>
          <a:xfrm>
            <a:off x="642938" y="2221706"/>
            <a:ext cx="85725" cy="85725"/>
          </a:xfrm>
          <a:prstGeom prst="rect">
            <a:avLst/>
          </a:prstGeom>
          <a:solidFill>
            <a:srgbClr val="263238"/>
          </a:solidFill>
          <a:ln/>
        </p:spPr>
      </p:sp>
      <p:sp>
        <p:nvSpPr>
          <p:cNvPr id="9" name="Text 5"/>
          <p:cNvSpPr/>
          <p:nvPr/>
        </p:nvSpPr>
        <p:spPr>
          <a:xfrm>
            <a:off x="642938" y="2178844"/>
            <a:ext cx="3208186"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Monolithic Method:</a:t>
            </a:r>
            <a:r>
              <a:rPr lang="en-US" sz="950" dirty="0">
                <a:solidFill>
                  <a:srgbClr val="455A64"/>
                </a:solidFill>
                <a:latin typeface="Inter" pitchFamily="34" charset="0"/>
                <a:ea typeface="Inter" pitchFamily="34" charset="-122"/>
                <a:cs typeface="Inter" pitchFamily="34" charset="-120"/>
              </a:rPr>
              <a:t> 500-line Monk class method handling all logic.</a:t>
            </a:r>
            <a:endParaRPr lang="en-US" sz="900" dirty="0"/>
          </a:p>
        </p:txBody>
      </p:sp>
      <p:sp>
        <p:nvSpPr>
          <p:cNvPr id="10" name="Shape 6"/>
          <p:cNvSpPr/>
          <p:nvPr/>
        </p:nvSpPr>
        <p:spPr>
          <a:xfrm>
            <a:off x="642938" y="2688896"/>
            <a:ext cx="85725" cy="85725"/>
          </a:xfrm>
          <a:prstGeom prst="rect">
            <a:avLst/>
          </a:prstGeom>
          <a:solidFill>
            <a:srgbClr val="263238"/>
          </a:solidFill>
          <a:ln/>
        </p:spPr>
      </p:sp>
      <p:sp>
        <p:nvSpPr>
          <p:cNvPr id="11" name="Text 7"/>
          <p:cNvSpPr/>
          <p:nvPr/>
        </p:nvSpPr>
        <p:spPr>
          <a:xfrm>
            <a:off x="642938" y="2646034"/>
            <a:ext cx="3208186"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Global State:</a:t>
            </a:r>
            <a:r>
              <a:rPr lang="en-US" sz="950" dirty="0">
                <a:solidFill>
                  <a:srgbClr val="455A64"/>
                </a:solidFill>
                <a:latin typeface="Inter" pitchFamily="34" charset="0"/>
                <a:ea typeface="Inter" pitchFamily="34" charset="-122"/>
                <a:cs typeface="Inter" pitchFamily="34" charset="-120"/>
              </a:rPr>
              <a:t> Giant 2D array </a:t>
            </a:r>
            <a:r>
              <a:rPr lang="en-US" sz="900" b="1" dirty="0">
                <a:solidFill>
                  <a:srgbClr val="263238"/>
                </a:solidFill>
                <a:latin typeface="Inter Bold" pitchFamily="34" charset="0"/>
                <a:ea typeface="Inter Bold" pitchFamily="34" charset="-122"/>
                <a:cs typeface="Inter Bold" pitchFamily="34" charset="-120"/>
              </a:rPr>
              <a:t>int[3][64]</a:t>
            </a:r>
            <a:r>
              <a:rPr lang="en-US" sz="950" dirty="0">
                <a:solidFill>
                  <a:srgbClr val="455A64"/>
                </a:solidFill>
                <a:latin typeface="Inter" pitchFamily="34" charset="0"/>
                <a:ea typeface="Inter" pitchFamily="34" charset="-122"/>
                <a:cs typeface="Inter" pitchFamily="34" charset="-120"/>
              </a:rPr>
              <a:t> for the entire game.</a:t>
            </a:r>
            <a:endParaRPr lang="en-US" sz="900" dirty="0"/>
          </a:p>
        </p:txBody>
      </p:sp>
      <p:sp>
        <p:nvSpPr>
          <p:cNvPr id="12" name="Shape 8"/>
          <p:cNvSpPr/>
          <p:nvPr/>
        </p:nvSpPr>
        <p:spPr>
          <a:xfrm>
            <a:off x="642938" y="3156086"/>
            <a:ext cx="85725" cy="85725"/>
          </a:xfrm>
          <a:prstGeom prst="rect">
            <a:avLst/>
          </a:prstGeom>
          <a:solidFill>
            <a:srgbClr val="263238"/>
          </a:solidFill>
          <a:ln/>
        </p:spPr>
      </p:sp>
      <p:sp>
        <p:nvSpPr>
          <p:cNvPr id="13" name="Text 9"/>
          <p:cNvSpPr/>
          <p:nvPr/>
        </p:nvSpPr>
        <p:spPr>
          <a:xfrm>
            <a:off x="642938" y="3113224"/>
            <a:ext cx="3208186"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Anemic Classes:</a:t>
            </a:r>
            <a:r>
              <a:rPr lang="en-US" sz="950" dirty="0">
                <a:solidFill>
                  <a:srgbClr val="455A64"/>
                </a:solidFill>
                <a:latin typeface="Inter" pitchFamily="34" charset="0"/>
                <a:ea typeface="Inter" pitchFamily="34" charset="-122"/>
                <a:cs typeface="Inter" pitchFamily="34" charset="-120"/>
              </a:rPr>
              <a:t> Empty Ring and Pole classes acting as mere data containers.</a:t>
            </a:r>
            <a:endParaRPr lang="en-US" sz="900" dirty="0"/>
          </a:p>
        </p:txBody>
      </p:sp>
      <p:sp>
        <p:nvSpPr>
          <p:cNvPr id="14" name="Shape 10"/>
          <p:cNvSpPr/>
          <p:nvPr/>
        </p:nvSpPr>
        <p:spPr>
          <a:xfrm>
            <a:off x="4351186" y="1214438"/>
            <a:ext cx="4364189" cy="1735931"/>
          </a:xfrm>
          <a:prstGeom prst="rect">
            <a:avLst/>
          </a:prstGeom>
          <a:solidFill>
            <a:srgbClr val="263238"/>
          </a:solidFill>
          <a:ln w="27432">
            <a:solidFill>
              <a:srgbClr val="FBC02D"/>
            </a:solidFill>
            <a:prstDash val="solid"/>
          </a:ln>
        </p:spPr>
      </p:sp>
      <p:sp>
        <p:nvSpPr>
          <p:cNvPr id="15" name="Text 11"/>
          <p:cNvSpPr/>
          <p:nvPr/>
        </p:nvSpPr>
        <p:spPr>
          <a:xfrm>
            <a:off x="4529779" y="1357313"/>
            <a:ext cx="4007002" cy="201811"/>
          </a:xfrm>
          <a:prstGeom prst="rect">
            <a:avLst/>
          </a:prstGeom>
          <a:noFill/>
          <a:ln/>
        </p:spPr>
        <p:txBody>
          <a:bodyPr wrap="square" lIns="0" tIns="0" rIns="0" bIns="0" rtlCol="0" anchor="t">
            <a:spAutoFit/>
          </a:bodyPr>
          <a:lstStyle/>
          <a:p>
            <a:pPr algn="l" indent="0" marL="0">
              <a:buNone/>
            </a:pPr>
            <a:r>
              <a:rPr lang="en-US" sz="1150" dirty="0">
                <a:solidFill>
                  <a:srgbClr val="FBC02D"/>
                </a:solidFill>
                <a:latin typeface="Space Grotesk Bold" pitchFamily="34" charset="0"/>
                <a:ea typeface="Space Grotesk Bold" pitchFamily="34" charset="-122"/>
                <a:cs typeface="Space Grotesk Bold" pitchFamily="34" charset="-120"/>
              </a:rPr>
              <a:t>COHESION: CATASTROPHICALLY LOW</a:t>
            </a:r>
            <a:endParaRPr lang="en-US" sz="1150" dirty="0"/>
          </a:p>
        </p:txBody>
      </p:sp>
      <p:sp>
        <p:nvSpPr>
          <p:cNvPr id="16" name="Shape 12"/>
          <p:cNvSpPr/>
          <p:nvPr/>
        </p:nvSpPr>
        <p:spPr>
          <a:xfrm>
            <a:off x="4529779" y="1673423"/>
            <a:ext cx="85725" cy="85725"/>
          </a:xfrm>
          <a:prstGeom prst="rect">
            <a:avLst/>
          </a:prstGeom>
          <a:solidFill>
            <a:srgbClr val="FBC02D"/>
          </a:solidFill>
          <a:ln/>
        </p:spPr>
      </p:sp>
      <p:sp>
        <p:nvSpPr>
          <p:cNvPr id="17" name="Text 13"/>
          <p:cNvSpPr/>
          <p:nvPr/>
        </p:nvSpPr>
        <p:spPr>
          <a:xfrm>
            <a:off x="4529779" y="1630561"/>
            <a:ext cx="4007002" cy="360034"/>
          </a:xfrm>
          <a:prstGeom prst="rect">
            <a:avLst/>
          </a:prstGeom>
          <a:noFill/>
          <a:ln/>
        </p:spPr>
        <p:txBody>
          <a:bodyPr wrap="square" lIns="212598" tIns="0" rIns="0" bIns="0" rtlCol="0" anchor="t">
            <a:spAutoFit/>
          </a:bodyPr>
          <a:lstStyle/>
          <a:p>
            <a:pPr algn="l" indent="0" marL="0">
              <a:lnSpc>
                <a:spcPct val="112000"/>
              </a:lnSpc>
              <a:buNone/>
            </a:pPr>
            <a:r>
              <a:rPr lang="en-US" sz="950" dirty="0">
                <a:solidFill>
                  <a:srgbClr val="E3F2FD"/>
                </a:solidFill>
                <a:latin typeface="Inter" pitchFamily="34" charset="0"/>
                <a:ea typeface="Inter" pitchFamily="34" charset="-122"/>
                <a:cs typeface="Inter" pitchFamily="34" charset="-120"/>
              </a:rPr>
              <a:t>The Monk class is a </a:t>
            </a:r>
            <a:r>
              <a:rPr lang="en-US" sz="900" b="1" dirty="0">
                <a:solidFill>
                  <a:srgbClr val="FBC02D"/>
                </a:solidFill>
                <a:latin typeface="Inter Bold" pitchFamily="34" charset="0"/>
                <a:ea typeface="Inter Bold" pitchFamily="34" charset="-122"/>
                <a:cs typeface="Inter Bold" pitchFamily="34" charset="-120"/>
              </a:rPr>
              <a:t>God Class</a:t>
            </a:r>
            <a:r>
              <a:rPr lang="en-US" sz="950" dirty="0">
                <a:solidFill>
                  <a:srgbClr val="E3F2FD"/>
                </a:solidFill>
                <a:latin typeface="Inter" pitchFamily="34" charset="0"/>
                <a:ea typeface="Inter" pitchFamily="34" charset="-122"/>
                <a:cs typeface="Inter" pitchFamily="34" charset="-120"/>
              </a:rPr>
              <a:t>, performing UI, validation, and data management.</a:t>
            </a:r>
            <a:endParaRPr lang="en-US" sz="950" dirty="0"/>
          </a:p>
        </p:txBody>
      </p:sp>
      <p:sp>
        <p:nvSpPr>
          <p:cNvPr id="18" name="Shape 14"/>
          <p:cNvSpPr/>
          <p:nvPr/>
        </p:nvSpPr>
        <p:spPr>
          <a:xfrm>
            <a:off x="4529779" y="2140614"/>
            <a:ext cx="85725" cy="85725"/>
          </a:xfrm>
          <a:prstGeom prst="rect">
            <a:avLst/>
          </a:prstGeom>
          <a:solidFill>
            <a:srgbClr val="FBC02D"/>
          </a:solidFill>
          <a:ln/>
        </p:spPr>
      </p:sp>
      <p:sp>
        <p:nvSpPr>
          <p:cNvPr id="19" name="Text 15"/>
          <p:cNvSpPr/>
          <p:nvPr/>
        </p:nvSpPr>
        <p:spPr>
          <a:xfrm>
            <a:off x="4529779" y="2097751"/>
            <a:ext cx="4007002" cy="180017"/>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E3F2FD"/>
                </a:solidFill>
                <a:latin typeface="Inter" pitchFamily="34" charset="0"/>
                <a:ea typeface="Inter" pitchFamily="34" charset="-122"/>
                <a:cs typeface="Inter" pitchFamily="34" charset="-120"/>
              </a:rPr>
              <a:t>Violates SRP; impossible to test or modify without side effects.</a:t>
            </a:r>
            <a:endParaRPr lang="en-US" sz="950" dirty="0"/>
          </a:p>
        </p:txBody>
      </p:sp>
      <p:sp>
        <p:nvSpPr>
          <p:cNvPr id="20" name="Shape 16"/>
          <p:cNvSpPr/>
          <p:nvPr/>
        </p:nvSpPr>
        <p:spPr>
          <a:xfrm>
            <a:off x="4351186" y="3036094"/>
            <a:ext cx="4364189" cy="1735931"/>
          </a:xfrm>
          <a:prstGeom prst="rect">
            <a:avLst/>
          </a:prstGeom>
          <a:solidFill>
            <a:srgbClr val="263238"/>
          </a:solidFill>
          <a:ln w="27432">
            <a:solidFill>
              <a:srgbClr val="FBC02D"/>
            </a:solidFill>
            <a:prstDash val="solid"/>
          </a:ln>
        </p:spPr>
      </p:sp>
      <p:sp>
        <p:nvSpPr>
          <p:cNvPr id="21" name="Text 17"/>
          <p:cNvSpPr/>
          <p:nvPr/>
        </p:nvSpPr>
        <p:spPr>
          <a:xfrm>
            <a:off x="4529779" y="3178969"/>
            <a:ext cx="4007002" cy="201811"/>
          </a:xfrm>
          <a:prstGeom prst="rect">
            <a:avLst/>
          </a:prstGeom>
          <a:noFill/>
          <a:ln/>
        </p:spPr>
        <p:txBody>
          <a:bodyPr wrap="square" lIns="0" tIns="0" rIns="0" bIns="0" rtlCol="0" anchor="t">
            <a:spAutoFit/>
          </a:bodyPr>
          <a:lstStyle/>
          <a:p>
            <a:pPr algn="l" indent="0" marL="0">
              <a:buNone/>
            </a:pPr>
            <a:r>
              <a:rPr lang="en-US" sz="1150" dirty="0">
                <a:solidFill>
                  <a:srgbClr val="FBC02D"/>
                </a:solidFill>
                <a:latin typeface="Space Grotesk Bold" pitchFamily="34" charset="0"/>
                <a:ea typeface="Space Grotesk Bold" pitchFamily="34" charset="-122"/>
                <a:cs typeface="Space Grotesk Bold" pitchFamily="34" charset="-120"/>
              </a:rPr>
              <a:t>COUPLING: TIGHTLY FRAGILE</a:t>
            </a:r>
            <a:endParaRPr lang="en-US" sz="1150" dirty="0"/>
          </a:p>
        </p:txBody>
      </p:sp>
      <p:sp>
        <p:nvSpPr>
          <p:cNvPr id="22" name="Shape 18"/>
          <p:cNvSpPr/>
          <p:nvPr/>
        </p:nvSpPr>
        <p:spPr>
          <a:xfrm>
            <a:off x="4529779" y="3495080"/>
            <a:ext cx="85725" cy="85725"/>
          </a:xfrm>
          <a:prstGeom prst="rect">
            <a:avLst/>
          </a:prstGeom>
          <a:solidFill>
            <a:srgbClr val="FBC02D"/>
          </a:solidFill>
          <a:ln/>
        </p:spPr>
      </p:sp>
      <p:sp>
        <p:nvSpPr>
          <p:cNvPr id="23" name="Text 19"/>
          <p:cNvSpPr/>
          <p:nvPr/>
        </p:nvSpPr>
        <p:spPr>
          <a:xfrm>
            <a:off x="4529779" y="3452217"/>
            <a:ext cx="4007002" cy="180017"/>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E3F2FD"/>
                </a:solidFill>
                <a:latin typeface="Inter" pitchFamily="34" charset="0"/>
                <a:ea typeface="Inter" pitchFamily="34" charset="-122"/>
                <a:cs typeface="Inter" pitchFamily="34" charset="-120"/>
              </a:rPr>
              <a:t>Logic is hard-coded to the specific 2D array structure.</a:t>
            </a:r>
            <a:endParaRPr lang="en-US" sz="950" dirty="0"/>
          </a:p>
        </p:txBody>
      </p:sp>
      <p:sp>
        <p:nvSpPr>
          <p:cNvPr id="24" name="Shape 20"/>
          <p:cNvSpPr/>
          <p:nvPr/>
        </p:nvSpPr>
        <p:spPr>
          <a:xfrm>
            <a:off x="4529779" y="3782253"/>
            <a:ext cx="85725" cy="85725"/>
          </a:xfrm>
          <a:prstGeom prst="rect">
            <a:avLst/>
          </a:prstGeom>
          <a:solidFill>
            <a:srgbClr val="FBC02D"/>
          </a:solidFill>
          <a:ln/>
        </p:spPr>
      </p:sp>
      <p:sp>
        <p:nvSpPr>
          <p:cNvPr id="25" name="Text 21"/>
          <p:cNvSpPr/>
          <p:nvPr/>
        </p:nvSpPr>
        <p:spPr>
          <a:xfrm>
            <a:off x="4529779" y="3739390"/>
            <a:ext cx="4007002" cy="180017"/>
          </a:xfrm>
          <a:prstGeom prst="rect">
            <a:avLst/>
          </a:prstGeom>
          <a:noFill/>
          <a:ln/>
        </p:spPr>
        <p:txBody>
          <a:bodyPr wrap="none" lIns="212598" tIns="0" rIns="0" bIns="0" rtlCol="0" anchor="t">
            <a:spAutoFit/>
          </a:bodyPr>
          <a:lstStyle/>
          <a:p>
            <a:pPr algn="l" indent="0" marL="0">
              <a:lnSpc>
                <a:spcPct val="112000"/>
              </a:lnSpc>
              <a:buNone/>
            </a:pPr>
            <a:r>
              <a:rPr lang="en-US" sz="950" dirty="0">
                <a:solidFill>
                  <a:srgbClr val="E3F2FD"/>
                </a:solidFill>
                <a:latin typeface="Inter" pitchFamily="34" charset="0"/>
                <a:ea typeface="Inter" pitchFamily="34" charset="-122"/>
                <a:cs typeface="Inter" pitchFamily="34" charset="-120"/>
              </a:rPr>
              <a:t>Any change to data format breaks the entire 500-line method.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ARCHITECTURAL ANTI-PATTERNS DIAGNOSED</a:t>
            </a:r>
            <a:endParaRPr lang="en-US" sz="1600" dirty="0"/>
          </a:p>
        </p:txBody>
      </p:sp>
      <p:sp>
        <p:nvSpPr>
          <p:cNvPr id="6" name="Shape 2"/>
          <p:cNvSpPr/>
          <p:nvPr/>
        </p:nvSpPr>
        <p:spPr>
          <a:xfrm>
            <a:off x="428625" y="1214438"/>
            <a:ext cx="4129088" cy="3486150"/>
          </a:xfrm>
          <a:prstGeom prst="rect">
            <a:avLst/>
          </a:prstGeom>
          <a:solidFill>
            <a:srgbClr val="FFFFFF"/>
          </a:solidFill>
          <a:ln w="27432">
            <a:solidFill>
              <a:srgbClr val="263238"/>
            </a:solidFill>
            <a:prstDash val="solid"/>
          </a:ln>
        </p:spPr>
      </p:sp>
      <p:sp>
        <p:nvSpPr>
          <p:cNvPr id="7" name="Shape 3"/>
          <p:cNvSpPr/>
          <p:nvPr/>
        </p:nvSpPr>
        <p:spPr>
          <a:xfrm>
            <a:off x="428625" y="1214438"/>
            <a:ext cx="4129088" cy="457200"/>
          </a:xfrm>
          <a:prstGeom prst="rect">
            <a:avLst/>
          </a:prstGeom>
          <a:solidFill>
            <a:srgbClr val="FBC02D"/>
          </a:solidFill>
          <a:ln/>
        </p:spPr>
      </p:sp>
      <p:sp>
        <p:nvSpPr>
          <p:cNvPr id="8" name="Shape 4"/>
          <p:cNvSpPr/>
          <p:nvPr/>
        </p:nvSpPr>
        <p:spPr>
          <a:xfrm>
            <a:off x="428625" y="1643063"/>
            <a:ext cx="4129088" cy="28575"/>
          </a:xfrm>
          <a:prstGeom prst="rect">
            <a:avLst/>
          </a:prstGeom>
          <a:solidFill>
            <a:srgbClr val="263238"/>
          </a:solidFill>
          <a:ln/>
        </p:spPr>
      </p:sp>
      <p:sp>
        <p:nvSpPr>
          <p:cNvPr id="9" name="Text 5"/>
          <p:cNvSpPr/>
          <p:nvPr/>
        </p:nvSpPr>
        <p:spPr>
          <a:xfrm>
            <a:off x="428625" y="1214438"/>
            <a:ext cx="4129088" cy="457200"/>
          </a:xfrm>
          <a:prstGeom prst="rect">
            <a:avLst/>
          </a:prstGeom>
          <a:noFill/>
          <a:ln/>
        </p:spPr>
        <p:txBody>
          <a:bodyPr wrap="square" lIns="170053" tIns="127508" rIns="0" bIns="0" rtlCol="0" anchor="t">
            <a:spAutoFit/>
          </a:bodyPr>
          <a:lstStyle/>
          <a:p>
            <a:pPr algn="l" indent="0" marL="0">
              <a:buNone/>
            </a:pPr>
            <a:r>
              <a:rPr lang="en-US" sz="1150" dirty="0">
                <a:solidFill>
                  <a:srgbClr val="263238"/>
                </a:solidFill>
                <a:latin typeface="Space Grotesk Bold" pitchFamily="34" charset="0"/>
                <a:ea typeface="Space Grotesk Bold" pitchFamily="34" charset="-122"/>
                <a:cs typeface="Space Grotesk Bold" pitchFamily="34" charset="-120"/>
              </a:rPr>
              <a:t>THE GOD CLASS (THE BLOB)</a:t>
            </a:r>
            <a:endParaRPr lang="en-US" sz="1150" dirty="0"/>
          </a:p>
        </p:txBody>
      </p:sp>
      <p:sp>
        <p:nvSpPr>
          <p:cNvPr id="10" name="Shape 6"/>
          <p:cNvSpPr/>
          <p:nvPr/>
        </p:nvSpPr>
        <p:spPr>
          <a:xfrm>
            <a:off x="607219" y="1821656"/>
            <a:ext cx="1466255" cy="183952"/>
          </a:xfrm>
          <a:prstGeom prst="rect">
            <a:avLst/>
          </a:prstGeom>
          <a:solidFill>
            <a:srgbClr val="E3F2FD"/>
          </a:solidFill>
          <a:ln/>
        </p:spPr>
      </p:sp>
      <p:sp>
        <p:nvSpPr>
          <p:cNvPr id="11" name="Text 7"/>
          <p:cNvSpPr/>
          <p:nvPr/>
        </p:nvSpPr>
        <p:spPr>
          <a:xfrm>
            <a:off x="607219" y="1821656"/>
            <a:ext cx="1466255" cy="183952"/>
          </a:xfrm>
          <a:prstGeom prst="rect">
            <a:avLst/>
          </a:prstGeom>
          <a:noFill/>
          <a:ln/>
        </p:spPr>
        <p:txBody>
          <a:bodyPr wrap="square" lIns="68072" tIns="34036" rIns="68072" bIns="34036" rtlCol="0" anchor="t">
            <a:spAutoFit/>
          </a:bodyPr>
          <a:lstStyle/>
          <a:p>
            <a:pPr algn="l" indent="0" marL="0">
              <a:buNone/>
            </a:pPr>
            <a:r>
              <a:rPr lang="en-US" sz="750" dirty="0">
                <a:solidFill>
                  <a:srgbClr val="263238"/>
                </a:solidFill>
                <a:latin typeface="Space Grotesk Bold" pitchFamily="34" charset="0"/>
                <a:ea typeface="Space Grotesk Bold" pitchFamily="34" charset="-122"/>
                <a:cs typeface="Space Grotesk Bold" pitchFamily="34" charset="-120"/>
              </a:rPr>
              <a:t>SYMPTOM: THE MONK CLASS</a:t>
            </a:r>
            <a:endParaRPr lang="en-US" sz="750" dirty="0"/>
          </a:p>
        </p:txBody>
      </p:sp>
      <p:sp>
        <p:nvSpPr>
          <p:cNvPr id="12" name="Shape 8"/>
          <p:cNvSpPr/>
          <p:nvPr/>
        </p:nvSpPr>
        <p:spPr>
          <a:xfrm>
            <a:off x="607219" y="2119908"/>
            <a:ext cx="85725" cy="85725"/>
          </a:xfrm>
          <a:prstGeom prst="rect">
            <a:avLst/>
          </a:prstGeom>
          <a:solidFill>
            <a:srgbClr val="263238"/>
          </a:solidFill>
          <a:ln/>
        </p:spPr>
      </p:sp>
      <p:sp>
        <p:nvSpPr>
          <p:cNvPr id="13" name="Text 9"/>
          <p:cNvSpPr/>
          <p:nvPr/>
        </p:nvSpPr>
        <p:spPr>
          <a:xfrm>
            <a:off x="607219" y="2077045"/>
            <a:ext cx="3771900"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Hoarded Intelligence:</a:t>
            </a:r>
            <a:r>
              <a:rPr lang="en-US" sz="950" dirty="0">
                <a:solidFill>
                  <a:srgbClr val="455A64"/>
                </a:solidFill>
                <a:latin typeface="Inter" pitchFamily="34" charset="0"/>
                <a:ea typeface="Inter" pitchFamily="34" charset="-122"/>
                <a:cs typeface="Inter" pitchFamily="34" charset="-120"/>
              </a:rPr>
              <a:t> A single class becomes the "all-seeing, all-doing" entity.</a:t>
            </a:r>
            <a:endParaRPr lang="en-US" sz="900" dirty="0"/>
          </a:p>
        </p:txBody>
      </p:sp>
      <p:sp>
        <p:nvSpPr>
          <p:cNvPr id="14" name="Shape 10"/>
          <p:cNvSpPr/>
          <p:nvPr/>
        </p:nvSpPr>
        <p:spPr>
          <a:xfrm>
            <a:off x="607219" y="2608529"/>
            <a:ext cx="85725" cy="85725"/>
          </a:xfrm>
          <a:prstGeom prst="rect">
            <a:avLst/>
          </a:prstGeom>
          <a:solidFill>
            <a:srgbClr val="263238"/>
          </a:solidFill>
          <a:ln/>
        </p:spPr>
      </p:sp>
      <p:sp>
        <p:nvSpPr>
          <p:cNvPr id="15" name="Text 11"/>
          <p:cNvSpPr/>
          <p:nvPr/>
        </p:nvSpPr>
        <p:spPr>
          <a:xfrm>
            <a:off x="607219" y="2565667"/>
            <a:ext cx="3771900"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Complexity:</a:t>
            </a:r>
            <a:r>
              <a:rPr lang="en-US" sz="950" dirty="0">
                <a:solidFill>
                  <a:srgbClr val="455A64"/>
                </a:solidFill>
                <a:latin typeface="Inter" pitchFamily="34" charset="0"/>
                <a:ea typeface="Inter" pitchFamily="34" charset="-122"/>
                <a:cs typeface="Inter" pitchFamily="34" charset="-120"/>
              </a:rPr>
              <a:t> Massive size with complex branching logic that is hard to trace.</a:t>
            </a:r>
            <a:endParaRPr lang="en-US" sz="900" dirty="0"/>
          </a:p>
        </p:txBody>
      </p:sp>
      <p:sp>
        <p:nvSpPr>
          <p:cNvPr id="16" name="Shape 12"/>
          <p:cNvSpPr/>
          <p:nvPr/>
        </p:nvSpPr>
        <p:spPr>
          <a:xfrm>
            <a:off x="607219" y="3097150"/>
            <a:ext cx="85725" cy="85725"/>
          </a:xfrm>
          <a:prstGeom prst="rect">
            <a:avLst/>
          </a:prstGeom>
          <a:solidFill>
            <a:srgbClr val="263238"/>
          </a:solidFill>
          <a:ln/>
        </p:spPr>
      </p:sp>
      <p:sp>
        <p:nvSpPr>
          <p:cNvPr id="17" name="Text 13"/>
          <p:cNvSpPr/>
          <p:nvPr/>
        </p:nvSpPr>
        <p:spPr>
          <a:xfrm>
            <a:off x="607219" y="3054288"/>
            <a:ext cx="3771900"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Maintenance Trap:</a:t>
            </a:r>
            <a:r>
              <a:rPr lang="en-US" sz="950" dirty="0">
                <a:solidFill>
                  <a:srgbClr val="455A64"/>
                </a:solidFill>
                <a:latin typeface="Inter" pitchFamily="34" charset="0"/>
                <a:ea typeface="Inter" pitchFamily="34" charset="-122"/>
                <a:cs typeface="Inter" pitchFamily="34" charset="-120"/>
              </a:rPr>
              <a:t> Any change to one feature risks breaking unrelated logic within the same class.</a:t>
            </a:r>
            <a:endParaRPr lang="en-US" sz="900" dirty="0"/>
          </a:p>
        </p:txBody>
      </p:sp>
      <p:sp>
        <p:nvSpPr>
          <p:cNvPr id="18" name="Shape 14"/>
          <p:cNvSpPr/>
          <p:nvPr/>
        </p:nvSpPr>
        <p:spPr>
          <a:xfrm>
            <a:off x="4586288" y="1214438"/>
            <a:ext cx="4129088" cy="3486150"/>
          </a:xfrm>
          <a:prstGeom prst="rect">
            <a:avLst/>
          </a:prstGeom>
          <a:solidFill>
            <a:srgbClr val="FFFFFF"/>
          </a:solidFill>
          <a:ln w="27432">
            <a:solidFill>
              <a:srgbClr val="263238"/>
            </a:solidFill>
            <a:prstDash val="solid"/>
          </a:ln>
        </p:spPr>
      </p:sp>
      <p:sp>
        <p:nvSpPr>
          <p:cNvPr id="19" name="Shape 15"/>
          <p:cNvSpPr/>
          <p:nvPr/>
        </p:nvSpPr>
        <p:spPr>
          <a:xfrm>
            <a:off x="4586288" y="1214438"/>
            <a:ext cx="4129088" cy="457200"/>
          </a:xfrm>
          <a:prstGeom prst="rect">
            <a:avLst/>
          </a:prstGeom>
          <a:solidFill>
            <a:srgbClr val="FBC02D"/>
          </a:solidFill>
          <a:ln/>
        </p:spPr>
      </p:sp>
      <p:sp>
        <p:nvSpPr>
          <p:cNvPr id="20" name="Shape 16"/>
          <p:cNvSpPr/>
          <p:nvPr/>
        </p:nvSpPr>
        <p:spPr>
          <a:xfrm>
            <a:off x="4586288" y="1643063"/>
            <a:ext cx="4129088" cy="28575"/>
          </a:xfrm>
          <a:prstGeom prst="rect">
            <a:avLst/>
          </a:prstGeom>
          <a:solidFill>
            <a:srgbClr val="263238"/>
          </a:solidFill>
          <a:ln/>
        </p:spPr>
      </p:sp>
      <p:sp>
        <p:nvSpPr>
          <p:cNvPr id="21" name="Text 17"/>
          <p:cNvSpPr/>
          <p:nvPr/>
        </p:nvSpPr>
        <p:spPr>
          <a:xfrm>
            <a:off x="4586288" y="1214438"/>
            <a:ext cx="4129088" cy="457200"/>
          </a:xfrm>
          <a:prstGeom prst="rect">
            <a:avLst/>
          </a:prstGeom>
          <a:noFill/>
          <a:ln/>
        </p:spPr>
        <p:txBody>
          <a:bodyPr wrap="square" lIns="170053" tIns="127508" rIns="0" bIns="0" rtlCol="0" anchor="t">
            <a:spAutoFit/>
          </a:bodyPr>
          <a:lstStyle/>
          <a:p>
            <a:pPr algn="l" indent="0" marL="0">
              <a:buNone/>
            </a:pPr>
            <a:r>
              <a:rPr lang="en-US" sz="1150" dirty="0">
                <a:solidFill>
                  <a:srgbClr val="263238"/>
                </a:solidFill>
                <a:latin typeface="Space Grotesk Bold" pitchFamily="34" charset="0"/>
                <a:ea typeface="Space Grotesk Bold" pitchFamily="34" charset="-122"/>
                <a:cs typeface="Space Grotesk Bold" pitchFamily="34" charset="-120"/>
              </a:rPr>
              <a:t>ANEMIC DOMAIN MODEL</a:t>
            </a:r>
            <a:endParaRPr lang="en-US" sz="1150" dirty="0"/>
          </a:p>
        </p:txBody>
      </p:sp>
      <p:sp>
        <p:nvSpPr>
          <p:cNvPr id="22" name="Shape 18"/>
          <p:cNvSpPr/>
          <p:nvPr/>
        </p:nvSpPr>
        <p:spPr>
          <a:xfrm>
            <a:off x="4764881" y="1821656"/>
            <a:ext cx="1664494" cy="183952"/>
          </a:xfrm>
          <a:prstGeom prst="rect">
            <a:avLst/>
          </a:prstGeom>
          <a:solidFill>
            <a:srgbClr val="E3F2FD"/>
          </a:solidFill>
          <a:ln/>
        </p:spPr>
      </p:sp>
      <p:sp>
        <p:nvSpPr>
          <p:cNvPr id="23" name="Text 19"/>
          <p:cNvSpPr/>
          <p:nvPr/>
        </p:nvSpPr>
        <p:spPr>
          <a:xfrm>
            <a:off x="4764881" y="1821656"/>
            <a:ext cx="1664494" cy="183952"/>
          </a:xfrm>
          <a:prstGeom prst="rect">
            <a:avLst/>
          </a:prstGeom>
          <a:noFill/>
          <a:ln/>
        </p:spPr>
        <p:txBody>
          <a:bodyPr wrap="square" lIns="68072" tIns="34036" rIns="68072" bIns="34036" rtlCol="0" anchor="t">
            <a:spAutoFit/>
          </a:bodyPr>
          <a:lstStyle/>
          <a:p>
            <a:pPr algn="l" indent="0" marL="0">
              <a:buNone/>
            </a:pPr>
            <a:r>
              <a:rPr lang="en-US" sz="750" dirty="0">
                <a:solidFill>
                  <a:srgbClr val="263238"/>
                </a:solidFill>
                <a:latin typeface="Space Grotesk Bold" pitchFamily="34" charset="0"/>
                <a:ea typeface="Space Grotesk Bold" pitchFamily="34" charset="-122"/>
                <a:cs typeface="Space Grotesk Bold" pitchFamily="34" charset="-120"/>
              </a:rPr>
              <a:t>SYMPTOM: RING &amp; POLE CLASSES</a:t>
            </a:r>
            <a:endParaRPr lang="en-US" sz="750" dirty="0"/>
          </a:p>
        </p:txBody>
      </p:sp>
      <p:sp>
        <p:nvSpPr>
          <p:cNvPr id="24" name="Shape 20"/>
          <p:cNvSpPr/>
          <p:nvPr/>
        </p:nvSpPr>
        <p:spPr>
          <a:xfrm>
            <a:off x="4764881" y="2119908"/>
            <a:ext cx="85725" cy="85725"/>
          </a:xfrm>
          <a:prstGeom prst="rect">
            <a:avLst/>
          </a:prstGeom>
          <a:solidFill>
            <a:srgbClr val="263238"/>
          </a:solidFill>
          <a:ln/>
        </p:spPr>
      </p:sp>
      <p:sp>
        <p:nvSpPr>
          <p:cNvPr id="25" name="Text 21"/>
          <p:cNvSpPr/>
          <p:nvPr/>
        </p:nvSpPr>
        <p:spPr>
          <a:xfrm>
            <a:off x="4764881" y="2077045"/>
            <a:ext cx="3771900"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Dumb Data Holders:</a:t>
            </a:r>
            <a:r>
              <a:rPr lang="en-US" sz="950" dirty="0">
                <a:solidFill>
                  <a:srgbClr val="455A64"/>
                </a:solidFill>
                <a:latin typeface="Inter" pitchFamily="34" charset="0"/>
                <a:ea typeface="Inter" pitchFamily="34" charset="-122"/>
                <a:cs typeface="Inter" pitchFamily="34" charset="-120"/>
              </a:rPr>
              <a:t> Objects are reduced to mere containers with getters and setters.</a:t>
            </a:r>
            <a:endParaRPr lang="en-US" sz="900" dirty="0"/>
          </a:p>
        </p:txBody>
      </p:sp>
      <p:sp>
        <p:nvSpPr>
          <p:cNvPr id="26" name="Shape 22"/>
          <p:cNvSpPr/>
          <p:nvPr/>
        </p:nvSpPr>
        <p:spPr>
          <a:xfrm>
            <a:off x="4764881" y="2608529"/>
            <a:ext cx="85725" cy="85725"/>
          </a:xfrm>
          <a:prstGeom prst="rect">
            <a:avLst/>
          </a:prstGeom>
          <a:solidFill>
            <a:srgbClr val="263238"/>
          </a:solidFill>
          <a:ln/>
        </p:spPr>
      </p:sp>
      <p:sp>
        <p:nvSpPr>
          <p:cNvPr id="27" name="Text 23"/>
          <p:cNvSpPr/>
          <p:nvPr/>
        </p:nvSpPr>
        <p:spPr>
          <a:xfrm>
            <a:off x="4764881" y="2565667"/>
            <a:ext cx="3771900"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Stolen Logic:</a:t>
            </a:r>
            <a:r>
              <a:rPr lang="en-US" sz="950" dirty="0">
                <a:solidFill>
                  <a:srgbClr val="455A64"/>
                </a:solidFill>
                <a:latin typeface="Inter" pitchFamily="34" charset="0"/>
                <a:ea typeface="Inter" pitchFamily="34" charset="-122"/>
                <a:cs typeface="Inter" pitchFamily="34" charset="-120"/>
              </a:rPr>
              <a:t> Business rules are "stolen" by external controllers, leading to procedural design.</a:t>
            </a:r>
            <a:endParaRPr lang="en-US" sz="900" dirty="0"/>
          </a:p>
        </p:txBody>
      </p:sp>
      <p:sp>
        <p:nvSpPr>
          <p:cNvPr id="28" name="Shape 24"/>
          <p:cNvSpPr/>
          <p:nvPr/>
        </p:nvSpPr>
        <p:spPr>
          <a:xfrm>
            <a:off x="4764881" y="3097150"/>
            <a:ext cx="85725" cy="85725"/>
          </a:xfrm>
          <a:prstGeom prst="rect">
            <a:avLst/>
          </a:prstGeom>
          <a:solidFill>
            <a:srgbClr val="263238"/>
          </a:solidFill>
          <a:ln/>
        </p:spPr>
      </p:sp>
      <p:sp>
        <p:nvSpPr>
          <p:cNvPr id="29" name="Text 25"/>
          <p:cNvSpPr/>
          <p:nvPr/>
        </p:nvSpPr>
        <p:spPr>
          <a:xfrm>
            <a:off x="4764881" y="3054288"/>
            <a:ext cx="3771900" cy="360034"/>
          </a:xfrm>
          <a:prstGeom prst="rect">
            <a:avLst/>
          </a:prstGeom>
          <a:noFill/>
          <a:ln/>
        </p:spPr>
        <p:txBody>
          <a:bodyPr wrap="square" lIns="212598"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Encapsulation Breach:</a:t>
            </a:r>
            <a:r>
              <a:rPr lang="en-US" sz="950" dirty="0">
                <a:solidFill>
                  <a:srgbClr val="455A64"/>
                </a:solidFill>
                <a:latin typeface="Inter" pitchFamily="34" charset="0"/>
                <a:ea typeface="Inter" pitchFamily="34" charset="-122"/>
                <a:cs typeface="Inter" pitchFamily="34" charset="-120"/>
              </a:rPr>
              <a:t> Internal state is exposed, forcing clients to manage object integrity.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THE ARCHITECTURAL FIX - REFACTORING BLUEPRINT</a:t>
            </a:r>
            <a:endParaRPr lang="en-US" sz="1600" dirty="0"/>
          </a:p>
        </p:txBody>
      </p:sp>
      <p:sp>
        <p:nvSpPr>
          <p:cNvPr id="6" name="Text 2"/>
          <p:cNvSpPr/>
          <p:nvPr/>
        </p:nvSpPr>
        <p:spPr>
          <a:xfrm>
            <a:off x="0" y="928688"/>
            <a:ext cx="9144000" cy="332184"/>
          </a:xfrm>
          <a:prstGeom prst="rect">
            <a:avLst/>
          </a:prstGeom>
          <a:noFill/>
          <a:ln/>
        </p:spPr>
        <p:txBody>
          <a:bodyPr wrap="square" lIns="510286" tIns="170053" rIns="510286" bIns="0" rtlCol="0" anchor="t">
            <a:spAutoFit/>
          </a:bodyPr>
          <a:lstStyle/>
          <a:p>
            <a:pPr algn="l" indent="0" marL="0">
              <a:buNone/>
            </a:pPr>
            <a:r>
              <a:rPr lang="en-US" sz="1100" b="1" dirty="0">
                <a:solidFill>
                  <a:srgbClr val="263238"/>
                </a:solidFill>
                <a:latin typeface="Inter Bold" pitchFamily="34" charset="0"/>
                <a:ea typeface="Inter Bold" pitchFamily="34" charset="-122"/>
                <a:cs typeface="Inter Bold" pitchFamily="34" charset="-120"/>
              </a:rPr>
              <a:t>GOAL: ACHIEVE DISTRIBUTED SYSTEM INTELLIGENCE THROUGH RESPONSIBILITY-DRIVEN DESIGN.</a:t>
            </a:r>
            <a:endParaRPr lang="en-US" sz="1100" dirty="0"/>
          </a:p>
        </p:txBody>
      </p:sp>
      <p:sp>
        <p:nvSpPr>
          <p:cNvPr id="7" name="Shape 3"/>
          <p:cNvSpPr/>
          <p:nvPr/>
        </p:nvSpPr>
        <p:spPr>
          <a:xfrm>
            <a:off x="428625" y="1389459"/>
            <a:ext cx="4093369" cy="1328738"/>
          </a:xfrm>
          <a:prstGeom prst="rect">
            <a:avLst/>
          </a:prstGeom>
          <a:solidFill>
            <a:srgbClr val="FFFFFF"/>
          </a:solidFill>
          <a:ln w="27432">
            <a:solidFill>
              <a:srgbClr val="263238"/>
            </a:solidFill>
            <a:prstDash val="solid"/>
          </a:ln>
        </p:spPr>
      </p:sp>
      <p:sp>
        <p:nvSpPr>
          <p:cNvPr id="8" name="Shape 4"/>
          <p:cNvSpPr/>
          <p:nvPr/>
        </p:nvSpPr>
        <p:spPr>
          <a:xfrm>
            <a:off x="571500" y="1446609"/>
            <a:ext cx="3807619" cy="342900"/>
          </a:xfrm>
          <a:prstGeom prst="rect">
            <a:avLst/>
          </a:prstGeom>
          <a:solidFill>
            <a:srgbClr val="FBC02D"/>
          </a:solidFill>
          <a:ln w="18288">
            <a:solidFill>
              <a:srgbClr val="263238"/>
            </a:solidFill>
            <a:prstDash val="solid"/>
          </a:ln>
        </p:spPr>
      </p:sp>
      <p:sp>
        <p:nvSpPr>
          <p:cNvPr id="9" name="Text 5"/>
          <p:cNvSpPr/>
          <p:nvPr/>
        </p:nvSpPr>
        <p:spPr>
          <a:xfrm>
            <a:off x="571500" y="1446609"/>
            <a:ext cx="3807619" cy="342900"/>
          </a:xfrm>
          <a:prstGeom prst="rect">
            <a:avLst/>
          </a:prstGeom>
          <a:noFill/>
          <a:ln/>
        </p:spPr>
        <p:txBody>
          <a:bodyPr wrap="square" lIns="127508" tIns="68072" rIns="0" bIns="0"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1. DECENTRALIZE STATE</a:t>
            </a:r>
            <a:endParaRPr lang="en-US" sz="1050" dirty="0"/>
          </a:p>
        </p:txBody>
      </p:sp>
      <p:sp>
        <p:nvSpPr>
          <p:cNvPr id="10" name="Shape 6"/>
          <p:cNvSpPr/>
          <p:nvPr/>
        </p:nvSpPr>
        <p:spPr>
          <a:xfrm>
            <a:off x="571500" y="1860947"/>
            <a:ext cx="85725" cy="85725"/>
          </a:xfrm>
          <a:prstGeom prst="rect">
            <a:avLst/>
          </a:prstGeom>
          <a:solidFill>
            <a:srgbClr val="263238"/>
          </a:solidFill>
          <a:ln/>
        </p:spPr>
      </p:sp>
      <p:sp>
        <p:nvSpPr>
          <p:cNvPr id="11" name="Text 7"/>
          <p:cNvSpPr/>
          <p:nvPr/>
        </p:nvSpPr>
        <p:spPr>
          <a:xfrm>
            <a:off x="571500" y="1818084"/>
            <a:ext cx="3807619" cy="339998"/>
          </a:xfrm>
          <a:prstGeom prst="rect">
            <a:avLst/>
          </a:prstGeom>
          <a:noFill/>
          <a:ln/>
        </p:spPr>
        <p:txBody>
          <a:bodyPr wrap="square" lIns="212598" tIns="0" rIns="0" bIns="0" rtlCol="0" anchor="t">
            <a:spAutoFit/>
          </a:bodyPr>
          <a:lstStyle/>
          <a:p>
            <a:pPr algn="l" indent="0" marL="0">
              <a:lnSpc>
                <a:spcPct val="112000"/>
              </a:lnSpc>
              <a:buNone/>
            </a:pPr>
            <a:r>
              <a:rPr lang="en-US" sz="900" dirty="0">
                <a:solidFill>
                  <a:srgbClr val="455A64"/>
                </a:solidFill>
                <a:latin typeface="Inter" pitchFamily="34" charset="0"/>
                <a:ea typeface="Inter" pitchFamily="34" charset="-122"/>
                <a:cs typeface="Inter" pitchFamily="34" charset="-120"/>
              </a:rPr>
              <a:t>Replace the global 2D array with localized </a:t>
            </a:r>
            <a:r>
              <a:rPr lang="en-US" sz="850" b="1" dirty="0">
                <a:solidFill>
                  <a:srgbClr val="263238"/>
                </a:solidFill>
                <a:latin typeface="Inter Bold" pitchFamily="34" charset="0"/>
                <a:ea typeface="Inter Bold" pitchFamily="34" charset="-122"/>
                <a:cs typeface="Inter Bold" pitchFamily="34" charset="-120"/>
              </a:rPr>
              <a:t>Stack&lt;Ring&gt;</a:t>
            </a:r>
            <a:r>
              <a:rPr lang="en-US" sz="900" dirty="0">
                <a:solidFill>
                  <a:srgbClr val="455A64"/>
                </a:solidFill>
                <a:latin typeface="Inter" pitchFamily="34" charset="0"/>
                <a:ea typeface="Inter" pitchFamily="34" charset="-122"/>
                <a:cs typeface="Inter" pitchFamily="34" charset="-120"/>
              </a:rPr>
              <a:t> inside each Pole.</a:t>
            </a:r>
            <a:endParaRPr lang="en-US" sz="900" dirty="0"/>
          </a:p>
        </p:txBody>
      </p:sp>
      <p:sp>
        <p:nvSpPr>
          <p:cNvPr id="12" name="Shape 8"/>
          <p:cNvSpPr/>
          <p:nvPr/>
        </p:nvSpPr>
        <p:spPr>
          <a:xfrm>
            <a:off x="571500" y="2272382"/>
            <a:ext cx="85725" cy="85725"/>
          </a:xfrm>
          <a:prstGeom prst="rect">
            <a:avLst/>
          </a:prstGeom>
          <a:solidFill>
            <a:srgbClr val="263238"/>
          </a:solidFill>
          <a:ln/>
        </p:spPr>
      </p:sp>
      <p:sp>
        <p:nvSpPr>
          <p:cNvPr id="13" name="Text 9"/>
          <p:cNvSpPr/>
          <p:nvPr/>
        </p:nvSpPr>
        <p:spPr>
          <a:xfrm>
            <a:off x="571500" y="2229520"/>
            <a:ext cx="3807619" cy="169999"/>
          </a:xfrm>
          <a:prstGeom prst="rect">
            <a:avLst/>
          </a:prstGeom>
          <a:noFill/>
          <a:ln/>
        </p:spPr>
        <p:txBody>
          <a:bodyPr wrap="none" lIns="212598" tIns="0" rIns="0" bIns="0" rtlCol="0" anchor="t">
            <a:spAutoFit/>
          </a:bodyPr>
          <a:lstStyle/>
          <a:p>
            <a:pPr algn="l" indent="0" marL="0">
              <a:lnSpc>
                <a:spcPct val="112000"/>
              </a:lnSpc>
              <a:buNone/>
            </a:pPr>
            <a:r>
              <a:rPr lang="en-US" sz="900" dirty="0">
                <a:solidFill>
                  <a:srgbClr val="455A64"/>
                </a:solidFill>
                <a:latin typeface="Inter" pitchFamily="34" charset="0"/>
                <a:ea typeface="Inter" pitchFamily="34" charset="-122"/>
                <a:cs typeface="Inter" pitchFamily="34" charset="-120"/>
              </a:rPr>
              <a:t>Ensures data is owned by the entity that manages it.</a:t>
            </a:r>
            <a:endParaRPr lang="en-US" sz="900" dirty="0"/>
          </a:p>
        </p:txBody>
      </p:sp>
      <p:sp>
        <p:nvSpPr>
          <p:cNvPr id="14" name="Shape 10"/>
          <p:cNvSpPr/>
          <p:nvPr/>
        </p:nvSpPr>
        <p:spPr>
          <a:xfrm>
            <a:off x="4622006" y="1389459"/>
            <a:ext cx="4093369" cy="1328738"/>
          </a:xfrm>
          <a:prstGeom prst="rect">
            <a:avLst/>
          </a:prstGeom>
          <a:solidFill>
            <a:srgbClr val="FFFFFF"/>
          </a:solidFill>
          <a:ln w="27432">
            <a:solidFill>
              <a:srgbClr val="263238"/>
            </a:solidFill>
            <a:prstDash val="solid"/>
          </a:ln>
        </p:spPr>
      </p:sp>
      <p:sp>
        <p:nvSpPr>
          <p:cNvPr id="15" name="Shape 11"/>
          <p:cNvSpPr/>
          <p:nvPr/>
        </p:nvSpPr>
        <p:spPr>
          <a:xfrm>
            <a:off x="4764881" y="1446609"/>
            <a:ext cx="3807619" cy="342900"/>
          </a:xfrm>
          <a:prstGeom prst="rect">
            <a:avLst/>
          </a:prstGeom>
          <a:solidFill>
            <a:srgbClr val="FBC02D"/>
          </a:solidFill>
          <a:ln w="18288">
            <a:solidFill>
              <a:srgbClr val="263238"/>
            </a:solidFill>
            <a:prstDash val="solid"/>
          </a:ln>
        </p:spPr>
      </p:sp>
      <p:sp>
        <p:nvSpPr>
          <p:cNvPr id="16" name="Text 12"/>
          <p:cNvSpPr/>
          <p:nvPr/>
        </p:nvSpPr>
        <p:spPr>
          <a:xfrm>
            <a:off x="4764881" y="1446609"/>
            <a:ext cx="3807619" cy="342900"/>
          </a:xfrm>
          <a:prstGeom prst="rect">
            <a:avLst/>
          </a:prstGeom>
          <a:noFill/>
          <a:ln/>
        </p:spPr>
        <p:txBody>
          <a:bodyPr wrap="square" lIns="127508" tIns="68072" rIns="0" bIns="0"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2. RESTORE INTELLIGENCE</a:t>
            </a:r>
            <a:endParaRPr lang="en-US" sz="1050" dirty="0"/>
          </a:p>
        </p:txBody>
      </p:sp>
      <p:sp>
        <p:nvSpPr>
          <p:cNvPr id="17" name="Shape 13"/>
          <p:cNvSpPr/>
          <p:nvPr/>
        </p:nvSpPr>
        <p:spPr>
          <a:xfrm>
            <a:off x="4764881" y="1860947"/>
            <a:ext cx="85725" cy="85725"/>
          </a:xfrm>
          <a:prstGeom prst="rect">
            <a:avLst/>
          </a:prstGeom>
          <a:solidFill>
            <a:srgbClr val="263238"/>
          </a:solidFill>
          <a:ln/>
        </p:spPr>
      </p:sp>
      <p:sp>
        <p:nvSpPr>
          <p:cNvPr id="18" name="Text 14"/>
          <p:cNvSpPr/>
          <p:nvPr/>
        </p:nvSpPr>
        <p:spPr>
          <a:xfrm>
            <a:off x="4764881" y="1818084"/>
            <a:ext cx="3807619" cy="169999"/>
          </a:xfrm>
          <a:prstGeom prst="rect">
            <a:avLst/>
          </a:prstGeom>
          <a:noFill/>
          <a:ln/>
        </p:spPr>
        <p:txBody>
          <a:bodyPr wrap="none" lIns="212598" tIns="0" rIns="0" bIns="0" rtlCol="0" anchor="t">
            <a:spAutoFit/>
          </a:bodyPr>
          <a:lstStyle/>
          <a:p>
            <a:pPr algn="l" indent="0" marL="0">
              <a:lnSpc>
                <a:spcPct val="112000"/>
              </a:lnSpc>
              <a:buNone/>
            </a:pPr>
            <a:r>
              <a:rPr lang="en-US" sz="900" dirty="0">
                <a:solidFill>
                  <a:srgbClr val="455A64"/>
                </a:solidFill>
                <a:latin typeface="Inter" pitchFamily="34" charset="0"/>
                <a:ea typeface="Inter" pitchFamily="34" charset="-122"/>
                <a:cs typeface="Inter" pitchFamily="34" charset="-120"/>
              </a:rPr>
              <a:t>Move </a:t>
            </a:r>
            <a:r>
              <a:rPr lang="en-US" sz="850" b="1" dirty="0">
                <a:solidFill>
                  <a:srgbClr val="263238"/>
                </a:solidFill>
                <a:latin typeface="Inter Bold" pitchFamily="34" charset="0"/>
                <a:ea typeface="Inter Bold" pitchFamily="34" charset="-122"/>
                <a:cs typeface="Inter Bold" pitchFamily="34" charset="-120"/>
              </a:rPr>
              <a:t>isValidMove()</a:t>
            </a:r>
            <a:r>
              <a:rPr lang="en-US" sz="900" dirty="0">
                <a:solidFill>
                  <a:srgbClr val="455A64"/>
                </a:solidFill>
                <a:latin typeface="Inter" pitchFamily="34" charset="0"/>
                <a:ea typeface="Inter" pitchFamily="34" charset="-122"/>
                <a:cs typeface="Inter" pitchFamily="34" charset="-120"/>
              </a:rPr>
              <a:t> logic from Monk to Pole.</a:t>
            </a:r>
            <a:endParaRPr lang="en-US" sz="900" dirty="0"/>
          </a:p>
        </p:txBody>
      </p:sp>
      <p:sp>
        <p:nvSpPr>
          <p:cNvPr id="19" name="Shape 15"/>
          <p:cNvSpPr/>
          <p:nvPr/>
        </p:nvSpPr>
        <p:spPr>
          <a:xfrm>
            <a:off x="4764881" y="2102383"/>
            <a:ext cx="85725" cy="85725"/>
          </a:xfrm>
          <a:prstGeom prst="rect">
            <a:avLst/>
          </a:prstGeom>
          <a:solidFill>
            <a:srgbClr val="263238"/>
          </a:solidFill>
          <a:ln/>
        </p:spPr>
      </p:sp>
      <p:sp>
        <p:nvSpPr>
          <p:cNvPr id="20" name="Text 16"/>
          <p:cNvSpPr/>
          <p:nvPr/>
        </p:nvSpPr>
        <p:spPr>
          <a:xfrm>
            <a:off x="4764881" y="2059521"/>
            <a:ext cx="3807619" cy="339998"/>
          </a:xfrm>
          <a:prstGeom prst="rect">
            <a:avLst/>
          </a:prstGeom>
          <a:noFill/>
          <a:ln/>
        </p:spPr>
        <p:txBody>
          <a:bodyPr wrap="square" lIns="212598" tIns="0" rIns="0" bIns="0" rtlCol="0" anchor="t">
            <a:spAutoFit/>
          </a:bodyPr>
          <a:lstStyle/>
          <a:p>
            <a:pPr algn="l" indent="0" marL="0">
              <a:lnSpc>
                <a:spcPct val="112000"/>
              </a:lnSpc>
              <a:buNone/>
            </a:pPr>
            <a:r>
              <a:rPr lang="en-US" sz="900" dirty="0">
                <a:solidFill>
                  <a:srgbClr val="455A64"/>
                </a:solidFill>
                <a:latin typeface="Inter" pitchFamily="34" charset="0"/>
                <a:ea typeface="Inter" pitchFamily="34" charset="-122"/>
                <a:cs typeface="Inter" pitchFamily="34" charset="-120"/>
              </a:rPr>
              <a:t>Applies the </a:t>
            </a:r>
            <a:r>
              <a:rPr lang="en-US" sz="850" b="1" dirty="0">
                <a:solidFill>
                  <a:srgbClr val="263238"/>
                </a:solidFill>
                <a:latin typeface="Inter Bold" pitchFamily="34" charset="0"/>
                <a:ea typeface="Inter Bold" pitchFamily="34" charset="-122"/>
                <a:cs typeface="Inter Bold" pitchFamily="34" charset="-120"/>
              </a:rPr>
              <a:t>Information Expert</a:t>
            </a:r>
            <a:r>
              <a:rPr lang="en-US" sz="900" dirty="0">
                <a:solidFill>
                  <a:srgbClr val="455A64"/>
                </a:solidFill>
                <a:latin typeface="Inter" pitchFamily="34" charset="0"/>
                <a:ea typeface="Inter" pitchFamily="34" charset="-122"/>
                <a:cs typeface="Inter" pitchFamily="34" charset="-120"/>
              </a:rPr>
              <a:t> principle; Pole validates its own state.</a:t>
            </a:r>
            <a:endParaRPr lang="en-US" sz="900" dirty="0"/>
          </a:p>
        </p:txBody>
      </p:sp>
      <p:sp>
        <p:nvSpPr>
          <p:cNvPr id="21" name="Shape 17"/>
          <p:cNvSpPr/>
          <p:nvPr/>
        </p:nvSpPr>
        <p:spPr>
          <a:xfrm>
            <a:off x="428625" y="2761059"/>
            <a:ext cx="4093369" cy="1328738"/>
          </a:xfrm>
          <a:prstGeom prst="rect">
            <a:avLst/>
          </a:prstGeom>
          <a:solidFill>
            <a:srgbClr val="FFFFFF"/>
          </a:solidFill>
          <a:ln w="27432">
            <a:solidFill>
              <a:srgbClr val="263238"/>
            </a:solidFill>
            <a:prstDash val="solid"/>
          </a:ln>
        </p:spPr>
      </p:sp>
      <p:sp>
        <p:nvSpPr>
          <p:cNvPr id="22" name="Shape 18"/>
          <p:cNvSpPr/>
          <p:nvPr/>
        </p:nvSpPr>
        <p:spPr>
          <a:xfrm>
            <a:off x="571500" y="2818209"/>
            <a:ext cx="3807619" cy="342900"/>
          </a:xfrm>
          <a:prstGeom prst="rect">
            <a:avLst/>
          </a:prstGeom>
          <a:solidFill>
            <a:srgbClr val="FBC02D"/>
          </a:solidFill>
          <a:ln w="18288">
            <a:solidFill>
              <a:srgbClr val="263238"/>
            </a:solidFill>
            <a:prstDash val="solid"/>
          </a:ln>
        </p:spPr>
      </p:sp>
      <p:sp>
        <p:nvSpPr>
          <p:cNvPr id="23" name="Text 19"/>
          <p:cNvSpPr/>
          <p:nvPr/>
        </p:nvSpPr>
        <p:spPr>
          <a:xfrm>
            <a:off x="571500" y="2818209"/>
            <a:ext cx="3807619" cy="342900"/>
          </a:xfrm>
          <a:prstGeom prst="rect">
            <a:avLst/>
          </a:prstGeom>
          <a:noFill/>
          <a:ln/>
        </p:spPr>
        <p:txBody>
          <a:bodyPr wrap="square" lIns="127508" tIns="68072" rIns="0" bIns="0"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3. ENCAPSULATE ACTIONS</a:t>
            </a:r>
            <a:endParaRPr lang="en-US" sz="1050" dirty="0"/>
          </a:p>
        </p:txBody>
      </p:sp>
      <p:sp>
        <p:nvSpPr>
          <p:cNvPr id="24" name="Shape 20"/>
          <p:cNvSpPr/>
          <p:nvPr/>
        </p:nvSpPr>
        <p:spPr>
          <a:xfrm>
            <a:off x="571500" y="3232547"/>
            <a:ext cx="85725" cy="85725"/>
          </a:xfrm>
          <a:prstGeom prst="rect">
            <a:avLst/>
          </a:prstGeom>
          <a:solidFill>
            <a:srgbClr val="263238"/>
          </a:solidFill>
          <a:ln/>
        </p:spPr>
      </p:sp>
      <p:sp>
        <p:nvSpPr>
          <p:cNvPr id="25" name="Text 21"/>
          <p:cNvSpPr/>
          <p:nvPr/>
        </p:nvSpPr>
        <p:spPr>
          <a:xfrm>
            <a:off x="571500" y="3189684"/>
            <a:ext cx="3807619" cy="169999"/>
          </a:xfrm>
          <a:prstGeom prst="rect">
            <a:avLst/>
          </a:prstGeom>
          <a:noFill/>
          <a:ln/>
        </p:spPr>
        <p:txBody>
          <a:bodyPr wrap="none" lIns="212598" tIns="0" rIns="0" bIns="0" rtlCol="0" anchor="t">
            <a:spAutoFit/>
          </a:bodyPr>
          <a:lstStyle/>
          <a:p>
            <a:pPr algn="l" indent="0" marL="0">
              <a:lnSpc>
                <a:spcPct val="112000"/>
              </a:lnSpc>
              <a:buNone/>
            </a:pPr>
            <a:r>
              <a:rPr lang="en-US" sz="900" dirty="0">
                <a:solidFill>
                  <a:srgbClr val="455A64"/>
                </a:solidFill>
                <a:latin typeface="Inter" pitchFamily="34" charset="0"/>
                <a:ea typeface="Inter" pitchFamily="34" charset="-122"/>
                <a:cs typeface="Inter" pitchFamily="34" charset="-120"/>
              </a:rPr>
              <a:t>Move push/pop logic into Pole methods.</a:t>
            </a:r>
            <a:endParaRPr lang="en-US" sz="900" dirty="0"/>
          </a:p>
        </p:txBody>
      </p:sp>
      <p:sp>
        <p:nvSpPr>
          <p:cNvPr id="26" name="Shape 22"/>
          <p:cNvSpPr/>
          <p:nvPr/>
        </p:nvSpPr>
        <p:spPr>
          <a:xfrm>
            <a:off x="571500" y="3473983"/>
            <a:ext cx="85725" cy="85725"/>
          </a:xfrm>
          <a:prstGeom prst="rect">
            <a:avLst/>
          </a:prstGeom>
          <a:solidFill>
            <a:srgbClr val="263238"/>
          </a:solidFill>
          <a:ln/>
        </p:spPr>
      </p:sp>
      <p:sp>
        <p:nvSpPr>
          <p:cNvPr id="27" name="Text 23"/>
          <p:cNvSpPr/>
          <p:nvPr/>
        </p:nvSpPr>
        <p:spPr>
          <a:xfrm>
            <a:off x="571500" y="3431121"/>
            <a:ext cx="3807619" cy="339998"/>
          </a:xfrm>
          <a:prstGeom prst="rect">
            <a:avLst/>
          </a:prstGeom>
          <a:noFill/>
          <a:ln/>
        </p:spPr>
        <p:txBody>
          <a:bodyPr wrap="square" lIns="212598" tIns="0" rIns="0" bIns="0" rtlCol="0" anchor="t">
            <a:spAutoFit/>
          </a:bodyPr>
          <a:lstStyle/>
          <a:p>
            <a:pPr algn="l" indent="0" marL="0">
              <a:lnSpc>
                <a:spcPct val="112000"/>
              </a:lnSpc>
              <a:buNone/>
            </a:pPr>
            <a:r>
              <a:rPr lang="en-US" sz="900" dirty="0">
                <a:solidFill>
                  <a:srgbClr val="455A64"/>
                </a:solidFill>
                <a:latin typeface="Inter" pitchFamily="34" charset="0"/>
                <a:ea typeface="Inter" pitchFamily="34" charset="-122"/>
                <a:cs typeface="Inter" pitchFamily="34" charset="-120"/>
              </a:rPr>
              <a:t>Enforces </a:t>
            </a:r>
            <a:r>
              <a:rPr lang="en-US" sz="850" b="1" dirty="0">
                <a:solidFill>
                  <a:srgbClr val="263238"/>
                </a:solidFill>
                <a:latin typeface="Inter Bold" pitchFamily="34" charset="0"/>
                <a:ea typeface="Inter Bold" pitchFamily="34" charset="-122"/>
                <a:cs typeface="Inter Bold" pitchFamily="34" charset="-120"/>
              </a:rPr>
              <a:t>"Tell, Don't Ask"</a:t>
            </a:r>
            <a:r>
              <a:rPr lang="en-US" sz="900" dirty="0">
                <a:solidFill>
                  <a:srgbClr val="455A64"/>
                </a:solidFill>
                <a:latin typeface="Inter" pitchFamily="34" charset="0"/>
                <a:ea typeface="Inter" pitchFamily="34" charset="-122"/>
                <a:cs typeface="Inter" pitchFamily="34" charset="-120"/>
              </a:rPr>
              <a:t>; Client tells Pole to receive or release.</a:t>
            </a:r>
            <a:endParaRPr lang="en-US" sz="900" dirty="0"/>
          </a:p>
        </p:txBody>
      </p:sp>
      <p:sp>
        <p:nvSpPr>
          <p:cNvPr id="28" name="Shape 24"/>
          <p:cNvSpPr/>
          <p:nvPr/>
        </p:nvSpPr>
        <p:spPr>
          <a:xfrm>
            <a:off x="4622006" y="2761059"/>
            <a:ext cx="4093369" cy="1328738"/>
          </a:xfrm>
          <a:prstGeom prst="rect">
            <a:avLst/>
          </a:prstGeom>
          <a:solidFill>
            <a:srgbClr val="FFFFFF"/>
          </a:solidFill>
          <a:ln w="27432">
            <a:solidFill>
              <a:srgbClr val="263238"/>
            </a:solidFill>
            <a:prstDash val="solid"/>
          </a:ln>
        </p:spPr>
      </p:sp>
      <p:sp>
        <p:nvSpPr>
          <p:cNvPr id="29" name="Shape 25"/>
          <p:cNvSpPr/>
          <p:nvPr/>
        </p:nvSpPr>
        <p:spPr>
          <a:xfrm>
            <a:off x="4764881" y="2818209"/>
            <a:ext cx="3807619" cy="342900"/>
          </a:xfrm>
          <a:prstGeom prst="rect">
            <a:avLst/>
          </a:prstGeom>
          <a:solidFill>
            <a:srgbClr val="FBC02D"/>
          </a:solidFill>
          <a:ln w="18288">
            <a:solidFill>
              <a:srgbClr val="263238"/>
            </a:solidFill>
            <a:prstDash val="solid"/>
          </a:ln>
        </p:spPr>
      </p:sp>
      <p:sp>
        <p:nvSpPr>
          <p:cNvPr id="30" name="Text 26"/>
          <p:cNvSpPr/>
          <p:nvPr/>
        </p:nvSpPr>
        <p:spPr>
          <a:xfrm>
            <a:off x="4764881" y="2818209"/>
            <a:ext cx="3807619" cy="342900"/>
          </a:xfrm>
          <a:prstGeom prst="rect">
            <a:avLst/>
          </a:prstGeom>
          <a:noFill/>
          <a:ln/>
        </p:spPr>
        <p:txBody>
          <a:bodyPr wrap="square" lIns="127508" tIns="68072" rIns="0" bIns="0" rtlCol="0" anchor="t">
            <a:spAutoFit/>
          </a:bodyPr>
          <a:lstStyle/>
          <a:p>
            <a:pPr algn="l" indent="0" marL="0">
              <a:buNone/>
            </a:pPr>
            <a:r>
              <a:rPr lang="en-US" sz="1050" dirty="0">
                <a:solidFill>
                  <a:srgbClr val="263238"/>
                </a:solidFill>
                <a:latin typeface="Space Grotesk Bold" pitchFamily="34" charset="0"/>
                <a:ea typeface="Space Grotesk Bold" pitchFamily="34" charset="-122"/>
                <a:cs typeface="Space Grotesk Bold" pitchFamily="34" charset="-120"/>
              </a:rPr>
              <a:t>4. DEMOTE THE MONK</a:t>
            </a:r>
            <a:endParaRPr lang="en-US" sz="1050" dirty="0"/>
          </a:p>
        </p:txBody>
      </p:sp>
      <p:sp>
        <p:nvSpPr>
          <p:cNvPr id="31" name="Shape 27"/>
          <p:cNvSpPr/>
          <p:nvPr/>
        </p:nvSpPr>
        <p:spPr>
          <a:xfrm>
            <a:off x="4764881" y="3232547"/>
            <a:ext cx="85725" cy="85725"/>
          </a:xfrm>
          <a:prstGeom prst="rect">
            <a:avLst/>
          </a:prstGeom>
          <a:solidFill>
            <a:srgbClr val="263238"/>
          </a:solidFill>
          <a:ln/>
        </p:spPr>
      </p:sp>
      <p:sp>
        <p:nvSpPr>
          <p:cNvPr id="32" name="Text 28"/>
          <p:cNvSpPr/>
          <p:nvPr/>
        </p:nvSpPr>
        <p:spPr>
          <a:xfrm>
            <a:off x="4764881" y="3189684"/>
            <a:ext cx="3807619" cy="169999"/>
          </a:xfrm>
          <a:prstGeom prst="rect">
            <a:avLst/>
          </a:prstGeom>
          <a:noFill/>
          <a:ln/>
        </p:spPr>
        <p:txBody>
          <a:bodyPr wrap="none" lIns="212598" tIns="0" rIns="0" bIns="0" rtlCol="0" anchor="t">
            <a:spAutoFit/>
          </a:bodyPr>
          <a:lstStyle/>
          <a:p>
            <a:pPr algn="l" indent="0" marL="0">
              <a:lnSpc>
                <a:spcPct val="112000"/>
              </a:lnSpc>
              <a:buNone/>
            </a:pPr>
            <a:r>
              <a:rPr lang="en-US" sz="900" dirty="0">
                <a:solidFill>
                  <a:srgbClr val="455A64"/>
                </a:solidFill>
                <a:latin typeface="Inter" pitchFamily="34" charset="0"/>
                <a:ea typeface="Inter" pitchFamily="34" charset="-122"/>
                <a:cs typeface="Inter" pitchFamily="34" charset="-120"/>
              </a:rPr>
              <a:t>Transform Monk into a lightweight </a:t>
            </a:r>
            <a:r>
              <a:rPr lang="en-US" sz="850" b="1" dirty="0">
                <a:solidFill>
                  <a:srgbClr val="263238"/>
                </a:solidFill>
                <a:latin typeface="Inter Bold" pitchFamily="34" charset="0"/>
                <a:ea typeface="Inter Bold" pitchFamily="34" charset="-122"/>
                <a:cs typeface="Inter Bold" pitchFamily="34" charset="-120"/>
              </a:rPr>
              <a:t>Coordinator</a:t>
            </a:r>
            <a:r>
              <a:rPr lang="en-US" sz="900" dirty="0">
                <a:solidFill>
                  <a:srgbClr val="455A64"/>
                </a:solidFill>
                <a:latin typeface="Inter" pitchFamily="34" charset="0"/>
                <a:ea typeface="Inter" pitchFamily="34" charset="-122"/>
                <a:cs typeface="Inter" pitchFamily="34" charset="-120"/>
              </a:rPr>
              <a:t>.</a:t>
            </a:r>
            <a:endParaRPr lang="en-US" sz="900" dirty="0"/>
          </a:p>
        </p:txBody>
      </p:sp>
      <p:sp>
        <p:nvSpPr>
          <p:cNvPr id="33" name="Shape 29"/>
          <p:cNvSpPr/>
          <p:nvPr/>
        </p:nvSpPr>
        <p:spPr>
          <a:xfrm>
            <a:off x="4764881" y="3473983"/>
            <a:ext cx="85725" cy="85725"/>
          </a:xfrm>
          <a:prstGeom prst="rect">
            <a:avLst/>
          </a:prstGeom>
          <a:solidFill>
            <a:srgbClr val="263238"/>
          </a:solidFill>
          <a:ln/>
        </p:spPr>
      </p:sp>
      <p:sp>
        <p:nvSpPr>
          <p:cNvPr id="34" name="Text 30"/>
          <p:cNvSpPr/>
          <p:nvPr/>
        </p:nvSpPr>
        <p:spPr>
          <a:xfrm>
            <a:off x="4764881" y="3431121"/>
            <a:ext cx="3807619" cy="169999"/>
          </a:xfrm>
          <a:prstGeom prst="rect">
            <a:avLst/>
          </a:prstGeom>
          <a:noFill/>
          <a:ln/>
        </p:spPr>
        <p:txBody>
          <a:bodyPr wrap="none" lIns="212598" tIns="0" rIns="0" bIns="0" rtlCol="0" anchor="t">
            <a:spAutoFit/>
          </a:bodyPr>
          <a:lstStyle/>
          <a:p>
            <a:pPr algn="l" indent="0" marL="0">
              <a:lnSpc>
                <a:spcPct val="112000"/>
              </a:lnSpc>
              <a:buNone/>
            </a:pPr>
            <a:r>
              <a:rPr lang="en-US" sz="900" dirty="0">
                <a:solidFill>
                  <a:srgbClr val="455A64"/>
                </a:solidFill>
                <a:latin typeface="Inter" pitchFamily="34" charset="0"/>
                <a:ea typeface="Inter" pitchFamily="34" charset="-122"/>
                <a:cs typeface="Inter" pitchFamily="34" charset="-120"/>
              </a:rPr>
              <a:t>Monk only manages high-level sequences, not low-level logic.</a:t>
            </a:r>
            <a:endParaRPr lang="en-US" sz="900" dirty="0"/>
          </a:p>
        </p:txBody>
      </p:sp>
      <p:sp>
        <p:nvSpPr>
          <p:cNvPr id="35" name="Shape 31"/>
          <p:cNvSpPr/>
          <p:nvPr/>
        </p:nvSpPr>
        <p:spPr>
          <a:xfrm>
            <a:off x="428625" y="4089797"/>
            <a:ext cx="8286750" cy="428625"/>
          </a:xfrm>
          <a:prstGeom prst="rect">
            <a:avLst/>
          </a:prstGeom>
          <a:solidFill>
            <a:srgbClr val="263238"/>
          </a:solidFill>
          <a:ln/>
        </p:spPr>
      </p:sp>
      <p:sp>
        <p:nvSpPr>
          <p:cNvPr id="36" name="Text 32"/>
          <p:cNvSpPr/>
          <p:nvPr/>
        </p:nvSpPr>
        <p:spPr>
          <a:xfrm>
            <a:off x="428625" y="4089797"/>
            <a:ext cx="8286750" cy="428625"/>
          </a:xfrm>
          <a:prstGeom prst="rect">
            <a:avLst/>
          </a:prstGeom>
          <a:noFill/>
          <a:ln/>
        </p:spPr>
        <p:txBody>
          <a:bodyPr wrap="square" lIns="255143" tIns="102108" rIns="0" bIns="0" rtlCol="0" anchor="t">
            <a:spAutoFit/>
          </a:bodyPr>
          <a:lstStyle/>
          <a:p>
            <a:pPr algn="l" indent="0" marL="0">
              <a:buNone/>
            </a:pPr>
            <a:r>
              <a:rPr lang="en-US" sz="950" dirty="0">
                <a:solidFill>
                  <a:srgbClr val="FBC02D"/>
                </a:solidFill>
                <a:latin typeface="Space Grotesk Bold" pitchFamily="34" charset="0"/>
                <a:ea typeface="Space Grotesk Bold" pitchFamily="34" charset="-122"/>
                <a:cs typeface="Space Grotesk Bold" pitchFamily="34" charset="-120"/>
              </a:rPr>
              <a:t>OUTCOME: HIGH COHESION, LOW COUPLING, AND ROBUST ENCAPSULATION.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928688"/>
          </a:xfrm>
          <a:prstGeom prst="rect">
            <a:avLst/>
          </a:prstGeom>
          <a:solidFill>
            <a:srgbClr val="263238"/>
          </a:solidFill>
          <a:ln/>
        </p:spPr>
      </p:sp>
      <p:sp>
        <p:nvSpPr>
          <p:cNvPr id="5" name="Text 1"/>
          <p:cNvSpPr/>
          <p:nvPr/>
        </p:nvSpPr>
        <p:spPr>
          <a:xfrm>
            <a:off x="428625" y="285750"/>
            <a:ext cx="8286750" cy="291108"/>
          </a:xfrm>
          <a:prstGeom prst="rect">
            <a:avLst/>
          </a:prstGeom>
          <a:noFill/>
          <a:ln/>
        </p:spPr>
        <p:txBody>
          <a:bodyPr wrap="square" lIns="0" tIns="0" rIns="0" bIns="0" rtlCol="0" anchor="t">
            <a:spAutoFit/>
          </a:bodyPr>
          <a:lstStyle/>
          <a:p>
            <a:pPr algn="l" indent="0" marL="0">
              <a:buNone/>
            </a:pPr>
            <a:r>
              <a:rPr lang="en-US" sz="1600" b="1" dirty="0">
                <a:solidFill>
                  <a:srgbClr val="FBC02D"/>
                </a:solidFill>
                <a:latin typeface="Space Grotesk Bold" pitchFamily="34" charset="0"/>
                <a:ea typeface="Space Grotesk Bold" pitchFamily="34" charset="-122"/>
                <a:cs typeface="Space Grotesk Bold" pitchFamily="34" charset="-120"/>
              </a:rPr>
              <a:t>NON-FUNCTIONAL STANDARDS &amp; SOFTWARE HETEROGENEITY</a:t>
            </a:r>
            <a:endParaRPr lang="en-US" sz="1600" dirty="0"/>
          </a:p>
        </p:txBody>
      </p:sp>
      <p:sp>
        <p:nvSpPr>
          <p:cNvPr id="6" name="Shape 2"/>
          <p:cNvSpPr/>
          <p:nvPr/>
        </p:nvSpPr>
        <p:spPr>
          <a:xfrm>
            <a:off x="428625" y="1214438"/>
            <a:ext cx="4129088" cy="3486150"/>
          </a:xfrm>
          <a:prstGeom prst="rect">
            <a:avLst/>
          </a:prstGeom>
          <a:solidFill>
            <a:srgbClr val="FFFFFF"/>
          </a:solidFill>
          <a:ln w="27432">
            <a:solidFill>
              <a:srgbClr val="263238"/>
            </a:solidFill>
            <a:prstDash val="solid"/>
          </a:ln>
        </p:spPr>
      </p:sp>
      <p:sp>
        <p:nvSpPr>
          <p:cNvPr id="7" name="Shape 3"/>
          <p:cNvSpPr/>
          <p:nvPr/>
        </p:nvSpPr>
        <p:spPr>
          <a:xfrm>
            <a:off x="428625" y="1214438"/>
            <a:ext cx="4129088" cy="457200"/>
          </a:xfrm>
          <a:prstGeom prst="rect">
            <a:avLst/>
          </a:prstGeom>
          <a:solidFill>
            <a:srgbClr val="FBC02D"/>
          </a:solidFill>
          <a:ln/>
        </p:spPr>
      </p:sp>
      <p:sp>
        <p:nvSpPr>
          <p:cNvPr id="8" name="Shape 4"/>
          <p:cNvSpPr/>
          <p:nvPr/>
        </p:nvSpPr>
        <p:spPr>
          <a:xfrm>
            <a:off x="428625" y="1643063"/>
            <a:ext cx="4129088" cy="28575"/>
          </a:xfrm>
          <a:prstGeom prst="rect">
            <a:avLst/>
          </a:prstGeom>
          <a:solidFill>
            <a:srgbClr val="263238"/>
          </a:solidFill>
          <a:ln/>
        </p:spPr>
      </p:sp>
      <p:sp>
        <p:nvSpPr>
          <p:cNvPr id="9" name="Text 5"/>
          <p:cNvSpPr/>
          <p:nvPr/>
        </p:nvSpPr>
        <p:spPr>
          <a:xfrm>
            <a:off x="428625" y="1214438"/>
            <a:ext cx="4129088" cy="457200"/>
          </a:xfrm>
          <a:prstGeom prst="rect">
            <a:avLst/>
          </a:prstGeom>
          <a:noFill/>
          <a:ln/>
        </p:spPr>
        <p:txBody>
          <a:bodyPr wrap="square" lIns="170053" tIns="127508" rIns="0" bIns="0" rtlCol="0" anchor="t">
            <a:spAutoFit/>
          </a:bodyPr>
          <a:lstStyle/>
          <a:p>
            <a:pPr algn="l" indent="0" marL="0">
              <a:buNone/>
            </a:pPr>
            <a:r>
              <a:rPr lang="en-US" sz="1150" dirty="0">
                <a:solidFill>
                  <a:srgbClr val="263238"/>
                </a:solidFill>
                <a:latin typeface="Space Grotesk Bold" pitchFamily="34" charset="0"/>
                <a:ea typeface="Space Grotesk Bold" pitchFamily="34" charset="-122"/>
                <a:cs typeface="Space Grotesk Bold" pitchFamily="34" charset="-120"/>
              </a:rPr>
              <a:t>NON-FUNCTIONAL CONSTRAINTS</a:t>
            </a:r>
            <a:endParaRPr lang="en-US" sz="1150" dirty="0"/>
          </a:p>
        </p:txBody>
      </p:sp>
      <p:sp>
        <p:nvSpPr>
          <p:cNvPr id="10" name="Shape 6"/>
          <p:cNvSpPr/>
          <p:nvPr/>
        </p:nvSpPr>
        <p:spPr>
          <a:xfrm>
            <a:off x="607219" y="1900238"/>
            <a:ext cx="100013" cy="100013"/>
          </a:xfrm>
          <a:prstGeom prst="rect">
            <a:avLst/>
          </a:prstGeom>
          <a:solidFill>
            <a:srgbClr val="263238"/>
          </a:solidFill>
          <a:ln/>
        </p:spPr>
      </p:sp>
      <p:sp>
        <p:nvSpPr>
          <p:cNvPr id="11" name="Text 7"/>
          <p:cNvSpPr/>
          <p:nvPr/>
        </p:nvSpPr>
        <p:spPr>
          <a:xfrm>
            <a:off x="821531" y="1857375"/>
            <a:ext cx="3557588" cy="18001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Performance</a:t>
            </a:r>
            <a:endParaRPr lang="en-US" sz="900" dirty="0"/>
          </a:p>
        </p:txBody>
      </p:sp>
      <p:sp>
        <p:nvSpPr>
          <p:cNvPr id="12" name="Text 8"/>
          <p:cNvSpPr/>
          <p:nvPr/>
        </p:nvSpPr>
        <p:spPr>
          <a:xfrm>
            <a:off x="821531" y="2083826"/>
            <a:ext cx="3473648" cy="335393"/>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System must handle &lt;0.5s for 200 concurrent operations to ensure real-time responsiveness.</a:t>
            </a:r>
            <a:endParaRPr lang="en-US" sz="950" dirty="0"/>
          </a:p>
        </p:txBody>
      </p:sp>
      <p:sp>
        <p:nvSpPr>
          <p:cNvPr id="13" name="Shape 9"/>
          <p:cNvSpPr/>
          <p:nvPr/>
        </p:nvSpPr>
        <p:spPr>
          <a:xfrm>
            <a:off x="607219" y="2654601"/>
            <a:ext cx="100013" cy="100013"/>
          </a:xfrm>
          <a:prstGeom prst="rect">
            <a:avLst/>
          </a:prstGeom>
          <a:solidFill>
            <a:srgbClr val="263238"/>
          </a:solidFill>
          <a:ln/>
        </p:spPr>
      </p:sp>
      <p:sp>
        <p:nvSpPr>
          <p:cNvPr id="14" name="Text 10"/>
          <p:cNvSpPr/>
          <p:nvPr/>
        </p:nvSpPr>
        <p:spPr>
          <a:xfrm>
            <a:off x="821531" y="2611738"/>
            <a:ext cx="3557588" cy="18001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Security</a:t>
            </a:r>
            <a:endParaRPr lang="en-US" sz="900" dirty="0"/>
          </a:p>
        </p:txBody>
      </p:sp>
      <p:sp>
        <p:nvSpPr>
          <p:cNvPr id="15" name="Text 11"/>
          <p:cNvSpPr/>
          <p:nvPr/>
        </p:nvSpPr>
        <p:spPr>
          <a:xfrm>
            <a:off x="821531" y="2838190"/>
            <a:ext cx="3250406" cy="335393"/>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JWT-based Role-Based Access Control (RBAC) for all hardware and mobile endpoints.</a:t>
            </a:r>
            <a:endParaRPr lang="en-US" sz="950" dirty="0"/>
          </a:p>
        </p:txBody>
      </p:sp>
      <p:sp>
        <p:nvSpPr>
          <p:cNvPr id="16" name="Shape 12"/>
          <p:cNvSpPr/>
          <p:nvPr/>
        </p:nvSpPr>
        <p:spPr>
          <a:xfrm>
            <a:off x="607219" y="3408964"/>
            <a:ext cx="100013" cy="100013"/>
          </a:xfrm>
          <a:prstGeom prst="rect">
            <a:avLst/>
          </a:prstGeom>
          <a:solidFill>
            <a:srgbClr val="263238"/>
          </a:solidFill>
          <a:ln/>
        </p:spPr>
      </p:sp>
      <p:sp>
        <p:nvSpPr>
          <p:cNvPr id="17" name="Text 13"/>
          <p:cNvSpPr/>
          <p:nvPr/>
        </p:nvSpPr>
        <p:spPr>
          <a:xfrm>
            <a:off x="821531" y="3366102"/>
            <a:ext cx="3557588" cy="18001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Availability</a:t>
            </a:r>
            <a:endParaRPr lang="en-US" sz="900" dirty="0"/>
          </a:p>
        </p:txBody>
      </p:sp>
      <p:sp>
        <p:nvSpPr>
          <p:cNvPr id="18" name="Text 14"/>
          <p:cNvSpPr/>
          <p:nvPr/>
        </p:nvSpPr>
        <p:spPr>
          <a:xfrm>
            <a:off x="821531" y="3592553"/>
            <a:ext cx="3259336" cy="335393"/>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Edge Caching strategies to provide offline attendance resiliency during network outages.</a:t>
            </a:r>
            <a:endParaRPr lang="en-US" sz="950" dirty="0"/>
          </a:p>
        </p:txBody>
      </p:sp>
      <p:sp>
        <p:nvSpPr>
          <p:cNvPr id="19" name="Shape 15"/>
          <p:cNvSpPr/>
          <p:nvPr/>
        </p:nvSpPr>
        <p:spPr>
          <a:xfrm>
            <a:off x="4586288" y="1214438"/>
            <a:ext cx="4129088" cy="3486150"/>
          </a:xfrm>
          <a:prstGeom prst="rect">
            <a:avLst/>
          </a:prstGeom>
          <a:solidFill>
            <a:srgbClr val="FFFFFF"/>
          </a:solidFill>
          <a:ln w="27432">
            <a:solidFill>
              <a:srgbClr val="263238"/>
            </a:solidFill>
            <a:prstDash val="solid"/>
          </a:ln>
        </p:spPr>
      </p:sp>
      <p:sp>
        <p:nvSpPr>
          <p:cNvPr id="20" name="Shape 16"/>
          <p:cNvSpPr/>
          <p:nvPr/>
        </p:nvSpPr>
        <p:spPr>
          <a:xfrm>
            <a:off x="4586288" y="1214438"/>
            <a:ext cx="4129088" cy="457200"/>
          </a:xfrm>
          <a:prstGeom prst="rect">
            <a:avLst/>
          </a:prstGeom>
          <a:solidFill>
            <a:srgbClr val="FBC02D"/>
          </a:solidFill>
          <a:ln/>
        </p:spPr>
      </p:sp>
      <p:sp>
        <p:nvSpPr>
          <p:cNvPr id="21" name="Shape 17"/>
          <p:cNvSpPr/>
          <p:nvPr/>
        </p:nvSpPr>
        <p:spPr>
          <a:xfrm>
            <a:off x="4586288" y="1643063"/>
            <a:ext cx="4129088" cy="28575"/>
          </a:xfrm>
          <a:prstGeom prst="rect">
            <a:avLst/>
          </a:prstGeom>
          <a:solidFill>
            <a:srgbClr val="263238"/>
          </a:solidFill>
          <a:ln/>
        </p:spPr>
      </p:sp>
      <p:sp>
        <p:nvSpPr>
          <p:cNvPr id="22" name="Text 18"/>
          <p:cNvSpPr/>
          <p:nvPr/>
        </p:nvSpPr>
        <p:spPr>
          <a:xfrm>
            <a:off x="4586288" y="1214438"/>
            <a:ext cx="4129088" cy="457200"/>
          </a:xfrm>
          <a:prstGeom prst="rect">
            <a:avLst/>
          </a:prstGeom>
          <a:noFill/>
          <a:ln/>
        </p:spPr>
        <p:txBody>
          <a:bodyPr wrap="square" lIns="170053" tIns="127508" rIns="0" bIns="0" rtlCol="0" anchor="t">
            <a:spAutoFit/>
          </a:bodyPr>
          <a:lstStyle/>
          <a:p>
            <a:pPr algn="l" indent="0" marL="0">
              <a:buNone/>
            </a:pPr>
            <a:r>
              <a:rPr lang="en-US" sz="1150" dirty="0">
                <a:solidFill>
                  <a:srgbClr val="263238"/>
                </a:solidFill>
                <a:latin typeface="Space Grotesk Bold" pitchFamily="34" charset="0"/>
                <a:ea typeface="Space Grotesk Bold" pitchFamily="34" charset="-122"/>
                <a:cs typeface="Space Grotesk Bold" pitchFamily="34" charset="-120"/>
              </a:rPr>
              <a:t>ADVANCED ARCHITECTURE SUITE</a:t>
            </a:r>
            <a:endParaRPr lang="en-US" sz="1150" dirty="0"/>
          </a:p>
        </p:txBody>
      </p:sp>
      <p:sp>
        <p:nvSpPr>
          <p:cNvPr id="23" name="Shape 19"/>
          <p:cNvSpPr/>
          <p:nvPr/>
        </p:nvSpPr>
        <p:spPr>
          <a:xfrm>
            <a:off x="4764881" y="1900238"/>
            <a:ext cx="100013" cy="100013"/>
          </a:xfrm>
          <a:prstGeom prst="rect">
            <a:avLst/>
          </a:prstGeom>
          <a:solidFill>
            <a:srgbClr val="263238"/>
          </a:solidFill>
          <a:ln/>
        </p:spPr>
      </p:sp>
      <p:sp>
        <p:nvSpPr>
          <p:cNvPr id="24" name="Text 20"/>
          <p:cNvSpPr/>
          <p:nvPr/>
        </p:nvSpPr>
        <p:spPr>
          <a:xfrm>
            <a:off x="4979194" y="1857375"/>
            <a:ext cx="3557588" cy="18001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CQRS Pattern</a:t>
            </a:r>
            <a:endParaRPr lang="en-US" sz="900" dirty="0"/>
          </a:p>
        </p:txBody>
      </p:sp>
      <p:sp>
        <p:nvSpPr>
          <p:cNvPr id="25" name="Text 21"/>
          <p:cNvSpPr/>
          <p:nvPr/>
        </p:nvSpPr>
        <p:spPr>
          <a:xfrm>
            <a:off x="4979194" y="2083826"/>
            <a:ext cx="3303984" cy="335393"/>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Separating Attendance "Writes" from analytical Report "Reads" for optimized scaling.</a:t>
            </a:r>
            <a:endParaRPr lang="en-US" sz="950" dirty="0"/>
          </a:p>
        </p:txBody>
      </p:sp>
      <p:sp>
        <p:nvSpPr>
          <p:cNvPr id="26" name="Shape 22"/>
          <p:cNvSpPr/>
          <p:nvPr/>
        </p:nvSpPr>
        <p:spPr>
          <a:xfrm>
            <a:off x="4764881" y="2654601"/>
            <a:ext cx="100013" cy="100013"/>
          </a:xfrm>
          <a:prstGeom prst="rect">
            <a:avLst/>
          </a:prstGeom>
          <a:solidFill>
            <a:srgbClr val="263238"/>
          </a:solidFill>
          <a:ln/>
        </p:spPr>
      </p:sp>
      <p:sp>
        <p:nvSpPr>
          <p:cNvPr id="27" name="Text 23"/>
          <p:cNvSpPr/>
          <p:nvPr/>
        </p:nvSpPr>
        <p:spPr>
          <a:xfrm>
            <a:off x="4979194" y="2611738"/>
            <a:ext cx="3557588" cy="18001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Event-Driven Integration</a:t>
            </a:r>
            <a:endParaRPr lang="en-US" sz="900" dirty="0"/>
          </a:p>
        </p:txBody>
      </p:sp>
      <p:sp>
        <p:nvSpPr>
          <p:cNvPr id="28" name="Text 24"/>
          <p:cNvSpPr/>
          <p:nvPr/>
        </p:nvSpPr>
        <p:spPr>
          <a:xfrm>
            <a:off x="4979194" y="2838190"/>
            <a:ext cx="3520083" cy="335393"/>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Using a Message Broker to notify door-lock systems upon valid swipe events.</a:t>
            </a:r>
            <a:endParaRPr lang="en-US" sz="950" dirty="0"/>
          </a:p>
        </p:txBody>
      </p:sp>
      <p:sp>
        <p:nvSpPr>
          <p:cNvPr id="29" name="Shape 25"/>
          <p:cNvSpPr/>
          <p:nvPr/>
        </p:nvSpPr>
        <p:spPr>
          <a:xfrm>
            <a:off x="4764881" y="3408964"/>
            <a:ext cx="100013" cy="100013"/>
          </a:xfrm>
          <a:prstGeom prst="rect">
            <a:avLst/>
          </a:prstGeom>
          <a:solidFill>
            <a:srgbClr val="263238"/>
          </a:solidFill>
          <a:ln/>
        </p:spPr>
      </p:sp>
      <p:sp>
        <p:nvSpPr>
          <p:cNvPr id="30" name="Text 26"/>
          <p:cNvSpPr/>
          <p:nvPr/>
        </p:nvSpPr>
        <p:spPr>
          <a:xfrm>
            <a:off x="4979194" y="3366102"/>
            <a:ext cx="3557588" cy="180017"/>
          </a:xfrm>
          <a:prstGeom prst="rect">
            <a:avLst/>
          </a:prstGeom>
          <a:noFill/>
          <a:ln/>
        </p:spPr>
        <p:txBody>
          <a:bodyPr wrap="none" lIns="0" tIns="0" rIns="0" bIns="0" rtlCol="0" anchor="t">
            <a:spAutoFit/>
          </a:bodyPr>
          <a:lstStyle/>
          <a:p>
            <a:pPr algn="l" indent="0" marL="0">
              <a:lnSpc>
                <a:spcPct val="112000"/>
              </a:lnSpc>
              <a:buNone/>
            </a:pPr>
            <a:r>
              <a:rPr lang="en-US" sz="900" b="1" dirty="0">
                <a:solidFill>
                  <a:srgbClr val="263238"/>
                </a:solidFill>
                <a:latin typeface="Inter Bold" pitchFamily="34" charset="0"/>
                <a:ea typeface="Inter Bold" pitchFamily="34" charset="-122"/>
                <a:cs typeface="Inter Bold" pitchFamily="34" charset="-120"/>
              </a:rPr>
              <a:t>API Gateway</a:t>
            </a:r>
            <a:endParaRPr lang="en-US" sz="900" dirty="0"/>
          </a:p>
        </p:txBody>
      </p:sp>
      <p:sp>
        <p:nvSpPr>
          <p:cNvPr id="31" name="Text 27"/>
          <p:cNvSpPr/>
          <p:nvPr/>
        </p:nvSpPr>
        <p:spPr>
          <a:xfrm>
            <a:off x="4979194" y="3592553"/>
            <a:ext cx="3473648" cy="335393"/>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455A64"/>
                </a:solidFill>
                <a:latin typeface="Inter" pitchFamily="34" charset="0"/>
                <a:ea typeface="Inter" pitchFamily="34" charset="-122"/>
                <a:cs typeface="Inter" pitchFamily="34" charset="-120"/>
              </a:rPr>
              <a:t>Centralized entry point for managing traffic, security, and protocol translation.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2026-06-12T02:29:45Z</dcterms:created>
  <dcterms:modified xsi:type="dcterms:W3CDTF">2026-06-12T02:29:45Z</dcterms:modified>
</cp:coreProperties>
</file>