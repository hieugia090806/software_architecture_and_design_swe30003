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9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304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3" name="Google Shape;1305;p1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306;p1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1307;p1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1308;p1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1309;p1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1310;p1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311;p1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312;p1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313;p1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314;p1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315;p1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316;p1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317;p1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318;p1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319;p1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320;p1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321;p1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322;p1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323;p1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324;p1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325;p1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326;p1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327;p1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328;p1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329;p1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330;p1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331;p1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332;p1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333;p1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334;p1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335;p1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336;p1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337;p1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338;p1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339;p1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340;p1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341;p1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342;p1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162" name="Google Shape;1345;p17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163" name="Google Shape;1346;p17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4" name="Google Shape;1347;p17"/>
            <p:cNvGrpSpPr/>
            <p:nvPr/>
          </p:nvGrpSpPr>
          <p:grpSpPr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165" name="Google Shape;1348;p17"/>
              <p:cNvSpPr/>
              <p:nvPr/>
            </p:nvSpPr>
            <p:spPr>
              <a:xfrm rot="16200000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349;p17"/>
              <p:cNvSpPr/>
              <p:nvPr/>
            </p:nvSpPr>
            <p:spPr>
              <a:xfrm rot="16200000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1350;p17"/>
              <p:cNvSpPr/>
              <p:nvPr/>
            </p:nvSpPr>
            <p:spPr>
              <a:xfrm rot="16200000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351;p17"/>
              <p:cNvSpPr/>
              <p:nvPr/>
            </p:nvSpPr>
            <p:spPr>
              <a:xfrm rot="16200000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352;p17"/>
              <p:cNvSpPr/>
              <p:nvPr/>
            </p:nvSpPr>
            <p:spPr>
              <a:xfrm rot="16200000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353;p17"/>
              <p:cNvSpPr/>
              <p:nvPr/>
            </p:nvSpPr>
            <p:spPr>
              <a:xfrm rot="16200000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1" name="Google Shape;1354;p17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172" name="Google Shape;1355;p17"/>
            <p:cNvSpPr/>
            <p:nvPr/>
          </p:nvSpPr>
          <p:spPr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356;p17"/>
            <p:cNvSpPr/>
            <p:nvPr/>
          </p:nvSpPr>
          <p:spPr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357;p17"/>
            <p:cNvSpPr/>
            <p:nvPr/>
          </p:nvSpPr>
          <p:spPr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358;p17"/>
            <p:cNvSpPr/>
            <p:nvPr/>
          </p:nvSpPr>
          <p:spPr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359;p17"/>
            <p:cNvSpPr/>
            <p:nvPr/>
          </p:nvSpPr>
          <p:spPr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" name="Google Shape;1360;p17"/>
          <p:cNvSpPr/>
          <p:nvPr/>
        </p:nvSpPr>
        <p:spPr>
          <a:xfrm rot="16200000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1361;p17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179" name="Google Shape;1362;p17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363;p17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364;p17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365;p17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366;p17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367;p17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368;p17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369;p17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370;p17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371;p17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372;p17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373;p17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374;p17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375;p17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3" name="Google Shape;1376;p17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1377;p17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5" name="Google Shape;1378;p17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196" name="Google Shape;1379;p17"/>
            <p:cNvSpPr/>
            <p:nvPr/>
          </p:nvSpPr>
          <p:spPr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380;p17"/>
            <p:cNvSpPr/>
            <p:nvPr/>
          </p:nvSpPr>
          <p:spPr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381;p17"/>
            <p:cNvSpPr/>
            <p:nvPr/>
          </p:nvSpPr>
          <p:spPr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382;p17"/>
            <p:cNvSpPr/>
            <p:nvPr/>
          </p:nvSpPr>
          <p:spPr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383;p17"/>
            <p:cNvSpPr/>
            <p:nvPr/>
          </p:nvSpPr>
          <p:spPr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" name="Google Shape;1384;p17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02" name="Google Shape;1385;p17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386;p17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387;p17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388;p17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389;p17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 hasCustomPrompt="1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-GB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-GB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-GB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-GB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-GB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0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2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2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59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2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1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4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2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79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280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2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1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2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03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3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0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311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3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2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3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33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3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50" name="PlaceHolder 1"/>
          <p:cNvSpPr>
            <a:spLocks noGrp="1"/>
          </p:cNvSpPr>
          <p:nvPr>
            <p:ph type="title" hasCustomPrompt="1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-GB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-GB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-GB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-GB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-GB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1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2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2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53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2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4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5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6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2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7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358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2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59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2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0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3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1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362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3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63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3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64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3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5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42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5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1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2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8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1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8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4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1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2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3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4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0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6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67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407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408" name="Google Shape;272;p4"/>
            <p:cNvSpPr/>
            <p:nvPr/>
          </p:nvSpPr>
          <p:spPr>
            <a:xfrm rot="16200000" flipV="1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73;p4"/>
            <p:cNvSpPr/>
            <p:nvPr/>
          </p:nvSpPr>
          <p:spPr>
            <a:xfrm rot="16200000" flipV="1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274;p4"/>
            <p:cNvSpPr/>
            <p:nvPr/>
          </p:nvSpPr>
          <p:spPr>
            <a:xfrm rot="16200000" flipV="1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275;p4"/>
            <p:cNvSpPr/>
            <p:nvPr/>
          </p:nvSpPr>
          <p:spPr>
            <a:xfrm rot="16200000" flipV="1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276;p4"/>
            <p:cNvSpPr/>
            <p:nvPr/>
          </p:nvSpPr>
          <p:spPr>
            <a:xfrm rot="16200000" flipV="1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277;p4"/>
            <p:cNvSpPr/>
            <p:nvPr/>
          </p:nvSpPr>
          <p:spPr>
            <a:xfrm rot="16200000" flipV="1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4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15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416" name="Google Shape;280;p4"/>
            <p:cNvSpPr/>
            <p:nvPr/>
          </p:nvSpPr>
          <p:spPr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281;p4"/>
            <p:cNvSpPr/>
            <p:nvPr/>
          </p:nvSpPr>
          <p:spPr>
            <a:xfrm rot="10800000" flipH="1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282;p4"/>
            <p:cNvSpPr/>
            <p:nvPr/>
          </p:nvSpPr>
          <p:spPr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9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420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421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1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432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8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9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0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1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42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447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3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454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0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461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6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467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468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9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0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1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7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8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479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0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1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2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3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4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5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7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8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89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490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4" name="Rectangle 503"/>
          <p:cNvSpPr/>
          <p:nvPr/>
        </p:nvSpPr>
        <p:spPr>
          <a:xfrm>
            <a:off x="1676520" y="3095640"/>
            <a:ext cx="5790960" cy="837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Tutorial Solutions: Midland Hotel, QuickMed, &amp; CampusRide Cases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5" name="Rectangle 504"/>
          <p:cNvSpPr/>
          <p:nvPr/>
        </p:nvSpPr>
        <p:spPr>
          <a:xfrm>
            <a:off x="1314360" y="1133640"/>
            <a:ext cx="6505200" cy="132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8FFFFF"/>
                </a:solidFill>
                <a:effectLst/>
                <a:uFillTx/>
                <a:latin typeface="Exo"/>
              </a:rPr>
              <a:t>Advanced Systems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2810;p37"/>
          <p:cNvGrpSpPr/>
          <p:nvPr/>
        </p:nvGrpSpPr>
        <p:grpSpPr>
          <a:xfrm>
            <a:off x="7471800" y="3617640"/>
            <a:ext cx="883080" cy="241560"/>
            <a:chOff x="7471800" y="3617640"/>
            <a:chExt cx="883080" cy="241560"/>
          </a:xfrm>
        </p:grpSpPr>
        <p:sp>
          <p:nvSpPr>
            <p:cNvPr id="507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13" name="Google Shape;2817;p37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514" name="Google Shape;2818;p3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2819;p37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2820;p37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2821;p3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2822;p37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19" name="Google Shape;2823;p37"/>
          <p:cNvGrpSpPr/>
          <p:nvPr/>
        </p:nvGrpSpPr>
        <p:grpSpPr>
          <a:xfrm>
            <a:off x="2596320" y="4298040"/>
            <a:ext cx="882720" cy="241560"/>
            <a:chOff x="2596320" y="4298040"/>
            <a:chExt cx="882720" cy="241560"/>
          </a:xfrm>
        </p:grpSpPr>
        <p:sp>
          <p:nvSpPr>
            <p:cNvPr id="520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6" name="Google Shape;2830;p37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527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528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1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2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8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539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1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2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3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5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49" name="image_0:slide_img_PMDMNF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5868835" y="1275790"/>
            <a:ext cx="2723760" cy="27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Rectangle 549"/>
          <p:cNvSpPr/>
          <p:nvPr/>
        </p:nvSpPr>
        <p:spPr>
          <a:xfrm>
            <a:off x="1763895" y="843190"/>
            <a:ext cx="44002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Exo"/>
              </a:rPr>
              <a:t>Introduction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1" name="Rectangle 550"/>
          <p:cNvSpPr/>
          <p:nvPr/>
        </p:nvSpPr>
        <p:spPr>
          <a:xfrm>
            <a:off x="539115" y="1347470"/>
            <a:ext cx="5015230" cy="27031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0000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Software engineering design principles applied to domain modeling and system architecture across three case studies.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Focus on clear separation of </a:t>
            </a: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domain concepts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and </a:t>
            </a: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product responsibilities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, validation techniques for tacit requirements, and modular workflow design for front-desk operations.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53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59" name="image_0:slide_img_blODOF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Rectangle 559"/>
          <p:cNvSpPr/>
          <p:nvPr/>
        </p:nvSpPr>
        <p:spPr>
          <a:xfrm>
            <a:off x="5048280" y="61920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1" name="Rectangle 560"/>
          <p:cNvSpPr/>
          <p:nvPr/>
        </p:nvSpPr>
        <p:spPr>
          <a:xfrm>
            <a:off x="504828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Domain Modeling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2" name="Rectangle 561"/>
          <p:cNvSpPr/>
          <p:nvPr/>
        </p:nvSpPr>
        <p:spPr>
          <a:xfrm>
            <a:off x="504828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64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0" name="Rectangle 569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Receptionist Role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1" name="Rectangle 570"/>
          <p:cNvSpPr/>
          <p:nvPr/>
        </p:nvSpPr>
        <p:spPr>
          <a:xfrm>
            <a:off x="612215" y="185178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The receptionist is a core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domain actor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performing real-world tasks independent of any product.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Model as a Domain Entity with behaviors (greet, manage keys, verify identity). Keep UI/services as Product-layer adapters to avoid leaking business rules.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73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9" name="Rectangle 578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Room Type Entity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0" name="Rectangle 579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Introduce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RoomType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as a lookup/meta-data class (Single, Double, Suite) referenced by Room via a foreign key.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This enables dynamic property checks and avoids hardcoding. Use explicit relationships and validation rules to maintain integrity and support pricing/availability variance.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82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88" name="image_0:slide_img_fMJeOF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Rectangle 588"/>
          <p:cNvSpPr/>
          <p:nvPr/>
        </p:nvSpPr>
        <p:spPr>
          <a:xfrm>
            <a:off x="4860320" y="339800"/>
            <a:ext cx="3476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Tacit Requirements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0" name="Rectangle 589"/>
          <p:cNvSpPr/>
          <p:nvPr/>
        </p:nvSpPr>
        <p:spPr>
          <a:xfrm>
            <a:off x="4428490" y="1419860"/>
            <a:ext cx="4599940" cy="319341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The hidden rule: rooms cannot be reassigned until Housekeeping marks them </a:t>
            </a:r>
            <a:r>
              <a:rPr lang="en-US" sz="135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Cleaned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and </a:t>
            </a:r>
            <a:r>
              <a:rPr lang="en-US" sz="135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Inspected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Use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activity diagrams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to validate lifecycle transitions with stakeholders.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Force articulation with </a:t>
            </a:r>
            <a:r>
              <a:rPr lang="en-US" sz="135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variants &amp; problems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tasks (exception scenarios) to reveal unspoken constraints.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92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98" name="image_0:slide_img_jCjCPF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Rectangle 598"/>
          <p:cNvSpPr/>
          <p:nvPr/>
        </p:nvSpPr>
        <p:spPr>
          <a:xfrm>
            <a:off x="619200" y="619200"/>
            <a:ext cx="2142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0" name="Rectangle 599"/>
          <p:cNvSpPr/>
          <p:nvPr/>
        </p:nvSpPr>
        <p:spPr>
          <a:xfrm>
            <a:off x="61920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Operational Workflows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1" name="Rectangle 600"/>
          <p:cNvSpPr/>
          <p:nvPr/>
        </p:nvSpPr>
        <p:spPr>
          <a:xfrm>
            <a:off x="61920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603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609" name="image_0:slide_img_NmolPF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Rectangle 609"/>
          <p:cNvSpPr/>
          <p:nvPr/>
        </p:nvSpPr>
        <p:spPr>
          <a:xfrm>
            <a:off x="619200" y="619200"/>
            <a:ext cx="3476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Front-Desk Tasks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1" name="Rectangle 610"/>
          <p:cNvSpPr/>
          <p:nvPr/>
        </p:nvSpPr>
        <p:spPr>
          <a:xfrm>
            <a:off x="683970" y="1347590"/>
            <a:ext cx="3476160" cy="289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Book Room: query availability and reserve inventory.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Check-in: verify booking, confirm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Cleaned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state, set to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Occupied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During Stay &amp; Check-out: record incidental charges and finalize billing workflows.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613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9" name="Rectangle 618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Check-Out Matrix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0" name="Rectangle 619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Consolidate Expenses — Delayed receipts →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Real-time POS ledger syncing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Process Payments — Split billing →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Modular transaction architecture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Trigger Housekeeping — Clerk omission → automated state change to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Dirty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on invoice settlement.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622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28" name="Rectangle 627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Check-In Split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9" name="Rectangle 628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Pre-Booked: fast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read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path—validate Booking ID and room state.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Walk-In: write-heavy path—create booking, calculate dynamic pricing, assign room.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Separate modules preserve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clean code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 and align with CQRS for optimized read/write flows.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631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37" name="Rectangle 63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Exo"/>
              </a:rPr>
              <a:t>Conclusions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8" name="Rectangle 637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Domain-first modeling isolates real-world actors (e.g.,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Receptionist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) from product concerns.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Explicit lookup entities (e.g.,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RoomType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) and validated workflows uncover tacit rules and reduce runtime errors.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Sans"/>
              </a:rPr>
              <a:t>Modular task separation (pre-booked vs walk-in) supports maintainability and scalable architecture.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2406545" y="1059725"/>
            <a:ext cx="4476240" cy="23166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70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Thanks!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642" name="Google Shape;4575;p70"/>
          <p:cNvGrpSpPr/>
          <p:nvPr/>
        </p:nvGrpSpPr>
        <p:grpSpPr>
          <a:xfrm>
            <a:off x="7077600" y="2284200"/>
            <a:ext cx="241560" cy="882720"/>
            <a:chOff x="7077600" y="2284200"/>
            <a:chExt cx="241560" cy="882720"/>
          </a:xfrm>
        </p:grpSpPr>
        <p:sp>
          <p:nvSpPr>
            <p:cNvPr id="643" name="Google Shape;4576;p70"/>
            <p:cNvSpPr/>
            <p:nvPr/>
          </p:nvSpPr>
          <p:spPr>
            <a:xfrm rot="16200000">
              <a:off x="7122240" y="29700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4577;p70"/>
            <p:cNvSpPr/>
            <p:nvPr/>
          </p:nvSpPr>
          <p:spPr>
            <a:xfrm rot="16200000">
              <a:off x="7122960" y="28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4578;p70"/>
            <p:cNvSpPr/>
            <p:nvPr/>
          </p:nvSpPr>
          <p:spPr>
            <a:xfrm rot="16200000">
              <a:off x="7122960" y="2676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4579;p70"/>
            <p:cNvSpPr/>
            <p:nvPr/>
          </p:nvSpPr>
          <p:spPr>
            <a:xfrm rot="16200000">
              <a:off x="7122960" y="2530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4580;p70"/>
            <p:cNvSpPr/>
            <p:nvPr/>
          </p:nvSpPr>
          <p:spPr>
            <a:xfrm rot="16200000">
              <a:off x="7122960" y="2384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4581;p70"/>
            <p:cNvSpPr/>
            <p:nvPr/>
          </p:nvSpPr>
          <p:spPr>
            <a:xfrm rot="16200000">
              <a:off x="7122960" y="2238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49" name="Google Shape;4582;p70"/>
          <p:cNvGrpSpPr/>
          <p:nvPr/>
        </p:nvGrpSpPr>
        <p:grpSpPr>
          <a:xfrm>
            <a:off x="7078680" y="3922200"/>
            <a:ext cx="552240" cy="98640"/>
            <a:chOff x="7078680" y="3922200"/>
            <a:chExt cx="552240" cy="98640"/>
          </a:xfrm>
        </p:grpSpPr>
        <p:sp>
          <p:nvSpPr>
            <p:cNvPr id="650" name="Google Shape;4583;p70"/>
            <p:cNvSpPr/>
            <p:nvPr/>
          </p:nvSpPr>
          <p:spPr>
            <a:xfrm rot="5400000">
              <a:off x="7532280" y="39222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4584;p70"/>
            <p:cNvSpPr/>
            <p:nvPr/>
          </p:nvSpPr>
          <p:spPr>
            <a:xfrm rot="5400000">
              <a:off x="7558920" y="39492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4585;p70"/>
            <p:cNvSpPr/>
            <p:nvPr/>
          </p:nvSpPr>
          <p:spPr>
            <a:xfrm rot="5400000">
              <a:off x="7078680" y="39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4586;p70"/>
            <p:cNvSpPr/>
            <p:nvPr/>
          </p:nvSpPr>
          <p:spPr>
            <a:xfrm rot="5400000">
              <a:off x="7102440" y="3949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4587;p70"/>
            <p:cNvSpPr/>
            <p:nvPr/>
          </p:nvSpPr>
          <p:spPr>
            <a:xfrm rot="5400000">
              <a:off x="7354440" y="37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5" name="Google Shape;4588;p70"/>
          <p:cNvGrpSpPr/>
          <p:nvPr/>
        </p:nvGrpSpPr>
        <p:grpSpPr>
          <a:xfrm>
            <a:off x="1819800" y="1189080"/>
            <a:ext cx="241560" cy="882720"/>
            <a:chOff x="1819800" y="1189080"/>
            <a:chExt cx="241560" cy="882720"/>
          </a:xfrm>
        </p:grpSpPr>
        <p:sp>
          <p:nvSpPr>
            <p:cNvPr id="656" name="Google Shape;4589;p70"/>
            <p:cNvSpPr/>
            <p:nvPr/>
          </p:nvSpPr>
          <p:spPr>
            <a:xfrm rot="5400000">
              <a:off x="1864440" y="1144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4590;p70"/>
            <p:cNvSpPr/>
            <p:nvPr/>
          </p:nvSpPr>
          <p:spPr>
            <a:xfrm rot="5400000">
              <a:off x="1865160" y="1290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4591;p70"/>
            <p:cNvSpPr/>
            <p:nvPr/>
          </p:nvSpPr>
          <p:spPr>
            <a:xfrm rot="5400000">
              <a:off x="1865160" y="1437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4592;p70"/>
            <p:cNvSpPr/>
            <p:nvPr/>
          </p:nvSpPr>
          <p:spPr>
            <a:xfrm rot="5400000">
              <a:off x="1865160" y="15832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4593;p70"/>
            <p:cNvSpPr/>
            <p:nvPr/>
          </p:nvSpPr>
          <p:spPr>
            <a:xfrm rot="5400000">
              <a:off x="1865160" y="1729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4594;p70"/>
            <p:cNvSpPr/>
            <p:nvPr/>
          </p:nvSpPr>
          <p:spPr>
            <a:xfrm rot="5400000">
              <a:off x="1865160" y="1875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4" name="Google Shape;4607;p70"/>
          <p:cNvGrpSpPr/>
          <p:nvPr/>
        </p:nvGrpSpPr>
        <p:grpSpPr>
          <a:xfrm>
            <a:off x="1854720" y="3021840"/>
            <a:ext cx="552600" cy="98640"/>
            <a:chOff x="1854720" y="3021840"/>
            <a:chExt cx="552600" cy="98640"/>
          </a:xfrm>
        </p:grpSpPr>
        <p:sp>
          <p:nvSpPr>
            <p:cNvPr id="675" name="Google Shape;4608;p70"/>
            <p:cNvSpPr/>
            <p:nvPr/>
          </p:nvSpPr>
          <p:spPr>
            <a:xfrm rot="5400000">
              <a:off x="2308680" y="3021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4609;p70"/>
            <p:cNvSpPr/>
            <p:nvPr/>
          </p:nvSpPr>
          <p:spPr>
            <a:xfrm rot="5400000">
              <a:off x="2334960" y="30488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4610;p70"/>
            <p:cNvSpPr/>
            <p:nvPr/>
          </p:nvSpPr>
          <p:spPr>
            <a:xfrm rot="5400000">
              <a:off x="1854720" y="30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4611;p70"/>
            <p:cNvSpPr/>
            <p:nvPr/>
          </p:nvSpPr>
          <p:spPr>
            <a:xfrm rot="5400000">
              <a:off x="1878480" y="3048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4612;p70"/>
            <p:cNvSpPr/>
            <p:nvPr/>
          </p:nvSpPr>
          <p:spPr>
            <a:xfrm rot="5400000">
              <a:off x="2130480" y="28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2306</Words>
  <Application>WPS Presentation</Application>
  <PresentationFormat/>
  <Paragraphs>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OpenSymbol</vt:lpstr>
      <vt:lpstr>Arial</vt:lpstr>
      <vt:lpstr>Symbol</vt:lpstr>
      <vt:lpstr>PT Sans</vt:lpstr>
      <vt:lpstr>Segoe Print</vt:lpstr>
      <vt:lpstr>Exo</vt:lpstr>
      <vt:lpstr>Microsoft YaHei</vt:lpstr>
      <vt:lpstr>Arial Unicode MS</vt:lpstr>
      <vt:lpstr>Calibri</vt:lpstr>
      <vt:lpstr>Data Center Business Plan by Slidesgo</vt:lpstr>
      <vt:lpstr>Data Center Business Plan by Slidesgo</vt:lpstr>
      <vt:lpstr>Data Center Business Plan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WPS_1768210363</cp:lastModifiedBy>
  <cp:revision>1</cp:revision>
  <dcterms:created xsi:type="dcterms:W3CDTF">2026-06-01T06:32:33Z</dcterms:created>
  <dcterms:modified xsi:type="dcterms:W3CDTF">2026-06-01T06:32:33Z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KSOProductBuildVer">
    <vt:lpwstr>1033-12.1.0.26880</vt:lpwstr>
  </property>
  <property fmtid="{D5CDD505-2E9C-101B-9397-08002B2CF9AE}" pid="4" name="ICV">
    <vt:lpwstr>350725ACBD9542C4BAD2BCD31BA3537E_12</vt:lpwstr>
  </property>
</Properties>
</file>