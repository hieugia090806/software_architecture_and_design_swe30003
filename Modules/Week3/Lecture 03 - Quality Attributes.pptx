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329" r:id="rId2"/>
    <p:sldId id="420" r:id="rId3"/>
    <p:sldId id="421" r:id="rId4"/>
    <p:sldId id="354" r:id="rId5"/>
    <p:sldId id="411" r:id="rId6"/>
    <p:sldId id="358" r:id="rId7"/>
    <p:sldId id="359" r:id="rId8"/>
    <p:sldId id="360" r:id="rId9"/>
    <p:sldId id="417" r:id="rId10"/>
    <p:sldId id="431" r:id="rId11"/>
    <p:sldId id="361" r:id="rId12"/>
    <p:sldId id="436" r:id="rId13"/>
    <p:sldId id="412" r:id="rId14"/>
    <p:sldId id="362" r:id="rId15"/>
    <p:sldId id="366" r:id="rId16"/>
    <p:sldId id="367" r:id="rId17"/>
    <p:sldId id="403" r:id="rId18"/>
    <p:sldId id="405" r:id="rId19"/>
    <p:sldId id="400" r:id="rId20"/>
    <p:sldId id="422" r:id="rId21"/>
    <p:sldId id="414" r:id="rId22"/>
    <p:sldId id="398" r:id="rId23"/>
    <p:sldId id="441" r:id="rId24"/>
    <p:sldId id="399" r:id="rId25"/>
    <p:sldId id="444" r:id="rId26"/>
    <p:sldId id="408" r:id="rId27"/>
    <p:sldId id="409" r:id="rId28"/>
    <p:sldId id="413" r:id="rId29"/>
    <p:sldId id="356" r:id="rId30"/>
    <p:sldId id="372" r:id="rId31"/>
    <p:sldId id="406" r:id="rId32"/>
    <p:sldId id="425" r:id="rId33"/>
    <p:sldId id="427" r:id="rId34"/>
    <p:sldId id="426" r:id="rId35"/>
    <p:sldId id="424" r:id="rId36"/>
    <p:sldId id="423" r:id="rId37"/>
    <p:sldId id="415" r:id="rId38"/>
    <p:sldId id="418" r:id="rId39"/>
    <p:sldId id="385" r:id="rId40"/>
    <p:sldId id="386" r:id="rId41"/>
    <p:sldId id="407" r:id="rId42"/>
    <p:sldId id="389" r:id="rId43"/>
    <p:sldId id="419" r:id="rId44"/>
    <p:sldId id="387" r:id="rId45"/>
    <p:sldId id="388" r:id="rId46"/>
    <p:sldId id="428" r:id="rId47"/>
    <p:sldId id="326" r:id="rId48"/>
    <p:sldId id="416" r:id="rId49"/>
    <p:sldId id="314" r:id="rId50"/>
  </p:sldIdLst>
  <p:sldSz cx="9144000" cy="6858000" type="screen4x3"/>
  <p:notesSz cx="7099300" cy="10234613"/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3" frameSlides="1"/>
  <p:clrMru>
    <a:srgbClr val="7F0101"/>
    <a:srgbClr val="083A7F"/>
    <a:srgbClr val="4D4D4D"/>
    <a:srgbClr val="808080"/>
    <a:srgbClr val="FFFFFF"/>
    <a:srgbClr val="00A479"/>
    <a:srgbClr val="C0C0C0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8BFC77-1000-4232-AFD1-9408C592976E}" v="3" dt="2026-05-13T13:41:12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56" autoAdjust="0"/>
    <p:restoredTop sz="86364" autoAdjust="0"/>
  </p:normalViewPr>
  <p:slideViewPr>
    <p:cSldViewPr>
      <p:cViewPr>
        <p:scale>
          <a:sx n="75" d="100"/>
          <a:sy n="75" d="100"/>
        </p:scale>
        <p:origin x="547" y="-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760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4764"/>
    </p:cViewPr>
  </p:sorterViewPr>
  <p:notesViewPr>
    <p:cSldViewPr>
      <p:cViewPr varScale="1">
        <p:scale>
          <a:sx n="54" d="100"/>
          <a:sy n="54" d="100"/>
        </p:scale>
        <p:origin x="-1776" y="-84"/>
      </p:cViewPr>
      <p:guideLst>
        <p:guide orient="horz" pos="3224"/>
        <p:guide pos="223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u Vinh Hoang" userId="d9f32479-73df-4f34-96ea-cc69d79b83d5" providerId="ADAL" clId="{BEBF3B63-2D49-4899-950E-89F35426BF77}"/>
    <pc:docChg chg="undo custSel mod addSld delSld modSld sldOrd modMainMaster">
      <pc:chgData name="Nhu Vinh Hoang" userId="d9f32479-73df-4f34-96ea-cc69d79b83d5" providerId="ADAL" clId="{BEBF3B63-2D49-4899-950E-89F35426BF77}" dt="2026-05-13T13:44:36.021" v="120"/>
      <pc:docMkLst>
        <pc:docMk/>
      </pc:docMkLst>
      <pc:sldChg chg="new del ord">
        <pc:chgData name="Nhu Vinh Hoang" userId="d9f32479-73df-4f34-96ea-cc69d79b83d5" providerId="ADAL" clId="{BEBF3B63-2D49-4899-950E-89F35426BF77}" dt="2026-05-13T13:26:55.551" v="5"/>
        <pc:sldMkLst>
          <pc:docMk/>
          <pc:sldMk cId="4047689617" sldId="429"/>
        </pc:sldMkLst>
      </pc:sldChg>
      <pc:sldChg chg="add del">
        <pc:chgData name="Nhu Vinh Hoang" userId="d9f32479-73df-4f34-96ea-cc69d79b83d5" providerId="ADAL" clId="{BEBF3B63-2D49-4899-950E-89F35426BF77}" dt="2026-05-13T13:27:16.617" v="7"/>
        <pc:sldMkLst>
          <pc:docMk/>
          <pc:sldMk cId="4293757068" sldId="430"/>
        </pc:sldMkLst>
      </pc:sldChg>
      <pc:sldChg chg="addSp modSp add mod">
        <pc:chgData name="Nhu Vinh Hoang" userId="d9f32479-73df-4f34-96ea-cc69d79b83d5" providerId="ADAL" clId="{BEBF3B63-2D49-4899-950E-89F35426BF77}" dt="2026-05-13T13:28:23.150" v="30" actId="20577"/>
        <pc:sldMkLst>
          <pc:docMk/>
          <pc:sldMk cId="1339984586" sldId="431"/>
        </pc:sldMkLst>
        <pc:spChg chg="mod">
          <ac:chgData name="Nhu Vinh Hoang" userId="d9f32479-73df-4f34-96ea-cc69d79b83d5" providerId="ADAL" clId="{BEBF3B63-2D49-4899-950E-89F35426BF77}" dt="2026-05-13T13:28:23.150" v="30" actId="20577"/>
          <ac:spMkLst>
            <pc:docMk/>
            <pc:sldMk cId="1339984586" sldId="431"/>
            <ac:spMk id="3" creationId="{AF7A7FD1-CDBC-65A7-519B-9175386C502C}"/>
          </ac:spMkLst>
        </pc:spChg>
        <pc:spChg chg="add mod">
          <ac:chgData name="Nhu Vinh Hoang" userId="d9f32479-73df-4f34-96ea-cc69d79b83d5" providerId="ADAL" clId="{BEBF3B63-2D49-4899-950E-89F35426BF77}" dt="2026-05-13T13:28:09.508" v="20" actId="1076"/>
          <ac:spMkLst>
            <pc:docMk/>
            <pc:sldMk cId="1339984586" sldId="431"/>
            <ac:spMk id="5" creationId="{460605EB-5B3C-4673-82B4-C2FDE661C170}"/>
          </ac:spMkLst>
        </pc:spChg>
      </pc:sldChg>
      <pc:sldChg chg="new del ord">
        <pc:chgData name="Nhu Vinh Hoang" userId="d9f32479-73df-4f34-96ea-cc69d79b83d5" providerId="ADAL" clId="{BEBF3B63-2D49-4899-950E-89F35426BF77}" dt="2026-05-13T13:30:07.858" v="34"/>
        <pc:sldMkLst>
          <pc:docMk/>
          <pc:sldMk cId="3445776225" sldId="432"/>
        </pc:sldMkLst>
      </pc:sldChg>
      <pc:sldChg chg="add del">
        <pc:chgData name="Nhu Vinh Hoang" userId="d9f32479-73df-4f34-96ea-cc69d79b83d5" providerId="ADAL" clId="{BEBF3B63-2D49-4899-950E-89F35426BF77}" dt="2026-05-13T13:30:47.607" v="36"/>
        <pc:sldMkLst>
          <pc:docMk/>
          <pc:sldMk cId="2949760116" sldId="433"/>
        </pc:sldMkLst>
      </pc:sldChg>
      <pc:sldChg chg="add del">
        <pc:chgData name="Nhu Vinh Hoang" userId="d9f32479-73df-4f34-96ea-cc69d79b83d5" providerId="ADAL" clId="{BEBF3B63-2D49-4899-950E-89F35426BF77}" dt="2026-05-13T13:31:23.963" v="38"/>
        <pc:sldMkLst>
          <pc:docMk/>
          <pc:sldMk cId="2170251129" sldId="434"/>
        </pc:sldMkLst>
      </pc:sldChg>
      <pc:sldChg chg="add del">
        <pc:chgData name="Nhu Vinh Hoang" userId="d9f32479-73df-4f34-96ea-cc69d79b83d5" providerId="ADAL" clId="{BEBF3B63-2D49-4899-950E-89F35426BF77}" dt="2026-05-13T13:32:04.155" v="40"/>
        <pc:sldMkLst>
          <pc:docMk/>
          <pc:sldMk cId="4226724599" sldId="435"/>
        </pc:sldMkLst>
      </pc:sldChg>
      <pc:sldChg chg="modSp add mod">
        <pc:chgData name="Nhu Vinh Hoang" userId="d9f32479-73df-4f34-96ea-cc69d79b83d5" providerId="ADAL" clId="{BEBF3B63-2D49-4899-950E-89F35426BF77}" dt="2026-05-13T13:34:14.973" v="98" actId="14100"/>
        <pc:sldMkLst>
          <pc:docMk/>
          <pc:sldMk cId="2479234343" sldId="436"/>
        </pc:sldMkLst>
        <pc:spChg chg="mod">
          <ac:chgData name="Nhu Vinh Hoang" userId="d9f32479-73df-4f34-96ea-cc69d79b83d5" providerId="ADAL" clId="{BEBF3B63-2D49-4899-950E-89F35426BF77}" dt="2026-05-13T13:33:03.231" v="87" actId="1076"/>
          <ac:spMkLst>
            <pc:docMk/>
            <pc:sldMk cId="2479234343" sldId="436"/>
            <ac:spMk id="10" creationId="{00000000-0000-0000-0000-000000000000}"/>
          </ac:spMkLst>
        </pc:spChg>
        <pc:spChg chg="mod">
          <ac:chgData name="Nhu Vinh Hoang" userId="d9f32479-73df-4f34-96ea-cc69d79b83d5" providerId="ADAL" clId="{BEBF3B63-2D49-4899-950E-89F35426BF77}" dt="2026-05-13T13:33:13.094" v="91" actId="404"/>
          <ac:spMkLst>
            <pc:docMk/>
            <pc:sldMk cId="2479234343" sldId="436"/>
            <ac:spMk id="11" creationId="{00000000-0000-0000-0000-000000000000}"/>
          </ac:spMkLst>
        </pc:spChg>
        <pc:spChg chg="mod">
          <ac:chgData name="Nhu Vinh Hoang" userId="d9f32479-73df-4f34-96ea-cc69d79b83d5" providerId="ADAL" clId="{BEBF3B63-2D49-4899-950E-89F35426BF77}" dt="2026-05-13T13:33:13.094" v="91" actId="404"/>
          <ac:spMkLst>
            <pc:docMk/>
            <pc:sldMk cId="2479234343" sldId="436"/>
            <ac:spMk id="12" creationId="{00000000-0000-0000-0000-000000000000}"/>
          </ac:spMkLst>
        </pc:spChg>
        <pc:spChg chg="mod">
          <ac:chgData name="Nhu Vinh Hoang" userId="d9f32479-73df-4f34-96ea-cc69d79b83d5" providerId="ADAL" clId="{BEBF3B63-2D49-4899-950E-89F35426BF77}" dt="2026-05-13T13:33:55.193" v="95" actId="1076"/>
          <ac:spMkLst>
            <pc:docMk/>
            <pc:sldMk cId="2479234343" sldId="436"/>
            <ac:spMk id="13" creationId="{00000000-0000-0000-0000-000000000000}"/>
          </ac:spMkLst>
        </pc:spChg>
        <pc:spChg chg="mod">
          <ac:chgData name="Nhu Vinh Hoang" userId="d9f32479-73df-4f34-96ea-cc69d79b83d5" providerId="ADAL" clId="{BEBF3B63-2D49-4899-950E-89F35426BF77}" dt="2026-05-13T13:33:55.193" v="95" actId="1076"/>
          <ac:spMkLst>
            <pc:docMk/>
            <pc:sldMk cId="2479234343" sldId="436"/>
            <ac:spMk id="14" creationId="{00000000-0000-0000-0000-000000000000}"/>
          </ac:spMkLst>
        </pc:spChg>
        <pc:spChg chg="mod">
          <ac:chgData name="Nhu Vinh Hoang" userId="d9f32479-73df-4f34-96ea-cc69d79b83d5" providerId="ADAL" clId="{BEBF3B63-2D49-4899-950E-89F35426BF77}" dt="2026-05-13T13:33:55.193" v="95" actId="1076"/>
          <ac:spMkLst>
            <pc:docMk/>
            <pc:sldMk cId="2479234343" sldId="436"/>
            <ac:spMk id="15" creationId="{00000000-0000-0000-0000-000000000000}"/>
          </ac:spMkLst>
        </pc:spChg>
        <pc:spChg chg="mod">
          <ac:chgData name="Nhu Vinh Hoang" userId="d9f32479-73df-4f34-96ea-cc69d79b83d5" providerId="ADAL" clId="{BEBF3B63-2D49-4899-950E-89F35426BF77}" dt="2026-05-13T13:33:55.193" v="95" actId="1076"/>
          <ac:spMkLst>
            <pc:docMk/>
            <pc:sldMk cId="2479234343" sldId="436"/>
            <ac:spMk id="16" creationId="{00000000-0000-0000-0000-000000000000}"/>
          </ac:spMkLst>
        </pc:spChg>
        <pc:spChg chg="mod">
          <ac:chgData name="Nhu Vinh Hoang" userId="d9f32479-73df-4f34-96ea-cc69d79b83d5" providerId="ADAL" clId="{BEBF3B63-2D49-4899-950E-89F35426BF77}" dt="2026-05-13T13:34:01.460" v="96" actId="1076"/>
          <ac:spMkLst>
            <pc:docMk/>
            <pc:sldMk cId="2479234343" sldId="436"/>
            <ac:spMk id="17" creationId="{00000000-0000-0000-0000-000000000000}"/>
          </ac:spMkLst>
        </pc:spChg>
        <pc:spChg chg="mod">
          <ac:chgData name="Nhu Vinh Hoang" userId="d9f32479-73df-4f34-96ea-cc69d79b83d5" providerId="ADAL" clId="{BEBF3B63-2D49-4899-950E-89F35426BF77}" dt="2026-05-13T13:34:14.973" v="98" actId="14100"/>
          <ac:spMkLst>
            <pc:docMk/>
            <pc:sldMk cId="2479234343" sldId="436"/>
            <ac:spMk id="19" creationId="{00000000-0000-0000-0000-000000000000}"/>
          </ac:spMkLst>
        </pc:spChg>
        <pc:graphicFrameChg chg="mod modGraphic">
          <ac:chgData name="Nhu Vinh Hoang" userId="d9f32479-73df-4f34-96ea-cc69d79b83d5" providerId="ADAL" clId="{BEBF3B63-2D49-4899-950E-89F35426BF77}" dt="2026-05-13T13:34:01.460" v="96" actId="1076"/>
          <ac:graphicFrameMkLst>
            <pc:docMk/>
            <pc:sldMk cId="2479234343" sldId="436"/>
            <ac:graphicFrameMk id="18" creationId="{00000000-0000-0000-0000-000000000000}"/>
          </ac:graphicFrameMkLst>
        </pc:graphicFrameChg>
      </pc:sldChg>
      <pc:sldChg chg="new del ord">
        <pc:chgData name="Nhu Vinh Hoang" userId="d9f32479-73df-4f34-96ea-cc69d79b83d5" providerId="ADAL" clId="{BEBF3B63-2D49-4899-950E-89F35426BF77}" dt="2026-05-13T13:36:56.671" v="102"/>
        <pc:sldMkLst>
          <pc:docMk/>
          <pc:sldMk cId="743581318" sldId="437"/>
        </pc:sldMkLst>
      </pc:sldChg>
      <pc:sldChg chg="add del">
        <pc:chgData name="Nhu Vinh Hoang" userId="d9f32479-73df-4f34-96ea-cc69d79b83d5" providerId="ADAL" clId="{BEBF3B63-2D49-4899-950E-89F35426BF77}" dt="2026-05-13T13:37:37.229" v="104"/>
        <pc:sldMkLst>
          <pc:docMk/>
          <pc:sldMk cId="2325092859" sldId="438"/>
        </pc:sldMkLst>
      </pc:sldChg>
      <pc:sldChg chg="add del">
        <pc:chgData name="Nhu Vinh Hoang" userId="d9f32479-73df-4f34-96ea-cc69d79b83d5" providerId="ADAL" clId="{BEBF3B63-2D49-4899-950E-89F35426BF77}" dt="2026-05-13T13:38:06.360" v="106"/>
        <pc:sldMkLst>
          <pc:docMk/>
          <pc:sldMk cId="2494505712" sldId="439"/>
        </pc:sldMkLst>
      </pc:sldChg>
      <pc:sldChg chg="add del">
        <pc:chgData name="Nhu Vinh Hoang" userId="d9f32479-73df-4f34-96ea-cc69d79b83d5" providerId="ADAL" clId="{BEBF3B63-2D49-4899-950E-89F35426BF77}" dt="2026-05-13T13:38:38.537" v="108"/>
        <pc:sldMkLst>
          <pc:docMk/>
          <pc:sldMk cId="1344613592" sldId="440"/>
        </pc:sldMkLst>
      </pc:sldChg>
      <pc:sldChg chg="modSp add mod">
        <pc:chgData name="Nhu Vinh Hoang" userId="d9f32479-73df-4f34-96ea-cc69d79b83d5" providerId="ADAL" clId="{BEBF3B63-2D49-4899-950E-89F35426BF77}" dt="2026-05-13T13:40:46.219" v="114" actId="1035"/>
        <pc:sldMkLst>
          <pc:docMk/>
          <pc:sldMk cId="4195929283" sldId="441"/>
        </pc:sldMkLst>
        <pc:spChg chg="mod">
          <ac:chgData name="Nhu Vinh Hoang" userId="d9f32479-73df-4f34-96ea-cc69d79b83d5" providerId="ADAL" clId="{BEBF3B63-2D49-4899-950E-89F35426BF77}" dt="2026-05-13T13:40:46.219" v="114" actId="1035"/>
          <ac:spMkLst>
            <pc:docMk/>
            <pc:sldMk cId="4195929283" sldId="441"/>
            <ac:spMk id="23" creationId="{00000000-0000-0000-0000-000000000000}"/>
          </ac:spMkLst>
        </pc:spChg>
        <pc:spChg chg="mod">
          <ac:chgData name="Nhu Vinh Hoang" userId="d9f32479-73df-4f34-96ea-cc69d79b83d5" providerId="ADAL" clId="{BEBF3B63-2D49-4899-950E-89F35426BF77}" dt="2026-05-13T13:40:46.219" v="114" actId="1035"/>
          <ac:spMkLst>
            <pc:docMk/>
            <pc:sldMk cId="4195929283" sldId="441"/>
            <ac:spMk id="24" creationId="{00000000-0000-0000-0000-000000000000}"/>
          </ac:spMkLst>
        </pc:spChg>
        <pc:spChg chg="mod">
          <ac:chgData name="Nhu Vinh Hoang" userId="d9f32479-73df-4f34-96ea-cc69d79b83d5" providerId="ADAL" clId="{BEBF3B63-2D49-4899-950E-89F35426BF77}" dt="2026-05-13T13:40:46.219" v="114" actId="1035"/>
          <ac:spMkLst>
            <pc:docMk/>
            <pc:sldMk cId="4195929283" sldId="441"/>
            <ac:spMk id="25" creationId="{00000000-0000-0000-0000-000000000000}"/>
          </ac:spMkLst>
        </pc:spChg>
        <pc:spChg chg="mod">
          <ac:chgData name="Nhu Vinh Hoang" userId="d9f32479-73df-4f34-96ea-cc69d79b83d5" providerId="ADAL" clId="{BEBF3B63-2D49-4899-950E-89F35426BF77}" dt="2026-05-13T13:40:46.219" v="114" actId="1035"/>
          <ac:spMkLst>
            <pc:docMk/>
            <pc:sldMk cId="4195929283" sldId="441"/>
            <ac:spMk id="26" creationId="{00000000-0000-0000-0000-000000000000}"/>
          </ac:spMkLst>
        </pc:spChg>
        <pc:spChg chg="mod">
          <ac:chgData name="Nhu Vinh Hoang" userId="d9f32479-73df-4f34-96ea-cc69d79b83d5" providerId="ADAL" clId="{BEBF3B63-2D49-4899-950E-89F35426BF77}" dt="2026-05-13T13:40:46.219" v="114" actId="1035"/>
          <ac:spMkLst>
            <pc:docMk/>
            <pc:sldMk cId="4195929283" sldId="441"/>
            <ac:spMk id="27" creationId="{00000000-0000-0000-0000-000000000000}"/>
          </ac:spMkLst>
        </pc:spChg>
      </pc:sldChg>
      <pc:sldChg chg="new del ord">
        <pc:chgData name="Nhu Vinh Hoang" userId="d9f32479-73df-4f34-96ea-cc69d79b83d5" providerId="ADAL" clId="{BEBF3B63-2D49-4899-950E-89F35426BF77}" dt="2026-05-13T13:44:12.115" v="118"/>
        <pc:sldMkLst>
          <pc:docMk/>
          <pc:sldMk cId="3523622386" sldId="442"/>
        </pc:sldMkLst>
      </pc:sldChg>
      <pc:sldChg chg="add del">
        <pc:chgData name="Nhu Vinh Hoang" userId="d9f32479-73df-4f34-96ea-cc69d79b83d5" providerId="ADAL" clId="{BEBF3B63-2D49-4899-950E-89F35426BF77}" dt="2026-05-13T13:44:36.021" v="120"/>
        <pc:sldMkLst>
          <pc:docMk/>
          <pc:sldMk cId="1735551163" sldId="443"/>
        </pc:sldMkLst>
      </pc:sldChg>
      <pc:sldChg chg="add">
        <pc:chgData name="Nhu Vinh Hoang" userId="d9f32479-73df-4f34-96ea-cc69d79b83d5" providerId="ADAL" clId="{BEBF3B63-2D49-4899-950E-89F35426BF77}" dt="2026-05-13T13:44:36.005" v="119"/>
        <pc:sldMkLst>
          <pc:docMk/>
          <pc:sldMk cId="617413350" sldId="444"/>
        </pc:sldMkLst>
      </pc:sldChg>
      <pc:sldMasterChg chg="addSp mod">
        <pc:chgData name="Nhu Vinh Hoang" userId="d9f32479-73df-4f34-96ea-cc69d79b83d5" providerId="ADAL" clId="{BEBF3B63-2D49-4899-950E-89F35426BF77}" dt="2026-05-13T13:25:26.557" v="0" actId="33475"/>
        <pc:sldMasterMkLst>
          <pc:docMk/>
          <pc:sldMasterMk cId="0" sldId="2147483648"/>
        </pc:sldMasterMkLst>
        <pc:spChg chg="add">
          <ac:chgData name="Nhu Vinh Hoang" userId="d9f32479-73df-4f34-96ea-cc69d79b83d5" providerId="ADAL" clId="{BEBF3B63-2D49-4899-950E-89F35426BF77}" dt="2026-05-13T13:25:26.557" v="0" actId="33475"/>
          <ac:spMkLst>
            <pc:docMk/>
            <pc:sldMasterMk cId="0" sldId="2147483648"/>
            <ac:spMk id="4" creationId="{8E6D3525-64EC-3D02-F755-C9DB0C062202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64CF9DC-675D-962E-DD7F-89FCA33301F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05263" cy="549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150" tIns="47576" rIns="95150" bIns="4757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r>
              <a:rPr lang="en-AU"/>
              <a:t>SWE30003 Software Architectures and Design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70E638A-9E91-A3D5-96ED-1B8B9EB353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9550" y="0"/>
            <a:ext cx="3054350" cy="549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150" tIns="47576" rIns="95150" bIns="4757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S1 2023</a:t>
            </a:r>
            <a:endParaRPr lang="en-AU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4D547B24-0E3C-9164-9CDD-25E2392863B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42488"/>
            <a:ext cx="3054350" cy="4714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150" tIns="47576" rIns="95150" bIns="4757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© Swinburne University of Technology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63316B8A-3229-834D-7379-1A265285A1F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9550" y="9742488"/>
            <a:ext cx="3054350" cy="4714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150" tIns="47576" rIns="95150" bIns="4757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148F612-BB58-47EA-9F52-8C1EBCB8DD3C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85CFC2C-5320-9C1C-F3FD-0D91E3CA52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4350" cy="549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150" tIns="47576" rIns="95150" bIns="4757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r>
              <a:rPr lang="en-AU"/>
              <a:t>SWE30003 Software Architectures and Design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ADB62239-9C3B-D7CF-44E9-72984B380C5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9550" y="0"/>
            <a:ext cx="3054350" cy="549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150" tIns="47576" rIns="95150" bIns="4757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S1 2023</a:t>
            </a:r>
            <a:endParaRPr lang="en-AU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230B21C9-53E6-3CE2-C761-033986D44F7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12825" y="785813"/>
            <a:ext cx="5132388" cy="3849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13FC3910-AC8B-8E5F-0F0A-45B1EFF1AE6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65200" y="4870450"/>
            <a:ext cx="5224463" cy="46355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150" tIns="47576" rIns="95150" bIns="475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F23AC1C2-135E-FE83-34F2-E6FB86E5ADA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42488"/>
            <a:ext cx="3054350" cy="4714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150" tIns="47576" rIns="95150" bIns="4757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/>
              <a:t>© Swinburne University of Technology</a:t>
            </a:r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549CE3E8-D6A3-E2B2-E45E-49382286CF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9550" y="9742488"/>
            <a:ext cx="3054350" cy="4714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150" tIns="47576" rIns="95150" bIns="4757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A17F134-18CA-4365-8008-B4E5812B18AF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3BB46C3-C86B-2DA6-785C-B225EA80725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EA649D5-53F5-365B-20A5-714B1EA9C70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6148" name="Rectangle 6">
            <a:extLst>
              <a:ext uri="{FF2B5EF4-FFF2-40B4-BE49-F238E27FC236}">
                <a16:creationId xmlns:a16="http://schemas.microsoft.com/office/drawing/2014/main" id="{684F7DEF-5F39-28B2-8BDA-7EF11CE3A96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6149" name="Rectangle 7">
            <a:extLst>
              <a:ext uri="{FF2B5EF4-FFF2-40B4-BE49-F238E27FC236}">
                <a16:creationId xmlns:a16="http://schemas.microsoft.com/office/drawing/2014/main" id="{229EBA29-D6BD-60BD-5CDD-DF3250FFCD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82BA0743-5E87-4BC8-A33B-CC4AE2523BF5}" type="slidenum">
              <a:rPr lang="en-AU" altLang="en-US" sz="1200" smtClean="0">
                <a:latin typeface="Times New Roman" panose="02020603050405020304" pitchFamily="18" charset="0"/>
              </a:rPr>
              <a:pPr/>
              <a:t>1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6150" name="Rectangle 2">
            <a:extLst>
              <a:ext uri="{FF2B5EF4-FFF2-40B4-BE49-F238E27FC236}">
                <a16:creationId xmlns:a16="http://schemas.microsoft.com/office/drawing/2014/main" id="{CAAB3EE4-A6B3-47BD-F11B-839DF74BE1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9B7489C6-9DCE-0D6E-FD46-F80BAF625F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38" tIns="45719" rIns="91438" bIns="45719"/>
          <a:lstStyle/>
          <a:p>
            <a:pPr>
              <a:defRPr/>
            </a:pPr>
            <a:endParaRPr lang="en-US" dirty="0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EDDDF71-130D-546E-5AA8-1D3BE9916CA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838A9C6-E9FA-5D22-B6C6-187A529E30C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8196" name="Rectangle 6">
            <a:extLst>
              <a:ext uri="{FF2B5EF4-FFF2-40B4-BE49-F238E27FC236}">
                <a16:creationId xmlns:a16="http://schemas.microsoft.com/office/drawing/2014/main" id="{5C598D14-C512-E0AC-78BB-014BCCE1F82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8197" name="Rectangle 7">
            <a:extLst>
              <a:ext uri="{FF2B5EF4-FFF2-40B4-BE49-F238E27FC236}">
                <a16:creationId xmlns:a16="http://schemas.microsoft.com/office/drawing/2014/main" id="{BB14F170-482C-C8F7-129F-E88EAC518E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7C2BA2D2-1D97-4801-9C9D-742B6CBE5179}" type="slidenum">
              <a:rPr lang="en-AU" altLang="en-US" sz="1200" smtClean="0">
                <a:latin typeface="Times New Roman" panose="02020603050405020304" pitchFamily="18" charset="0"/>
              </a:rPr>
              <a:pPr/>
              <a:t>2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8198" name="Rectangle 2">
            <a:extLst>
              <a:ext uri="{FF2B5EF4-FFF2-40B4-BE49-F238E27FC236}">
                <a16:creationId xmlns:a16="http://schemas.microsoft.com/office/drawing/2014/main" id="{19D98E58-86AA-A217-E1B3-43636181C4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solidFill>
            <a:srgbClr val="FFFFFF"/>
          </a:solidFill>
          <a:ln/>
        </p:spPr>
      </p:sp>
      <p:sp>
        <p:nvSpPr>
          <p:cNvPr id="336899" name="Rectangle 3">
            <a:extLst>
              <a:ext uri="{FF2B5EF4-FFF2-40B4-BE49-F238E27FC236}">
                <a16:creationId xmlns:a16="http://schemas.microsoft.com/office/drawing/2014/main" id="{7927A1AD-159A-0732-37DE-139832C0C0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46" tIns="49523" rIns="99046" bIns="49523"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6FDFB40-4FD5-AD8E-5F93-7F9AEB003D1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SWE300003 Software Architectures and Design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45EBBE3-3CC1-1001-3248-99FAD733E50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0244" name="Rectangle 6">
            <a:extLst>
              <a:ext uri="{FF2B5EF4-FFF2-40B4-BE49-F238E27FC236}">
                <a16:creationId xmlns:a16="http://schemas.microsoft.com/office/drawing/2014/main" id="{B8C2A310-B6DF-CFD5-95DE-D662ACBA2CC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 defTabSz="987425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 defTabSz="987425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 defTabSz="987425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 defTabSz="987425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10245" name="Rectangle 7">
            <a:extLst>
              <a:ext uri="{FF2B5EF4-FFF2-40B4-BE49-F238E27FC236}">
                <a16:creationId xmlns:a16="http://schemas.microsoft.com/office/drawing/2014/main" id="{698B33A0-B7F1-671A-D996-6B1B3013E3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 defTabSz="987425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 defTabSz="987425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 defTabSz="987425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 defTabSz="987425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576BBEB5-6C2D-4E16-8214-F1F6DD10154B}" type="slidenum">
              <a:rPr lang="en-AU" altLang="en-US" sz="1200" smtClean="0">
                <a:latin typeface="Times New Roman" panose="02020603050405020304" pitchFamily="18" charset="0"/>
              </a:rPr>
              <a:pPr/>
              <a:t>3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0246" name="Rectangle 2">
            <a:extLst>
              <a:ext uri="{FF2B5EF4-FFF2-40B4-BE49-F238E27FC236}">
                <a16:creationId xmlns:a16="http://schemas.microsoft.com/office/drawing/2014/main" id="{28D2F845-40C0-3200-C489-6E19893217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090B86C1-A689-546A-A544-6BFB060C99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55" tIns="47527" rIns="95055" bIns="47527"/>
          <a:lstStyle/>
          <a:p>
            <a:pPr>
              <a:defRPr/>
            </a:pPr>
            <a:r>
              <a:rPr lang="en-AU" dirty="0"/>
              <a:t>Solution v problem domains</a:t>
            </a:r>
          </a:p>
          <a:p>
            <a:pPr>
              <a:defRPr/>
            </a:pPr>
            <a:r>
              <a:rPr lang="en-AU" dirty="0"/>
              <a:t>User-system separation</a:t>
            </a:r>
          </a:p>
          <a:p>
            <a:pPr>
              <a:defRPr/>
            </a:pPr>
            <a:r>
              <a:rPr lang="en-AU" dirty="0"/>
              <a:t>details</a:t>
            </a:r>
          </a:p>
          <a:p>
            <a:pPr>
              <a:defRPr/>
            </a:pPr>
            <a:endParaRPr lang="en-US" dirty="0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3997EEC-7849-9896-E1A7-4400E688D12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12A9755-DF03-4EBF-8826-C1C4BC01EA7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2292" name="Rectangle 6">
            <a:extLst>
              <a:ext uri="{FF2B5EF4-FFF2-40B4-BE49-F238E27FC236}">
                <a16:creationId xmlns:a16="http://schemas.microsoft.com/office/drawing/2014/main" id="{248C017A-43F8-6D32-4514-23E94825C30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12293" name="Rectangle 7">
            <a:extLst>
              <a:ext uri="{FF2B5EF4-FFF2-40B4-BE49-F238E27FC236}">
                <a16:creationId xmlns:a16="http://schemas.microsoft.com/office/drawing/2014/main" id="{144EC886-42A4-5927-75A1-992DCAFFEB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866635E3-604F-4299-943D-894BACFEF387}" type="slidenum">
              <a:rPr lang="en-AU" altLang="en-US" sz="1200" smtClean="0">
                <a:latin typeface="Times New Roman" panose="02020603050405020304" pitchFamily="18" charset="0"/>
              </a:rPr>
              <a:pPr/>
              <a:t>4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2294" name="Rectangle 2">
            <a:extLst>
              <a:ext uri="{FF2B5EF4-FFF2-40B4-BE49-F238E27FC236}">
                <a16:creationId xmlns:a16="http://schemas.microsoft.com/office/drawing/2014/main" id="{FF47F9B2-C067-ACD0-F038-C6E9C5E3EC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3523" name="Rectangle 3">
            <a:extLst>
              <a:ext uri="{FF2B5EF4-FFF2-40B4-BE49-F238E27FC236}">
                <a16:creationId xmlns:a16="http://schemas.microsoft.com/office/drawing/2014/main" id="{5551A58E-D11B-F137-AB36-ACBC263C6F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023EBC8-1068-A183-3A81-4CA0457992E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D7649C6-CE31-AA34-E2FB-F7FE593127D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4340" name="Rectangle 6">
            <a:extLst>
              <a:ext uri="{FF2B5EF4-FFF2-40B4-BE49-F238E27FC236}">
                <a16:creationId xmlns:a16="http://schemas.microsoft.com/office/drawing/2014/main" id="{2B72B248-B7D4-CC9D-6B9A-8F1DD05A4D7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14341" name="Rectangle 7">
            <a:extLst>
              <a:ext uri="{FF2B5EF4-FFF2-40B4-BE49-F238E27FC236}">
                <a16:creationId xmlns:a16="http://schemas.microsoft.com/office/drawing/2014/main" id="{32FD1961-B80A-3662-31D3-5AD0E79386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E4181E98-BAB2-4D58-B49F-BC96F61E1B92}" type="slidenum">
              <a:rPr lang="en-AU" altLang="en-US" sz="1200" smtClean="0">
                <a:latin typeface="Times New Roman" panose="02020603050405020304" pitchFamily="18" charset="0"/>
              </a:rPr>
              <a:pPr/>
              <a:t>5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4342" name="Rectangle 2">
            <a:extLst>
              <a:ext uri="{FF2B5EF4-FFF2-40B4-BE49-F238E27FC236}">
                <a16:creationId xmlns:a16="http://schemas.microsoft.com/office/drawing/2014/main" id="{04A3E524-CDB0-5D47-90B1-ABA3863C9C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solidFill>
            <a:srgbClr val="FFFFFF"/>
          </a:solidFill>
          <a:ln/>
        </p:spPr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CA8BA821-F67E-4339-DD4D-F6FA8356A8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46" tIns="49523" rIns="99046" bIns="49523"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677903C-C791-2E6F-6DE2-673F2679027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5483A15-3445-7E41-FFEA-C93095C0FD2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6388" name="Rectangle 6">
            <a:extLst>
              <a:ext uri="{FF2B5EF4-FFF2-40B4-BE49-F238E27FC236}">
                <a16:creationId xmlns:a16="http://schemas.microsoft.com/office/drawing/2014/main" id="{E0BF0AA0-355E-4DC1-35F0-ADA99306F58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16389" name="Rectangle 7">
            <a:extLst>
              <a:ext uri="{FF2B5EF4-FFF2-40B4-BE49-F238E27FC236}">
                <a16:creationId xmlns:a16="http://schemas.microsoft.com/office/drawing/2014/main" id="{9258A733-6175-C902-EE9F-61353B7CD2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1814C923-E332-4581-9CFA-F6883B29A9DA}" type="slidenum">
              <a:rPr lang="en-AU" altLang="en-US" sz="1200" smtClean="0">
                <a:latin typeface="Times New Roman" panose="02020603050405020304" pitchFamily="18" charset="0"/>
              </a:rPr>
              <a:pPr/>
              <a:t>6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6390" name="Rectangle 2">
            <a:extLst>
              <a:ext uri="{FF2B5EF4-FFF2-40B4-BE49-F238E27FC236}">
                <a16:creationId xmlns:a16="http://schemas.microsoft.com/office/drawing/2014/main" id="{515251A0-6FBB-FD85-378B-5CC3FB254C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solidFill>
            <a:srgbClr val="FFFFFF"/>
          </a:solidFill>
          <a:ln/>
        </p:spPr>
      </p:sp>
      <p:sp>
        <p:nvSpPr>
          <p:cNvPr id="371715" name="Rectangle 3">
            <a:extLst>
              <a:ext uri="{FF2B5EF4-FFF2-40B4-BE49-F238E27FC236}">
                <a16:creationId xmlns:a16="http://schemas.microsoft.com/office/drawing/2014/main" id="{65CA2703-1384-B5C8-4449-81CB72289E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46" tIns="49523" rIns="99046" bIns="49523"/>
          <a:lstStyle/>
          <a:p>
            <a:pPr>
              <a:defRPr/>
            </a:pPr>
            <a:r>
              <a:rPr lang="en-US" dirty="0">
                <a:ea typeface="ＭＳ Ｐゴシック" charset="0"/>
                <a:cs typeface="+mn-cs"/>
              </a:rPr>
              <a:t>Contradictions and conflict and priorities …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C23C6EA-2335-963D-D703-406F7C68C7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6481900-91CA-98B9-A874-0E6E8C43A22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8436" name="Rectangle 6">
            <a:extLst>
              <a:ext uri="{FF2B5EF4-FFF2-40B4-BE49-F238E27FC236}">
                <a16:creationId xmlns:a16="http://schemas.microsoft.com/office/drawing/2014/main" id="{4C238869-733D-4EC1-852B-DA9293C1A2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18437" name="Rectangle 7">
            <a:extLst>
              <a:ext uri="{FF2B5EF4-FFF2-40B4-BE49-F238E27FC236}">
                <a16:creationId xmlns:a16="http://schemas.microsoft.com/office/drawing/2014/main" id="{34796244-FFED-1CAD-F162-2712E22391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CB1CE243-C975-4837-9069-5CB673CFA265}" type="slidenum">
              <a:rPr lang="en-AU" altLang="en-US" sz="1200" smtClean="0">
                <a:latin typeface="Times New Roman" panose="02020603050405020304" pitchFamily="18" charset="0"/>
              </a:rPr>
              <a:pPr/>
              <a:t>7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18438" name="Rectangle 2">
            <a:extLst>
              <a:ext uri="{FF2B5EF4-FFF2-40B4-BE49-F238E27FC236}">
                <a16:creationId xmlns:a16="http://schemas.microsoft.com/office/drawing/2014/main" id="{CDD34F8C-576F-1798-07E8-37A9341C7B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solidFill>
            <a:srgbClr val="FFFFFF"/>
          </a:solidFill>
          <a:ln/>
        </p:spPr>
      </p:sp>
      <p:sp>
        <p:nvSpPr>
          <p:cNvPr id="18439" name="Rectangle 3">
            <a:extLst>
              <a:ext uri="{FF2B5EF4-FFF2-40B4-BE49-F238E27FC236}">
                <a16:creationId xmlns:a16="http://schemas.microsoft.com/office/drawing/2014/main" id="{474B41D8-83FF-BCDA-3DC0-A4DD95B38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53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38" tIns="45719" rIns="91438" bIns="45719"/>
          <a:lstStyle/>
          <a:p>
            <a:r>
              <a:rPr lang="en-AU" altLang="en-US" sz="1500">
                <a:latin typeface="Times New Roman" panose="02020603050405020304" pitchFamily="18" charset="0"/>
              </a:rPr>
              <a:t>Conformance to requirements:</a:t>
            </a:r>
          </a:p>
          <a:p>
            <a:r>
              <a:rPr lang="en-AU" altLang="en-US" sz="1500">
                <a:latin typeface="Times New Roman" panose="02020603050405020304" pitchFamily="18" charset="0"/>
              </a:rPr>
              <a:t>	Software developers view the quality of software in this perspective.</a:t>
            </a:r>
          </a:p>
          <a:p>
            <a:r>
              <a:rPr lang="en-AU" altLang="en-US" sz="1500">
                <a:latin typeface="Times New Roman" panose="02020603050405020304" pitchFamily="18" charset="0"/>
              </a:rPr>
              <a:t>Fitness for use:</a:t>
            </a:r>
          </a:p>
          <a:p>
            <a:r>
              <a:rPr lang="en-AU" altLang="en-US" sz="1500">
                <a:latin typeface="Times New Roman" panose="02020603050405020304" pitchFamily="18" charset="0"/>
              </a:rPr>
              <a:t>	Customers or users hold this view.</a:t>
            </a:r>
          </a:p>
          <a:p>
            <a:endParaRPr lang="en-AU" altLang="en-US" sz="1500">
              <a:latin typeface="Times New Roman" panose="02020603050405020304" pitchFamily="18" charset="0"/>
            </a:endParaRPr>
          </a:p>
          <a:p>
            <a:r>
              <a:rPr lang="en-AU" altLang="en-US" sz="1500">
                <a:latin typeface="Times New Roman" panose="02020603050405020304" pitchFamily="18" charset="0"/>
              </a:rPr>
              <a:t>Kitchenham (1989)  </a:t>
            </a:r>
            <a:r>
              <a:rPr lang="ja-JP" altLang="en-AU" sz="1500">
                <a:latin typeface="Arial" panose="020B0604020202020204" pitchFamily="34" charset="0"/>
              </a:rPr>
              <a:t>“</a:t>
            </a:r>
            <a:r>
              <a:rPr lang="en-AU" altLang="ja-JP" sz="1500">
                <a:latin typeface="Times New Roman" panose="02020603050405020304" pitchFamily="18" charset="0"/>
              </a:rPr>
              <a:t>quality is hard to define, impossible to measure, easy to recognise</a:t>
            </a:r>
            <a:r>
              <a:rPr lang="ja-JP" altLang="en-AU" sz="1500">
                <a:latin typeface="Arial" panose="020B0604020202020204" pitchFamily="34" charset="0"/>
              </a:rPr>
              <a:t>”</a:t>
            </a:r>
            <a:endParaRPr lang="en-AU" altLang="ja-JP" sz="1500">
              <a:latin typeface="Times New Roman" panose="02020603050405020304" pitchFamily="18" charset="0"/>
            </a:endParaRPr>
          </a:p>
          <a:p>
            <a:endParaRPr lang="en-AU" altLang="en-US" sz="1500">
              <a:latin typeface="Times New Roman" panose="02020603050405020304" pitchFamily="18" charset="0"/>
            </a:endParaRPr>
          </a:p>
          <a:p>
            <a:r>
              <a:rPr lang="en-AU" altLang="en-US" sz="1500">
                <a:latin typeface="Times New Roman" panose="02020603050405020304" pitchFamily="18" charset="0"/>
              </a:rPr>
              <a:t>Gillies (1992) </a:t>
            </a:r>
            <a:r>
              <a:rPr lang="ja-JP" altLang="en-AU" sz="1500">
                <a:latin typeface="Arial" panose="020B0604020202020204" pitchFamily="34" charset="0"/>
              </a:rPr>
              <a:t>“</a:t>
            </a:r>
            <a:r>
              <a:rPr lang="en-AU" altLang="ja-JP" sz="1500">
                <a:latin typeface="Times New Roman" panose="02020603050405020304" pitchFamily="18" charset="0"/>
              </a:rPr>
              <a:t>Software Quality, Theory and Management</a:t>
            </a:r>
            <a:r>
              <a:rPr lang="ja-JP" altLang="en-AU" sz="1500">
                <a:latin typeface="Arial" panose="020B0604020202020204" pitchFamily="34" charset="0"/>
              </a:rPr>
              <a:t>”</a:t>
            </a:r>
            <a:r>
              <a:rPr lang="en-AU" altLang="ja-JP" sz="1500">
                <a:latin typeface="Times New Roman" panose="02020603050405020304" pitchFamily="18" charset="0"/>
              </a:rPr>
              <a:t>, Chapman and Hall, p 19-40</a:t>
            </a:r>
          </a:p>
          <a:p>
            <a:r>
              <a:rPr lang="en-AU" altLang="en-US" sz="1500">
                <a:latin typeface="Times New Roman" panose="02020603050405020304" pitchFamily="18" charset="0"/>
              </a:rPr>
              <a:t>Quality is </a:t>
            </a:r>
            <a:r>
              <a:rPr lang="ja-JP" altLang="en-AU" sz="1500">
                <a:latin typeface="Arial" panose="020B0604020202020204" pitchFamily="34" charset="0"/>
              </a:rPr>
              <a:t>“</a:t>
            </a:r>
            <a:r>
              <a:rPr lang="en-AU" altLang="ja-JP" sz="1500">
                <a:latin typeface="Times New Roman" panose="02020603050405020304" pitchFamily="18" charset="0"/>
              </a:rPr>
              <a:t>transparent when presented, but easily recognized in its absence</a:t>
            </a:r>
            <a:r>
              <a:rPr lang="ja-JP" altLang="en-AU" sz="1500">
                <a:latin typeface="Arial" panose="020B0604020202020204" pitchFamily="34" charset="0"/>
              </a:rPr>
              <a:t>”</a:t>
            </a:r>
            <a:endParaRPr lang="en-AU" altLang="ja-JP" sz="1500">
              <a:latin typeface="Times New Roman" panose="02020603050405020304" pitchFamily="18" charset="0"/>
            </a:endParaRPr>
          </a:p>
          <a:p>
            <a:endParaRPr lang="en-AU" altLang="en-US" sz="1500">
              <a:latin typeface="Times New Roman" panose="02020603050405020304" pitchFamily="18" charset="0"/>
            </a:endParaRPr>
          </a:p>
          <a:p>
            <a:r>
              <a:rPr lang="en-AU" altLang="en-US" sz="1500">
                <a:latin typeface="Times New Roman" panose="02020603050405020304" pitchFamily="18" charset="0"/>
              </a:rPr>
              <a:t>Dromey (1995)  </a:t>
            </a:r>
            <a:r>
              <a:rPr lang="ja-JP" altLang="en-AU" sz="1500">
                <a:latin typeface="Arial" panose="020B0604020202020204" pitchFamily="34" charset="0"/>
              </a:rPr>
              <a:t>“</a:t>
            </a:r>
            <a:r>
              <a:rPr lang="en-AU" altLang="ja-JP" sz="1500">
                <a:latin typeface="Times New Roman" panose="02020603050405020304" pitchFamily="18" charset="0"/>
              </a:rPr>
              <a:t>A model for Software Product Quality</a:t>
            </a:r>
            <a:r>
              <a:rPr lang="ja-JP" altLang="en-AU" sz="1500">
                <a:latin typeface="Arial" panose="020B0604020202020204" pitchFamily="34" charset="0"/>
              </a:rPr>
              <a:t>”</a:t>
            </a:r>
            <a:r>
              <a:rPr lang="en-AU" altLang="ja-JP" sz="1500">
                <a:latin typeface="Times New Roman" panose="02020603050405020304" pitchFamily="18" charset="0"/>
              </a:rPr>
              <a:t> IEEE Transactions on Software Engineering, p 146-162</a:t>
            </a:r>
            <a:endParaRPr lang="en-AU" altLang="en-US" sz="15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2609531-1C3C-90B2-B9B2-B74B45959E0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817C2CBC-78DA-1303-1A67-AB508D89486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20484" name="Rectangle 6">
            <a:extLst>
              <a:ext uri="{FF2B5EF4-FFF2-40B4-BE49-F238E27FC236}">
                <a16:creationId xmlns:a16="http://schemas.microsoft.com/office/drawing/2014/main" id="{6899004D-9609-C9CF-D391-262B2F274AE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20485" name="Rectangle 7">
            <a:extLst>
              <a:ext uri="{FF2B5EF4-FFF2-40B4-BE49-F238E27FC236}">
                <a16:creationId xmlns:a16="http://schemas.microsoft.com/office/drawing/2014/main" id="{3FC019E6-710D-DB06-8CA6-576DD999B6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BA84A7FB-E887-4021-87E4-6477166DA157}" type="slidenum">
              <a:rPr lang="en-AU" altLang="en-US" sz="1200" smtClean="0">
                <a:latin typeface="Times New Roman" panose="02020603050405020304" pitchFamily="18" charset="0"/>
              </a:rPr>
              <a:pPr/>
              <a:t>8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20486" name="Rectangle 2">
            <a:extLst>
              <a:ext uri="{FF2B5EF4-FFF2-40B4-BE49-F238E27FC236}">
                <a16:creationId xmlns:a16="http://schemas.microsoft.com/office/drawing/2014/main" id="{AB7D01A3-517D-98A0-2F66-4095CFE85D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solidFill>
            <a:srgbClr val="FFFFFF"/>
          </a:solidFill>
          <a:ln/>
        </p:spPr>
      </p:sp>
      <p:sp>
        <p:nvSpPr>
          <p:cNvPr id="375811" name="Rectangle 3">
            <a:extLst>
              <a:ext uri="{FF2B5EF4-FFF2-40B4-BE49-F238E27FC236}">
                <a16:creationId xmlns:a16="http://schemas.microsoft.com/office/drawing/2014/main" id="{074A466E-2213-ABA1-7B04-424015AEB1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46" tIns="49523" rIns="99046" bIns="49523"/>
          <a:lstStyle/>
          <a:p>
            <a:pPr>
              <a:defRPr/>
            </a:pPr>
            <a:r>
              <a:rPr lang="en-US">
                <a:ea typeface="ＭＳ Ｐゴシック" charset="0"/>
                <a:cs typeface="+mn-cs"/>
              </a:rPr>
              <a:t>Pressman ch 17; Sommerville ch 30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BE3C412-CDF2-87B6-749B-6D200366C3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88102A56-9ADD-9C26-02F5-6F4B3A02AD9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22532" name="Rectangle 6">
            <a:extLst>
              <a:ext uri="{FF2B5EF4-FFF2-40B4-BE49-F238E27FC236}">
                <a16:creationId xmlns:a16="http://schemas.microsoft.com/office/drawing/2014/main" id="{BEDCE73C-EC08-EED0-0C00-BA0B90B2730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22533" name="Rectangle 7">
            <a:extLst>
              <a:ext uri="{FF2B5EF4-FFF2-40B4-BE49-F238E27FC236}">
                <a16:creationId xmlns:a16="http://schemas.microsoft.com/office/drawing/2014/main" id="{71788544-8901-32CE-9DB7-C88CACC93A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0D088CC0-485A-4163-8D31-E1025C25B2A4}" type="slidenum">
              <a:rPr lang="en-AU" altLang="en-US" sz="1200" smtClean="0">
                <a:latin typeface="Times New Roman" panose="02020603050405020304" pitchFamily="18" charset="0"/>
              </a:rPr>
              <a:pPr/>
              <a:t>9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22534" name="Rectangle 2">
            <a:extLst>
              <a:ext uri="{FF2B5EF4-FFF2-40B4-BE49-F238E27FC236}">
                <a16:creationId xmlns:a16="http://schemas.microsoft.com/office/drawing/2014/main" id="{06A8C9EB-5770-43F1-88B1-30225DEB4E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  <a:solidFill>
            <a:srgbClr val="FFFFFF"/>
          </a:solidFill>
          <a:ln/>
        </p:spPr>
      </p:sp>
      <p:sp>
        <p:nvSpPr>
          <p:cNvPr id="22535" name="Rectangle 3">
            <a:extLst>
              <a:ext uri="{FF2B5EF4-FFF2-40B4-BE49-F238E27FC236}">
                <a16:creationId xmlns:a16="http://schemas.microsoft.com/office/drawing/2014/main" id="{1E2EDF8B-BE86-5525-F7C9-7456CE14AF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69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6458" tIns="48230" rIns="96458" bIns="48230"/>
          <a:lstStyle/>
          <a:p>
            <a:r>
              <a:rPr lang="en-US" altLang="en-US">
                <a:latin typeface="Times New Roman" panose="02020603050405020304" pitchFamily="18" charset="0"/>
              </a:rPr>
              <a:t>We can discuss these requirements in quite some detail… task for the ‘user’ to write them up in a better way…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E203311-F86F-9F03-A005-DAD88788597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0F0F500-DD88-ADE4-0E22-E85AACD110F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24580" name="Rectangle 6">
            <a:extLst>
              <a:ext uri="{FF2B5EF4-FFF2-40B4-BE49-F238E27FC236}">
                <a16:creationId xmlns:a16="http://schemas.microsoft.com/office/drawing/2014/main" id="{D24D1DDD-FFEC-E775-FCF9-24F66E7B663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24581" name="Rectangle 7">
            <a:extLst>
              <a:ext uri="{FF2B5EF4-FFF2-40B4-BE49-F238E27FC236}">
                <a16:creationId xmlns:a16="http://schemas.microsoft.com/office/drawing/2014/main" id="{D76A2A5F-270F-C9F2-D81B-3E5064ECF8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C53BEFDA-B01C-4C58-BCF3-9145E1FB67E4}" type="slidenum">
              <a:rPr lang="en-AU" altLang="en-US" sz="1200" smtClean="0">
                <a:latin typeface="Times New Roman" panose="02020603050405020304" pitchFamily="18" charset="0"/>
              </a:rPr>
              <a:pPr/>
              <a:t>11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24582" name="Rectangle 2">
            <a:extLst>
              <a:ext uri="{FF2B5EF4-FFF2-40B4-BE49-F238E27FC236}">
                <a16:creationId xmlns:a16="http://schemas.microsoft.com/office/drawing/2014/main" id="{C15F5A14-D745-7CBB-6167-7A091E8E81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solidFill>
            <a:srgbClr val="FFFFFF"/>
          </a:solidFill>
          <a:ln/>
        </p:spPr>
      </p:sp>
      <p:sp>
        <p:nvSpPr>
          <p:cNvPr id="377859" name="Rectangle 3">
            <a:extLst>
              <a:ext uri="{FF2B5EF4-FFF2-40B4-BE49-F238E27FC236}">
                <a16:creationId xmlns:a16="http://schemas.microsoft.com/office/drawing/2014/main" id="{86B5163B-3E79-4AFC-40DE-CF0936392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46" tIns="49523" rIns="99046" bIns="49523"/>
          <a:lstStyle/>
          <a:p>
            <a:pPr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25B343A-5576-E99C-7E76-44EB944F79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45DCE95-7B88-AB73-1B00-F04009DF4E0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26628" name="Rectangle 6">
            <a:extLst>
              <a:ext uri="{FF2B5EF4-FFF2-40B4-BE49-F238E27FC236}">
                <a16:creationId xmlns:a16="http://schemas.microsoft.com/office/drawing/2014/main" id="{85E177CA-FB53-43C9-175C-08F60B9457F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26629" name="Rectangle 7">
            <a:extLst>
              <a:ext uri="{FF2B5EF4-FFF2-40B4-BE49-F238E27FC236}">
                <a16:creationId xmlns:a16="http://schemas.microsoft.com/office/drawing/2014/main" id="{B7408839-89AF-23BA-21EE-E0048FA4B1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9D7E31E6-7A6E-49FA-8CF0-0DF548331515}" type="slidenum">
              <a:rPr lang="en-AU" altLang="en-US" sz="1200" smtClean="0">
                <a:latin typeface="Times New Roman" panose="02020603050405020304" pitchFamily="18" charset="0"/>
              </a:rPr>
              <a:pPr/>
              <a:t>13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26630" name="Rectangle 2">
            <a:extLst>
              <a:ext uri="{FF2B5EF4-FFF2-40B4-BE49-F238E27FC236}">
                <a16:creationId xmlns:a16="http://schemas.microsoft.com/office/drawing/2014/main" id="{10663DD2-1FD1-D05B-3847-05FAC66BB1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solidFill>
            <a:srgbClr val="FFFFFF"/>
          </a:solidFill>
          <a:ln/>
        </p:spPr>
      </p:sp>
      <p:sp>
        <p:nvSpPr>
          <p:cNvPr id="523267" name="Rectangle 3">
            <a:extLst>
              <a:ext uri="{FF2B5EF4-FFF2-40B4-BE49-F238E27FC236}">
                <a16:creationId xmlns:a16="http://schemas.microsoft.com/office/drawing/2014/main" id="{4109E78F-6AE1-7D91-70CD-DED0E18B2F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46" tIns="49523" rIns="99046" bIns="49523"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F1CC2CA-87FC-C815-2090-A04F1EEF9FD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79B1C1D-C633-A8C0-C908-CBD990BFCCA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28676" name="Rectangle 6">
            <a:extLst>
              <a:ext uri="{FF2B5EF4-FFF2-40B4-BE49-F238E27FC236}">
                <a16:creationId xmlns:a16="http://schemas.microsoft.com/office/drawing/2014/main" id="{FA4D8279-AFEF-2979-2D95-42BBED2BBB0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28677" name="Rectangle 7">
            <a:extLst>
              <a:ext uri="{FF2B5EF4-FFF2-40B4-BE49-F238E27FC236}">
                <a16:creationId xmlns:a16="http://schemas.microsoft.com/office/drawing/2014/main" id="{16059B04-5324-6137-21D7-8FC5C9CB54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4DFE7BA9-4019-4A92-812D-BB39A2DFED7D}" type="slidenum">
              <a:rPr lang="en-AU" altLang="en-US" sz="1200" smtClean="0">
                <a:latin typeface="Times New Roman" panose="02020603050405020304" pitchFamily="18" charset="0"/>
              </a:rPr>
              <a:pPr/>
              <a:t>14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28678" name="Rectangle 2">
            <a:extLst>
              <a:ext uri="{FF2B5EF4-FFF2-40B4-BE49-F238E27FC236}">
                <a16:creationId xmlns:a16="http://schemas.microsoft.com/office/drawing/2014/main" id="{20B4E5DF-D8DE-EFA1-9A3D-A73CE0E097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solidFill>
            <a:srgbClr val="FFFFFF"/>
          </a:solidFill>
          <a:ln/>
        </p:spPr>
      </p:sp>
      <p:sp>
        <p:nvSpPr>
          <p:cNvPr id="28679" name="Rectangle 3">
            <a:extLst>
              <a:ext uri="{FF2B5EF4-FFF2-40B4-BE49-F238E27FC236}">
                <a16:creationId xmlns:a16="http://schemas.microsoft.com/office/drawing/2014/main" id="{67A10141-8931-7BD5-E5B5-AB1E1F2E5F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46" tIns="49523" rIns="99046" bIns="49523"/>
          <a:lstStyle/>
          <a:p>
            <a:r>
              <a:rPr lang="en-US" altLang="en-US">
                <a:latin typeface="Times New Roman" panose="02020603050405020304" pitchFamily="18" charset="0"/>
              </a:rPr>
              <a:t>You should all be familiar with these from ISE or SDP…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9FA17B06-4332-3F25-196E-81743DAD3D6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16A693AB-3E82-1C5C-1571-D28B7081F3A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30724" name="Rectangle 6">
            <a:extLst>
              <a:ext uri="{FF2B5EF4-FFF2-40B4-BE49-F238E27FC236}">
                <a16:creationId xmlns:a16="http://schemas.microsoft.com/office/drawing/2014/main" id="{B4CD68C9-74B3-0FE5-6450-2C2AB10E1F5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30725" name="Rectangle 7">
            <a:extLst>
              <a:ext uri="{FF2B5EF4-FFF2-40B4-BE49-F238E27FC236}">
                <a16:creationId xmlns:a16="http://schemas.microsoft.com/office/drawing/2014/main" id="{B5222B6A-5CE0-17E7-A91F-1AF06463C5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A9D3736D-3C97-4714-B181-35D8F807D14F}" type="slidenum">
              <a:rPr lang="en-AU" altLang="en-US" sz="1200" smtClean="0">
                <a:latin typeface="Times New Roman" panose="02020603050405020304" pitchFamily="18" charset="0"/>
              </a:rPr>
              <a:pPr/>
              <a:t>15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30726" name="Rectangle 2">
            <a:extLst>
              <a:ext uri="{FF2B5EF4-FFF2-40B4-BE49-F238E27FC236}">
                <a16:creationId xmlns:a16="http://schemas.microsoft.com/office/drawing/2014/main" id="{61BE6D39-36C1-78C0-1673-67B0F556AC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solidFill>
            <a:srgbClr val="FFFFFF"/>
          </a:solidFill>
          <a:ln/>
        </p:spPr>
      </p:sp>
      <p:sp>
        <p:nvSpPr>
          <p:cNvPr id="30727" name="Rectangle 3">
            <a:extLst>
              <a:ext uri="{FF2B5EF4-FFF2-40B4-BE49-F238E27FC236}">
                <a16:creationId xmlns:a16="http://schemas.microsoft.com/office/drawing/2014/main" id="{B7673671-110A-7233-8E00-B2E3065AD4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46" tIns="49523" rIns="99046" bIns="49523"/>
          <a:lstStyle/>
          <a:p>
            <a:r>
              <a:rPr lang="en-US" altLang="en-US">
                <a:latin typeface="Times New Roman" panose="02020603050405020304" pitchFamily="18" charset="0"/>
              </a:rPr>
              <a:t>These are the ones we will have a closer look at for the rest of this lecture…</a:t>
            </a:r>
          </a:p>
          <a:p>
            <a:endParaRPr lang="en-US" altLang="en-US">
              <a:latin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</a:rPr>
              <a:t>There are chapters in the references (books) …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B6209273-4956-0CE5-790B-20B3F6ED406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139DBD6-754F-2AD6-7F21-1B60114232D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32772" name="Rectangle 6">
            <a:extLst>
              <a:ext uri="{FF2B5EF4-FFF2-40B4-BE49-F238E27FC236}">
                <a16:creationId xmlns:a16="http://schemas.microsoft.com/office/drawing/2014/main" id="{243D47DC-A74D-0AAF-5AB7-9CDC173CC3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32773" name="Rectangle 7">
            <a:extLst>
              <a:ext uri="{FF2B5EF4-FFF2-40B4-BE49-F238E27FC236}">
                <a16:creationId xmlns:a16="http://schemas.microsoft.com/office/drawing/2014/main" id="{0EC754E1-299B-2E3F-15BB-4D78B60196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9800558C-1D30-40C6-81C7-CB1F50E33DF3}" type="slidenum">
              <a:rPr lang="en-AU" altLang="en-US" sz="1200" smtClean="0">
                <a:latin typeface="Times New Roman" panose="02020603050405020304" pitchFamily="18" charset="0"/>
              </a:rPr>
              <a:pPr/>
              <a:t>16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32774" name="Rectangle 2">
            <a:extLst>
              <a:ext uri="{FF2B5EF4-FFF2-40B4-BE49-F238E27FC236}">
                <a16:creationId xmlns:a16="http://schemas.microsoft.com/office/drawing/2014/main" id="{62FAE7EE-3391-8D5F-A485-ED55E76496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>
            <a:extLst>
              <a:ext uri="{FF2B5EF4-FFF2-40B4-BE49-F238E27FC236}">
                <a16:creationId xmlns:a16="http://schemas.microsoft.com/office/drawing/2014/main" id="{6D9289E6-26CF-F5C4-0F43-5C5DC52E98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D06EC72-6E70-66A0-A2DF-B89AC62F2F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6E1ADF24-9AC9-687C-053C-75915358E01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36868" name="Rectangle 6">
            <a:extLst>
              <a:ext uri="{FF2B5EF4-FFF2-40B4-BE49-F238E27FC236}">
                <a16:creationId xmlns:a16="http://schemas.microsoft.com/office/drawing/2014/main" id="{24D9C7A1-24BD-5480-C30D-2E83A84C752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36869" name="Rectangle 7">
            <a:extLst>
              <a:ext uri="{FF2B5EF4-FFF2-40B4-BE49-F238E27FC236}">
                <a16:creationId xmlns:a16="http://schemas.microsoft.com/office/drawing/2014/main" id="{BBE2DE23-5CA6-7641-A426-AC9F06DF27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52EAE1FF-F681-48E5-BF96-CF845917395E}" type="slidenum">
              <a:rPr lang="en-AU" altLang="en-US" sz="1200" smtClean="0">
                <a:latin typeface="Times New Roman" panose="02020603050405020304" pitchFamily="18" charset="0"/>
              </a:rPr>
              <a:pPr/>
              <a:t>19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36870" name="Rectangle 2">
            <a:extLst>
              <a:ext uri="{FF2B5EF4-FFF2-40B4-BE49-F238E27FC236}">
                <a16:creationId xmlns:a16="http://schemas.microsoft.com/office/drawing/2014/main" id="{736FDB41-0295-A76B-9B3F-7FA3856C26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solidFill>
            <a:srgbClr val="FFFFFF"/>
          </a:solidFill>
          <a:ln/>
        </p:spPr>
      </p:sp>
      <p:sp>
        <p:nvSpPr>
          <p:cNvPr id="505859" name="Rectangle 3">
            <a:extLst>
              <a:ext uri="{FF2B5EF4-FFF2-40B4-BE49-F238E27FC236}">
                <a16:creationId xmlns:a16="http://schemas.microsoft.com/office/drawing/2014/main" id="{4831AAF9-286F-F532-7935-80FF9CAAA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5337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6B861F47-7CD6-13DA-86B5-54AED73675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9582395-5600-6FA9-01F4-3ADA84EB6CD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39940" name="Rectangle 6">
            <a:extLst>
              <a:ext uri="{FF2B5EF4-FFF2-40B4-BE49-F238E27FC236}">
                <a16:creationId xmlns:a16="http://schemas.microsoft.com/office/drawing/2014/main" id="{24791DCF-6152-C78C-AFE0-8A3D3939483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39941" name="Rectangle 7">
            <a:extLst>
              <a:ext uri="{FF2B5EF4-FFF2-40B4-BE49-F238E27FC236}">
                <a16:creationId xmlns:a16="http://schemas.microsoft.com/office/drawing/2014/main" id="{901CA03F-2F5B-F79F-F7A7-C5199C3A1A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53D2A85A-34F7-4C32-995A-1122C473C100}" type="slidenum">
              <a:rPr lang="en-AU" altLang="en-US" sz="1200" smtClean="0">
                <a:latin typeface="Times New Roman" panose="02020603050405020304" pitchFamily="18" charset="0"/>
              </a:rPr>
              <a:pPr/>
              <a:t>21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39942" name="Rectangle 2">
            <a:extLst>
              <a:ext uri="{FF2B5EF4-FFF2-40B4-BE49-F238E27FC236}">
                <a16:creationId xmlns:a16="http://schemas.microsoft.com/office/drawing/2014/main" id="{8F1A0105-F824-31DC-6D68-CD013D247F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solidFill>
            <a:srgbClr val="FFFFFF"/>
          </a:solidFill>
          <a:ln/>
        </p:spPr>
      </p:sp>
      <p:sp>
        <p:nvSpPr>
          <p:cNvPr id="527363" name="Rectangle 3">
            <a:extLst>
              <a:ext uri="{FF2B5EF4-FFF2-40B4-BE49-F238E27FC236}">
                <a16:creationId xmlns:a16="http://schemas.microsoft.com/office/drawing/2014/main" id="{1695F508-5912-691D-E91B-94F1014E0D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46" tIns="49523" rIns="99046" bIns="49523"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1272B83-AA74-B890-B7E9-F1234F1327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12E5B00-5F82-49BC-532E-39C44950AE9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41988" name="Rectangle 6">
            <a:extLst>
              <a:ext uri="{FF2B5EF4-FFF2-40B4-BE49-F238E27FC236}">
                <a16:creationId xmlns:a16="http://schemas.microsoft.com/office/drawing/2014/main" id="{5209BF2C-153C-9867-A48B-877A6F90CDF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41989" name="Rectangle 7">
            <a:extLst>
              <a:ext uri="{FF2B5EF4-FFF2-40B4-BE49-F238E27FC236}">
                <a16:creationId xmlns:a16="http://schemas.microsoft.com/office/drawing/2014/main" id="{60932144-85E4-4BA1-9052-2EDE2B006A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FC46A3F7-2A59-4D33-8DE5-320873F573D1}" type="slidenum">
              <a:rPr lang="en-AU" altLang="en-US" sz="1200" smtClean="0">
                <a:latin typeface="Times New Roman" panose="02020603050405020304" pitchFamily="18" charset="0"/>
              </a:rPr>
              <a:pPr/>
              <a:t>22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41990" name="Rectangle 2">
            <a:extLst>
              <a:ext uri="{FF2B5EF4-FFF2-40B4-BE49-F238E27FC236}">
                <a16:creationId xmlns:a16="http://schemas.microsoft.com/office/drawing/2014/main" id="{47F8C3CC-8753-2713-F618-9043CFDAC24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30543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50" tIns="47576" rIns="95150" bIns="47576"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HIT3309 - Software Project Practices and Management</a:t>
            </a:r>
          </a:p>
        </p:txBody>
      </p:sp>
      <p:sp>
        <p:nvSpPr>
          <p:cNvPr id="41991" name="Rectangle 3">
            <a:extLst>
              <a:ext uri="{FF2B5EF4-FFF2-40B4-BE49-F238E27FC236}">
                <a16:creationId xmlns:a16="http://schemas.microsoft.com/office/drawing/2014/main" id="{BFC21701-E9CF-F5F3-B7CF-785CD7495C5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19550" y="0"/>
            <a:ext cx="30543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50" tIns="47576" rIns="95150" bIns="47576"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AU" altLang="en-US" sz="1200">
                <a:latin typeface="Times New Roman" panose="02020603050405020304" pitchFamily="18" charset="0"/>
              </a:rPr>
              <a:t>S1 2010</a:t>
            </a:r>
          </a:p>
        </p:txBody>
      </p:sp>
      <p:sp>
        <p:nvSpPr>
          <p:cNvPr id="41992" name="Rectangle 6">
            <a:extLst>
              <a:ext uri="{FF2B5EF4-FFF2-40B4-BE49-F238E27FC236}">
                <a16:creationId xmlns:a16="http://schemas.microsoft.com/office/drawing/2014/main" id="{021D5B4B-C20D-F7FE-6B85-346576EA06D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9742488"/>
            <a:ext cx="305435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50" tIns="47576" rIns="95150" bIns="47576" anchor="b"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41993" name="Rectangle 7">
            <a:extLst>
              <a:ext uri="{FF2B5EF4-FFF2-40B4-BE49-F238E27FC236}">
                <a16:creationId xmlns:a16="http://schemas.microsoft.com/office/drawing/2014/main" id="{B9D50AD6-4D30-DB98-0F21-2CEA8A456AF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19550" y="9742488"/>
            <a:ext cx="305435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50" tIns="47576" rIns="95150" bIns="47576" anchor="b"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4758FAD-B697-4D4C-8EB4-3588A5AD70BF}" type="slidenum">
              <a:rPr lang="en-AU" altLang="en-US" sz="1200">
                <a:latin typeface="Times New Roman" panose="02020603050405020304" pitchFamily="18" charset="0"/>
              </a:rPr>
              <a:pPr algn="r"/>
              <a:t>22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41994" name="Rectangle 2">
            <a:extLst>
              <a:ext uri="{FF2B5EF4-FFF2-40B4-BE49-F238E27FC236}">
                <a16:creationId xmlns:a16="http://schemas.microsoft.com/office/drawing/2014/main" id="{B4E973A1-3094-5024-0964-A2C39A7A53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solidFill>
            <a:srgbClr val="FFFFFF"/>
          </a:solidFill>
          <a:ln/>
        </p:spPr>
      </p:sp>
      <p:sp>
        <p:nvSpPr>
          <p:cNvPr id="41995" name="Rectangle 3">
            <a:extLst>
              <a:ext uri="{FF2B5EF4-FFF2-40B4-BE49-F238E27FC236}">
                <a16:creationId xmlns:a16="http://schemas.microsoft.com/office/drawing/2014/main" id="{6D531375-6CA2-0859-6E64-BB77BE21AB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46" tIns="49523" rIns="99046" bIns="49523"/>
          <a:lstStyle/>
          <a:p>
            <a:r>
              <a:rPr lang="en-US" altLang="en-US">
                <a:latin typeface="Times New Roman" panose="02020603050405020304" pitchFamily="18" charset="0"/>
              </a:rPr>
              <a:t>I have to elaborate a bit more on this…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39AEB1AC-1AAF-BD58-CB1F-B93DE780B8A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93E28DC7-1CB4-31FD-AFED-0901CB00AAD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44036" name="Rectangle 6">
            <a:extLst>
              <a:ext uri="{FF2B5EF4-FFF2-40B4-BE49-F238E27FC236}">
                <a16:creationId xmlns:a16="http://schemas.microsoft.com/office/drawing/2014/main" id="{9E550731-5D8A-4D85-455E-4684998E141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44037" name="Rectangle 7">
            <a:extLst>
              <a:ext uri="{FF2B5EF4-FFF2-40B4-BE49-F238E27FC236}">
                <a16:creationId xmlns:a16="http://schemas.microsoft.com/office/drawing/2014/main" id="{043369B1-4AC3-4634-1F17-57142669DA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2E41543C-5FEB-4C8E-A487-21F05752C452}" type="slidenum">
              <a:rPr lang="en-AU" altLang="en-US" sz="1200" smtClean="0">
                <a:latin typeface="Times New Roman" panose="02020603050405020304" pitchFamily="18" charset="0"/>
              </a:rPr>
              <a:pPr/>
              <a:t>24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44038" name="Rectangle 2">
            <a:extLst>
              <a:ext uri="{FF2B5EF4-FFF2-40B4-BE49-F238E27FC236}">
                <a16:creationId xmlns:a16="http://schemas.microsoft.com/office/drawing/2014/main" id="{E2F76C51-C688-CB2C-8BE6-BF882343494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30543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50" tIns="47576" rIns="95150" bIns="47576"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HIT3309 - Software Project Practices and Management</a:t>
            </a:r>
          </a:p>
        </p:txBody>
      </p:sp>
      <p:sp>
        <p:nvSpPr>
          <p:cNvPr id="44039" name="Rectangle 3">
            <a:extLst>
              <a:ext uri="{FF2B5EF4-FFF2-40B4-BE49-F238E27FC236}">
                <a16:creationId xmlns:a16="http://schemas.microsoft.com/office/drawing/2014/main" id="{03A73A47-D71B-0CB7-7C6E-2C992BF8AA6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19550" y="0"/>
            <a:ext cx="30543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50" tIns="47576" rIns="95150" bIns="47576"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AU" altLang="en-US" sz="1200">
                <a:latin typeface="Times New Roman" panose="02020603050405020304" pitchFamily="18" charset="0"/>
              </a:rPr>
              <a:t>S1 2010</a:t>
            </a:r>
          </a:p>
        </p:txBody>
      </p:sp>
      <p:sp>
        <p:nvSpPr>
          <p:cNvPr id="44040" name="Rectangle 6">
            <a:extLst>
              <a:ext uri="{FF2B5EF4-FFF2-40B4-BE49-F238E27FC236}">
                <a16:creationId xmlns:a16="http://schemas.microsoft.com/office/drawing/2014/main" id="{F916E5DF-AE53-E970-6805-8537F25C0AC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9742488"/>
            <a:ext cx="305435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50" tIns="47576" rIns="95150" bIns="47576" anchor="b"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44041" name="Rectangle 7">
            <a:extLst>
              <a:ext uri="{FF2B5EF4-FFF2-40B4-BE49-F238E27FC236}">
                <a16:creationId xmlns:a16="http://schemas.microsoft.com/office/drawing/2014/main" id="{27F8C55C-60BF-A15E-83C4-86580FCE16B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19550" y="9742488"/>
            <a:ext cx="305435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50" tIns="47576" rIns="95150" bIns="47576" anchor="b"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539B1AE-30C7-4D2F-B9F2-F75A12437737}" type="slidenum">
              <a:rPr lang="en-AU" altLang="en-US" sz="1200">
                <a:latin typeface="Times New Roman" panose="02020603050405020304" pitchFamily="18" charset="0"/>
              </a:rPr>
              <a:pPr algn="r"/>
              <a:t>24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44042" name="Rectangle 2">
            <a:extLst>
              <a:ext uri="{FF2B5EF4-FFF2-40B4-BE49-F238E27FC236}">
                <a16:creationId xmlns:a16="http://schemas.microsoft.com/office/drawing/2014/main" id="{BE7760F1-CBA4-1045-7EF5-93C018AA97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solidFill>
            <a:srgbClr val="FFFFFF"/>
          </a:solidFill>
          <a:ln/>
        </p:spPr>
      </p:sp>
      <p:sp>
        <p:nvSpPr>
          <p:cNvPr id="501767" name="Rectangle 3">
            <a:extLst>
              <a:ext uri="{FF2B5EF4-FFF2-40B4-BE49-F238E27FC236}">
                <a16:creationId xmlns:a16="http://schemas.microsoft.com/office/drawing/2014/main" id="{C0920F91-AE49-C802-03BD-7E6A403D4C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46" tIns="49523" rIns="99046" bIns="49523"/>
          <a:lstStyle/>
          <a:p>
            <a:pPr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EE5877F-93F2-9B54-E8AA-57519C6DE48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BD6BD4B2-FC96-EF4A-A695-4F95544921F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46084" name="Rectangle 6">
            <a:extLst>
              <a:ext uri="{FF2B5EF4-FFF2-40B4-BE49-F238E27FC236}">
                <a16:creationId xmlns:a16="http://schemas.microsoft.com/office/drawing/2014/main" id="{F1F89655-ABA3-3657-FFC1-6A2C5B602DE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46085" name="Rectangle 7">
            <a:extLst>
              <a:ext uri="{FF2B5EF4-FFF2-40B4-BE49-F238E27FC236}">
                <a16:creationId xmlns:a16="http://schemas.microsoft.com/office/drawing/2014/main" id="{07FABF96-53E4-4A0A-B27E-17D848CCAC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53EE99F0-EE0B-45AE-B4B6-1988CCEE519D}" type="slidenum">
              <a:rPr lang="en-AU" altLang="en-US" sz="1200" smtClean="0">
                <a:latin typeface="Times New Roman" panose="02020603050405020304" pitchFamily="18" charset="0"/>
              </a:rPr>
              <a:pPr/>
              <a:t>26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46086" name="Rectangle 2">
            <a:extLst>
              <a:ext uri="{FF2B5EF4-FFF2-40B4-BE49-F238E27FC236}">
                <a16:creationId xmlns:a16="http://schemas.microsoft.com/office/drawing/2014/main" id="{4431AFD4-F346-8613-1635-32B84A91D1A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30543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50" tIns="47576" rIns="95150" bIns="47576"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HIT3309 - Software Project Practices and Management</a:t>
            </a:r>
          </a:p>
        </p:txBody>
      </p:sp>
      <p:sp>
        <p:nvSpPr>
          <p:cNvPr id="46087" name="Rectangle 3">
            <a:extLst>
              <a:ext uri="{FF2B5EF4-FFF2-40B4-BE49-F238E27FC236}">
                <a16:creationId xmlns:a16="http://schemas.microsoft.com/office/drawing/2014/main" id="{F03D62A6-41DB-59CA-77E4-31F71A37AC1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19550" y="0"/>
            <a:ext cx="30543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50" tIns="47576" rIns="95150" bIns="47576"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AU" altLang="en-US" sz="1200">
                <a:latin typeface="Times New Roman" panose="02020603050405020304" pitchFamily="18" charset="0"/>
              </a:rPr>
              <a:t>S1 2010</a:t>
            </a:r>
          </a:p>
        </p:txBody>
      </p:sp>
      <p:sp>
        <p:nvSpPr>
          <p:cNvPr id="46088" name="Rectangle 6">
            <a:extLst>
              <a:ext uri="{FF2B5EF4-FFF2-40B4-BE49-F238E27FC236}">
                <a16:creationId xmlns:a16="http://schemas.microsoft.com/office/drawing/2014/main" id="{1850B891-07C0-5816-B21B-8F6B4F8DB47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9742488"/>
            <a:ext cx="305435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50" tIns="47576" rIns="95150" bIns="47576" anchor="b"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46089" name="Rectangle 7">
            <a:extLst>
              <a:ext uri="{FF2B5EF4-FFF2-40B4-BE49-F238E27FC236}">
                <a16:creationId xmlns:a16="http://schemas.microsoft.com/office/drawing/2014/main" id="{2C4797AB-CA29-C056-D926-A49035287C1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19550" y="9742488"/>
            <a:ext cx="3054350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50" tIns="47576" rIns="95150" bIns="47576" anchor="b"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145D88F7-447F-4A75-9B1A-470060EBA5FA}" type="slidenum">
              <a:rPr lang="en-AU" altLang="en-US" sz="1200">
                <a:latin typeface="Times New Roman" panose="02020603050405020304" pitchFamily="18" charset="0"/>
              </a:rPr>
              <a:pPr algn="r"/>
              <a:t>26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46090" name="Rectangle 2">
            <a:extLst>
              <a:ext uri="{FF2B5EF4-FFF2-40B4-BE49-F238E27FC236}">
                <a16:creationId xmlns:a16="http://schemas.microsoft.com/office/drawing/2014/main" id="{FE067CD8-F265-61C9-20D7-F62AEA3667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solidFill>
            <a:srgbClr val="FFFFFF"/>
          </a:solidFill>
          <a:ln/>
        </p:spPr>
      </p:sp>
      <p:sp>
        <p:nvSpPr>
          <p:cNvPr id="516103" name="Rectangle 3">
            <a:extLst>
              <a:ext uri="{FF2B5EF4-FFF2-40B4-BE49-F238E27FC236}">
                <a16:creationId xmlns:a16="http://schemas.microsoft.com/office/drawing/2014/main" id="{E640407E-1366-674F-CBB3-A81D4D4D11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53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AU">
                <a:ea typeface="ＭＳ Ｐゴシック" charset="0"/>
                <a:cs typeface="+mn-cs"/>
              </a:rPr>
              <a:t>Need to mentioned that this is just part of the diagram.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D81B457E-D1F6-7C8A-82ED-0734410C9C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BE9A511-D49F-59F3-5172-FDEE02E645E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49156" name="Rectangle 6">
            <a:extLst>
              <a:ext uri="{FF2B5EF4-FFF2-40B4-BE49-F238E27FC236}">
                <a16:creationId xmlns:a16="http://schemas.microsoft.com/office/drawing/2014/main" id="{965D2A85-E387-0C09-C962-9EB62095875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49157" name="Rectangle 7">
            <a:extLst>
              <a:ext uri="{FF2B5EF4-FFF2-40B4-BE49-F238E27FC236}">
                <a16:creationId xmlns:a16="http://schemas.microsoft.com/office/drawing/2014/main" id="{B6E52A02-E859-696A-CA85-0664574547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4EBF4A2B-8360-4D79-B96D-FB059D0921BC}" type="slidenum">
              <a:rPr lang="en-AU" altLang="en-US" sz="1200" smtClean="0">
                <a:latin typeface="Times New Roman" panose="02020603050405020304" pitchFamily="18" charset="0"/>
              </a:rPr>
              <a:pPr/>
              <a:t>28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49158" name="Rectangle 2">
            <a:extLst>
              <a:ext uri="{FF2B5EF4-FFF2-40B4-BE49-F238E27FC236}">
                <a16:creationId xmlns:a16="http://schemas.microsoft.com/office/drawing/2014/main" id="{C5BDEEB7-DD07-1F05-4132-AE7E5CA89A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solidFill>
            <a:srgbClr val="FFFFFF"/>
          </a:solidFill>
          <a:ln/>
        </p:spPr>
      </p:sp>
      <p:sp>
        <p:nvSpPr>
          <p:cNvPr id="525315" name="Rectangle 3">
            <a:extLst>
              <a:ext uri="{FF2B5EF4-FFF2-40B4-BE49-F238E27FC236}">
                <a16:creationId xmlns:a16="http://schemas.microsoft.com/office/drawing/2014/main" id="{36C8CEA5-978D-CC92-9D0C-DB3FDD9295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46" tIns="49523" rIns="99046" bIns="49523"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BD51510-E3D1-CFC9-C97B-566C5E5D5CA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88A9291-0CCD-AA5C-2FE7-76A00A272AF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51204" name="Rectangle 6">
            <a:extLst>
              <a:ext uri="{FF2B5EF4-FFF2-40B4-BE49-F238E27FC236}">
                <a16:creationId xmlns:a16="http://schemas.microsoft.com/office/drawing/2014/main" id="{CDD7D237-DC62-0D12-8D12-630FF415FB5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51205" name="Rectangle 7">
            <a:extLst>
              <a:ext uri="{FF2B5EF4-FFF2-40B4-BE49-F238E27FC236}">
                <a16:creationId xmlns:a16="http://schemas.microsoft.com/office/drawing/2014/main" id="{A62BB967-7593-289F-289A-CF33C49EF3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DB36EDD9-EBF0-4537-ADE1-2EC95F8B9C70}" type="slidenum">
              <a:rPr lang="en-AU" altLang="en-US" sz="1200" smtClean="0">
                <a:latin typeface="Times New Roman" panose="02020603050405020304" pitchFamily="18" charset="0"/>
              </a:rPr>
              <a:pPr/>
              <a:t>29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51206" name="Rectangle 2">
            <a:extLst>
              <a:ext uri="{FF2B5EF4-FFF2-40B4-BE49-F238E27FC236}">
                <a16:creationId xmlns:a16="http://schemas.microsoft.com/office/drawing/2014/main" id="{D309EE79-AE1D-4F3D-FD41-3929C2F1BF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43" name="Rectangle 3">
            <a:extLst>
              <a:ext uri="{FF2B5EF4-FFF2-40B4-BE49-F238E27FC236}">
                <a16:creationId xmlns:a16="http://schemas.microsoft.com/office/drawing/2014/main" id="{894FBF6E-E255-D9C9-54C4-408B95D2AF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n-cs"/>
              </a:rPr>
              <a:t>Scenarios with qualities as focus …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2040F346-214F-21D9-CE88-CFDDBD648A2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EF891714-D89B-BC43-B154-AEF5EBB2460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53252" name="Rectangle 6">
            <a:extLst>
              <a:ext uri="{FF2B5EF4-FFF2-40B4-BE49-F238E27FC236}">
                <a16:creationId xmlns:a16="http://schemas.microsoft.com/office/drawing/2014/main" id="{69D7B010-BB38-7CE2-2C0A-D1884865EBE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53253" name="Rectangle 7">
            <a:extLst>
              <a:ext uri="{FF2B5EF4-FFF2-40B4-BE49-F238E27FC236}">
                <a16:creationId xmlns:a16="http://schemas.microsoft.com/office/drawing/2014/main" id="{CAFA4755-38E9-3DD6-0FA3-BF3797C622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8EB01695-141B-43B7-BB6F-649952C12546}" type="slidenum">
              <a:rPr lang="en-AU" altLang="en-US" sz="1200" smtClean="0">
                <a:latin typeface="Times New Roman" panose="02020603050405020304" pitchFamily="18" charset="0"/>
              </a:rPr>
              <a:pPr/>
              <a:t>30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53254" name="Rectangle 2">
            <a:extLst>
              <a:ext uri="{FF2B5EF4-FFF2-40B4-BE49-F238E27FC236}">
                <a16:creationId xmlns:a16="http://schemas.microsoft.com/office/drawing/2014/main" id="{2FF78C66-9C3A-5C27-03B3-9BC5A0870F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5" name="Rectangle 3">
            <a:extLst>
              <a:ext uri="{FF2B5EF4-FFF2-40B4-BE49-F238E27FC236}">
                <a16:creationId xmlns:a16="http://schemas.microsoft.com/office/drawing/2014/main" id="{6F037D49-7E05-CD34-0EA3-2ADF395419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I need to explain a few more things here…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0663C385-27A2-5B04-AC26-0DE017622B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BA20A8FD-D476-6795-218D-2F1902C996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… and this is the process I expect everybody to follow for Assignment 1…</a:t>
            </a:r>
          </a:p>
        </p:txBody>
      </p:sp>
      <p:sp>
        <p:nvSpPr>
          <p:cNvPr id="55300" name="Header Placeholder 3">
            <a:extLst>
              <a:ext uri="{FF2B5EF4-FFF2-40B4-BE49-F238E27FC236}">
                <a16:creationId xmlns:a16="http://schemas.microsoft.com/office/drawing/2014/main" id="{8F5B6787-06D7-B889-E50A-AD010158C7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55301" name="Date Placeholder 4">
            <a:extLst>
              <a:ext uri="{FF2B5EF4-FFF2-40B4-BE49-F238E27FC236}">
                <a16:creationId xmlns:a16="http://schemas.microsoft.com/office/drawing/2014/main" id="{FDBC8A94-B334-4A38-629A-91B4B77351E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55302" name="Footer Placeholder 5">
            <a:extLst>
              <a:ext uri="{FF2B5EF4-FFF2-40B4-BE49-F238E27FC236}">
                <a16:creationId xmlns:a16="http://schemas.microsoft.com/office/drawing/2014/main" id="{AB2BDC88-A939-B9A9-F936-2D8DF218583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55303" name="Slide Number Placeholder 6">
            <a:extLst>
              <a:ext uri="{FF2B5EF4-FFF2-40B4-BE49-F238E27FC236}">
                <a16:creationId xmlns:a16="http://schemas.microsoft.com/office/drawing/2014/main" id="{D5D6F29B-1F31-E50B-33DD-D0B9E14E61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F0BB480F-2C8B-46D6-BFF7-2D61B298026E}" type="slidenum">
              <a:rPr lang="en-AU" altLang="en-US" sz="1200" smtClean="0">
                <a:latin typeface="Times New Roman" panose="02020603050405020304" pitchFamily="18" charset="0"/>
              </a:rPr>
              <a:pPr/>
              <a:t>31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F3885510-BC08-4CF8-C750-A1AC970C5B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68F102A2-A203-AC31-BE0A-BFFC8A2FF2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… and this is the process I expect everybody to follow for Assignment 1…</a:t>
            </a:r>
          </a:p>
        </p:txBody>
      </p:sp>
      <p:sp>
        <p:nvSpPr>
          <p:cNvPr id="61444" name="Header Placeholder 3">
            <a:extLst>
              <a:ext uri="{FF2B5EF4-FFF2-40B4-BE49-F238E27FC236}">
                <a16:creationId xmlns:a16="http://schemas.microsoft.com/office/drawing/2014/main" id="{EF64D42E-E726-0402-D9AE-FA186AE8CEF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61445" name="Date Placeholder 4">
            <a:extLst>
              <a:ext uri="{FF2B5EF4-FFF2-40B4-BE49-F238E27FC236}">
                <a16:creationId xmlns:a16="http://schemas.microsoft.com/office/drawing/2014/main" id="{6AC58D91-8268-3738-3EF9-E05F246537F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61446" name="Footer Placeholder 5">
            <a:extLst>
              <a:ext uri="{FF2B5EF4-FFF2-40B4-BE49-F238E27FC236}">
                <a16:creationId xmlns:a16="http://schemas.microsoft.com/office/drawing/2014/main" id="{335190EE-7C50-118C-F4FE-8D93CC6155A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61447" name="Slide Number Placeholder 6">
            <a:extLst>
              <a:ext uri="{FF2B5EF4-FFF2-40B4-BE49-F238E27FC236}">
                <a16:creationId xmlns:a16="http://schemas.microsoft.com/office/drawing/2014/main" id="{7536F7C4-910D-3C8E-F38D-8DFBF71035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BBE0A151-E4D8-425B-946E-99A1C0A59B00}" type="slidenum">
              <a:rPr lang="en-AU" altLang="en-US" sz="1200" smtClean="0">
                <a:latin typeface="Times New Roman" panose="02020603050405020304" pitchFamily="18" charset="0"/>
              </a:rPr>
              <a:pPr/>
              <a:t>36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19F29457-5A4A-6FB4-5AB3-DCE64A1C0A3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D8FA391E-D0C2-9A7A-3EA4-41A7FBCFAAB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63492" name="Rectangle 6">
            <a:extLst>
              <a:ext uri="{FF2B5EF4-FFF2-40B4-BE49-F238E27FC236}">
                <a16:creationId xmlns:a16="http://schemas.microsoft.com/office/drawing/2014/main" id="{4C26543C-F116-1670-E176-0EC9DCE7B43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63493" name="Rectangle 7">
            <a:extLst>
              <a:ext uri="{FF2B5EF4-FFF2-40B4-BE49-F238E27FC236}">
                <a16:creationId xmlns:a16="http://schemas.microsoft.com/office/drawing/2014/main" id="{5693A1F3-FA4B-3C84-5D0A-6B16D5D62A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C15B7017-4C89-49CE-AF90-0A9E364EEEA5}" type="slidenum">
              <a:rPr lang="en-AU" altLang="en-US" sz="1200" smtClean="0">
                <a:latin typeface="Times New Roman" panose="02020603050405020304" pitchFamily="18" charset="0"/>
              </a:rPr>
              <a:pPr/>
              <a:t>37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63494" name="Rectangle 2">
            <a:extLst>
              <a:ext uri="{FF2B5EF4-FFF2-40B4-BE49-F238E27FC236}">
                <a16:creationId xmlns:a16="http://schemas.microsoft.com/office/drawing/2014/main" id="{67AE360A-3010-2214-711D-7326415FA1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solidFill>
            <a:srgbClr val="FFFFFF"/>
          </a:solidFill>
          <a:ln/>
        </p:spPr>
      </p:sp>
      <p:sp>
        <p:nvSpPr>
          <p:cNvPr id="529411" name="Rectangle 3">
            <a:extLst>
              <a:ext uri="{FF2B5EF4-FFF2-40B4-BE49-F238E27FC236}">
                <a16:creationId xmlns:a16="http://schemas.microsoft.com/office/drawing/2014/main" id="{BB9E9C18-88D6-A387-41FF-1D94ED1714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46" tIns="49523" rIns="99046" bIns="49523"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003E8CE6-1AED-B87B-E4A8-4D60A8B5C8C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806338D8-6D7C-614F-8883-3AA8E1B0FAD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65540" name="Rectangle 6">
            <a:extLst>
              <a:ext uri="{FF2B5EF4-FFF2-40B4-BE49-F238E27FC236}">
                <a16:creationId xmlns:a16="http://schemas.microsoft.com/office/drawing/2014/main" id="{29FF7926-DC15-2452-130C-4A74DE71F13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65541" name="Rectangle 7">
            <a:extLst>
              <a:ext uri="{FF2B5EF4-FFF2-40B4-BE49-F238E27FC236}">
                <a16:creationId xmlns:a16="http://schemas.microsoft.com/office/drawing/2014/main" id="{6045B849-0DED-8F70-62EB-84C1D93B91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F7720D90-5C4E-4DB4-9BF0-BCD0DAB9381B}" type="slidenum">
              <a:rPr lang="en-AU" altLang="en-US" sz="1200" smtClean="0">
                <a:latin typeface="Times New Roman" panose="02020603050405020304" pitchFamily="18" charset="0"/>
              </a:rPr>
              <a:pPr/>
              <a:t>38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65542" name="Rectangle 2">
            <a:extLst>
              <a:ext uri="{FF2B5EF4-FFF2-40B4-BE49-F238E27FC236}">
                <a16:creationId xmlns:a16="http://schemas.microsoft.com/office/drawing/2014/main" id="{4CB3AE3F-EDB0-B77D-0DB1-CA0BD3F8EA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solidFill>
            <a:srgbClr val="FFFFFF"/>
          </a:solidFill>
          <a:ln/>
        </p:spPr>
      </p:sp>
      <p:sp>
        <p:nvSpPr>
          <p:cNvPr id="65543" name="Rectangle 3">
            <a:extLst>
              <a:ext uri="{FF2B5EF4-FFF2-40B4-BE49-F238E27FC236}">
                <a16:creationId xmlns:a16="http://schemas.microsoft.com/office/drawing/2014/main" id="{8FDCF3F1-9AA8-B443-EFA7-684AA7E072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46" tIns="49523" rIns="99046" bIns="49523"/>
          <a:lstStyle/>
          <a:p>
            <a:r>
              <a:rPr lang="en-US" altLang="en-US">
                <a:latin typeface="Times New Roman" panose="02020603050405020304" pitchFamily="18" charset="0"/>
              </a:rPr>
              <a:t>— Boehm (1979)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090AA9B1-4A99-77CF-3D1A-D887F8A375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88DA8555-0075-6E64-254A-30677D9E9E1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67588" name="Rectangle 6">
            <a:extLst>
              <a:ext uri="{FF2B5EF4-FFF2-40B4-BE49-F238E27FC236}">
                <a16:creationId xmlns:a16="http://schemas.microsoft.com/office/drawing/2014/main" id="{2623D1F0-3B21-DAFE-19B6-3EC94CB9222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67589" name="Rectangle 7">
            <a:extLst>
              <a:ext uri="{FF2B5EF4-FFF2-40B4-BE49-F238E27FC236}">
                <a16:creationId xmlns:a16="http://schemas.microsoft.com/office/drawing/2014/main" id="{8192371C-D4B5-E1D0-77BF-873C600120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C7283852-FFAC-47F4-8571-721EC7D87995}" type="slidenum">
              <a:rPr lang="en-AU" altLang="en-US" sz="1200" smtClean="0">
                <a:latin typeface="Times New Roman" panose="02020603050405020304" pitchFamily="18" charset="0"/>
              </a:rPr>
              <a:pPr/>
              <a:t>39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67590" name="Rectangle 2">
            <a:extLst>
              <a:ext uri="{FF2B5EF4-FFF2-40B4-BE49-F238E27FC236}">
                <a16:creationId xmlns:a16="http://schemas.microsoft.com/office/drawing/2014/main" id="{9DE23D68-20F6-76DD-DA96-9E5E5B0FA1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24963" name="Rectangle 3">
            <a:extLst>
              <a:ext uri="{FF2B5EF4-FFF2-40B4-BE49-F238E27FC236}">
                <a16:creationId xmlns:a16="http://schemas.microsoft.com/office/drawing/2014/main" id="{771B7BDE-ACC8-AD48-5C30-CA82AEFD7B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38" tIns="45719" rIns="91438" bIns="45719"/>
          <a:lstStyle/>
          <a:p>
            <a:pPr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F0C37F7F-2E36-D0BD-9FCE-E741E36A0A4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2659AF01-6780-A23F-D73A-56E53D3556E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69636" name="Rectangle 6">
            <a:extLst>
              <a:ext uri="{FF2B5EF4-FFF2-40B4-BE49-F238E27FC236}">
                <a16:creationId xmlns:a16="http://schemas.microsoft.com/office/drawing/2014/main" id="{C49D93DB-4146-A316-DFC3-6FF0D39B3F1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69637" name="Rectangle 7">
            <a:extLst>
              <a:ext uri="{FF2B5EF4-FFF2-40B4-BE49-F238E27FC236}">
                <a16:creationId xmlns:a16="http://schemas.microsoft.com/office/drawing/2014/main" id="{B9C75A3B-AE22-ACFD-F49E-0164B63C45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B2855B53-A022-4D3F-9A48-B34EA07AB055}" type="slidenum">
              <a:rPr lang="en-AU" altLang="en-US" sz="1200" smtClean="0">
                <a:latin typeface="Times New Roman" panose="02020603050405020304" pitchFamily="18" charset="0"/>
              </a:rPr>
              <a:pPr/>
              <a:t>40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69638" name="Rectangle 2">
            <a:extLst>
              <a:ext uri="{FF2B5EF4-FFF2-40B4-BE49-F238E27FC236}">
                <a16:creationId xmlns:a16="http://schemas.microsoft.com/office/drawing/2014/main" id="{CB0F0CED-DD36-7C55-41C1-BC505C47AC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27011" name="Rectangle 3">
            <a:extLst>
              <a:ext uri="{FF2B5EF4-FFF2-40B4-BE49-F238E27FC236}">
                <a16:creationId xmlns:a16="http://schemas.microsoft.com/office/drawing/2014/main" id="{3A82C285-85B5-589D-09F9-46EF96B1D2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38" tIns="45719" rIns="91438" bIns="45719"/>
          <a:lstStyle/>
          <a:p>
            <a:pPr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6E78FA81-AB03-7933-DDEC-7431E500CD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CE5D6C44-FEFA-CA4B-AAB9-292507928B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This slide needs some further elaboration…</a:t>
            </a:r>
          </a:p>
        </p:txBody>
      </p:sp>
      <p:sp>
        <p:nvSpPr>
          <p:cNvPr id="71684" name="Header Placeholder 3">
            <a:extLst>
              <a:ext uri="{FF2B5EF4-FFF2-40B4-BE49-F238E27FC236}">
                <a16:creationId xmlns:a16="http://schemas.microsoft.com/office/drawing/2014/main" id="{8740109F-2D3D-D017-0A89-E3CA66AA26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71685" name="Date Placeholder 4">
            <a:extLst>
              <a:ext uri="{FF2B5EF4-FFF2-40B4-BE49-F238E27FC236}">
                <a16:creationId xmlns:a16="http://schemas.microsoft.com/office/drawing/2014/main" id="{9DB45939-9541-BB0E-2F14-A835DBD410F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71686" name="Footer Placeholder 5">
            <a:extLst>
              <a:ext uri="{FF2B5EF4-FFF2-40B4-BE49-F238E27FC236}">
                <a16:creationId xmlns:a16="http://schemas.microsoft.com/office/drawing/2014/main" id="{C947544F-3821-2B1E-6780-461F84831EE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71687" name="Slide Number Placeholder 6">
            <a:extLst>
              <a:ext uri="{FF2B5EF4-FFF2-40B4-BE49-F238E27FC236}">
                <a16:creationId xmlns:a16="http://schemas.microsoft.com/office/drawing/2014/main" id="{BD369965-ED49-2B10-2F4C-8E29D5EFE6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321BB9E9-E01A-4A84-BC55-A620E4567909}" type="slidenum">
              <a:rPr lang="en-AU" altLang="en-US" sz="1200" smtClean="0">
                <a:latin typeface="Times New Roman" panose="02020603050405020304" pitchFamily="18" charset="0"/>
              </a:rPr>
              <a:pPr/>
              <a:t>41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21118543-8BE3-545C-192F-35C79245E1B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57E0713E-5420-4F80-BFF0-FD113C5D3F9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73732" name="Rectangle 6">
            <a:extLst>
              <a:ext uri="{FF2B5EF4-FFF2-40B4-BE49-F238E27FC236}">
                <a16:creationId xmlns:a16="http://schemas.microsoft.com/office/drawing/2014/main" id="{28A7F79E-669B-DC8E-7553-F89A734C374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73733" name="Rectangle 7">
            <a:extLst>
              <a:ext uri="{FF2B5EF4-FFF2-40B4-BE49-F238E27FC236}">
                <a16:creationId xmlns:a16="http://schemas.microsoft.com/office/drawing/2014/main" id="{EDD06250-54F0-F039-66C4-50C1CD090E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370B16A8-AB41-4979-9606-1B737F9EE29A}" type="slidenum">
              <a:rPr lang="en-AU" altLang="en-US" sz="1200" smtClean="0">
                <a:latin typeface="Times New Roman" panose="02020603050405020304" pitchFamily="18" charset="0"/>
              </a:rPr>
              <a:pPr/>
              <a:t>42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73734" name="Rectangle 2">
            <a:extLst>
              <a:ext uri="{FF2B5EF4-FFF2-40B4-BE49-F238E27FC236}">
                <a16:creationId xmlns:a16="http://schemas.microsoft.com/office/drawing/2014/main" id="{A0B03F1A-7C51-3F1A-AD86-8043D9422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3735" name="Rectangle 3">
            <a:extLst>
              <a:ext uri="{FF2B5EF4-FFF2-40B4-BE49-F238E27FC236}">
                <a16:creationId xmlns:a16="http://schemas.microsoft.com/office/drawing/2014/main" id="{7769BF8C-0778-B329-9888-D44799727C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38" tIns="45719" rIns="91438" bIns="45719"/>
          <a:lstStyle/>
          <a:p>
            <a:r>
              <a:rPr lang="en-US" altLang="en-US">
                <a:latin typeface="Times New Roman" panose="02020603050405020304" pitchFamily="18" charset="0"/>
              </a:rPr>
              <a:t>This needs to be explained in more detail…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7BE329DE-99A9-2534-4815-7DA198164C6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SWE300003 Software Architectures and Design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54B53007-F9A7-6587-7D72-D8E3468D4AE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75780" name="Footer Placeholder 6">
            <a:extLst>
              <a:ext uri="{FF2B5EF4-FFF2-40B4-BE49-F238E27FC236}">
                <a16:creationId xmlns:a16="http://schemas.microsoft.com/office/drawing/2014/main" id="{277B76C4-9B9A-4040-3043-B9D7F742021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75781" name="Slide Number Placeholder 7">
            <a:extLst>
              <a:ext uri="{FF2B5EF4-FFF2-40B4-BE49-F238E27FC236}">
                <a16:creationId xmlns:a16="http://schemas.microsoft.com/office/drawing/2014/main" id="{414092F5-8E71-AB4F-94DD-9B921B28B0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5890D5E1-4F86-41DF-9EF7-20E3001CD7F8}" type="slidenum">
              <a:rPr lang="en-AU" altLang="en-US" sz="1200" smtClean="0">
                <a:latin typeface="Times New Roman" panose="02020603050405020304" pitchFamily="18" charset="0"/>
              </a:rPr>
              <a:pPr/>
              <a:t>43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75782" name="Rectangle 7">
            <a:extLst>
              <a:ext uri="{FF2B5EF4-FFF2-40B4-BE49-F238E27FC236}">
                <a16:creationId xmlns:a16="http://schemas.microsoft.com/office/drawing/2014/main" id="{686BCFA0-F76B-A87B-E8D7-4D4846302E8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6" tIns="49523" rIns="99046" bIns="49523" anchor="b"/>
          <a:lstStyle>
            <a:lvl1pPr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DF0D22F-F669-4FD4-A331-54A81504D57B}" type="slidenum">
              <a:rPr lang="en-US" altLang="en-US" sz="1400"/>
              <a:pPr algn="r"/>
              <a:t>43</a:t>
            </a:fld>
            <a:endParaRPr lang="en-US" altLang="en-US" sz="1400"/>
          </a:p>
        </p:txBody>
      </p:sp>
      <p:sp>
        <p:nvSpPr>
          <p:cNvPr id="75783" name="Rectangle 2">
            <a:extLst>
              <a:ext uri="{FF2B5EF4-FFF2-40B4-BE49-F238E27FC236}">
                <a16:creationId xmlns:a16="http://schemas.microsoft.com/office/drawing/2014/main" id="{3E67CE45-4CC9-82CA-4233-19C2FD0F8A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solidFill>
            <a:srgbClr val="FFFFFF"/>
          </a:solidFill>
          <a:ln/>
        </p:spPr>
      </p:sp>
      <p:sp>
        <p:nvSpPr>
          <p:cNvPr id="75784" name="Rectangle 3">
            <a:extLst>
              <a:ext uri="{FF2B5EF4-FFF2-40B4-BE49-F238E27FC236}">
                <a16:creationId xmlns:a16="http://schemas.microsoft.com/office/drawing/2014/main" id="{014F14FE-D02F-003A-31A3-7F7D141B06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46" tIns="49523" rIns="99046" bIns="49523"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Note that scenarios give you “context”, but not necessarily fully complete requirements…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78A6E97F-FEFF-7E0B-5F88-8D0FCBE8A9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1EF6407C-2026-BFAF-69C7-37DE9149154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77828" name="Rectangle 6">
            <a:extLst>
              <a:ext uri="{FF2B5EF4-FFF2-40B4-BE49-F238E27FC236}">
                <a16:creationId xmlns:a16="http://schemas.microsoft.com/office/drawing/2014/main" id="{8236F737-2A63-46AC-D3A8-F339FD983ED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77829" name="Rectangle 7">
            <a:extLst>
              <a:ext uri="{FF2B5EF4-FFF2-40B4-BE49-F238E27FC236}">
                <a16:creationId xmlns:a16="http://schemas.microsoft.com/office/drawing/2014/main" id="{CF8A5BD4-F672-054A-656B-79EE024E88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5E13BBF0-9800-42C7-9EFC-BE9E470F4659}" type="slidenum">
              <a:rPr lang="en-AU" altLang="en-US" sz="1200" smtClean="0">
                <a:latin typeface="Times New Roman" panose="02020603050405020304" pitchFamily="18" charset="0"/>
              </a:rPr>
              <a:pPr/>
              <a:t>44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77830" name="Rectangle 2">
            <a:extLst>
              <a:ext uri="{FF2B5EF4-FFF2-40B4-BE49-F238E27FC236}">
                <a16:creationId xmlns:a16="http://schemas.microsoft.com/office/drawing/2014/main" id="{DA9EF95C-ED12-5C9D-5F1C-CE834EEC4A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7831" name="Rectangle 3">
            <a:extLst>
              <a:ext uri="{FF2B5EF4-FFF2-40B4-BE49-F238E27FC236}">
                <a16:creationId xmlns:a16="http://schemas.microsoft.com/office/drawing/2014/main" id="{90896AC1-CE2D-0B31-A420-4F1C995599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38" tIns="45719" rIns="91438" bIns="45719"/>
          <a:lstStyle/>
          <a:p>
            <a:r>
              <a:rPr lang="en-US" altLang="en-US">
                <a:latin typeface="Times New Roman" panose="02020603050405020304" pitchFamily="18" charset="0"/>
              </a:rPr>
              <a:t>For the purpose of our work, we also need to add evidence of “Validation”!!!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3BDE17C9-F223-BC69-FFB3-C3341145F9B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B7DA7584-0C6E-4DAE-40D6-37E67707CD3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79876" name="Rectangle 6">
            <a:extLst>
              <a:ext uri="{FF2B5EF4-FFF2-40B4-BE49-F238E27FC236}">
                <a16:creationId xmlns:a16="http://schemas.microsoft.com/office/drawing/2014/main" id="{EED19DAA-3207-B2B4-88CC-7FE75448CF2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79877" name="Rectangle 7">
            <a:extLst>
              <a:ext uri="{FF2B5EF4-FFF2-40B4-BE49-F238E27FC236}">
                <a16:creationId xmlns:a16="http://schemas.microsoft.com/office/drawing/2014/main" id="{D4A6320B-1002-126F-99FA-1CC4D97F42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147C14FD-DE63-43AC-8F3D-C089C92101A0}" type="slidenum">
              <a:rPr lang="en-AU" altLang="en-US" sz="1200" smtClean="0">
                <a:latin typeface="Times New Roman" panose="02020603050405020304" pitchFamily="18" charset="0"/>
              </a:rPr>
              <a:pPr/>
              <a:t>45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79878" name="Rectangle 2">
            <a:extLst>
              <a:ext uri="{FF2B5EF4-FFF2-40B4-BE49-F238E27FC236}">
                <a16:creationId xmlns:a16="http://schemas.microsoft.com/office/drawing/2014/main" id="{B140A30C-1AAB-FBB9-3A7F-2E049CC23E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1107" name="Rectangle 3">
            <a:extLst>
              <a:ext uri="{FF2B5EF4-FFF2-40B4-BE49-F238E27FC236}">
                <a16:creationId xmlns:a16="http://schemas.microsoft.com/office/drawing/2014/main" id="{04443F57-31D6-BC93-46C7-91173A56C0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38" tIns="45719" rIns="91438" bIns="45719"/>
          <a:lstStyle/>
          <a:p>
            <a:pPr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2E2350B7-98E9-64CD-50AE-949220FE4A4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A4CE7148-9F3A-64A8-AF84-17EFA2A163D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82948" name="Rectangle 6">
            <a:extLst>
              <a:ext uri="{FF2B5EF4-FFF2-40B4-BE49-F238E27FC236}">
                <a16:creationId xmlns:a16="http://schemas.microsoft.com/office/drawing/2014/main" id="{6A9DC648-9863-5469-2ABB-69C1447A675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82949" name="Rectangle 7">
            <a:extLst>
              <a:ext uri="{FF2B5EF4-FFF2-40B4-BE49-F238E27FC236}">
                <a16:creationId xmlns:a16="http://schemas.microsoft.com/office/drawing/2014/main" id="{BB3E0813-E80B-2925-7D9B-B9872E2D9A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69D4753E-7EB6-4454-A3EF-D8BDCB700FF4}" type="slidenum">
              <a:rPr lang="en-AU" altLang="en-US" sz="1200" smtClean="0">
                <a:latin typeface="Times New Roman" panose="02020603050405020304" pitchFamily="18" charset="0"/>
              </a:rPr>
              <a:pPr/>
              <a:t>47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82950" name="Rectangle 2">
            <a:extLst>
              <a:ext uri="{FF2B5EF4-FFF2-40B4-BE49-F238E27FC236}">
                <a16:creationId xmlns:a16="http://schemas.microsoft.com/office/drawing/2014/main" id="{55762082-AD2D-E2E1-C795-564AE63333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4961FF30-7F94-28D4-C54E-6A0E61C606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998BD47-0404-4A3B-9778-77CF2EE3A8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53EB42DD-E63B-B187-F592-8E27C596223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84996" name="Rectangle 6">
            <a:extLst>
              <a:ext uri="{FF2B5EF4-FFF2-40B4-BE49-F238E27FC236}">
                <a16:creationId xmlns:a16="http://schemas.microsoft.com/office/drawing/2014/main" id="{4DBBB818-AAA4-1F69-70E5-F4235DAD2BC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84997" name="Rectangle 7">
            <a:extLst>
              <a:ext uri="{FF2B5EF4-FFF2-40B4-BE49-F238E27FC236}">
                <a16:creationId xmlns:a16="http://schemas.microsoft.com/office/drawing/2014/main" id="{2AF9E099-C11F-66A1-9B14-E09F7BEC93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ABA52E08-3320-49AF-893F-CD0BF5EE3A4D}" type="slidenum">
              <a:rPr lang="en-AU" altLang="en-US" sz="1200" smtClean="0">
                <a:latin typeface="Times New Roman" panose="02020603050405020304" pitchFamily="18" charset="0"/>
              </a:rPr>
              <a:pPr/>
              <a:t>48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84998" name="Rectangle 2">
            <a:extLst>
              <a:ext uri="{FF2B5EF4-FFF2-40B4-BE49-F238E27FC236}">
                <a16:creationId xmlns:a16="http://schemas.microsoft.com/office/drawing/2014/main" id="{C81DDEF4-F0A1-C5AE-A033-C5FE886EFC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8867" name="Rectangle 3">
            <a:extLst>
              <a:ext uri="{FF2B5EF4-FFF2-40B4-BE49-F238E27FC236}">
                <a16:creationId xmlns:a16="http://schemas.microsoft.com/office/drawing/2014/main" id="{B452E442-6273-BF05-A76E-6D72F6D1D8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E482D00D-83C1-8AD3-F9D7-9CEAE256A37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6E6B3855-7465-6B63-50FE-D9609A661D5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87044" name="Rectangle 6">
            <a:extLst>
              <a:ext uri="{FF2B5EF4-FFF2-40B4-BE49-F238E27FC236}">
                <a16:creationId xmlns:a16="http://schemas.microsoft.com/office/drawing/2014/main" id="{3D643601-951F-EDB3-55ED-198669A87B5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87045" name="Rectangle 7">
            <a:extLst>
              <a:ext uri="{FF2B5EF4-FFF2-40B4-BE49-F238E27FC236}">
                <a16:creationId xmlns:a16="http://schemas.microsoft.com/office/drawing/2014/main" id="{4658D9D4-B62A-4AFE-F898-8DF527CE77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1525" indent="-296863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8745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63700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38363" indent="-236538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955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0527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099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967163" indent="-236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C152668D-9517-4815-9EC5-1C5D1235BACC}" type="slidenum">
              <a:rPr lang="en-AU" altLang="en-US" sz="1200" smtClean="0">
                <a:latin typeface="Times New Roman" panose="02020603050405020304" pitchFamily="18" charset="0"/>
              </a:rPr>
              <a:pPr/>
              <a:t>49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87046" name="Rectangle 2">
            <a:extLst>
              <a:ext uri="{FF2B5EF4-FFF2-40B4-BE49-F238E27FC236}">
                <a16:creationId xmlns:a16="http://schemas.microsoft.com/office/drawing/2014/main" id="{15F1405C-FFC7-30F1-9232-21345CD450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>
            <a:extLst>
              <a:ext uri="{FF2B5EF4-FFF2-40B4-BE49-F238E27FC236}">
                <a16:creationId xmlns:a16="http://schemas.microsoft.com/office/drawing/2014/main" id="{48FBCDD3-304B-C040-4185-8B4B14F483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FF37DA2F-EAF1-8A4D-07BD-1406B72DA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0"/>
            <a:ext cx="2159000" cy="2159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CAF5A9F0-5846-7FDE-E8A7-376E998E6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0" y="4699000"/>
            <a:ext cx="2159000" cy="2159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4" name="Picture 66" descr="crest_30pc">
            <a:extLst>
              <a:ext uri="{FF2B5EF4-FFF2-40B4-BE49-F238E27FC236}">
                <a16:creationId xmlns:a16="http://schemas.microsoft.com/office/drawing/2014/main" id="{C087D0A2-6D16-51BA-7289-B9B75D7B8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4800600"/>
            <a:ext cx="143192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8" descr="corpV_3 300_lzw">
            <a:extLst>
              <a:ext uri="{FF2B5EF4-FFF2-40B4-BE49-F238E27FC236}">
                <a16:creationId xmlns:a16="http://schemas.microsoft.com/office/drawing/2014/main" id="{575BCF52-A140-25E6-8DAD-024979560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60588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38400" y="2438400"/>
            <a:ext cx="5562600" cy="1143000"/>
          </a:xfrm>
        </p:spPr>
        <p:txBody>
          <a:bodyPr lIns="91440" tIns="45720" rIns="91440" bIns="45720"/>
          <a:lstStyle>
            <a:lvl1pPr>
              <a:defRPr/>
            </a:lvl1pPr>
          </a:lstStyle>
          <a:p>
            <a:pPr lvl="0"/>
            <a:r>
              <a:rPr lang="en-AU" noProof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3733800"/>
            <a:ext cx="4419600" cy="990600"/>
          </a:xfrm>
        </p:spPr>
        <p:txBody>
          <a:bodyPr lIns="91440" tIns="45720" rIns="91440" bIns="45720"/>
          <a:lstStyle>
            <a:lvl1pPr marL="0" indent="0">
              <a:buFont typeface="Wingdings" charset="0"/>
              <a:buNone/>
              <a:defRPr/>
            </a:lvl1pPr>
          </a:lstStyle>
          <a:p>
            <a:pPr lvl="0"/>
            <a:r>
              <a:rPr lang="en-AU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70223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845685E-7F61-0BCC-C1DD-3BB5AAE3359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0A2693-A188-48FE-95BD-CFB022C5A527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  <a:p>
            <a:pPr>
              <a:defRPr/>
            </a:pP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220295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BE6CDF3-AE7D-5B53-B684-573E11F434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4C7928-46FA-45DF-83D0-7D3255A38EE5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  <a:p>
            <a:pPr>
              <a:defRPr/>
            </a:pP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296449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500" y="1143000"/>
            <a:ext cx="36957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7600" y="1143000"/>
            <a:ext cx="36957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4D3D533-4403-1972-DDF4-9D5E9B06E6D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4897B-F026-45D7-9E4E-219AD2E71568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  <a:p>
            <a:pPr>
              <a:defRPr/>
            </a:pP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91052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E99561-3264-4175-F5B9-8158A4895C2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62D86-201D-42EC-A8BE-19CAD05B65B2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  <a:p>
            <a:pPr>
              <a:defRPr/>
            </a:pP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411002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7C34C66-5C66-8753-0E16-106BF288851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471B8-C165-4DD9-8049-B3EE7AD56164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  <a:p>
            <a:pPr>
              <a:defRPr/>
            </a:pP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4263383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5555B454-537B-96CE-F806-D3DFEBCDA56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AE0576-3E04-4E3A-837F-56978C0AE7AC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  <a:p>
            <a:pPr>
              <a:defRPr/>
            </a:pP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137703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1F9753A-5334-A0A1-E4AA-9AC02925B96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E85FF-3727-4434-9C30-5E6485657532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  <a:p>
            <a:pPr>
              <a:defRPr/>
            </a:pP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76021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267C00D-DD3D-62B4-1001-45722AA2FF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35F744-00EF-4C0E-BA45-F71D10FF9F40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  <a:p>
            <a:pPr>
              <a:defRPr/>
            </a:pP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528287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D10AA25-AC11-6726-3564-D2A63AC2B56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058589-01FC-4DDA-99DF-071100FF7D41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  <a:p>
            <a:pPr>
              <a:defRPr/>
            </a:pP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97334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50" y="358775"/>
            <a:ext cx="1885950" cy="55848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9500" y="358775"/>
            <a:ext cx="5505450" cy="55848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C6E6440-1271-AC7A-D5F0-1678A572522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456A9-D534-47DA-845D-9F0264420596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  <a:p>
            <a:pPr>
              <a:defRPr/>
            </a:pP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499547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B95E32D-2543-0910-9938-D5D688B853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358775"/>
            <a:ext cx="69977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title style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0CB2E7C-9621-E1D2-7EF1-0861FFF0A74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1722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AEF0440-0880-449D-9FCE-5C7DFEA0E2A1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  <a:p>
            <a:pPr>
              <a:defRPr/>
            </a:pPr>
            <a:endParaRPr lang="en-AU" altLang="en-US"/>
          </a:p>
        </p:txBody>
      </p:sp>
      <p:sp>
        <p:nvSpPr>
          <p:cNvPr id="1028" name="Line 7">
            <a:extLst>
              <a:ext uri="{FF2B5EF4-FFF2-40B4-BE49-F238E27FC236}">
                <a16:creationId xmlns:a16="http://schemas.microsoft.com/office/drawing/2014/main" id="{DEA99F88-0DE9-D6F6-B20B-7EA06F0AA0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990600"/>
            <a:ext cx="731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9" name="Picture 14" descr="crest_100pc bit">
            <a:extLst>
              <a:ext uri="{FF2B5EF4-FFF2-40B4-BE49-F238E27FC236}">
                <a16:creationId xmlns:a16="http://schemas.microsoft.com/office/drawing/2014/main" id="{909AA8F0-972D-85AC-6EB4-420555D11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0643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7FFC9AC1-31E7-02CB-A478-14F277E7D1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1143000"/>
            <a:ext cx="7543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text styles</a:t>
            </a:r>
          </a:p>
          <a:p>
            <a:pPr lvl="1"/>
            <a:r>
              <a:rPr lang="en-AU" altLang="en-US"/>
              <a:t>Second level</a:t>
            </a:r>
          </a:p>
          <a:p>
            <a:pPr lvl="2"/>
            <a:r>
              <a:rPr lang="en-AU" altLang="en-US"/>
              <a:t>Third level</a:t>
            </a:r>
          </a:p>
          <a:p>
            <a:pPr lvl="3"/>
            <a:r>
              <a:rPr lang="en-AU" altLang="en-US"/>
              <a:t>Fourth level</a:t>
            </a:r>
          </a:p>
          <a:p>
            <a:pPr lvl="4"/>
            <a:r>
              <a:rPr lang="en-AU" alt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D3525-64EC-3D02-F755-C9DB0C06220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5413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MS PGothic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MS PGothic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MS PGothic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MS PGothic" pitchFamily="34" charset="-128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charset="0"/>
        </a:defRPr>
      </a:lvl9pPr>
    </p:titleStyle>
    <p:bodyStyle>
      <a:lvl1pPr marL="285750" indent="-285750" algn="l" rtl="0" eaLnBrk="0" fontAlgn="base" hangingPunct="0">
        <a:spcBef>
          <a:spcPct val="40000"/>
        </a:spcBef>
        <a:spcAft>
          <a:spcPct val="0"/>
        </a:spcAft>
        <a:buSzPct val="7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62000" indent="-28575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panose="05000000000000000000" pitchFamily="2" charset="2"/>
        <a:buChar char="¨"/>
        <a:defRPr sz="2400">
          <a:solidFill>
            <a:schemeClr val="tx1"/>
          </a:solidFill>
          <a:latin typeface="+mn-lt"/>
          <a:ea typeface="MS PGothic" pitchFamily="34" charset="-128"/>
        </a:defRPr>
      </a:lvl2pPr>
      <a:lvl3pPr marL="12763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MS PGothic" pitchFamily="34" charset="-128"/>
        </a:defRPr>
      </a:lvl3pPr>
      <a:lvl4pPr marL="16954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panose="05000000000000000000" pitchFamily="2" charset="2"/>
        <a:buChar char="¨"/>
        <a:defRPr>
          <a:solidFill>
            <a:schemeClr val="tx1"/>
          </a:solidFill>
          <a:latin typeface="+mn-lt"/>
          <a:ea typeface="MS PGothic" pitchFamily="34" charset="-128"/>
        </a:defRPr>
      </a:lvl4pPr>
      <a:lvl5pPr marL="21145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panose="05000000000000000000" pitchFamily="2" charset="2"/>
        <a:buChar char="¨"/>
        <a:defRPr sz="1600">
          <a:solidFill>
            <a:schemeClr val="tx1"/>
          </a:solidFill>
          <a:latin typeface="+mn-lt"/>
          <a:ea typeface="MS PGothic" pitchFamily="34" charset="-128"/>
        </a:defRPr>
      </a:lvl5pPr>
      <a:lvl6pPr marL="25717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charset="0"/>
        <a:buChar char="¨"/>
        <a:defRPr sz="1600">
          <a:solidFill>
            <a:schemeClr val="tx1"/>
          </a:solidFill>
          <a:latin typeface="+mn-lt"/>
          <a:ea typeface="+mn-ea"/>
        </a:defRPr>
      </a:lvl6pPr>
      <a:lvl7pPr marL="30289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charset="0"/>
        <a:buChar char="¨"/>
        <a:defRPr sz="1600">
          <a:solidFill>
            <a:schemeClr val="tx1"/>
          </a:solidFill>
          <a:latin typeface="+mn-lt"/>
          <a:ea typeface="+mn-ea"/>
        </a:defRPr>
      </a:lvl7pPr>
      <a:lvl8pPr marL="34861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charset="0"/>
        <a:buChar char="¨"/>
        <a:defRPr sz="1600">
          <a:solidFill>
            <a:schemeClr val="tx1"/>
          </a:solidFill>
          <a:latin typeface="+mn-lt"/>
          <a:ea typeface="+mn-ea"/>
        </a:defRPr>
      </a:lvl8pPr>
      <a:lvl9pPr marL="39433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charset="0"/>
        <a:buChar char="¨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krazytech.com/projects/sample-software-requirements-specificationsrs-report-airline-database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>
            <a:extLst>
              <a:ext uri="{FF2B5EF4-FFF2-40B4-BE49-F238E27FC236}">
                <a16:creationId xmlns:a16="http://schemas.microsoft.com/office/drawing/2014/main" id="{6D0CA8FE-0542-5BA0-F3B5-FA75AC762C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14600" y="3733800"/>
            <a:ext cx="6454775" cy="2143125"/>
          </a:xfrm>
        </p:spPr>
        <p:txBody>
          <a:bodyPr lIns="0" tIns="0" rIns="0" bIns="0"/>
          <a:lstStyle/>
          <a:p>
            <a:pPr>
              <a:defRPr/>
            </a:pPr>
            <a:r>
              <a:rPr lang="en-AU" dirty="0">
                <a:ea typeface="+mn-ea"/>
                <a:cs typeface="+mn-cs"/>
              </a:rPr>
              <a:t>Lecture 3</a:t>
            </a:r>
          </a:p>
          <a:p>
            <a:pPr>
              <a:defRPr/>
            </a:pPr>
            <a:r>
              <a:rPr lang="en-AU" dirty="0">
                <a:ea typeface="+mn-ea"/>
                <a:cs typeface="+mn-cs"/>
              </a:rPr>
              <a:t>Quality Attributes, </a:t>
            </a:r>
          </a:p>
          <a:p>
            <a:pPr>
              <a:defRPr/>
            </a:pPr>
            <a:r>
              <a:rPr lang="en-AU" dirty="0">
                <a:ea typeface="+mn-ea"/>
                <a:cs typeface="+mn-cs"/>
              </a:rPr>
              <a:t>Requirements Validation</a:t>
            </a:r>
          </a:p>
        </p:txBody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1100C8CF-1321-31F5-1C11-44F167B8400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438400" y="2438400"/>
            <a:ext cx="5867400" cy="1143000"/>
          </a:xfrm>
        </p:spPr>
        <p:txBody>
          <a:bodyPr/>
          <a:lstStyle/>
          <a:p>
            <a:pPr>
              <a:defRPr/>
            </a:pPr>
            <a:r>
              <a:rPr lang="en-AU" sz="3200" dirty="0">
                <a:ea typeface="+mj-ea"/>
                <a:cs typeface="+mj-cs"/>
              </a:rPr>
              <a:t>SWE30003</a:t>
            </a:r>
            <a:br>
              <a:rPr lang="en-AU" sz="3200" dirty="0">
                <a:ea typeface="+mj-ea"/>
                <a:cs typeface="+mj-cs"/>
              </a:rPr>
            </a:br>
            <a:r>
              <a:rPr lang="en-AU" sz="3200" dirty="0">
                <a:ea typeface="+mj-ea"/>
                <a:cs typeface="+mj-cs"/>
              </a:rPr>
              <a:t>Software Architectures and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6" name="Rectangle 4">
            <a:extLst>
              <a:ext uri="{FF2B5EF4-FFF2-40B4-BE49-F238E27FC236}">
                <a16:creationId xmlns:a16="http://schemas.microsoft.com/office/drawing/2014/main" id="{B16AA540-3988-88D9-5F79-30A5429E8FF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Logistical matters</a:t>
            </a:r>
          </a:p>
        </p:txBody>
      </p:sp>
      <p:sp>
        <p:nvSpPr>
          <p:cNvPr id="7171" name="Rectangle 4">
            <a:extLst>
              <a:ext uri="{FF2B5EF4-FFF2-40B4-BE49-F238E27FC236}">
                <a16:creationId xmlns:a16="http://schemas.microsoft.com/office/drawing/2014/main" id="{77F0CBAD-EA00-4782-07B4-C838DE02C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371600"/>
            <a:ext cx="69977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 sz="3600" b="1">
              <a:solidFill>
                <a:schemeClr val="tx2"/>
              </a:solidFill>
            </a:endParaRPr>
          </a:p>
        </p:txBody>
      </p:sp>
      <p:sp>
        <p:nvSpPr>
          <p:cNvPr id="335880" name="Rectangle 8">
            <a:extLst>
              <a:ext uri="{FF2B5EF4-FFF2-40B4-BE49-F238E27FC236}">
                <a16:creationId xmlns:a16="http://schemas.microsoft.com/office/drawing/2014/main" id="{9B19C68D-B300-087D-9664-C62E4E621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692150"/>
            <a:ext cx="7669212" cy="424338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/>
          <a:p>
            <a:pPr eaLnBrk="1" hangingPunct="1">
              <a:spcBef>
                <a:spcPct val="40000"/>
              </a:spcBef>
              <a:buSzPct val="75000"/>
              <a:defRPr/>
            </a:pPr>
            <a:endParaRPr lang="en-US" sz="2800" dirty="0">
              <a:latin typeface="Arial Narrow" charset="0"/>
              <a:ea typeface="ＭＳ Ｐゴシック" charset="0"/>
            </a:endParaRPr>
          </a:p>
          <a:p>
            <a:pPr marL="285750" indent="-285750" eaLnBrk="1" hangingPunct="1">
              <a:spcBef>
                <a:spcPct val="40000"/>
              </a:spcBef>
              <a:buSzPct val="75000"/>
              <a:buFont typeface="Wingdings" charset="0"/>
              <a:buChar char="n"/>
              <a:defRPr/>
            </a:pPr>
            <a:endParaRPr lang="en-US" sz="2800" dirty="0">
              <a:latin typeface="Arial Narrow" charset="0"/>
              <a:ea typeface="ＭＳ Ｐゴシック" charset="0"/>
            </a:endParaRPr>
          </a:p>
        </p:txBody>
      </p:sp>
      <p:sp>
        <p:nvSpPr>
          <p:cNvPr id="7173" name="Slide Number Placeholder 1">
            <a:extLst>
              <a:ext uri="{FF2B5EF4-FFF2-40B4-BE49-F238E27FC236}">
                <a16:creationId xmlns:a16="http://schemas.microsoft.com/office/drawing/2014/main" id="{0E2DD6DE-3E06-9118-76A7-9F153A11A47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F50E6773-701B-4D4F-AFBD-FECF6B6D54DA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2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33913D-9851-200F-27D7-AC6DB27DA4BD}"/>
              </a:ext>
            </a:extLst>
          </p:cNvPr>
          <p:cNvSpPr txBox="1">
            <a:spLocks/>
          </p:cNvSpPr>
          <p:nvPr/>
        </p:nvSpPr>
        <p:spPr>
          <a:xfrm>
            <a:off x="1079500" y="1143000"/>
            <a:ext cx="7543800" cy="4800600"/>
          </a:xfrm>
          <a:prstGeom prst="rect">
            <a:avLst/>
          </a:prstGeom>
        </p:spPr>
        <p:txBody>
          <a:bodyPr/>
          <a:lstStyle>
            <a:lvl1pPr marL="28575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6200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2763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6954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21145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5717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charset="0"/>
              <a:buChar char="¨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289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charset="0"/>
              <a:buChar char="¨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861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charset="0"/>
              <a:buChar char="¨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433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charset="0"/>
              <a:buChar char="¨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AU" kern="0" dirty="0"/>
              <a:t>Weekly submissions – A &amp; Q</a:t>
            </a:r>
          </a:p>
          <a:p>
            <a:pPr lvl="1">
              <a:defRPr/>
            </a:pPr>
            <a:r>
              <a:rPr lang="en-AU" dirty="0"/>
              <a:t>Week 2: 104 &amp; 101 out of 119;</a:t>
            </a:r>
          </a:p>
          <a:p>
            <a:pPr lvl="1">
              <a:defRPr/>
            </a:pPr>
            <a:r>
              <a:rPr lang="en-AU" dirty="0"/>
              <a:t>Week 3: 101 &amp; 98 out of 118;</a:t>
            </a:r>
          </a:p>
          <a:p>
            <a:pPr lvl="1">
              <a:defRPr/>
            </a:pPr>
            <a:r>
              <a:rPr lang="en-AU" kern="0" dirty="0"/>
              <a:t>Note that this is </a:t>
            </a:r>
            <a:r>
              <a:rPr lang="en-AU" kern="0" dirty="0">
                <a:solidFill>
                  <a:srgbClr val="FF0000"/>
                </a:solidFill>
              </a:rPr>
              <a:t>a hurdle requirement</a:t>
            </a:r>
          </a:p>
          <a:p>
            <a:pPr lvl="1">
              <a:defRPr/>
            </a:pPr>
            <a:r>
              <a:rPr lang="en-AU" kern="0" dirty="0"/>
              <a:t>No late submission</a:t>
            </a:r>
          </a:p>
          <a:p>
            <a:pPr>
              <a:defRPr/>
            </a:pPr>
            <a:r>
              <a:rPr lang="en-AU" kern="0" dirty="0"/>
              <a:t>Assignment 1 Spec: … questions? </a:t>
            </a:r>
            <a:br>
              <a:rPr lang="en-AU" kern="0" dirty="0"/>
            </a:br>
            <a:r>
              <a:rPr lang="en-AU" kern="0" dirty="0"/>
              <a:t>… started? – start early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AU" kern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DDBA0823-B193-1742-605D-EC2622C627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358775"/>
            <a:ext cx="6997700" cy="549275"/>
          </a:xfrm>
        </p:spPr>
        <p:txBody>
          <a:bodyPr/>
          <a:lstStyle/>
          <a:p>
            <a:pPr>
              <a:defRPr/>
            </a:pPr>
            <a:r>
              <a:rPr lang="en-AU" dirty="0">
                <a:ea typeface="+mj-ea"/>
                <a:cs typeface="+mj-cs"/>
              </a:rPr>
              <a:t>Question to Answer - Week 2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65138393-D23E-A0EA-03CD-8BBD4BCF49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93675" indent="-193675">
              <a:buFont typeface="Wingdings" charset="0"/>
              <a:buNone/>
              <a:defRPr/>
            </a:pPr>
            <a:endParaRPr lang="en-AU" dirty="0">
              <a:ea typeface="+mn-ea"/>
              <a:cs typeface="+mn-cs"/>
            </a:endParaRPr>
          </a:p>
          <a:p>
            <a:pPr marL="193675" indent="-193675">
              <a:buFont typeface="Wingdings" charset="0"/>
              <a:buNone/>
              <a:defRPr/>
            </a:pPr>
            <a:r>
              <a:rPr lang="en-AU" dirty="0">
                <a:ea typeface="+mn-ea"/>
                <a:cs typeface="+mn-cs"/>
              </a:rPr>
              <a:t>	</a:t>
            </a:r>
            <a:r>
              <a:rPr lang="en-AU" dirty="0">
                <a:ea typeface="+mn-ea"/>
              </a:rPr>
              <a:t>Describe the difference between Use Case diagrams and Task Descriptions. What are the advantages of using Task Descriptions as opposed to User Cases? Provide a situation where Task Descriptions are more suitable for use than Use Case Diagrams.</a:t>
            </a:r>
          </a:p>
          <a:p>
            <a:pPr marL="193675" indent="-193675">
              <a:buFont typeface="Wingdings" charset="0"/>
              <a:buNone/>
              <a:defRPr/>
            </a:pPr>
            <a:r>
              <a:rPr lang="en-AU" dirty="0">
                <a:ea typeface="+mn-ea"/>
              </a:rPr>
              <a:t>------ </a:t>
            </a:r>
          </a:p>
        </p:txBody>
      </p:sp>
      <p:sp>
        <p:nvSpPr>
          <p:cNvPr id="9220" name="Slide Number Placeholder 1">
            <a:extLst>
              <a:ext uri="{FF2B5EF4-FFF2-40B4-BE49-F238E27FC236}">
                <a16:creationId xmlns:a16="http://schemas.microsoft.com/office/drawing/2014/main" id="{5D7B5C7F-3918-0E4A-9D3F-DFAE310A2C6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BC9D6540-4CD7-4633-90D8-28F622532774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3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>
            <a:extLst>
              <a:ext uri="{FF2B5EF4-FFF2-40B4-BE49-F238E27FC236}">
                <a16:creationId xmlns:a16="http://schemas.microsoft.com/office/drawing/2014/main" id="{535D2FD8-DB83-1E89-6936-48F934323B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AU">
                <a:ea typeface="+mj-ea"/>
                <a:cs typeface="+mj-cs"/>
              </a:rPr>
              <a:t>Principal References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362499" name="Rectangle 3">
            <a:extLst>
              <a:ext uri="{FF2B5EF4-FFF2-40B4-BE49-F238E27FC236}">
                <a16:creationId xmlns:a16="http://schemas.microsoft.com/office/drawing/2014/main" id="{F90E726A-8C3D-5154-5657-FEB20FD10B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0"/>
              <a:buNone/>
              <a:defRPr/>
            </a:pPr>
            <a:endParaRPr lang="en-AU" sz="1600" dirty="0">
              <a:ea typeface="+mn-ea"/>
              <a:cs typeface="+mn-cs"/>
            </a:endParaRPr>
          </a:p>
          <a:p>
            <a:pPr>
              <a:buFont typeface="Wingdings" charset="0"/>
              <a:buChar char="n"/>
              <a:defRPr/>
            </a:pPr>
            <a:r>
              <a:rPr lang="en-GB" dirty="0">
                <a:ea typeface="+mn-ea"/>
                <a:cs typeface="+mn-cs"/>
              </a:rPr>
              <a:t>Len Bass, Paul Clements, and Rick </a:t>
            </a:r>
            <a:r>
              <a:rPr lang="en-GB" dirty="0" err="1">
                <a:ea typeface="+mn-ea"/>
                <a:cs typeface="+mn-cs"/>
              </a:rPr>
              <a:t>Kazman</a:t>
            </a:r>
            <a:r>
              <a:rPr lang="en-GB" dirty="0">
                <a:ea typeface="+mn-ea"/>
                <a:cs typeface="+mn-cs"/>
              </a:rPr>
              <a:t>, </a:t>
            </a:r>
            <a:r>
              <a:rPr lang="en-GB" i="1" dirty="0">
                <a:solidFill>
                  <a:srgbClr val="7E0401"/>
                </a:solidFill>
                <a:ea typeface="+mn-ea"/>
                <a:cs typeface="+mn-cs"/>
              </a:rPr>
              <a:t>Software Architecture in Practice</a:t>
            </a:r>
            <a:r>
              <a:rPr lang="en-GB" i="1" dirty="0">
                <a:ea typeface="+mn-ea"/>
                <a:cs typeface="+mn-cs"/>
              </a:rPr>
              <a:t> (4th Edition)</a:t>
            </a:r>
            <a:r>
              <a:rPr lang="en-GB" dirty="0">
                <a:ea typeface="+mn-ea"/>
                <a:cs typeface="+mn-cs"/>
              </a:rPr>
              <a:t>, Addison-Wesley, 2021, Chapters 3 and 4. (chapters in previous editions of the same topics are reasonable replacements).</a:t>
            </a:r>
          </a:p>
          <a:p>
            <a:pPr>
              <a:buFont typeface="Wingdings" charset="0"/>
              <a:buChar char="n"/>
              <a:defRPr/>
            </a:pPr>
            <a:r>
              <a:rPr lang="en-GB" dirty="0">
                <a:ea typeface="+mn-ea"/>
                <a:cs typeface="+mn-cs"/>
              </a:rPr>
              <a:t>Ian Gorton, </a:t>
            </a:r>
            <a:r>
              <a:rPr lang="en-GB" i="1" dirty="0">
                <a:solidFill>
                  <a:srgbClr val="7E0401"/>
                </a:solidFill>
                <a:ea typeface="+mn-ea"/>
                <a:cs typeface="+mn-cs"/>
              </a:rPr>
              <a:t>Essential Software Architecture</a:t>
            </a:r>
            <a:r>
              <a:rPr lang="en-GB" dirty="0">
                <a:ea typeface="+mn-ea"/>
                <a:cs typeface="+mn-cs"/>
              </a:rPr>
              <a:t>, Springer, 2006, Chapter 3 (available from Canvas).</a:t>
            </a:r>
          </a:p>
          <a:p>
            <a:pPr>
              <a:buFont typeface="Wingdings" charset="0"/>
              <a:buChar char="n"/>
              <a:defRPr/>
            </a:pPr>
            <a:r>
              <a:rPr lang="en-GB" dirty="0">
                <a:ea typeface="+mn-ea"/>
                <a:cs typeface="+mn-cs"/>
              </a:rPr>
              <a:t>Soren </a:t>
            </a:r>
            <a:r>
              <a:rPr lang="en-GB" dirty="0" err="1">
                <a:ea typeface="+mn-ea"/>
                <a:cs typeface="+mn-cs"/>
              </a:rPr>
              <a:t>Lauesen</a:t>
            </a:r>
            <a:r>
              <a:rPr lang="en-GB" dirty="0">
                <a:ea typeface="+mn-ea"/>
                <a:cs typeface="+mn-cs"/>
              </a:rPr>
              <a:t>, </a:t>
            </a:r>
            <a:r>
              <a:rPr lang="en-GB" i="1" dirty="0">
                <a:solidFill>
                  <a:srgbClr val="7F0101"/>
                </a:solidFill>
                <a:ea typeface="+mn-ea"/>
                <a:cs typeface="+mn-cs"/>
              </a:rPr>
              <a:t>Software Requirements - Styles and Techniques</a:t>
            </a:r>
            <a:r>
              <a:rPr lang="en-GB" dirty="0">
                <a:ea typeface="+mn-ea"/>
                <a:cs typeface="+mn-cs"/>
              </a:rPr>
              <a:t>, Addison-Wesley, 2002, Chapters 6 and 9.</a:t>
            </a:r>
          </a:p>
          <a:p>
            <a:pPr>
              <a:buFont typeface="Wingdings" charset="0"/>
              <a:buChar char="n"/>
              <a:defRPr/>
            </a:pPr>
            <a:r>
              <a:rPr lang="en-GB" dirty="0"/>
              <a:t>Allan R. Tucker (Ed.), </a:t>
            </a:r>
            <a:r>
              <a:rPr lang="en-GB" i="1" dirty="0">
                <a:solidFill>
                  <a:srgbClr val="7F0101"/>
                </a:solidFill>
              </a:rPr>
              <a:t>Computer Science Handbook</a:t>
            </a:r>
            <a:br>
              <a:rPr lang="en-GB" dirty="0"/>
            </a:br>
            <a:r>
              <a:rPr lang="en-GB" i="1" dirty="0"/>
              <a:t>(2</a:t>
            </a:r>
            <a:r>
              <a:rPr lang="en-GB" i="1" baseline="30000" dirty="0"/>
              <a:t>nd</a:t>
            </a:r>
            <a:r>
              <a:rPr lang="en-GB" i="1" dirty="0"/>
              <a:t> Edition)</a:t>
            </a:r>
            <a:r>
              <a:rPr lang="en-GB" dirty="0"/>
              <a:t>, Chapter 101 - </a:t>
            </a:r>
            <a:r>
              <a:rPr lang="en-GB" i="1" dirty="0"/>
              <a:t>Software Qualities and Principles</a:t>
            </a:r>
            <a:r>
              <a:rPr lang="en-US" dirty="0"/>
              <a:t> (available from Canvas).</a:t>
            </a:r>
          </a:p>
        </p:txBody>
      </p:sp>
      <p:sp>
        <p:nvSpPr>
          <p:cNvPr id="11268" name="Slide Number Placeholder 1">
            <a:extLst>
              <a:ext uri="{FF2B5EF4-FFF2-40B4-BE49-F238E27FC236}">
                <a16:creationId xmlns:a16="http://schemas.microsoft.com/office/drawing/2014/main" id="{431AB563-57A7-EBF7-7AE7-C6D7606C9CA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D704DDF1-625E-45A1-B673-89D17F1888E1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B91B643-CDDA-2B44-2E34-9C0CEA92E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4000"/>
            <a:ext cx="7162800" cy="4953000"/>
          </a:xfrm>
          <a:prstGeom prst="rect">
            <a:avLst/>
          </a:prstGeom>
          <a:solidFill>
            <a:srgbClr val="E1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>
              <a:latin typeface="Helvetica" panose="020B0604020202020204" pitchFamily="34" charset="0"/>
            </a:endParaRPr>
          </a:p>
        </p:txBody>
      </p:sp>
      <p:pic>
        <p:nvPicPr>
          <p:cNvPr id="13315" name="Picture 6" descr="roadmap">
            <a:extLst>
              <a:ext uri="{FF2B5EF4-FFF2-40B4-BE49-F238E27FC236}">
                <a16:creationId xmlns:a16="http://schemas.microsoft.com/office/drawing/2014/main" id="{446FB83D-1482-C872-E92D-9EEA39ADF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654175"/>
            <a:ext cx="4191000" cy="475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0196" name="Rectangle 4">
            <a:extLst>
              <a:ext uri="{FF2B5EF4-FFF2-40B4-BE49-F238E27FC236}">
                <a16:creationId xmlns:a16="http://schemas.microsoft.com/office/drawing/2014/main" id="{F86B0057-F794-871A-922A-C2AC15EB5C6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Outline</a:t>
            </a:r>
          </a:p>
        </p:txBody>
      </p:sp>
      <p:sp>
        <p:nvSpPr>
          <p:cNvPr id="13317" name="Rectangle 4">
            <a:extLst>
              <a:ext uri="{FF2B5EF4-FFF2-40B4-BE49-F238E27FC236}">
                <a16:creationId xmlns:a16="http://schemas.microsoft.com/office/drawing/2014/main" id="{1C5A7F17-A239-DDF9-F6D4-B812E9D22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371600"/>
            <a:ext cx="69977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 sz="3600" b="1">
              <a:solidFill>
                <a:schemeClr val="tx2"/>
              </a:solidFill>
            </a:endParaRP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9E836B53-E979-8DE6-AF29-3C6A50D59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143000"/>
            <a:ext cx="7543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85750" indent="-285750"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6200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/>
            <a:r>
              <a:rPr lang="en-US" altLang="en-US" b="1"/>
              <a:t>Software Quality</a:t>
            </a:r>
            <a:endParaRPr lang="en-US" altLang="en-US"/>
          </a:p>
          <a:p>
            <a:pPr lvl="1" eaLnBrk="1" hangingPunct="1"/>
            <a:r>
              <a:rPr lang="en-US" altLang="en-US"/>
              <a:t>Quality Models</a:t>
            </a:r>
          </a:p>
          <a:p>
            <a:pPr eaLnBrk="1" hangingPunct="1"/>
            <a:r>
              <a:rPr lang="en-US" altLang="en-US"/>
              <a:t>Quality Attributes</a:t>
            </a:r>
          </a:p>
          <a:p>
            <a:pPr lvl="1" eaLnBrk="1" hangingPunct="1"/>
            <a:r>
              <a:rPr lang="en-US" altLang="en-US"/>
              <a:t>Quality Attribute Scenarios</a:t>
            </a:r>
          </a:p>
          <a:p>
            <a:pPr eaLnBrk="1" hangingPunct="1"/>
            <a:r>
              <a:rPr lang="en-US" altLang="en-US"/>
              <a:t>Requirements V&amp;V</a:t>
            </a:r>
          </a:p>
        </p:txBody>
      </p:sp>
      <p:sp>
        <p:nvSpPr>
          <p:cNvPr id="13319" name="Slide Number Placeholder 1">
            <a:extLst>
              <a:ext uri="{FF2B5EF4-FFF2-40B4-BE49-F238E27FC236}">
                <a16:creationId xmlns:a16="http://schemas.microsoft.com/office/drawing/2014/main" id="{72F2DC17-5537-2BF7-E32E-E37BBD97F12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10CE84E0-41D5-463F-868F-74AC52FB8B39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5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dilbert2004032348588">
            <a:extLst>
              <a:ext uri="{FF2B5EF4-FFF2-40B4-BE49-F238E27FC236}">
                <a16:creationId xmlns:a16="http://schemas.microsoft.com/office/drawing/2014/main" id="{0DFB1A2B-BE9F-ACAD-C726-7C6B53B7C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57200"/>
            <a:ext cx="8288338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0691" name="Rectangle 3">
            <a:extLst>
              <a:ext uri="{FF2B5EF4-FFF2-40B4-BE49-F238E27FC236}">
                <a16:creationId xmlns:a16="http://schemas.microsoft.com/office/drawing/2014/main" id="{4FAF2C3B-788D-8100-32F0-0E3F2E040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6400800"/>
            <a:ext cx="3568700" cy="27463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38099" dir="2700000" algn="ctr" rotWithShape="0">
              <a:schemeClr val="tx1">
                <a:alpha val="74998"/>
              </a:scheme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>
                <a:latin typeface="Courier" charset="0"/>
                <a:ea typeface="ＭＳ Ｐゴシック" charset="0"/>
                <a:cs typeface="Courier" charset="0"/>
              </a:rPr>
              <a:t>http://en.wikipedia.org/wiki/Fair_use</a:t>
            </a:r>
          </a:p>
        </p:txBody>
      </p:sp>
      <p:sp>
        <p:nvSpPr>
          <p:cNvPr id="15364" name="Slide Number Placeholder 1">
            <a:extLst>
              <a:ext uri="{FF2B5EF4-FFF2-40B4-BE49-F238E27FC236}">
                <a16:creationId xmlns:a16="http://schemas.microsoft.com/office/drawing/2014/main" id="{8337E07A-6D17-8613-2538-D99094DBDF2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A11588B9-364C-4A54-BFC1-57BA5015306B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6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>
            <a:extLst>
              <a:ext uri="{FF2B5EF4-FFF2-40B4-BE49-F238E27FC236}">
                <a16:creationId xmlns:a16="http://schemas.microsoft.com/office/drawing/2014/main" id="{E28E3D2C-426F-A32D-B09B-FF477A025D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AU">
                <a:ea typeface="+mj-ea"/>
                <a:cs typeface="+mj-cs"/>
              </a:rPr>
              <a:t>What is Quality?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73AB6F3-6FC5-3D15-A9A4-6F553AF48F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2988" y="1268413"/>
            <a:ext cx="7543800" cy="4800600"/>
          </a:xfrm>
        </p:spPr>
        <p:txBody>
          <a:bodyPr/>
          <a:lstStyle/>
          <a:p>
            <a:pPr marL="342900" indent="-342900">
              <a:lnSpc>
                <a:spcPct val="90000"/>
              </a:lnSpc>
            </a:pPr>
            <a:r>
              <a:rPr lang="en-AU" altLang="en-US"/>
              <a:t>ISO defines </a:t>
            </a:r>
            <a:r>
              <a:rPr lang="en-AU" altLang="en-US" b="1"/>
              <a:t>quality</a:t>
            </a:r>
            <a:r>
              <a:rPr lang="en-AU" altLang="en-US"/>
              <a:t> as </a:t>
            </a:r>
            <a:r>
              <a:rPr lang="en-AU" altLang="ja-JP">
                <a:latin typeface="Arial" panose="020B0604020202020204" pitchFamily="34" charset="0"/>
              </a:rPr>
              <a:t>“</a:t>
            </a:r>
            <a:r>
              <a:rPr lang="en-AU" altLang="ja-JP" i="1">
                <a:solidFill>
                  <a:srgbClr val="7E0000"/>
                </a:solidFill>
              </a:rPr>
              <a:t>the totality of characteristics of an entity that bear on its ability to satisfy stated or implied needs</a:t>
            </a:r>
            <a:r>
              <a:rPr lang="en-AU" altLang="ja-JP"/>
              <a:t>.</a:t>
            </a:r>
            <a:r>
              <a:rPr lang="en-AU" altLang="ja-JP">
                <a:latin typeface="Arial" panose="020B0604020202020204" pitchFamily="34" charset="0"/>
              </a:rPr>
              <a:t>”</a:t>
            </a:r>
            <a:endParaRPr lang="en-AU" altLang="ja-JP"/>
          </a:p>
          <a:p>
            <a:pPr marL="342900" indent="-342900">
              <a:lnSpc>
                <a:spcPct val="90000"/>
              </a:lnSpc>
            </a:pPr>
            <a:r>
              <a:rPr lang="en-AU" altLang="en-US"/>
              <a:t>Some Related terms:</a:t>
            </a:r>
          </a:p>
          <a:p>
            <a:pPr marL="742950" lvl="1">
              <a:lnSpc>
                <a:spcPct val="90000"/>
              </a:lnSpc>
            </a:pPr>
            <a:r>
              <a:rPr lang="en-AU" altLang="ja-JP" b="1">
                <a:latin typeface="Arial" panose="020B0604020202020204" pitchFamily="34" charset="0"/>
              </a:rPr>
              <a:t>“</a:t>
            </a:r>
            <a:r>
              <a:rPr lang="en-AU" altLang="ja-JP" b="1"/>
              <a:t>Conformance to requirements</a:t>
            </a:r>
            <a:r>
              <a:rPr lang="en-AU" altLang="ja-JP" b="1">
                <a:latin typeface="Arial" panose="020B0604020202020204" pitchFamily="34" charset="0"/>
              </a:rPr>
              <a:t>”</a:t>
            </a:r>
            <a:r>
              <a:rPr lang="en-AU" altLang="ja-JP"/>
              <a:t> means that both the process and product of the project must meet the written specifications.</a:t>
            </a:r>
          </a:p>
          <a:p>
            <a:pPr marL="742950" lvl="1">
              <a:lnSpc>
                <a:spcPct val="90000"/>
              </a:lnSpc>
            </a:pPr>
            <a:r>
              <a:rPr lang="en-AU" altLang="ja-JP" b="1">
                <a:latin typeface="Arial" panose="020B0604020202020204" pitchFamily="34" charset="0"/>
              </a:rPr>
              <a:t>“</a:t>
            </a:r>
            <a:r>
              <a:rPr lang="en-AU" altLang="ja-JP" b="1"/>
              <a:t>Fitness for use</a:t>
            </a:r>
            <a:r>
              <a:rPr lang="en-AU" altLang="ja-JP" b="1">
                <a:latin typeface="Arial" panose="020B0604020202020204" pitchFamily="34" charset="0"/>
              </a:rPr>
              <a:t>”</a:t>
            </a:r>
            <a:r>
              <a:rPr lang="en-AU" altLang="ja-JP"/>
              <a:t> means that a product can be used as it was intended.</a:t>
            </a:r>
          </a:p>
          <a:p>
            <a:pPr marL="742950" lvl="1">
              <a:lnSpc>
                <a:spcPct val="90000"/>
              </a:lnSpc>
            </a:pPr>
            <a:r>
              <a:rPr lang="en-AU" altLang="ja-JP" b="1">
                <a:latin typeface="Arial" panose="020B0604020202020204" pitchFamily="34" charset="0"/>
              </a:rPr>
              <a:t>“</a:t>
            </a:r>
            <a:r>
              <a:rPr lang="en-AU" altLang="ja-JP" b="1"/>
              <a:t>Meeting customer needs</a:t>
            </a:r>
            <a:r>
              <a:rPr lang="en-AU" altLang="ja-JP" b="1">
                <a:latin typeface="Arial" panose="020B0604020202020204" pitchFamily="34" charset="0"/>
              </a:rPr>
              <a:t>”</a:t>
            </a:r>
            <a:r>
              <a:rPr lang="en-AU" altLang="ja-JP"/>
              <a:t> means that the product meets the (explicit and implicit) expectations of stakeholders.</a:t>
            </a:r>
            <a:endParaRPr lang="en-AU" altLang="en-US"/>
          </a:p>
        </p:txBody>
      </p:sp>
      <p:sp>
        <p:nvSpPr>
          <p:cNvPr id="17412" name="Slide Number Placeholder 1">
            <a:extLst>
              <a:ext uri="{FF2B5EF4-FFF2-40B4-BE49-F238E27FC236}">
                <a16:creationId xmlns:a16="http://schemas.microsoft.com/office/drawing/2014/main" id="{7A0FFD4B-FE97-946B-F3B7-0BDFB0CF325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B424EAF0-9460-40E9-94B7-2B2E510F5B8D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7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>
            <a:extLst>
              <a:ext uri="{FF2B5EF4-FFF2-40B4-BE49-F238E27FC236}">
                <a16:creationId xmlns:a16="http://schemas.microsoft.com/office/drawing/2014/main" id="{0387D313-F555-E783-417A-51B2723730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What is Software Quality?</a:t>
            </a:r>
          </a:p>
        </p:txBody>
      </p:sp>
      <p:sp>
        <p:nvSpPr>
          <p:cNvPr id="374787" name="Rectangle 3">
            <a:extLst>
              <a:ext uri="{FF2B5EF4-FFF2-40B4-BE49-F238E27FC236}">
                <a16:creationId xmlns:a16="http://schemas.microsoft.com/office/drawing/2014/main" id="{4D24BC92-0CD6-2893-3B98-4D53813D2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0"/>
              <a:buNone/>
              <a:defRPr/>
            </a:pPr>
            <a:endParaRPr lang="en-US" sz="1200" u="sng" dirty="0">
              <a:ea typeface="+mn-ea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u="sng" dirty="0">
                <a:ea typeface="+mn-ea"/>
                <a:cs typeface="+mn-cs"/>
              </a:rPr>
              <a:t>Software </a:t>
            </a:r>
            <a:r>
              <a:rPr lang="en-US" b="1" u="sng" dirty="0">
                <a:ea typeface="+mn-ea"/>
                <a:cs typeface="+mn-cs"/>
              </a:rPr>
              <a:t>Quality</a:t>
            </a:r>
            <a:r>
              <a:rPr lang="en-US" dirty="0">
                <a:ea typeface="+mn-ea"/>
                <a:cs typeface="+mn-cs"/>
              </a:rPr>
              <a:t> is </a:t>
            </a:r>
            <a:r>
              <a:rPr lang="en-US" i="1" dirty="0">
                <a:solidFill>
                  <a:srgbClr val="7F0101"/>
                </a:solidFill>
                <a:ea typeface="+mn-ea"/>
                <a:cs typeface="+mn-cs"/>
              </a:rPr>
              <a:t>conformance to</a:t>
            </a:r>
            <a:r>
              <a:rPr lang="en-US" dirty="0">
                <a:ea typeface="+mn-ea"/>
                <a:cs typeface="+mn-cs"/>
              </a:rPr>
              <a:t>:</a:t>
            </a:r>
          </a:p>
          <a:p>
            <a:pPr>
              <a:buFont typeface="Wingdings" charset="0"/>
              <a:buChar char="n"/>
              <a:defRPr/>
            </a:pPr>
            <a:r>
              <a:rPr lang="en-US" dirty="0">
                <a:ea typeface="+mn-ea"/>
                <a:cs typeface="+mn-cs"/>
              </a:rPr>
              <a:t>explicitly stated </a:t>
            </a:r>
            <a:r>
              <a:rPr lang="en-US" i="1" dirty="0">
                <a:solidFill>
                  <a:srgbClr val="7F0101"/>
                </a:solidFill>
                <a:ea typeface="+mn-ea"/>
                <a:cs typeface="+mn-cs"/>
              </a:rPr>
              <a:t>functional and performance(</a:t>
            </a:r>
            <a:r>
              <a:rPr lang="en-US" b="1" i="1" dirty="0">
                <a:solidFill>
                  <a:srgbClr val="7F0101"/>
                </a:solidFill>
                <a:ea typeface="+mn-ea"/>
                <a:cs typeface="+mn-cs"/>
              </a:rPr>
              <a:t>quality</a:t>
            </a:r>
            <a:r>
              <a:rPr lang="en-US" i="1" dirty="0">
                <a:solidFill>
                  <a:srgbClr val="7F0101"/>
                </a:solidFill>
                <a:ea typeface="+mn-ea"/>
                <a:cs typeface="+mn-cs"/>
              </a:rPr>
              <a:t>) requirements</a:t>
            </a:r>
            <a:r>
              <a:rPr lang="en-US" dirty="0">
                <a:ea typeface="+mn-ea"/>
                <a:cs typeface="+mn-cs"/>
              </a:rPr>
              <a:t>,</a:t>
            </a:r>
          </a:p>
          <a:p>
            <a:pPr>
              <a:buFont typeface="Wingdings" charset="0"/>
              <a:buChar char="n"/>
              <a:defRPr/>
            </a:pPr>
            <a:r>
              <a:rPr lang="en-US" dirty="0">
                <a:ea typeface="+mn-ea"/>
                <a:cs typeface="+mn-cs"/>
              </a:rPr>
              <a:t>explicitly documented </a:t>
            </a:r>
            <a:r>
              <a:rPr lang="en-US" i="1" dirty="0">
                <a:solidFill>
                  <a:srgbClr val="7F0101"/>
                </a:solidFill>
                <a:ea typeface="+mn-ea"/>
                <a:cs typeface="+mn-cs"/>
              </a:rPr>
              <a:t>development standards</a:t>
            </a:r>
            <a:r>
              <a:rPr lang="en-US" dirty="0">
                <a:ea typeface="+mn-ea"/>
                <a:cs typeface="+mn-cs"/>
              </a:rPr>
              <a:t>,</a:t>
            </a:r>
            <a:endParaRPr lang="en-US" i="1" dirty="0">
              <a:solidFill>
                <a:srgbClr val="7F0101"/>
              </a:solidFill>
              <a:ea typeface="+mn-ea"/>
              <a:cs typeface="+mn-cs"/>
            </a:endParaRPr>
          </a:p>
          <a:p>
            <a:pPr>
              <a:buFont typeface="Wingdings" charset="0"/>
              <a:buChar char="n"/>
              <a:defRPr/>
            </a:pPr>
            <a:r>
              <a:rPr lang="en-US" i="1" dirty="0">
                <a:ea typeface="+mn-ea"/>
                <a:cs typeface="+mn-cs"/>
              </a:rPr>
              <a:t>implicit </a:t>
            </a:r>
            <a:r>
              <a:rPr lang="en-US" i="1" dirty="0">
                <a:solidFill>
                  <a:srgbClr val="7F0101"/>
                </a:solidFill>
                <a:ea typeface="+mn-ea"/>
                <a:cs typeface="+mn-cs"/>
              </a:rPr>
              <a:t>characteristics</a:t>
            </a:r>
            <a:r>
              <a:rPr lang="en-US" dirty="0">
                <a:ea typeface="+mn-ea"/>
                <a:cs typeface="+mn-cs"/>
              </a:rPr>
              <a:t> that are expected of all professionally developed software.</a:t>
            </a:r>
          </a:p>
        </p:txBody>
      </p:sp>
      <p:sp>
        <p:nvSpPr>
          <p:cNvPr id="19460" name="Slide Number Placeholder 1">
            <a:extLst>
              <a:ext uri="{FF2B5EF4-FFF2-40B4-BE49-F238E27FC236}">
                <a16:creationId xmlns:a16="http://schemas.microsoft.com/office/drawing/2014/main" id="{3FE6BFC7-3C6E-1A5B-1C7B-06C385F74E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8C110464-9722-4C6D-B2B5-F9D776A2F4BC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8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D6F7DE98-8A67-5F9D-7E4F-7EB3EA2C7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04800"/>
            <a:ext cx="7110412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3600" b="1"/>
              <a:t>Quality Requirements – Examples</a:t>
            </a:r>
            <a:endParaRPr lang="en-US" altLang="en-US" sz="3200" b="1">
              <a:latin typeface="Arial" panose="020B0604020202020204" pitchFamily="34" charset="0"/>
            </a:endParaRP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C093D368-108F-76EC-5B38-9B4F23E76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219200"/>
            <a:ext cx="7569200" cy="42386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44000" tIns="72000" rIns="72000" bIns="7200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tabLst>
                <a:tab pos="381000" algn="l"/>
              </a:tabLst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381000" algn="l"/>
              </a:tabLs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381000" algn="l"/>
              </a:tabLst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381000" algn="l"/>
              </a:tabLst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38100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38100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38100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38100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38100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50000"/>
              </a:spcAft>
              <a:buSzTx/>
              <a:buFontTx/>
              <a:buNone/>
            </a:pPr>
            <a:r>
              <a:rPr lang="en-GB" altLang="en-US" sz="2400" b="1" noProof="1">
                <a:latin typeface="Arial" panose="020B0604020202020204" pitchFamily="34" charset="0"/>
              </a:rPr>
              <a:t>Roster planning, Midland Hospital</a:t>
            </a:r>
            <a:endParaRPr lang="en-GB" altLang="en-US" sz="2000" noProof="1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spcAft>
                <a:spcPct val="50000"/>
              </a:spcAft>
              <a:buSzTx/>
              <a:buFontTx/>
              <a:buNone/>
            </a:pPr>
            <a:r>
              <a:rPr lang="en-GB" altLang="en-US" sz="2000" b="1" noProof="1">
                <a:latin typeface="Arial" panose="020B0604020202020204" pitchFamily="34" charset="0"/>
              </a:rPr>
              <a:t>R565.</a:t>
            </a:r>
            <a:r>
              <a:rPr lang="en-GB" altLang="en-US" sz="2000" noProof="1">
                <a:latin typeface="Arial" panose="020B0604020202020204" pitchFamily="34" charset="0"/>
              </a:rPr>
              <a:t>	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System modifications must be made in a development environment which ensures that modifications are included in new releases</a:t>
            </a:r>
            <a:r>
              <a:rPr lang="en-US" alt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Bef>
                <a:spcPct val="0"/>
              </a:spcBef>
              <a:spcAft>
                <a:spcPct val="50000"/>
              </a:spcAft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en-US" sz="2000" b="1" noProof="1">
                <a:latin typeface="Arial" panose="020B0604020202020204" pitchFamily="34" charset="0"/>
                <a:cs typeface="Arial" panose="020B0604020202020204" pitchFamily="34" charset="0"/>
              </a:rPr>
              <a:t>570.</a:t>
            </a:r>
            <a:r>
              <a:rPr lang="en-US" alt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The supplier must specify the program’s degree of portability</a:t>
            </a:r>
            <a:r>
              <a:rPr lang="en-US" alt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Bef>
                <a:spcPct val="0"/>
              </a:spcBef>
              <a:spcAft>
                <a:spcPct val="50000"/>
              </a:spcAft>
              <a:buSzTx/>
              <a:buFontTx/>
              <a:buNone/>
            </a:pPr>
            <a:r>
              <a:rPr lang="en-US" altLang="en-US" sz="2000" b="1" noProof="1">
                <a:latin typeface="Arial" panose="020B0604020202020204" pitchFamily="34" charset="0"/>
                <a:cs typeface="Arial" panose="020B0604020202020204" pitchFamily="34" charset="0"/>
              </a:rPr>
              <a:t>R610.</a:t>
            </a:r>
            <a:r>
              <a:rPr lang="en-US" alt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When typing a text with up to 300 characters a minute, there must be no observable delay between entry and display of the corresponding character</a:t>
            </a:r>
            <a:r>
              <a:rPr lang="en-US" alt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spcBef>
                <a:spcPct val="0"/>
              </a:spcBef>
              <a:spcAft>
                <a:spcPct val="50000"/>
              </a:spcAft>
              <a:buSzTx/>
              <a:buFontTx/>
              <a:buNone/>
            </a:pPr>
            <a:r>
              <a:rPr lang="en-US" altLang="en-US" sz="2000" b="1" noProof="1">
                <a:latin typeface="Arial" panose="020B0604020202020204" pitchFamily="34" charset="0"/>
                <a:cs typeface="Arial" panose="020B0604020202020204" pitchFamily="34" charset="0"/>
              </a:rPr>
              <a:t>R668.</a:t>
            </a:r>
            <a:r>
              <a:rPr lang="en-US" alt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The system must not place unnecessary restrictions on the order in which the user performs functions and enters data</a:t>
            </a:r>
            <a:r>
              <a:rPr lang="en-US" alt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0CA8F819-3ED1-1034-36FF-3A6A8D1AF842}"/>
              </a:ext>
            </a:extLst>
          </p:cNvPr>
          <p:cNvSpPr txBox="1">
            <a:spLocks noChangeArrowheads="1"/>
          </p:cNvSpPr>
          <p:nvPr/>
        </p:nvSpPr>
        <p:spPr bwMode="auto">
          <a:xfrm rot="-450369">
            <a:off x="4679950" y="5516563"/>
            <a:ext cx="3336925" cy="768350"/>
          </a:xfrm>
          <a:prstGeom prst="rect">
            <a:avLst/>
          </a:prstGeom>
          <a:solidFill>
            <a:schemeClr val="bg1"/>
          </a:solidFill>
          <a:ln w="76200" cmpd="tri">
            <a:solidFill>
              <a:schemeClr val="tx1"/>
            </a:solidFill>
            <a:miter lim="800000"/>
            <a:headEnd/>
            <a:tailEnd/>
          </a:ln>
        </p:spPr>
        <p:txBody>
          <a:bodyPr lIns="72000" tIns="72000" rIns="72000" bIns="72000">
            <a:spAutoFit/>
          </a:bodyPr>
          <a:lstStyle>
            <a:lvl1pPr defTabSz="1238250"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tabLst>
                <a:tab pos="1238250" algn="l"/>
              </a:tabLst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 defTabSz="12382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238250" algn="l"/>
              </a:tabLs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 defTabSz="12382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238250" algn="l"/>
              </a:tabLst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 defTabSz="12382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238250" algn="l"/>
              </a:tabLst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 defTabSz="12382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23825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defTabSz="123825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23825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defTabSz="123825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23825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defTabSz="123825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23825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defTabSz="123825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23825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What is “wrong” with these kinds of requirements?</a:t>
            </a:r>
          </a:p>
        </p:txBody>
      </p:sp>
      <p:sp>
        <p:nvSpPr>
          <p:cNvPr id="21509" name="Slide Number Placeholder 1">
            <a:extLst>
              <a:ext uri="{FF2B5EF4-FFF2-40B4-BE49-F238E27FC236}">
                <a16:creationId xmlns:a16="http://schemas.microsoft.com/office/drawing/2014/main" id="{D60AE0A5-8913-2998-1E8B-474ECC698DF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DA59A133-9273-4520-B656-A2652AEB4063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9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DBED-A422-4D54-25DC-F8A0CBBDF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AU" sz="3200" b="1" dirty="0"/>
              <a:t>What's Wrong With Those Requirements?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A7FD1-CDBC-65A7-519B-9175386C5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AU" sz="2400" b="1" dirty="0">
                <a:solidFill>
                  <a:srgbClr val="CC0000"/>
                </a:solidFill>
              </a:rPr>
              <a:t>Problem: These quality requirements are not testable or measurable!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AU" sz="2000" b="1" dirty="0"/>
              <a:t>Req    Issue                                    		Vague Term</a:t>
            </a:r>
          </a:p>
          <a:p>
            <a:pPr marL="0" indent="0">
              <a:buNone/>
            </a:pPr>
            <a:r>
              <a:rPr lang="en-AU" sz="1800" dirty="0"/>
              <a:t>R565   Process rule, not a system quality         	"development environment"</a:t>
            </a:r>
          </a:p>
          <a:p>
            <a:pPr marL="0" indent="0">
              <a:buNone/>
            </a:pPr>
            <a:r>
              <a:rPr lang="en-AU" sz="1800" dirty="0"/>
              <a:t>R570   Asks for documentation, not a quality      	"specify the degree"</a:t>
            </a:r>
          </a:p>
          <a:p>
            <a:pPr marL="0" indent="0">
              <a:buNone/>
            </a:pPr>
            <a:r>
              <a:rPr lang="en-AU" sz="1800" dirty="0"/>
              <a:t>R610   Subjective threshold — who decides?        	"no observable delay"</a:t>
            </a:r>
          </a:p>
          <a:p>
            <a:pPr marL="0" indent="0">
              <a:buNone/>
            </a:pPr>
            <a:r>
              <a:rPr lang="en-AU" sz="1800" dirty="0"/>
              <a:t>R668   No clear pass/fail criterion               		"unnecessary restrictions"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AU" sz="2000" b="1" dirty="0"/>
              <a:t>Good quality requirements must be SMART:</a:t>
            </a:r>
          </a:p>
          <a:p>
            <a:pPr marL="228600" indent="-228600">
              <a:spcBef>
                <a:spcPts val="100"/>
              </a:spcBef>
              <a:buFont typeface="Arial"/>
              <a:buChar char="•"/>
            </a:pPr>
            <a:r>
              <a:rPr lang="en-AU" sz="1800" b="1" dirty="0"/>
              <a:t>Specific</a:t>
            </a:r>
            <a:r>
              <a:rPr lang="en-AU" sz="1800" dirty="0"/>
              <a:t>  |  </a:t>
            </a:r>
            <a:r>
              <a:rPr lang="en-AU" sz="1800" b="1" dirty="0"/>
              <a:t>Measurable</a:t>
            </a:r>
            <a:r>
              <a:rPr lang="en-AU" sz="1800" dirty="0"/>
              <a:t>  |  </a:t>
            </a:r>
            <a:r>
              <a:rPr lang="en-AU" sz="1800" b="1" dirty="0"/>
              <a:t>Achievable</a:t>
            </a:r>
            <a:r>
              <a:rPr lang="en-AU" sz="1800" dirty="0"/>
              <a:t>  |  </a:t>
            </a:r>
            <a:r>
              <a:rPr lang="en-AU" sz="1800" b="1" dirty="0"/>
              <a:t>Relevant</a:t>
            </a:r>
            <a:r>
              <a:rPr lang="en-AU" sz="1800" dirty="0"/>
              <a:t>  |  </a:t>
            </a:r>
            <a:r>
              <a:rPr lang="en-AU" sz="1800" b="1" dirty="0"/>
              <a:t>Testable</a:t>
            </a:r>
          </a:p>
          <a:p>
            <a:pPr marL="228600" indent="-228600">
              <a:spcBef>
                <a:spcPts val="100"/>
              </a:spcBef>
              <a:buFont typeface="Arial"/>
              <a:buChar char="•"/>
            </a:pPr>
            <a:r>
              <a:rPr lang="en-AU" sz="1800" dirty="0"/>
              <a:t>❌  R610: "no observable delay"   →   </a:t>
            </a:r>
            <a:r>
              <a:rPr lang="en-AU" sz="1800" b="1" dirty="0">
                <a:solidFill>
                  <a:srgbClr val="007700"/>
                </a:solidFill>
              </a:rPr>
              <a:t>✔  "keystroke-to-display latency ≤ 50ms"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323A0-07D3-D4FF-AAF1-56E6F7A509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0A2693-A188-48FE-95BD-CFB022C5A527}" type="slidenum">
              <a:rPr lang="en-AU" altLang="en-US" smtClean="0"/>
              <a:pPr>
                <a:defRPr/>
              </a:pPr>
              <a:t>10</a:t>
            </a:fld>
            <a:endParaRPr lang="en-AU" altLang="en-US"/>
          </a:p>
          <a:p>
            <a:pPr>
              <a:defRPr/>
            </a:pPr>
            <a:endParaRPr lang="en-AU" alt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0605EB-5B3C-4673-82B4-C2FDE661C170}"/>
              </a:ext>
            </a:extLst>
          </p:cNvPr>
          <p:cNvSpPr/>
          <p:nvPr/>
        </p:nvSpPr>
        <p:spPr bwMode="auto">
          <a:xfrm>
            <a:off x="1003300" y="5016500"/>
            <a:ext cx="7061200" cy="1397000"/>
          </a:xfrm>
          <a:prstGeom prst="roundRect">
            <a:avLst/>
          </a:prstGeom>
          <a:solidFill>
            <a:srgbClr val="AAE2CA"/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Overflow="clip" horzOverflow="clip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5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Narrow" charset="0"/>
                <a:ea typeface="ＭＳ Ｐゴシック" charset="0"/>
              </a:rPr>
              <a:t>Key Takeaway: A</a:t>
            </a:r>
            <a:r>
              <a:rPr kumimoji="0" lang="en-GB" sz="15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Narrow" charset="0"/>
                <a:ea typeface="ＭＳ Ｐゴシック" charset="0"/>
              </a:rPr>
              <a:t> quality requirement must have a clear, objective pass/fail test. If you can't write a test for it, it is not a good quality requirement — rewrite it with specific metrics (e.g., response time in ms, uptime %, error rate).</a:t>
            </a:r>
          </a:p>
        </p:txBody>
      </p:sp>
    </p:spTree>
    <p:extLst>
      <p:ext uri="{BB962C8B-B14F-4D97-AF65-F5344CB8AC3E}">
        <p14:creationId xmlns:p14="http://schemas.microsoft.com/office/powerpoint/2010/main" val="1339984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>
            <a:extLst>
              <a:ext uri="{FF2B5EF4-FFF2-40B4-BE49-F238E27FC236}">
                <a16:creationId xmlns:a16="http://schemas.microsoft.com/office/drawing/2014/main" id="{766B1400-7EFA-7110-FB10-DA10683B05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Problems with Software Quality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2068E53-2713-A4EC-617A-0038BB4F2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altLang="en-US" sz="2400"/>
              <a:t>Software specifications are usually </a:t>
            </a:r>
            <a:r>
              <a:rPr lang="en-US" altLang="en-US" sz="2400" i="1">
                <a:solidFill>
                  <a:srgbClr val="7F0101"/>
                </a:solidFill>
              </a:rPr>
              <a:t>incomplete</a:t>
            </a:r>
            <a:r>
              <a:rPr lang="en-US" altLang="en-US" sz="2400"/>
              <a:t> and often</a:t>
            </a:r>
            <a:r>
              <a:rPr lang="en-US" altLang="en-US" sz="2400" i="1">
                <a:solidFill>
                  <a:srgbClr val="7F0101"/>
                </a:solidFill>
              </a:rPr>
              <a:t> inconsistent</a:t>
            </a:r>
            <a:r>
              <a:rPr lang="en-US" altLang="en-US" sz="2400"/>
              <a:t> with regards to quality.</a:t>
            </a:r>
            <a:endParaRPr lang="en-US" altLang="en-US" sz="2400" i="1">
              <a:solidFill>
                <a:srgbClr val="7F0101"/>
              </a:solidFill>
            </a:endParaRPr>
          </a:p>
          <a:p>
            <a:pPr marL="342900" indent="-342900"/>
            <a:r>
              <a:rPr lang="en-US" altLang="en-US" sz="2400"/>
              <a:t>There is </a:t>
            </a:r>
            <a:r>
              <a:rPr lang="en-US" altLang="en-US" sz="2400" i="1">
                <a:solidFill>
                  <a:srgbClr val="7F0101"/>
                </a:solidFill>
              </a:rPr>
              <a:t>tension</a:t>
            </a:r>
            <a:r>
              <a:rPr lang="en-US" altLang="en-US" sz="2400"/>
              <a:t> between:</a:t>
            </a:r>
          </a:p>
          <a:p>
            <a:pPr marL="742950" lvl="1"/>
            <a:r>
              <a:rPr lang="en-US" altLang="en-US" sz="2000">
                <a:solidFill>
                  <a:srgbClr val="083A7F"/>
                </a:solidFill>
              </a:rPr>
              <a:t>customer</a:t>
            </a:r>
            <a:r>
              <a:rPr lang="en-US" altLang="en-US" sz="2000"/>
              <a:t> quality requirements (efficiency, reliability, etc.)</a:t>
            </a:r>
          </a:p>
          <a:p>
            <a:pPr marL="742950" lvl="1"/>
            <a:r>
              <a:rPr lang="en-US" altLang="en-US" sz="2000">
                <a:solidFill>
                  <a:srgbClr val="083A7F"/>
                </a:solidFill>
              </a:rPr>
              <a:t>developer</a:t>
            </a:r>
            <a:r>
              <a:rPr lang="en-US" altLang="en-US" sz="2000"/>
              <a:t> quality requirements (maintainability, reusability, etc.)</a:t>
            </a:r>
          </a:p>
          <a:p>
            <a:pPr marL="342900" indent="-342900"/>
            <a:r>
              <a:rPr lang="en-US" altLang="en-US" sz="2400"/>
              <a:t>Some quality requirements are </a:t>
            </a:r>
            <a:r>
              <a:rPr lang="en-US" altLang="en-US" sz="2400" i="1">
                <a:solidFill>
                  <a:srgbClr val="7F0101"/>
                </a:solidFill>
              </a:rPr>
              <a:t>hard to specify</a:t>
            </a:r>
            <a:r>
              <a:rPr lang="en-US" altLang="en-US" sz="2400"/>
              <a:t> in an unambiguous way</a:t>
            </a:r>
          </a:p>
          <a:p>
            <a:pPr marL="742950" lvl="1"/>
            <a:r>
              <a:rPr lang="en-US" altLang="en-US" sz="2000"/>
              <a:t>directly measurable qualities (e.g., errors/KLOC), </a:t>
            </a:r>
          </a:p>
          <a:p>
            <a:pPr marL="742950" lvl="1"/>
            <a:r>
              <a:rPr lang="en-US" altLang="en-US" sz="2000"/>
              <a:t>indirectly measurable qualities (e.g., usability, user “engagement”).</a:t>
            </a:r>
            <a:endParaRPr lang="en-US" altLang="en-US" sz="1000"/>
          </a:p>
        </p:txBody>
      </p:sp>
      <p:sp>
        <p:nvSpPr>
          <p:cNvPr id="23556" name="Slide Number Placeholder 1">
            <a:extLst>
              <a:ext uri="{FF2B5EF4-FFF2-40B4-BE49-F238E27FC236}">
                <a16:creationId xmlns:a16="http://schemas.microsoft.com/office/drawing/2014/main" id="{89D50919-BA51-6E8F-4103-AA90E69D300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2CE8B465-B245-49FA-B499-BD441ECC2895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11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/>
        </p:nvSpPr>
        <p:spPr>
          <a:xfrm>
            <a:off x="0" y="0"/>
            <a:ext cx="9144000" cy="5600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AU" sz="2600" b="1" dirty="0">
                <a:solidFill>
                  <a:srgbClr val="FFFFFF"/>
                </a:solidFill>
              </a:rPr>
              <a:t>Problems with Software Quality – Explained</a:t>
            </a:r>
          </a:p>
        </p:txBody>
      </p:sp>
      <p:sp>
        <p:nvSpPr>
          <p:cNvPr id="11" name="P1Header"/>
          <p:cNvSpPr/>
          <p:nvPr/>
        </p:nvSpPr>
        <p:spPr>
          <a:xfrm>
            <a:off x="457200" y="610000"/>
            <a:ext cx="8229600" cy="310000"/>
          </a:xfrm>
          <a:prstGeom prst="rect">
            <a:avLst/>
          </a:prstGeom>
          <a:solidFill>
            <a:srgbClr val="7F0101"/>
          </a:solidFill>
          <a:ln>
            <a:noFill/>
          </a:ln>
        </p:spPr>
        <p:txBody>
          <a:bodyPr lIns="91440" rIns="91440" anchor="ctr"/>
          <a:lstStyle/>
          <a:p>
            <a:pPr algn="l">
              <a:buNone/>
            </a:pPr>
            <a:r>
              <a:rPr lang="en-AU" b="1" dirty="0">
                <a:solidFill>
                  <a:srgbClr val="FFFFFF"/>
                </a:solidFill>
              </a:rPr>
              <a:t>Problem 1: Specifications are Incomplete &amp; Inconsistent</a:t>
            </a:r>
          </a:p>
        </p:txBody>
      </p:sp>
      <p:sp>
        <p:nvSpPr>
          <p:cNvPr id="12" name="P1Body"/>
          <p:cNvSpPr/>
          <p:nvPr/>
        </p:nvSpPr>
        <p:spPr>
          <a:xfrm>
            <a:off x="457200" y="960000"/>
            <a:ext cx="8229600" cy="763336"/>
          </a:xfrm>
          <a:prstGeom prst="rect">
            <a:avLst/>
          </a:prstGeom>
          <a:solidFill>
            <a:srgbClr val="FFF0F0"/>
          </a:solidFill>
          <a:ln w="9525">
            <a:solidFill>
              <a:srgbClr val="7F0101"/>
            </a:solidFill>
          </a:ln>
        </p:spPr>
        <p:txBody>
          <a:bodyPr lIns="91440" rIns="91440" anchor="ctr"/>
          <a:lstStyle/>
          <a:p>
            <a:pPr algn="l">
              <a:buNone/>
            </a:pPr>
            <a:r>
              <a:rPr lang="en-AU" sz="1800" dirty="0"/>
              <a:t>Quality goals are rarely written down precisely. Different stakeholders assume different things, leading to gaps and contradictions. E.g., "fast" means &lt;1s to a user but &lt;10s to a developer.</a:t>
            </a:r>
          </a:p>
        </p:txBody>
      </p:sp>
      <p:sp>
        <p:nvSpPr>
          <p:cNvPr id="13" name="P2Header"/>
          <p:cNvSpPr/>
          <p:nvPr/>
        </p:nvSpPr>
        <p:spPr>
          <a:xfrm>
            <a:off x="433412" y="2088046"/>
            <a:ext cx="8229600" cy="310000"/>
          </a:xfrm>
          <a:prstGeom prst="rect">
            <a:avLst/>
          </a:prstGeom>
          <a:solidFill>
            <a:srgbClr val="083A7F"/>
          </a:solidFill>
          <a:ln>
            <a:noFill/>
          </a:ln>
        </p:spPr>
        <p:txBody>
          <a:bodyPr lIns="91440" rIns="91440" anchor="ctr"/>
          <a:lstStyle/>
          <a:p>
            <a:pPr algn="l">
              <a:buNone/>
            </a:pPr>
            <a:r>
              <a:rPr lang="en-AU" b="1" dirty="0">
                <a:solidFill>
                  <a:srgbClr val="FFFFFF"/>
                </a:solidFill>
              </a:rPr>
              <a:t>Problem 2: Tension Between Customer vs Developer Goals</a:t>
            </a:r>
          </a:p>
        </p:txBody>
      </p:sp>
      <p:sp>
        <p:nvSpPr>
          <p:cNvPr id="14" name="CustBox"/>
          <p:cNvSpPr/>
          <p:nvPr/>
        </p:nvSpPr>
        <p:spPr>
          <a:xfrm>
            <a:off x="433412" y="2458046"/>
            <a:ext cx="3200000" cy="1013056"/>
          </a:xfrm>
          <a:prstGeom prst="roundRect">
            <a:avLst/>
          </a:prstGeom>
          <a:solidFill>
            <a:srgbClr val="D0E8FF"/>
          </a:solidFill>
          <a:ln w="19050">
            <a:solidFill>
              <a:srgbClr val="083A7F"/>
            </a:solidFill>
          </a:ln>
        </p:spPr>
        <p:txBody>
          <a:bodyPr lIns="91440" rIns="91440" anchor="ctr"/>
          <a:lstStyle/>
          <a:p>
            <a:pPr algn="ctr">
              <a:buNone/>
            </a:pPr>
            <a:r>
              <a:rPr lang="en-AU" sz="1800" b="1" dirty="0">
                <a:solidFill>
                  <a:srgbClr val="083A7F"/>
                </a:solidFill>
              </a:rPr>
              <a:t>Customer Needs</a:t>
            </a:r>
          </a:p>
          <a:p>
            <a:pPr algn="ctr">
              <a:buNone/>
            </a:pPr>
            <a:r>
              <a:rPr lang="en-AU" sz="1600" dirty="0">
                <a:solidFill>
                  <a:srgbClr val="083A7F"/>
                </a:solidFill>
              </a:rPr>
              <a:t>Efficiency, Reliability,</a:t>
            </a:r>
          </a:p>
          <a:p>
            <a:pPr algn="ctr">
              <a:buNone/>
            </a:pPr>
            <a:r>
              <a:rPr lang="en-AU" sz="1600" dirty="0">
                <a:solidFill>
                  <a:srgbClr val="083A7F"/>
                </a:solidFill>
              </a:rPr>
              <a:t>Usability, Security</a:t>
            </a:r>
          </a:p>
        </p:txBody>
      </p:sp>
      <p:sp>
        <p:nvSpPr>
          <p:cNvPr id="15" name="TensionLabel"/>
          <p:cNvSpPr/>
          <p:nvPr/>
        </p:nvSpPr>
        <p:spPr>
          <a:xfrm>
            <a:off x="3633412" y="2826393"/>
            <a:ext cx="1600000" cy="28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AU" sz="2000" b="1" dirty="0">
                <a:solidFill>
                  <a:srgbClr val="CC0000"/>
                </a:solidFill>
              </a:rPr>
              <a:t>⚡ TENSION</a:t>
            </a:r>
          </a:p>
        </p:txBody>
      </p:sp>
      <p:sp>
        <p:nvSpPr>
          <p:cNvPr id="16" name="DevBox"/>
          <p:cNvSpPr/>
          <p:nvPr/>
        </p:nvSpPr>
        <p:spPr>
          <a:xfrm>
            <a:off x="5462612" y="2458046"/>
            <a:ext cx="3200000" cy="1013056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007700"/>
            </a:solidFill>
          </a:ln>
        </p:spPr>
        <p:txBody>
          <a:bodyPr lIns="91440" rIns="91440" anchor="ctr"/>
          <a:lstStyle/>
          <a:p>
            <a:pPr algn="ctr">
              <a:buNone/>
            </a:pPr>
            <a:r>
              <a:rPr lang="en-AU" sz="1800" b="1" dirty="0">
                <a:solidFill>
                  <a:srgbClr val="007700"/>
                </a:solidFill>
              </a:rPr>
              <a:t>Developer Needs</a:t>
            </a:r>
          </a:p>
          <a:p>
            <a:pPr algn="ctr">
              <a:buNone/>
            </a:pPr>
            <a:r>
              <a:rPr lang="en-AU" sz="1600" dirty="0">
                <a:solidFill>
                  <a:srgbClr val="007700"/>
                </a:solidFill>
              </a:rPr>
              <a:t>Maintainability, Reusability,</a:t>
            </a:r>
          </a:p>
          <a:p>
            <a:pPr algn="ctr">
              <a:buNone/>
            </a:pPr>
            <a:r>
              <a:rPr lang="en-AU" sz="1600" dirty="0">
                <a:solidFill>
                  <a:srgbClr val="007700"/>
                </a:solidFill>
              </a:rPr>
              <a:t>Testability, Portability</a:t>
            </a:r>
          </a:p>
        </p:txBody>
      </p:sp>
      <p:sp>
        <p:nvSpPr>
          <p:cNvPr id="17" name="P3Header"/>
          <p:cNvSpPr/>
          <p:nvPr/>
        </p:nvSpPr>
        <p:spPr>
          <a:xfrm>
            <a:off x="457200" y="3839449"/>
            <a:ext cx="8229600" cy="3100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lIns="91440" rIns="91440" anchor="ctr"/>
          <a:lstStyle/>
          <a:p>
            <a:pPr algn="l">
              <a:buNone/>
            </a:pPr>
            <a:r>
              <a:rPr lang="en-AU" b="1" dirty="0">
                <a:solidFill>
                  <a:srgbClr val="FFFFFF"/>
                </a:solidFill>
              </a:rPr>
              <a:t>Problem 3: Some Qualities are Hard to Specify</a:t>
            </a:r>
          </a:p>
        </p:txBody>
      </p:sp>
      <p:graphicFrame>
        <p:nvGraphicFramePr>
          <p:cNvPr id="18" name="Measu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735451"/>
              </p:ext>
            </p:extLst>
          </p:nvPr>
        </p:nvGraphicFramePr>
        <p:xfrm>
          <a:off x="457200" y="4209448"/>
          <a:ext cx="8229600" cy="1257539"/>
        </p:xfrm>
        <a:graphic>
          <a:graphicData uri="http://schemas.openxmlformats.org/drawingml/2006/table">
            <a:tbl>
              <a:tblPr/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800" b="1" dirty="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800" b="1" dirty="0">
                          <a:solidFill>
                            <a:srgbClr val="FFFFFF"/>
                          </a:solidFill>
                        </a:rPr>
                        <a:t>Example Quality</a:t>
                      </a:r>
                    </a:p>
                  </a:txBody>
                  <a:tcPr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800" b="1" dirty="0">
                          <a:solidFill>
                            <a:srgbClr val="FFFFFF"/>
                          </a:solidFill>
                        </a:rPr>
                        <a:t>How to Measure</a:t>
                      </a:r>
                    </a:p>
                  </a:txBody>
                  <a:tcPr>
                    <a:solidFill>
                      <a:srgbClr val="4A4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800" b="1" dirty="0">
                          <a:solidFill>
                            <a:srgbClr val="005500"/>
                          </a:solidFill>
                        </a:rPr>
                        <a:t>✔ Direct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800" dirty="0"/>
                        <a:t>Reliability, Performance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800" dirty="0"/>
                        <a:t>Errors/KLOC, response time (ms)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800" b="1" dirty="0">
                          <a:solidFill>
                            <a:srgbClr val="7F0101"/>
                          </a:solidFill>
                        </a:rPr>
                        <a:t>⚠ Indirect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800" dirty="0"/>
                        <a:t>Usability, Engagement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800" dirty="0"/>
                        <a:t>Proxy metrics — task time, survey score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Footnote"/>
          <p:cNvSpPr/>
          <p:nvPr/>
        </p:nvSpPr>
        <p:spPr>
          <a:xfrm>
            <a:off x="472896" y="5694664"/>
            <a:ext cx="8229600" cy="763336"/>
          </a:xfrm>
          <a:prstGeom prst="rect">
            <a:avLst/>
          </a:prstGeom>
          <a:solidFill>
            <a:srgbClr val="AAE2CA"/>
          </a:solidFill>
          <a:ln>
            <a:noFill/>
          </a:ln>
        </p:spPr>
        <p:txBody>
          <a:bodyPr lIns="91440" rIns="91440" anchor="ctr"/>
          <a:lstStyle/>
          <a:p>
            <a:pPr algn="l">
              <a:buNone/>
            </a:pPr>
            <a:r>
              <a:rPr lang="en-AU" sz="1800" b="1" dirty="0"/>
              <a:t>Key Insight: </a:t>
            </a:r>
            <a:r>
              <a:rPr lang="en-AU" sz="1800" dirty="0"/>
              <a:t>Indirect qualities must be broken into proxy metrics before they can be tested — otherwise they remain wishful thinking in the spec.</a:t>
            </a:r>
          </a:p>
        </p:txBody>
      </p:sp>
    </p:spTree>
    <p:extLst>
      <p:ext uri="{BB962C8B-B14F-4D97-AF65-F5344CB8AC3E}">
        <p14:creationId xmlns:p14="http://schemas.microsoft.com/office/powerpoint/2010/main" val="2479234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F5A768F-036A-531C-131D-33C485F99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4000"/>
            <a:ext cx="7162800" cy="4953000"/>
          </a:xfrm>
          <a:prstGeom prst="rect">
            <a:avLst/>
          </a:prstGeom>
          <a:solidFill>
            <a:srgbClr val="E1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>
              <a:latin typeface="Helvetica" panose="020B0604020202020204" pitchFamily="34" charset="0"/>
            </a:endParaRPr>
          </a:p>
        </p:txBody>
      </p:sp>
      <p:pic>
        <p:nvPicPr>
          <p:cNvPr id="25603" name="Picture 6" descr="roadmap">
            <a:extLst>
              <a:ext uri="{FF2B5EF4-FFF2-40B4-BE49-F238E27FC236}">
                <a16:creationId xmlns:a16="http://schemas.microsoft.com/office/drawing/2014/main" id="{024220F7-A8F5-F300-8953-E48C21F25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654175"/>
            <a:ext cx="4191000" cy="475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44" name="Rectangle 4">
            <a:extLst>
              <a:ext uri="{FF2B5EF4-FFF2-40B4-BE49-F238E27FC236}">
                <a16:creationId xmlns:a16="http://schemas.microsoft.com/office/drawing/2014/main" id="{5ED072FA-8D17-F22D-7826-F206AEC04C3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Outline</a:t>
            </a:r>
          </a:p>
        </p:txBody>
      </p:sp>
      <p:sp>
        <p:nvSpPr>
          <p:cNvPr id="25605" name="Rectangle 4">
            <a:extLst>
              <a:ext uri="{FF2B5EF4-FFF2-40B4-BE49-F238E27FC236}">
                <a16:creationId xmlns:a16="http://schemas.microsoft.com/office/drawing/2014/main" id="{CEF9B219-1C13-08AC-8FAB-E343D7978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371600"/>
            <a:ext cx="69977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 sz="3600" b="1">
              <a:solidFill>
                <a:schemeClr val="tx2"/>
              </a:solidFill>
            </a:endParaRP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EBF23DD7-D53A-B279-6837-01F2E6C9D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143000"/>
            <a:ext cx="7543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85750" indent="-285750"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6200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/>
          </a:p>
          <a:p>
            <a:pPr eaLnBrk="1" hangingPunct="1"/>
            <a:r>
              <a:rPr lang="en-US" altLang="en-US"/>
              <a:t>Software Quality</a:t>
            </a:r>
          </a:p>
          <a:p>
            <a:pPr lvl="1" eaLnBrk="1" hangingPunct="1"/>
            <a:r>
              <a:rPr lang="en-US" altLang="en-US" b="1"/>
              <a:t>Quality Models</a:t>
            </a:r>
            <a:endParaRPr lang="en-US" altLang="en-US"/>
          </a:p>
          <a:p>
            <a:pPr eaLnBrk="1" hangingPunct="1"/>
            <a:r>
              <a:rPr lang="en-US" altLang="en-US"/>
              <a:t>Quality Attributes</a:t>
            </a:r>
          </a:p>
          <a:p>
            <a:pPr lvl="1" eaLnBrk="1" hangingPunct="1"/>
            <a:r>
              <a:rPr lang="en-US" altLang="en-US"/>
              <a:t>Quality Attribute Scenarios</a:t>
            </a:r>
          </a:p>
          <a:p>
            <a:pPr eaLnBrk="1" hangingPunct="1"/>
            <a:r>
              <a:rPr lang="en-US" altLang="en-US"/>
              <a:t>Requirements V&amp;V</a:t>
            </a:r>
          </a:p>
        </p:txBody>
      </p:sp>
      <p:sp>
        <p:nvSpPr>
          <p:cNvPr id="25607" name="Slide Number Placeholder 1">
            <a:extLst>
              <a:ext uri="{FF2B5EF4-FFF2-40B4-BE49-F238E27FC236}">
                <a16:creationId xmlns:a16="http://schemas.microsoft.com/office/drawing/2014/main" id="{870B9EB2-3B51-5119-48FE-F8B6F74FF69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A5F0792A-F6BB-4263-A8F1-012D011CC749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13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>
            <a:extLst>
              <a:ext uri="{FF2B5EF4-FFF2-40B4-BE49-F238E27FC236}">
                <a16:creationId xmlns:a16="http://schemas.microsoft.com/office/drawing/2014/main" id="{243BBF31-2014-32DA-9920-8388F4EAC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Hierarchical Quality Model</a:t>
            </a:r>
          </a:p>
        </p:txBody>
      </p:sp>
      <p:sp>
        <p:nvSpPr>
          <p:cNvPr id="378883" name="Rectangle 3">
            <a:extLst>
              <a:ext uri="{FF2B5EF4-FFF2-40B4-BE49-F238E27FC236}">
                <a16:creationId xmlns:a16="http://schemas.microsoft.com/office/drawing/2014/main" id="{48375D97-2198-217C-3215-7F4A25E2A1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295400"/>
            <a:ext cx="7543800" cy="1703388"/>
          </a:xfrm>
        </p:spPr>
        <p:txBody>
          <a:bodyPr/>
          <a:lstStyle/>
          <a:p>
            <a:pPr marL="0" indent="0">
              <a:buFont typeface="Wingdings" charset="0"/>
              <a:buNone/>
              <a:defRPr/>
            </a:pPr>
            <a:r>
              <a:rPr lang="en-US">
                <a:ea typeface="+mn-ea"/>
                <a:cs typeface="+mn-cs"/>
              </a:rPr>
              <a:t>Define software quality via a </a:t>
            </a:r>
            <a:r>
              <a:rPr lang="en-US" i="1">
                <a:ea typeface="+mn-ea"/>
                <a:cs typeface="+mn-cs"/>
              </a:rPr>
              <a:t>hierarchical quality model</a:t>
            </a:r>
            <a:r>
              <a:rPr lang="en-US">
                <a:ea typeface="+mn-ea"/>
                <a:cs typeface="+mn-cs"/>
              </a:rPr>
              <a:t>, i.e. a number of </a:t>
            </a:r>
            <a:r>
              <a:rPr lang="en-US" i="1">
                <a:solidFill>
                  <a:srgbClr val="083A7F"/>
                </a:solidFill>
                <a:ea typeface="+mn-ea"/>
                <a:cs typeface="+mn-cs"/>
              </a:rPr>
              <a:t>quality attributes</a:t>
            </a:r>
            <a:r>
              <a:rPr lang="en-US">
                <a:ea typeface="+mn-ea"/>
                <a:cs typeface="+mn-cs"/>
              </a:rPr>
              <a:t> (aka quality factors, quality aspects, etc.)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8F495AD0-BE69-7E1A-56AB-AAE69CCD5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088" y="4273550"/>
            <a:ext cx="9017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Software</a:t>
            </a:r>
            <a:endParaRPr lang="en-US" altLang="en-US" sz="2400">
              <a:latin typeface="Helvetica" panose="020B0604020202020204" pitchFamily="34" charset="0"/>
            </a:endParaRPr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A6367F09-C945-1453-D003-32EDF17CE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9338" y="4464050"/>
            <a:ext cx="711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Quality</a:t>
            </a:r>
            <a:endParaRPr lang="en-US" altLang="en-US" sz="2400">
              <a:latin typeface="Helvetica" panose="020B0604020202020204" pitchFamily="34" charset="0"/>
            </a:endParaRPr>
          </a:p>
        </p:txBody>
      </p:sp>
      <p:sp>
        <p:nvSpPr>
          <p:cNvPr id="27654" name="Oval 6">
            <a:extLst>
              <a:ext uri="{FF2B5EF4-FFF2-40B4-BE49-F238E27FC236}">
                <a16:creationId xmlns:a16="http://schemas.microsoft.com/office/drawing/2014/main" id="{9E76A459-0FF1-B682-3385-15AB79832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4064000"/>
            <a:ext cx="1244600" cy="88900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5537E0B1-2008-804E-0BB5-2B3ECA5B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276600"/>
            <a:ext cx="1079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Availability</a:t>
            </a:r>
            <a:endParaRPr lang="en-US" altLang="en-US" sz="2400">
              <a:latin typeface="Helvetica" panose="020B0604020202020204" pitchFamily="34" charset="0"/>
            </a:endParaRPr>
          </a:p>
        </p:txBody>
      </p:sp>
      <p:sp>
        <p:nvSpPr>
          <p:cNvPr id="27656" name="Rectangle 8">
            <a:extLst>
              <a:ext uri="{FF2B5EF4-FFF2-40B4-BE49-F238E27FC236}">
                <a16:creationId xmlns:a16="http://schemas.microsoft.com/office/drawing/2014/main" id="{046AFC63-FD46-0D42-1CAA-790A5109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8213" y="3778250"/>
            <a:ext cx="11938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Modifiability</a:t>
            </a:r>
            <a:endParaRPr lang="en-US" altLang="en-US" sz="2400">
              <a:latin typeface="Helvetica" panose="020B0604020202020204" pitchFamily="34" charset="0"/>
            </a:endParaRPr>
          </a:p>
        </p:txBody>
      </p:sp>
      <p:sp>
        <p:nvSpPr>
          <p:cNvPr id="27657" name="Rectangle 9">
            <a:extLst>
              <a:ext uri="{FF2B5EF4-FFF2-40B4-BE49-F238E27FC236}">
                <a16:creationId xmlns:a16="http://schemas.microsoft.com/office/drawing/2014/main" id="{EEFBAAC8-EBF2-D7CC-E328-AFB0F3BC3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267200"/>
            <a:ext cx="1308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Performance</a:t>
            </a:r>
            <a:endParaRPr lang="en-US" altLang="en-US" sz="2400">
              <a:latin typeface="Helvetica" panose="020B0604020202020204" pitchFamily="34" charset="0"/>
            </a:endParaRPr>
          </a:p>
        </p:txBody>
      </p:sp>
      <p:sp>
        <p:nvSpPr>
          <p:cNvPr id="27658" name="Rectangle 10">
            <a:extLst>
              <a:ext uri="{FF2B5EF4-FFF2-40B4-BE49-F238E27FC236}">
                <a16:creationId xmlns:a16="http://schemas.microsoft.com/office/drawing/2014/main" id="{E26D3652-3A97-7281-5B75-B080C3A3B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5363" y="4718050"/>
            <a:ext cx="825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Security</a:t>
            </a:r>
            <a:endParaRPr lang="en-US" altLang="en-US" sz="2400">
              <a:latin typeface="Helvetica" panose="020B0604020202020204" pitchFamily="34" charset="0"/>
            </a:endParaRPr>
          </a:p>
        </p:txBody>
      </p:sp>
      <p:sp>
        <p:nvSpPr>
          <p:cNvPr id="27659" name="Rectangle 11">
            <a:extLst>
              <a:ext uri="{FF2B5EF4-FFF2-40B4-BE49-F238E27FC236}">
                <a16:creationId xmlns:a16="http://schemas.microsoft.com/office/drawing/2014/main" id="{4DBFF977-92C4-4DF8-A6AE-9036E0606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5229225"/>
            <a:ext cx="10287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Testability</a:t>
            </a:r>
            <a:endParaRPr lang="en-US" altLang="en-US" sz="2400">
              <a:latin typeface="Helvetica" panose="020B0604020202020204" pitchFamily="34" charset="0"/>
            </a:endParaRPr>
          </a:p>
        </p:txBody>
      </p:sp>
      <p:sp>
        <p:nvSpPr>
          <p:cNvPr id="27660" name="Rectangle 12">
            <a:extLst>
              <a:ext uri="{FF2B5EF4-FFF2-40B4-BE49-F238E27FC236}">
                <a16:creationId xmlns:a16="http://schemas.microsoft.com/office/drawing/2014/main" id="{61C2407A-FD57-D995-C1EB-AC045521B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5715000"/>
            <a:ext cx="863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Usability</a:t>
            </a:r>
            <a:endParaRPr lang="en-US" altLang="en-US" sz="2400">
              <a:latin typeface="Helvetica" panose="020B0604020202020204" pitchFamily="34" charset="0"/>
            </a:endParaRPr>
          </a:p>
        </p:txBody>
      </p:sp>
      <p:sp>
        <p:nvSpPr>
          <p:cNvPr id="27661" name="AutoShape 13">
            <a:extLst>
              <a:ext uri="{FF2B5EF4-FFF2-40B4-BE49-F238E27FC236}">
                <a16:creationId xmlns:a16="http://schemas.microsoft.com/office/drawing/2014/main" id="{F2DA7175-E835-577D-BBD3-F493D443E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3238500"/>
            <a:ext cx="1790700" cy="393700"/>
          </a:xfrm>
          <a:prstGeom prst="roundRect">
            <a:avLst>
              <a:gd name="adj" fmla="val 48389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27662" name="AutoShape 14">
            <a:extLst>
              <a:ext uri="{FF2B5EF4-FFF2-40B4-BE49-F238E27FC236}">
                <a16:creationId xmlns:a16="http://schemas.microsoft.com/office/drawing/2014/main" id="{0E9B9366-21D9-42EC-5F10-7618A9E97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3721100"/>
            <a:ext cx="1790700" cy="381000"/>
          </a:xfrm>
          <a:prstGeom prst="roundRect">
            <a:avLst>
              <a:gd name="adj" fmla="val 48333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27663" name="AutoShape 15">
            <a:extLst>
              <a:ext uri="{FF2B5EF4-FFF2-40B4-BE49-F238E27FC236}">
                <a16:creationId xmlns:a16="http://schemas.microsoft.com/office/drawing/2014/main" id="{1A3ACE49-9D74-C504-7B06-1CAFF5B96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4191000"/>
            <a:ext cx="1790700" cy="393700"/>
          </a:xfrm>
          <a:prstGeom prst="roundRect">
            <a:avLst>
              <a:gd name="adj" fmla="val 48389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27664" name="AutoShape 16">
            <a:extLst>
              <a:ext uri="{FF2B5EF4-FFF2-40B4-BE49-F238E27FC236}">
                <a16:creationId xmlns:a16="http://schemas.microsoft.com/office/drawing/2014/main" id="{C11C0F71-11E2-9A10-7565-CF6FB9EEB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4673600"/>
            <a:ext cx="1790700" cy="393700"/>
          </a:xfrm>
          <a:prstGeom prst="roundRect">
            <a:avLst>
              <a:gd name="adj" fmla="val 48389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27665" name="AutoShape 17">
            <a:extLst>
              <a:ext uri="{FF2B5EF4-FFF2-40B4-BE49-F238E27FC236}">
                <a16:creationId xmlns:a16="http://schemas.microsoft.com/office/drawing/2014/main" id="{2214BC6D-405E-4D56-8A7C-9BC0BDBA8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5156200"/>
            <a:ext cx="1790700" cy="381000"/>
          </a:xfrm>
          <a:prstGeom prst="roundRect">
            <a:avLst>
              <a:gd name="adj" fmla="val 48333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27666" name="AutoShape 18">
            <a:extLst>
              <a:ext uri="{FF2B5EF4-FFF2-40B4-BE49-F238E27FC236}">
                <a16:creationId xmlns:a16="http://schemas.microsoft.com/office/drawing/2014/main" id="{58344446-8E75-2128-46FB-762371510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5626100"/>
            <a:ext cx="1790700" cy="393700"/>
          </a:xfrm>
          <a:prstGeom prst="roundRect">
            <a:avLst>
              <a:gd name="adj" fmla="val 48389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27667" name="Line 19">
            <a:extLst>
              <a:ext uri="{FF2B5EF4-FFF2-40B4-BE49-F238E27FC236}">
                <a16:creationId xmlns:a16="http://schemas.microsoft.com/office/drawing/2014/main" id="{215134AF-69CA-3D49-8805-18A89E05C5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06600" y="3492500"/>
            <a:ext cx="1066800" cy="1003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68" name="Line 20">
            <a:extLst>
              <a:ext uri="{FF2B5EF4-FFF2-40B4-BE49-F238E27FC236}">
                <a16:creationId xmlns:a16="http://schemas.microsoft.com/office/drawing/2014/main" id="{1CBAC35E-A951-25F5-2EBF-B5738261B8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06600" y="3987800"/>
            <a:ext cx="1066800" cy="508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69" name="Line 21">
            <a:extLst>
              <a:ext uri="{FF2B5EF4-FFF2-40B4-BE49-F238E27FC236}">
                <a16:creationId xmlns:a16="http://schemas.microsoft.com/office/drawing/2014/main" id="{F211720F-785F-1D77-4AAF-B19A4A5F7D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06600" y="4368800"/>
            <a:ext cx="1066800" cy="127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70" name="Line 22">
            <a:extLst>
              <a:ext uri="{FF2B5EF4-FFF2-40B4-BE49-F238E27FC236}">
                <a16:creationId xmlns:a16="http://schemas.microsoft.com/office/drawing/2014/main" id="{BE1A5E01-18AF-3A83-B67F-3E99A020D9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6600" y="4495800"/>
            <a:ext cx="1066800" cy="381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71" name="Line 23">
            <a:extLst>
              <a:ext uri="{FF2B5EF4-FFF2-40B4-BE49-F238E27FC236}">
                <a16:creationId xmlns:a16="http://schemas.microsoft.com/office/drawing/2014/main" id="{E61578C5-7A5A-3083-F4D5-61ADE28478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6600" y="4495800"/>
            <a:ext cx="1066800" cy="762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72" name="Line 24">
            <a:extLst>
              <a:ext uri="{FF2B5EF4-FFF2-40B4-BE49-F238E27FC236}">
                <a16:creationId xmlns:a16="http://schemas.microsoft.com/office/drawing/2014/main" id="{D1F6DC6B-41A6-03A0-632D-ECA1196539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6600" y="4495800"/>
            <a:ext cx="1066800" cy="1257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73" name="Line 25">
            <a:extLst>
              <a:ext uri="{FF2B5EF4-FFF2-40B4-BE49-F238E27FC236}">
                <a16:creationId xmlns:a16="http://schemas.microsoft.com/office/drawing/2014/main" id="{FD5F1DC4-7423-B175-B2FC-FAEA5D16F5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1400" y="5816600"/>
            <a:ext cx="177800" cy="127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74" name="Line 26">
            <a:extLst>
              <a:ext uri="{FF2B5EF4-FFF2-40B4-BE49-F238E27FC236}">
                <a16:creationId xmlns:a16="http://schemas.microsoft.com/office/drawing/2014/main" id="{2BAD5E5B-C993-A207-0ABA-E49967F96E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1400" y="5816600"/>
            <a:ext cx="1778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75" name="Line 27">
            <a:extLst>
              <a:ext uri="{FF2B5EF4-FFF2-40B4-BE49-F238E27FC236}">
                <a16:creationId xmlns:a16="http://schemas.microsoft.com/office/drawing/2014/main" id="{65E20BFB-E512-C911-D24A-BC0D16A521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1400" y="5689600"/>
            <a:ext cx="177800" cy="127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76" name="Line 28">
            <a:extLst>
              <a:ext uri="{FF2B5EF4-FFF2-40B4-BE49-F238E27FC236}">
                <a16:creationId xmlns:a16="http://schemas.microsoft.com/office/drawing/2014/main" id="{AF462761-BECC-B4B0-93B6-B848F010A5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1400" y="4876800"/>
            <a:ext cx="177800" cy="127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77" name="Line 29">
            <a:extLst>
              <a:ext uri="{FF2B5EF4-FFF2-40B4-BE49-F238E27FC236}">
                <a16:creationId xmlns:a16="http://schemas.microsoft.com/office/drawing/2014/main" id="{DB593EFF-BAA4-7D4C-04AD-BF4C9EE37A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1400" y="4876800"/>
            <a:ext cx="1778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78" name="Line 30">
            <a:extLst>
              <a:ext uri="{FF2B5EF4-FFF2-40B4-BE49-F238E27FC236}">
                <a16:creationId xmlns:a16="http://schemas.microsoft.com/office/drawing/2014/main" id="{E97F584C-42A1-5FF5-B25E-76C7A3AAB3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1400" y="4749800"/>
            <a:ext cx="177800" cy="127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79" name="Line 31">
            <a:extLst>
              <a:ext uri="{FF2B5EF4-FFF2-40B4-BE49-F238E27FC236}">
                <a16:creationId xmlns:a16="http://schemas.microsoft.com/office/drawing/2014/main" id="{6831E37A-936B-5CBE-E308-0A99D7FFF4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1400" y="4368800"/>
            <a:ext cx="177800" cy="127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80" name="Line 32">
            <a:extLst>
              <a:ext uri="{FF2B5EF4-FFF2-40B4-BE49-F238E27FC236}">
                <a16:creationId xmlns:a16="http://schemas.microsoft.com/office/drawing/2014/main" id="{D63D7EDB-89EC-D0FC-490E-4BD7C9E111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1400" y="4368800"/>
            <a:ext cx="1778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81" name="Line 33">
            <a:extLst>
              <a:ext uri="{FF2B5EF4-FFF2-40B4-BE49-F238E27FC236}">
                <a16:creationId xmlns:a16="http://schemas.microsoft.com/office/drawing/2014/main" id="{7B9C7C0C-D834-4D40-7C81-89A87DC051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1400" y="4241800"/>
            <a:ext cx="177800" cy="127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82" name="Line 34">
            <a:extLst>
              <a:ext uri="{FF2B5EF4-FFF2-40B4-BE49-F238E27FC236}">
                <a16:creationId xmlns:a16="http://schemas.microsoft.com/office/drawing/2014/main" id="{E48322E3-8975-ED37-FAF4-3E5281101A5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1400" y="5372100"/>
            <a:ext cx="177800" cy="127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83" name="Line 35">
            <a:extLst>
              <a:ext uri="{FF2B5EF4-FFF2-40B4-BE49-F238E27FC236}">
                <a16:creationId xmlns:a16="http://schemas.microsoft.com/office/drawing/2014/main" id="{C6D372FB-F79F-20A1-6CA7-3E05663FF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1400" y="5372100"/>
            <a:ext cx="1778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84" name="Line 36">
            <a:extLst>
              <a:ext uri="{FF2B5EF4-FFF2-40B4-BE49-F238E27FC236}">
                <a16:creationId xmlns:a16="http://schemas.microsoft.com/office/drawing/2014/main" id="{9498DBB3-D8D8-873A-4D2E-712806575D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1400" y="5257800"/>
            <a:ext cx="177800" cy="114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85" name="Line 37">
            <a:extLst>
              <a:ext uri="{FF2B5EF4-FFF2-40B4-BE49-F238E27FC236}">
                <a16:creationId xmlns:a16="http://schemas.microsoft.com/office/drawing/2014/main" id="{668E6D10-4D92-F37C-0F4E-F9ABB0D615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1400" y="3911600"/>
            <a:ext cx="177800" cy="127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86" name="Line 38">
            <a:extLst>
              <a:ext uri="{FF2B5EF4-FFF2-40B4-BE49-F238E27FC236}">
                <a16:creationId xmlns:a16="http://schemas.microsoft.com/office/drawing/2014/main" id="{3928338E-8003-6E20-53BC-8EF120912C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1400" y="3911600"/>
            <a:ext cx="1778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87" name="Line 39">
            <a:extLst>
              <a:ext uri="{FF2B5EF4-FFF2-40B4-BE49-F238E27FC236}">
                <a16:creationId xmlns:a16="http://schemas.microsoft.com/office/drawing/2014/main" id="{07E6C346-B431-B47A-B3D5-16D47869B4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1400" y="3797300"/>
            <a:ext cx="177800" cy="114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88" name="Rectangle 40">
            <a:extLst>
              <a:ext uri="{FF2B5EF4-FFF2-40B4-BE49-F238E27FC236}">
                <a16:creationId xmlns:a16="http://schemas.microsoft.com/office/drawing/2014/main" id="{18FE2B30-70EA-1ECD-D6DC-1B0F7D15B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886200"/>
            <a:ext cx="20494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may be further </a:t>
            </a:r>
            <a:endParaRPr lang="en-US" altLang="en-US" sz="2400">
              <a:latin typeface="Helvetica" panose="020B0604020202020204" pitchFamily="34" charset="0"/>
            </a:endParaRPr>
          </a:p>
        </p:txBody>
      </p:sp>
      <p:sp>
        <p:nvSpPr>
          <p:cNvPr id="27689" name="Rectangle 41">
            <a:extLst>
              <a:ext uri="{FF2B5EF4-FFF2-40B4-BE49-F238E27FC236}">
                <a16:creationId xmlns:a16="http://schemas.microsoft.com/office/drawing/2014/main" id="{9A189A1A-CF0C-07A7-2F72-FD4F07AC9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203700"/>
            <a:ext cx="931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i="1">
                <a:solidFill>
                  <a:srgbClr val="7E0000"/>
                </a:solidFill>
                <a:latin typeface="Arial" panose="020B0604020202020204" pitchFamily="34" charset="0"/>
              </a:rPr>
              <a:t>refined</a:t>
            </a:r>
            <a:endParaRPr lang="en-US" altLang="en-US" sz="2400">
              <a:solidFill>
                <a:schemeClr val="accent2"/>
              </a:solidFill>
              <a:latin typeface="Helvetica" panose="020B0604020202020204" pitchFamily="34" charset="0"/>
            </a:endParaRPr>
          </a:p>
        </p:txBody>
      </p:sp>
      <p:sp>
        <p:nvSpPr>
          <p:cNvPr id="27690" name="Rectangle 42">
            <a:extLst>
              <a:ext uri="{FF2B5EF4-FFF2-40B4-BE49-F238E27FC236}">
                <a16:creationId xmlns:a16="http://schemas.microsoft.com/office/drawing/2014/main" id="{0262F165-B1AC-6E5F-E6C6-3FCE01B80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1663" y="4203700"/>
            <a:ext cx="660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 into </a:t>
            </a:r>
            <a:endParaRPr lang="en-US" altLang="en-US" sz="2400">
              <a:latin typeface="Helvetica" panose="020B0604020202020204" pitchFamily="34" charset="0"/>
            </a:endParaRPr>
          </a:p>
        </p:txBody>
      </p:sp>
      <p:sp>
        <p:nvSpPr>
          <p:cNvPr id="27691" name="Rectangle 43">
            <a:extLst>
              <a:ext uri="{FF2B5EF4-FFF2-40B4-BE49-F238E27FC236}">
                <a16:creationId xmlns:a16="http://schemas.microsoft.com/office/drawing/2014/main" id="{44E2BC69-A4BE-C972-109A-AA586E580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521200"/>
            <a:ext cx="18462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sub-attributes</a:t>
            </a:r>
            <a:endParaRPr lang="en-US" altLang="en-US" sz="2400">
              <a:latin typeface="Helvetica" panose="020B0604020202020204" pitchFamily="34" charset="0"/>
            </a:endParaRPr>
          </a:p>
        </p:txBody>
      </p:sp>
      <p:sp>
        <p:nvSpPr>
          <p:cNvPr id="27692" name="Rectangle 44">
            <a:extLst>
              <a:ext uri="{FF2B5EF4-FFF2-40B4-BE49-F238E27FC236}">
                <a16:creationId xmlns:a16="http://schemas.microsoft.com/office/drawing/2014/main" id="{5740F6FA-53CB-4899-DBE1-B3585BCC3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352800"/>
            <a:ext cx="21351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i="1">
                <a:solidFill>
                  <a:srgbClr val="7E0000"/>
                </a:solidFill>
                <a:latin typeface="Arial" panose="020B0604020202020204" pitchFamily="34" charset="0"/>
              </a:rPr>
              <a:t>Quality attribute</a:t>
            </a:r>
            <a:endParaRPr lang="en-US" altLang="en-US" sz="2400">
              <a:solidFill>
                <a:schemeClr val="accent2"/>
              </a:solidFill>
              <a:latin typeface="Helvetica" panose="020B0604020202020204" pitchFamily="34" charset="0"/>
            </a:endParaRPr>
          </a:p>
        </p:txBody>
      </p:sp>
      <p:sp>
        <p:nvSpPr>
          <p:cNvPr id="27693" name="Freeform 45">
            <a:extLst>
              <a:ext uri="{FF2B5EF4-FFF2-40B4-BE49-F238E27FC236}">
                <a16:creationId xmlns:a16="http://schemas.microsoft.com/office/drawing/2014/main" id="{B5B612E8-4623-A6B6-946A-1E6E8F631BFB}"/>
              </a:ext>
            </a:extLst>
          </p:cNvPr>
          <p:cNvSpPr>
            <a:spLocks/>
          </p:cNvSpPr>
          <p:nvPr/>
        </p:nvSpPr>
        <p:spPr bwMode="auto">
          <a:xfrm>
            <a:off x="5124450" y="3448050"/>
            <a:ext cx="114300" cy="76200"/>
          </a:xfrm>
          <a:custGeom>
            <a:avLst/>
            <a:gdLst>
              <a:gd name="T0" fmla="*/ 2147483646 w 72"/>
              <a:gd name="T1" fmla="*/ 2147483646 h 48"/>
              <a:gd name="T2" fmla="*/ 2147483646 w 72"/>
              <a:gd name="T3" fmla="*/ 2147483646 h 48"/>
              <a:gd name="T4" fmla="*/ 0 w 72"/>
              <a:gd name="T5" fmla="*/ 2147483646 h 48"/>
              <a:gd name="T6" fmla="*/ 2147483646 w 72"/>
              <a:gd name="T7" fmla="*/ 0 h 48"/>
              <a:gd name="T8" fmla="*/ 2147483646 w 72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" h="48">
                <a:moveTo>
                  <a:pt x="72" y="24"/>
                </a:moveTo>
                <a:lnTo>
                  <a:pt x="72" y="48"/>
                </a:lnTo>
                <a:lnTo>
                  <a:pt x="0" y="24"/>
                </a:lnTo>
                <a:lnTo>
                  <a:pt x="72" y="0"/>
                </a:lnTo>
                <a:lnTo>
                  <a:pt x="72" y="24"/>
                </a:lnTo>
                <a:close/>
              </a:path>
            </a:pathLst>
          </a:custGeom>
          <a:solidFill>
            <a:srgbClr val="00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7694" name="Line 46">
            <a:extLst>
              <a:ext uri="{FF2B5EF4-FFF2-40B4-BE49-F238E27FC236}">
                <a16:creationId xmlns:a16="http://schemas.microsoft.com/office/drawing/2014/main" id="{5F92CEA2-8C8E-8608-3701-A6670DB3BC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2650" y="3486150"/>
            <a:ext cx="508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95" name="Line 47">
            <a:extLst>
              <a:ext uri="{FF2B5EF4-FFF2-40B4-BE49-F238E27FC236}">
                <a16:creationId xmlns:a16="http://schemas.microsoft.com/office/drawing/2014/main" id="{48F9201A-55D5-9C52-DEBB-38B8DFD76C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72150" y="3486150"/>
            <a:ext cx="1016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96" name="Line 48">
            <a:extLst>
              <a:ext uri="{FF2B5EF4-FFF2-40B4-BE49-F238E27FC236}">
                <a16:creationId xmlns:a16="http://schemas.microsoft.com/office/drawing/2014/main" id="{2FDB31EB-12AD-9E58-1F35-7FE31DE31E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81650" y="3486150"/>
            <a:ext cx="1016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97" name="Line 49">
            <a:extLst>
              <a:ext uri="{FF2B5EF4-FFF2-40B4-BE49-F238E27FC236}">
                <a16:creationId xmlns:a16="http://schemas.microsoft.com/office/drawing/2014/main" id="{32FEC8FF-9BEA-2CCE-57AC-190E5BC2CE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78450" y="3486150"/>
            <a:ext cx="1143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98" name="Line 50">
            <a:extLst>
              <a:ext uri="{FF2B5EF4-FFF2-40B4-BE49-F238E27FC236}">
                <a16:creationId xmlns:a16="http://schemas.microsoft.com/office/drawing/2014/main" id="{7771C013-5181-9148-9617-9CD793EFEC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1450" y="3486150"/>
            <a:ext cx="381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99" name="Freeform 51">
            <a:extLst>
              <a:ext uri="{FF2B5EF4-FFF2-40B4-BE49-F238E27FC236}">
                <a16:creationId xmlns:a16="http://schemas.microsoft.com/office/drawing/2014/main" id="{13A8095C-7423-8B3B-24DE-997B557DC1CF}"/>
              </a:ext>
            </a:extLst>
          </p:cNvPr>
          <p:cNvSpPr>
            <a:spLocks/>
          </p:cNvSpPr>
          <p:nvPr/>
        </p:nvSpPr>
        <p:spPr bwMode="auto">
          <a:xfrm>
            <a:off x="5238750" y="4057650"/>
            <a:ext cx="114300" cy="76200"/>
          </a:xfrm>
          <a:custGeom>
            <a:avLst/>
            <a:gdLst>
              <a:gd name="T0" fmla="*/ 2147483646 w 72"/>
              <a:gd name="T1" fmla="*/ 2147483646 h 48"/>
              <a:gd name="T2" fmla="*/ 2147483646 w 72"/>
              <a:gd name="T3" fmla="*/ 2147483646 h 48"/>
              <a:gd name="T4" fmla="*/ 0 w 72"/>
              <a:gd name="T5" fmla="*/ 2147483646 h 48"/>
              <a:gd name="T6" fmla="*/ 2147483646 w 72"/>
              <a:gd name="T7" fmla="*/ 0 h 48"/>
              <a:gd name="T8" fmla="*/ 2147483646 w 72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" h="48">
                <a:moveTo>
                  <a:pt x="72" y="24"/>
                </a:moveTo>
                <a:lnTo>
                  <a:pt x="72" y="48"/>
                </a:lnTo>
                <a:lnTo>
                  <a:pt x="0" y="24"/>
                </a:lnTo>
                <a:lnTo>
                  <a:pt x="72" y="0"/>
                </a:lnTo>
                <a:lnTo>
                  <a:pt x="72" y="24"/>
                </a:lnTo>
                <a:close/>
              </a:path>
            </a:pathLst>
          </a:custGeom>
          <a:solidFill>
            <a:srgbClr val="000000"/>
          </a:solidFill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7700" name="Line 52">
            <a:extLst>
              <a:ext uri="{FF2B5EF4-FFF2-40B4-BE49-F238E27FC236}">
                <a16:creationId xmlns:a16="http://schemas.microsoft.com/office/drawing/2014/main" id="{A0D27E48-C955-4552-6894-5D327DB269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2650" y="4095750"/>
            <a:ext cx="508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701" name="Line 53">
            <a:extLst>
              <a:ext uri="{FF2B5EF4-FFF2-40B4-BE49-F238E27FC236}">
                <a16:creationId xmlns:a16="http://schemas.microsoft.com/office/drawing/2014/main" id="{2F62B4F3-2582-6322-D961-251DFACEA4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10250" y="4095750"/>
            <a:ext cx="762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702" name="Line 54">
            <a:extLst>
              <a:ext uri="{FF2B5EF4-FFF2-40B4-BE49-F238E27FC236}">
                <a16:creationId xmlns:a16="http://schemas.microsoft.com/office/drawing/2014/main" id="{1369B4B1-05B9-6F70-C66F-9DC47DAA8C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45150" y="4095750"/>
            <a:ext cx="889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703" name="Line 55">
            <a:extLst>
              <a:ext uri="{FF2B5EF4-FFF2-40B4-BE49-F238E27FC236}">
                <a16:creationId xmlns:a16="http://schemas.microsoft.com/office/drawing/2014/main" id="{3138489B-41FA-AA23-B948-600894F4C0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92750" y="4095750"/>
            <a:ext cx="762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704" name="Line 56">
            <a:extLst>
              <a:ext uri="{FF2B5EF4-FFF2-40B4-BE49-F238E27FC236}">
                <a16:creationId xmlns:a16="http://schemas.microsoft.com/office/drawing/2014/main" id="{1BFE4A05-349B-D40A-13ED-E0B0251162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65750" y="4095750"/>
            <a:ext cx="508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705" name="AutoShape 57">
            <a:extLst>
              <a:ext uri="{FF2B5EF4-FFF2-40B4-BE49-F238E27FC236}">
                <a16:creationId xmlns:a16="http://schemas.microsoft.com/office/drawing/2014/main" id="{87F95D60-B1E0-8B49-B6E8-06F1E7B8A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2698750"/>
            <a:ext cx="1790700" cy="393700"/>
          </a:xfrm>
          <a:prstGeom prst="roundRect">
            <a:avLst>
              <a:gd name="adj" fmla="val 48389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27706" name="Line 59">
            <a:extLst>
              <a:ext uri="{FF2B5EF4-FFF2-40B4-BE49-F238E27FC236}">
                <a16:creationId xmlns:a16="http://schemas.microsoft.com/office/drawing/2014/main" id="{40048F23-5165-5CF8-AD3C-308B841543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22475" y="2971800"/>
            <a:ext cx="1042988" cy="15240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707" name="Rectangle 60">
            <a:extLst>
              <a:ext uri="{FF2B5EF4-FFF2-40B4-BE49-F238E27FC236}">
                <a16:creationId xmlns:a16="http://schemas.microsoft.com/office/drawing/2014/main" id="{72BFB6F2-6FAD-C468-DB7E-08D60BE1B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74320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…</a:t>
            </a:r>
            <a:endParaRPr lang="en-US" altLang="en-US" sz="2400">
              <a:latin typeface="Helvetica" panose="020B0604020202020204" pitchFamily="34" charset="0"/>
            </a:endParaRPr>
          </a:p>
        </p:txBody>
      </p:sp>
      <p:sp>
        <p:nvSpPr>
          <p:cNvPr id="27708" name="Slide Number Placeholder 1">
            <a:extLst>
              <a:ext uri="{FF2B5EF4-FFF2-40B4-BE49-F238E27FC236}">
                <a16:creationId xmlns:a16="http://schemas.microsoft.com/office/drawing/2014/main" id="{FFDD74E1-527C-4A39-CCBC-9C180B96B47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BEE61DB4-8F21-4281-8088-8EB4D8AC910C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14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>
            <a:extLst>
              <a:ext uri="{FF2B5EF4-FFF2-40B4-BE49-F238E27FC236}">
                <a16:creationId xmlns:a16="http://schemas.microsoft.com/office/drawing/2014/main" id="{FDAD637D-B68C-D721-11A9-AD20A1B108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Hierarchical Quality Model (cont.)</a:t>
            </a:r>
          </a:p>
        </p:txBody>
      </p:sp>
      <p:sp>
        <p:nvSpPr>
          <p:cNvPr id="386051" name="Rectangle 3">
            <a:extLst>
              <a:ext uri="{FF2B5EF4-FFF2-40B4-BE49-F238E27FC236}">
                <a16:creationId xmlns:a16="http://schemas.microsoft.com/office/drawing/2014/main" id="{ED1A21A0-0153-BB48-36B0-9407FF26C4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charset="0"/>
              <a:buChar char="n"/>
              <a:defRPr/>
            </a:pPr>
            <a:r>
              <a:rPr lang="en-US" sz="2400" b="1" i="1">
                <a:ea typeface="+mn-ea"/>
                <a:cs typeface="+mn-cs"/>
              </a:rPr>
              <a:t>Availability</a:t>
            </a:r>
            <a:r>
              <a:rPr lang="en-US" sz="2400">
                <a:ea typeface="+mn-ea"/>
                <a:cs typeface="+mn-cs"/>
              </a:rPr>
              <a:t>: is the system providing the service it is supposed to when it is expected to?</a:t>
            </a:r>
          </a:p>
          <a:p>
            <a:pPr marL="342900" indent="-342900">
              <a:buFont typeface="Wingdings" charset="0"/>
              <a:buChar char="n"/>
              <a:defRPr/>
            </a:pPr>
            <a:r>
              <a:rPr lang="en-US" sz="2400" b="1" i="1">
                <a:ea typeface="+mn-ea"/>
                <a:cs typeface="+mn-cs"/>
              </a:rPr>
              <a:t>Modifiability</a:t>
            </a:r>
            <a:r>
              <a:rPr lang="en-US" sz="2400">
                <a:ea typeface="+mn-ea"/>
                <a:cs typeface="+mn-cs"/>
              </a:rPr>
              <a:t>: can reasonable changes be made at reasonable cost?</a:t>
            </a:r>
          </a:p>
          <a:p>
            <a:pPr marL="342900" indent="-342900">
              <a:buFont typeface="Wingdings" charset="0"/>
              <a:buChar char="n"/>
              <a:defRPr/>
            </a:pPr>
            <a:r>
              <a:rPr lang="en-US" sz="2400" b="1" i="1">
                <a:ea typeface="+mn-ea"/>
                <a:cs typeface="+mn-cs"/>
              </a:rPr>
              <a:t>Performance</a:t>
            </a:r>
            <a:r>
              <a:rPr lang="en-US" sz="2400">
                <a:ea typeface="+mn-ea"/>
                <a:cs typeface="+mn-cs"/>
              </a:rPr>
              <a:t>: does the system respond quickly enough to user input?</a:t>
            </a:r>
          </a:p>
          <a:p>
            <a:pPr marL="342900" indent="-342900">
              <a:buFont typeface="Wingdings" charset="0"/>
              <a:buChar char="n"/>
              <a:defRPr/>
            </a:pPr>
            <a:r>
              <a:rPr lang="en-US" sz="2400" b="1" i="1">
                <a:ea typeface="+mn-ea"/>
                <a:cs typeface="+mn-cs"/>
              </a:rPr>
              <a:t>Security</a:t>
            </a:r>
            <a:r>
              <a:rPr lang="en-US" sz="2400">
                <a:ea typeface="+mn-ea"/>
                <a:cs typeface="+mn-cs"/>
              </a:rPr>
              <a:t>: can authorized users access the services of the system while unauthorized people cannot?</a:t>
            </a:r>
          </a:p>
          <a:p>
            <a:pPr marL="342900" indent="-342900">
              <a:buFont typeface="Wingdings" charset="0"/>
              <a:buChar char="n"/>
              <a:defRPr/>
            </a:pPr>
            <a:r>
              <a:rPr lang="en-US" sz="2400" b="1" i="1">
                <a:ea typeface="+mn-ea"/>
                <a:cs typeface="+mn-cs"/>
              </a:rPr>
              <a:t>Testability</a:t>
            </a:r>
            <a:r>
              <a:rPr lang="en-US" sz="2400">
                <a:ea typeface="+mn-ea"/>
                <a:cs typeface="+mn-cs"/>
              </a:rPr>
              <a:t>: can the system be exercised to a degree that ensures confidence in correctness?</a:t>
            </a:r>
          </a:p>
          <a:p>
            <a:pPr marL="342900" indent="-342900">
              <a:buFont typeface="Wingdings" charset="0"/>
              <a:buChar char="n"/>
              <a:defRPr/>
            </a:pPr>
            <a:r>
              <a:rPr lang="en-US" sz="2400" b="1" i="1">
                <a:ea typeface="+mn-ea"/>
                <a:cs typeface="+mn-cs"/>
              </a:rPr>
              <a:t>Usability</a:t>
            </a:r>
            <a:r>
              <a:rPr lang="en-US" sz="2400">
                <a:ea typeface="+mn-ea"/>
                <a:cs typeface="+mn-cs"/>
              </a:rPr>
              <a:t>: how easy is it for the user to do what is desired?</a:t>
            </a:r>
          </a:p>
        </p:txBody>
      </p:sp>
      <p:sp>
        <p:nvSpPr>
          <p:cNvPr id="29700" name="Slide Number Placeholder 1">
            <a:extLst>
              <a:ext uri="{FF2B5EF4-FFF2-40B4-BE49-F238E27FC236}">
                <a16:creationId xmlns:a16="http://schemas.microsoft.com/office/drawing/2014/main" id="{5E401B22-EFCB-0CCB-172C-59E3763A17F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22AE7055-599D-4D8D-B400-4A87BA1F8197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15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>
            <a:extLst>
              <a:ext uri="{FF2B5EF4-FFF2-40B4-BE49-F238E27FC236}">
                <a16:creationId xmlns:a16="http://schemas.microsoft.com/office/drawing/2014/main" id="{31B2B309-C728-0088-7269-B874330C91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What about other Qualities?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D7854F2-084C-E8F2-4FF8-5837B1E8BB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i="1"/>
              <a:t>Portability</a:t>
            </a:r>
            <a:r>
              <a:rPr lang="en-US" altLang="en-US" sz="2400"/>
              <a:t>: the system must be changed to run on different hardware/operating system		 </a:t>
            </a:r>
            <a:r>
              <a:rPr lang="en-US" altLang="en-US" sz="2400">
                <a:sym typeface="Wingdings" panose="05000000000000000000" pitchFamily="2" charset="2"/>
              </a:rPr>
              <a:t> </a:t>
            </a:r>
            <a:r>
              <a:rPr lang="en-US" altLang="en-US" sz="2400">
                <a:solidFill>
                  <a:srgbClr val="083A7F"/>
                </a:solidFill>
              </a:rPr>
              <a:t>modifiability</a:t>
            </a: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 i="1"/>
              <a:t>Maintainability</a:t>
            </a:r>
            <a:r>
              <a:rPr lang="en-US" altLang="en-US" sz="2400"/>
              <a:t> (“fixing bugs”): the system must be changed to remove invalid/wrong behavior 	 </a:t>
            </a:r>
            <a:r>
              <a:rPr lang="en-US" altLang="en-US" sz="2400">
                <a:sym typeface="Wingdings" panose="05000000000000000000" pitchFamily="2" charset="2"/>
              </a:rPr>
              <a:t> </a:t>
            </a:r>
            <a:r>
              <a:rPr lang="en-US" altLang="en-US" sz="2400">
                <a:solidFill>
                  <a:srgbClr val="083A7F"/>
                </a:solidFill>
              </a:rPr>
              <a:t>modifiability</a:t>
            </a: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 i="1"/>
              <a:t>Scalability</a:t>
            </a:r>
            <a:r>
              <a:rPr lang="en-US" altLang="en-US" sz="2400"/>
              <a:t>: the system must be changed to have more  capacity (can handle more requests than currently, store more information, etc.) 			 </a:t>
            </a:r>
            <a:r>
              <a:rPr lang="en-US" altLang="en-US" sz="2400">
                <a:sym typeface="Wingdings" panose="05000000000000000000" pitchFamily="2" charset="2"/>
              </a:rPr>
              <a:t> </a:t>
            </a:r>
            <a:r>
              <a:rPr lang="en-US" altLang="en-US" sz="2400">
                <a:solidFill>
                  <a:srgbClr val="083A7F"/>
                </a:solidFill>
              </a:rPr>
              <a:t>modifiability</a:t>
            </a: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 i="1"/>
              <a:t>Operability</a:t>
            </a:r>
            <a:r>
              <a:rPr lang="en-US" altLang="en-US" sz="2400"/>
              <a:t>: the system must be “easy” to use, being  </a:t>
            </a:r>
            <a:r>
              <a:rPr lang="en-US" altLang="en-US" sz="2400">
                <a:ea typeface="ヒラギノ角ゴ ProN W3" pitchFamily="-84" charset="-128"/>
              </a:rPr>
              <a:t>“easy” to learn etc. 				 </a:t>
            </a:r>
            <a:r>
              <a:rPr lang="en-US" altLang="en-US" sz="2400">
                <a:sym typeface="Wingdings" panose="05000000000000000000" pitchFamily="2" charset="2"/>
              </a:rPr>
              <a:t> </a:t>
            </a:r>
            <a:r>
              <a:rPr lang="en-US" altLang="en-US" sz="2400">
                <a:solidFill>
                  <a:srgbClr val="083A7F"/>
                </a:solidFill>
              </a:rPr>
              <a:t>usability</a:t>
            </a: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 i="1"/>
              <a:t>Reliability</a:t>
            </a:r>
            <a:r>
              <a:rPr lang="en-US" altLang="en-US" sz="2400"/>
              <a:t>: the system must not fail “too often”   </a:t>
            </a:r>
            <a:r>
              <a:rPr lang="en-US" altLang="en-US" sz="2400">
                <a:sym typeface="Wingdings" panose="05000000000000000000" pitchFamily="2" charset="2"/>
              </a:rPr>
              <a:t> </a:t>
            </a:r>
            <a:r>
              <a:rPr lang="en-US" altLang="en-US" sz="2400">
                <a:solidFill>
                  <a:srgbClr val="083A7F"/>
                </a:solidFill>
              </a:rPr>
              <a:t>availability</a:t>
            </a: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 i="1"/>
              <a:t>Integrity</a:t>
            </a:r>
            <a:r>
              <a:rPr lang="en-US" altLang="en-US" sz="2400"/>
              <a:t>: data of the system cannot be changed in an unauthorized manner 			 </a:t>
            </a:r>
            <a:r>
              <a:rPr lang="en-US" altLang="en-US" sz="2400">
                <a:sym typeface="Wingdings" panose="05000000000000000000" pitchFamily="2" charset="2"/>
              </a:rPr>
              <a:t> </a:t>
            </a:r>
            <a:r>
              <a:rPr lang="en-US" altLang="en-US" sz="2400">
                <a:solidFill>
                  <a:srgbClr val="083A7F"/>
                </a:solidFill>
              </a:rPr>
              <a:t>security</a:t>
            </a:r>
            <a:endParaRPr lang="en-US" altLang="en-US" sz="2400">
              <a:sym typeface="Wingdings" panose="05000000000000000000" pitchFamily="2" charset="2"/>
            </a:endParaRPr>
          </a:p>
        </p:txBody>
      </p:sp>
      <p:sp>
        <p:nvSpPr>
          <p:cNvPr id="31748" name="Slide Number Placeholder 1">
            <a:extLst>
              <a:ext uri="{FF2B5EF4-FFF2-40B4-BE49-F238E27FC236}">
                <a16:creationId xmlns:a16="http://schemas.microsoft.com/office/drawing/2014/main" id="{BDB722CB-7EBA-EAEB-5119-DFEEF58BB6A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133BF8F0-FAF8-48F8-A62A-FA5674BCF2B8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16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 2">
            <a:extLst>
              <a:ext uri="{FF2B5EF4-FFF2-40B4-BE49-F238E27FC236}">
                <a16:creationId xmlns:a16="http://schemas.microsoft.com/office/drawing/2014/main" id="{6F996D70-5BB6-9F55-E32D-EA0343598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Model of McCall and Matsumoto	</a:t>
            </a:r>
          </a:p>
        </p:txBody>
      </p:sp>
      <p:sp>
        <p:nvSpPr>
          <p:cNvPr id="509955" name="Rectangle 3">
            <a:extLst>
              <a:ext uri="{FF2B5EF4-FFF2-40B4-BE49-F238E27FC236}">
                <a16:creationId xmlns:a16="http://schemas.microsoft.com/office/drawing/2014/main" id="{F66624F9-8574-91E8-3034-0D496D819F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charset="0"/>
              <a:buChar char="n"/>
              <a:defRPr/>
            </a:pPr>
            <a:r>
              <a:rPr lang="en-US" sz="2000">
                <a:ea typeface="+mn-ea"/>
                <a:cs typeface="+mn-cs"/>
              </a:rPr>
              <a:t>Operation</a:t>
            </a:r>
            <a:endParaRPr lang="en-US" sz="2400">
              <a:ea typeface="+mn-ea"/>
              <a:cs typeface="+mn-cs"/>
            </a:endParaRPr>
          </a:p>
          <a:p>
            <a:pPr lvl="1">
              <a:lnSpc>
                <a:spcPct val="90000"/>
              </a:lnSpc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Integrity</a:t>
            </a:r>
          </a:p>
          <a:p>
            <a:pPr lvl="1">
              <a:lnSpc>
                <a:spcPct val="90000"/>
              </a:lnSpc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Correctness</a:t>
            </a:r>
          </a:p>
          <a:p>
            <a:pPr lvl="1">
              <a:lnSpc>
                <a:spcPct val="90000"/>
              </a:lnSpc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Reliability</a:t>
            </a:r>
          </a:p>
          <a:p>
            <a:pPr lvl="1">
              <a:lnSpc>
                <a:spcPct val="90000"/>
              </a:lnSpc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Usability</a:t>
            </a:r>
          </a:p>
          <a:p>
            <a:pPr lvl="1">
              <a:lnSpc>
                <a:spcPct val="90000"/>
              </a:lnSpc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Efficiency</a:t>
            </a:r>
          </a:p>
          <a:p>
            <a:pPr>
              <a:lnSpc>
                <a:spcPct val="90000"/>
              </a:lnSpc>
              <a:buFont typeface="Wingdings" charset="0"/>
              <a:buChar char="n"/>
              <a:defRPr/>
            </a:pPr>
            <a:r>
              <a:rPr lang="en-US" sz="2000">
                <a:ea typeface="+mn-ea"/>
                <a:cs typeface="+mn-cs"/>
              </a:rPr>
              <a:t>Revision</a:t>
            </a:r>
            <a:endParaRPr lang="en-US" sz="2400">
              <a:ea typeface="+mn-ea"/>
              <a:cs typeface="+mn-cs"/>
            </a:endParaRPr>
          </a:p>
          <a:p>
            <a:pPr lvl="1">
              <a:lnSpc>
                <a:spcPct val="90000"/>
              </a:lnSpc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Maintainability</a:t>
            </a:r>
          </a:p>
          <a:p>
            <a:pPr lvl="1">
              <a:lnSpc>
                <a:spcPct val="90000"/>
              </a:lnSpc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Testability</a:t>
            </a:r>
          </a:p>
          <a:p>
            <a:pPr lvl="1">
              <a:lnSpc>
                <a:spcPct val="90000"/>
              </a:lnSpc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Flexibility</a:t>
            </a:r>
            <a:endParaRPr lang="en-US" sz="2000">
              <a:ea typeface="+mn-ea"/>
            </a:endParaRPr>
          </a:p>
          <a:p>
            <a:pPr>
              <a:lnSpc>
                <a:spcPct val="90000"/>
              </a:lnSpc>
              <a:buFont typeface="Wingdings" charset="0"/>
              <a:buChar char="n"/>
              <a:defRPr/>
            </a:pPr>
            <a:r>
              <a:rPr lang="en-US" sz="2000">
                <a:ea typeface="+mn-ea"/>
                <a:cs typeface="+mn-cs"/>
              </a:rPr>
              <a:t>Transition</a:t>
            </a:r>
            <a:endParaRPr lang="en-US" sz="2400">
              <a:ea typeface="+mn-ea"/>
              <a:cs typeface="+mn-cs"/>
            </a:endParaRPr>
          </a:p>
          <a:p>
            <a:pPr lvl="1">
              <a:lnSpc>
                <a:spcPct val="90000"/>
              </a:lnSpc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Portability</a:t>
            </a:r>
          </a:p>
          <a:p>
            <a:pPr lvl="1">
              <a:lnSpc>
                <a:spcPct val="90000"/>
              </a:lnSpc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Interoperability</a:t>
            </a:r>
          </a:p>
          <a:p>
            <a:pPr lvl="1">
              <a:lnSpc>
                <a:spcPct val="90000"/>
              </a:lnSpc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Reusability</a:t>
            </a:r>
          </a:p>
        </p:txBody>
      </p:sp>
      <p:sp>
        <p:nvSpPr>
          <p:cNvPr id="33796" name="Slide Number Placeholder 1">
            <a:extLst>
              <a:ext uri="{FF2B5EF4-FFF2-40B4-BE49-F238E27FC236}">
                <a16:creationId xmlns:a16="http://schemas.microsoft.com/office/drawing/2014/main" id="{46BBDC7C-3E28-5953-7FDF-8A0BD584FB0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17102591-C722-4E16-A2F7-086DC816B545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17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>
            <a:extLst>
              <a:ext uri="{FF2B5EF4-FFF2-40B4-BE49-F238E27FC236}">
                <a16:creationId xmlns:a16="http://schemas.microsoft.com/office/drawing/2014/main" id="{9B936234-CFCB-ABAF-AD1A-6807E40DA0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ISO 9126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EAE58AF-CA4E-A0CC-7784-6689C58ABC7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charset="0"/>
              <a:buChar char="n"/>
              <a:defRPr/>
            </a:pPr>
            <a:r>
              <a:rPr lang="en-US" sz="2000">
                <a:ea typeface="+mn-ea"/>
                <a:cs typeface="+mn-cs"/>
              </a:rPr>
              <a:t>Functionality</a:t>
            </a:r>
          </a:p>
          <a:p>
            <a:pPr lvl="1"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Accuracy</a:t>
            </a:r>
          </a:p>
          <a:p>
            <a:pPr lvl="1"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Security</a:t>
            </a:r>
          </a:p>
          <a:p>
            <a:pPr lvl="1"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Suitability</a:t>
            </a:r>
          </a:p>
          <a:p>
            <a:pPr lvl="1"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Compliance</a:t>
            </a:r>
          </a:p>
          <a:p>
            <a:pPr>
              <a:buFont typeface="Wingdings" charset="0"/>
              <a:buChar char="n"/>
              <a:defRPr/>
            </a:pPr>
            <a:r>
              <a:rPr lang="en-US" sz="2000">
                <a:ea typeface="+mn-ea"/>
                <a:cs typeface="+mn-cs"/>
              </a:rPr>
              <a:t>Reliability</a:t>
            </a:r>
          </a:p>
          <a:p>
            <a:pPr lvl="1"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Maturity</a:t>
            </a:r>
          </a:p>
          <a:p>
            <a:pPr lvl="1"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Fault tolerance</a:t>
            </a:r>
          </a:p>
          <a:p>
            <a:pPr lvl="1"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Recoverability</a:t>
            </a:r>
          </a:p>
          <a:p>
            <a:pPr>
              <a:buFont typeface="Wingdings" charset="0"/>
              <a:buChar char="n"/>
              <a:defRPr/>
            </a:pPr>
            <a:r>
              <a:rPr lang="en-US" sz="2000">
                <a:ea typeface="+mn-ea"/>
                <a:cs typeface="+mn-cs"/>
              </a:rPr>
              <a:t>Usability</a:t>
            </a:r>
          </a:p>
          <a:p>
            <a:pPr>
              <a:buFont typeface="Wingdings" charset="0"/>
              <a:buChar char="n"/>
              <a:defRPr/>
            </a:pPr>
            <a:r>
              <a:rPr lang="en-US" sz="2000">
                <a:ea typeface="+mn-ea"/>
                <a:cs typeface="+mn-cs"/>
              </a:rPr>
              <a:t>Efficiency</a:t>
            </a:r>
            <a:endParaRPr lang="en-US" sz="2400">
              <a:ea typeface="+mn-ea"/>
              <a:cs typeface="+mn-cs"/>
            </a:endParaRPr>
          </a:p>
        </p:txBody>
      </p:sp>
      <p:sp>
        <p:nvSpPr>
          <p:cNvPr id="512004" name="Rectangle 4">
            <a:extLst>
              <a:ext uri="{FF2B5EF4-FFF2-40B4-BE49-F238E27FC236}">
                <a16:creationId xmlns:a16="http://schemas.microsoft.com/office/drawing/2014/main" id="{AD8DB7E8-AB60-4682-4DC9-CB083E5BBEA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buFont typeface="Wingdings" charset="0"/>
              <a:buChar char="n"/>
              <a:defRPr/>
            </a:pPr>
            <a:r>
              <a:rPr lang="en-US" sz="2000">
                <a:ea typeface="+mn-ea"/>
                <a:cs typeface="+mn-cs"/>
              </a:rPr>
              <a:t>Maintainability</a:t>
            </a:r>
          </a:p>
          <a:p>
            <a:pPr lvl="1"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Testability</a:t>
            </a:r>
          </a:p>
          <a:p>
            <a:pPr lvl="1"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Changeability</a:t>
            </a:r>
          </a:p>
          <a:p>
            <a:pPr lvl="1"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Analyzability</a:t>
            </a:r>
          </a:p>
          <a:p>
            <a:pPr lvl="1"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Stability</a:t>
            </a:r>
          </a:p>
          <a:p>
            <a:pPr>
              <a:buFont typeface="Wingdings" charset="0"/>
              <a:buChar char="n"/>
              <a:defRPr/>
            </a:pPr>
            <a:r>
              <a:rPr lang="en-US" sz="2000">
                <a:ea typeface="+mn-ea"/>
                <a:cs typeface="+mn-cs"/>
              </a:rPr>
              <a:t>Portability</a:t>
            </a:r>
          </a:p>
          <a:p>
            <a:pPr lvl="1"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Adaptability</a:t>
            </a:r>
          </a:p>
          <a:p>
            <a:pPr lvl="1"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Installability</a:t>
            </a:r>
          </a:p>
          <a:p>
            <a:pPr lvl="1"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Conformance</a:t>
            </a:r>
          </a:p>
          <a:p>
            <a:pPr lvl="1">
              <a:buFont typeface="Wingdings" charset="0"/>
              <a:buChar char="¨"/>
              <a:defRPr/>
            </a:pPr>
            <a:r>
              <a:rPr lang="en-US" sz="1800">
                <a:ea typeface="+mn-ea"/>
              </a:rPr>
              <a:t>Replaceability</a:t>
            </a:r>
          </a:p>
        </p:txBody>
      </p:sp>
      <p:sp>
        <p:nvSpPr>
          <p:cNvPr id="34821" name="Slide Number Placeholder 1">
            <a:extLst>
              <a:ext uri="{FF2B5EF4-FFF2-40B4-BE49-F238E27FC236}">
                <a16:creationId xmlns:a16="http://schemas.microsoft.com/office/drawing/2014/main" id="{B7F9F7AD-9823-CB3E-5B27-40F7E40CB50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CB3EA645-BBB2-4016-A13C-F256C859B9D8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18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Text Box 2">
            <a:extLst>
              <a:ext uri="{FF2B5EF4-FFF2-40B4-BE49-F238E27FC236}">
                <a16:creationId xmlns:a16="http://schemas.microsoft.com/office/drawing/2014/main" id="{D34EA34B-A160-D344-8F56-45C4B84CA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09600"/>
            <a:ext cx="1708150" cy="606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tabLst>
                <a:tab pos="190500" algn="l"/>
                <a:tab pos="381000" algn="l"/>
              </a:tabLst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90500" algn="l"/>
                <a:tab pos="381000" algn="l"/>
              </a:tabLs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90500" algn="l"/>
                <a:tab pos="381000" algn="l"/>
              </a:tabLst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90500" algn="l"/>
                <a:tab pos="381000" algn="l"/>
              </a:tabLst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90500" algn="l"/>
                <a:tab pos="38100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90500" algn="l"/>
                <a:tab pos="38100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90500" algn="l"/>
                <a:tab pos="38100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90500" algn="l"/>
                <a:tab pos="38100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90500" algn="l"/>
                <a:tab pos="38100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ISO 9126</a:t>
            </a:r>
            <a:endParaRPr lang="en-US" altLang="en-US" sz="1800" b="1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Functionality</a:t>
            </a: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Accuracy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Security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Interoperability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</a:t>
            </a:r>
            <a:r>
              <a:rPr lang="en-US" altLang="en-US" sz="1600" b="1">
                <a:solidFill>
                  <a:srgbClr val="083A7F"/>
                </a:solidFill>
                <a:latin typeface="Arial" panose="020B0604020202020204" pitchFamily="34" charset="0"/>
              </a:rPr>
              <a:t>Suitability</a:t>
            </a:r>
            <a:endParaRPr lang="en-US" altLang="en-US" sz="1600" b="1">
              <a:solidFill>
                <a:srgbClr val="FF00FF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 b="1">
                <a:solidFill>
                  <a:srgbClr val="FF00FF"/>
                </a:solidFill>
                <a:latin typeface="Arial" panose="020B0604020202020204" pitchFamily="34" charset="0"/>
              </a:rPr>
              <a:t>	</a:t>
            </a:r>
            <a:r>
              <a:rPr lang="en-US" altLang="en-US" sz="1600" b="1">
                <a:solidFill>
                  <a:srgbClr val="083A7F"/>
                </a:solidFill>
                <a:latin typeface="Arial" panose="020B0604020202020204" pitchFamily="34" charset="0"/>
              </a:rPr>
              <a:t>Compliance</a:t>
            </a:r>
            <a:endParaRPr lang="en-US" altLang="en-US" sz="1600" b="1">
              <a:solidFill>
                <a:srgbClr val="FF00FF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Reliability</a:t>
            </a: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Maturity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</a:t>
            </a:r>
            <a:r>
              <a:rPr lang="en-US" altLang="en-US" sz="1600" b="1">
                <a:solidFill>
                  <a:srgbClr val="083A7F"/>
                </a:solidFill>
                <a:latin typeface="Arial" panose="020B0604020202020204" pitchFamily="34" charset="0"/>
              </a:rPr>
              <a:t>Fault tolerance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 b="1">
                <a:solidFill>
                  <a:srgbClr val="083A7F"/>
                </a:solidFill>
                <a:latin typeface="Arial" panose="020B0604020202020204" pitchFamily="34" charset="0"/>
              </a:rPr>
              <a:t>	Recoverability</a:t>
            </a:r>
            <a:endParaRPr lang="en-US" altLang="en-US" sz="1600">
              <a:solidFill>
                <a:srgbClr val="00FF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Usability</a:t>
            </a: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Efficiency</a:t>
            </a: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Maintainability</a:t>
            </a: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Testability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Changeability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</a:t>
            </a:r>
            <a:r>
              <a:rPr lang="en-US" altLang="en-US" sz="1600" b="1">
                <a:solidFill>
                  <a:srgbClr val="083A7F"/>
                </a:solidFill>
                <a:latin typeface="Arial" panose="020B0604020202020204" pitchFamily="34" charset="0"/>
              </a:rPr>
              <a:t>Analysability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 b="1">
                <a:solidFill>
                  <a:srgbClr val="083A7F"/>
                </a:solidFill>
                <a:latin typeface="Arial" panose="020B0604020202020204" pitchFamily="34" charset="0"/>
              </a:rPr>
              <a:t>	Stability</a:t>
            </a:r>
            <a:endParaRPr lang="en-US" altLang="en-US" sz="1600">
              <a:solidFill>
                <a:srgbClr val="00FF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Portability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Adaptability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</a:t>
            </a:r>
            <a:r>
              <a:rPr lang="en-US" altLang="en-US" sz="1600" b="1">
                <a:solidFill>
                  <a:srgbClr val="083A7F"/>
                </a:solidFill>
                <a:latin typeface="Arial" panose="020B0604020202020204" pitchFamily="34" charset="0"/>
              </a:rPr>
              <a:t>Installability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 b="1">
                <a:solidFill>
                  <a:srgbClr val="083A7F"/>
                </a:solidFill>
                <a:latin typeface="Arial" panose="020B0604020202020204" pitchFamily="34" charset="0"/>
              </a:rPr>
              <a:t>	Conformance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 b="1">
                <a:solidFill>
                  <a:srgbClr val="083A7F"/>
                </a:solidFill>
                <a:latin typeface="Arial" panose="020B0604020202020204" pitchFamily="34" charset="0"/>
              </a:rPr>
              <a:t>	Replaceability</a:t>
            </a:r>
            <a:endParaRPr lang="en-US" altLang="en-US" sz="1800" b="1">
              <a:latin typeface="Arial" panose="020B0604020202020204" pitchFamily="34" charset="0"/>
            </a:endParaRPr>
          </a:p>
        </p:txBody>
      </p:sp>
      <p:sp>
        <p:nvSpPr>
          <p:cNvPr id="35843" name="Text Box 3">
            <a:extLst>
              <a:ext uri="{FF2B5EF4-FFF2-40B4-BE49-F238E27FC236}">
                <a16:creationId xmlns:a16="http://schemas.microsoft.com/office/drawing/2014/main" id="{2166E2F1-B7E8-F5BA-7BA5-D111D036D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09600"/>
            <a:ext cx="1597025" cy="581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tabLst>
                <a:tab pos="190500" algn="l"/>
                <a:tab pos="381000" algn="l"/>
              </a:tabLst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90500" algn="l"/>
                <a:tab pos="381000" algn="l"/>
              </a:tabLs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90500" algn="l"/>
                <a:tab pos="381000" algn="l"/>
              </a:tabLst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90500" algn="l"/>
                <a:tab pos="381000" algn="l"/>
              </a:tabLst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90500" algn="l"/>
                <a:tab pos="38100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90500" algn="l"/>
                <a:tab pos="38100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90500" algn="l"/>
                <a:tab pos="38100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90500" algn="l"/>
                <a:tab pos="38100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tabLst>
                <a:tab pos="190500" algn="l"/>
                <a:tab pos="381000" algn="l"/>
              </a:tabLst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McCall</a:t>
            </a:r>
            <a:endParaRPr lang="en-US" altLang="en-US" sz="1800" b="1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Operation:</a:t>
            </a: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Integrity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</a:t>
            </a:r>
            <a:r>
              <a:rPr lang="en-US" altLang="en-US" sz="1600" b="1">
                <a:solidFill>
                  <a:srgbClr val="083A7F"/>
                </a:solidFill>
                <a:latin typeface="Arial" panose="020B0604020202020204" pitchFamily="34" charset="0"/>
              </a:rPr>
              <a:t>Correctness</a:t>
            </a: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Reliability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Usability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Efficiency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Revision: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Maintainability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Testability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Flexibility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Transition: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Portability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Interoperability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	</a:t>
            </a:r>
            <a:r>
              <a:rPr lang="en-US" altLang="en-US" sz="1600" b="1">
                <a:solidFill>
                  <a:srgbClr val="083A7F"/>
                </a:solidFill>
                <a:latin typeface="Arial" panose="020B0604020202020204" pitchFamily="34" charset="0"/>
              </a:rPr>
              <a:t>Reusability</a:t>
            </a:r>
            <a:endParaRPr lang="en-US" altLang="en-US" sz="1600" b="1">
              <a:latin typeface="Arial" panose="020B0604020202020204" pitchFamily="34" charset="0"/>
            </a:endParaRPr>
          </a:p>
        </p:txBody>
      </p:sp>
      <p:grpSp>
        <p:nvGrpSpPr>
          <p:cNvPr id="504836" name="Group 4">
            <a:extLst>
              <a:ext uri="{FF2B5EF4-FFF2-40B4-BE49-F238E27FC236}">
                <a16:creationId xmlns:a16="http://schemas.microsoft.com/office/drawing/2014/main" id="{06CB0B67-63DA-DD19-5948-82989C4A741B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1295400"/>
            <a:ext cx="2286000" cy="4724400"/>
            <a:chOff x="1248" y="816"/>
            <a:chExt cx="1440" cy="2976"/>
          </a:xfrm>
        </p:grpSpPr>
        <p:sp>
          <p:nvSpPr>
            <p:cNvPr id="35852" name="Freeform 5">
              <a:extLst>
                <a:ext uri="{FF2B5EF4-FFF2-40B4-BE49-F238E27FC236}">
                  <a16:creationId xmlns:a16="http://schemas.microsoft.com/office/drawing/2014/main" id="{290CEFC2-ED85-9868-312C-58F0BCDB2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152"/>
              <a:ext cx="1152" cy="2640"/>
            </a:xfrm>
            <a:custGeom>
              <a:avLst/>
              <a:gdLst>
                <a:gd name="T0" fmla="*/ 3720 w 641"/>
                <a:gd name="T1" fmla="*/ 0 h 3024"/>
                <a:gd name="T2" fmla="*/ 0 w 641"/>
                <a:gd name="T3" fmla="*/ 2012 h 30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41" h="3024">
                  <a:moveTo>
                    <a:pt x="641" y="0"/>
                  </a:moveTo>
                  <a:lnTo>
                    <a:pt x="0" y="302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36000" rIns="36000" bIns="36000" anchor="ctr">
              <a:spAutoFit/>
            </a:bodyPr>
            <a:lstStyle/>
            <a:p>
              <a:endParaRPr lang="en-GB"/>
            </a:p>
          </p:txBody>
        </p:sp>
        <p:sp>
          <p:nvSpPr>
            <p:cNvPr id="35853" name="Line 6">
              <a:extLst>
                <a:ext uri="{FF2B5EF4-FFF2-40B4-BE49-F238E27FC236}">
                  <a16:creationId xmlns:a16="http://schemas.microsoft.com/office/drawing/2014/main" id="{FD813E68-D68A-5C56-EC6B-E167C35F62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8" y="816"/>
              <a:ext cx="1440" cy="15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36000" tIns="36000" rIns="36000" bIns="36000" anchor="ctr">
              <a:spAutoFit/>
            </a:bodyPr>
            <a:lstStyle/>
            <a:p>
              <a:endParaRPr lang="en-GB"/>
            </a:p>
          </p:txBody>
        </p:sp>
      </p:grpSp>
      <p:grpSp>
        <p:nvGrpSpPr>
          <p:cNvPr id="504839" name="Group 7">
            <a:extLst>
              <a:ext uri="{FF2B5EF4-FFF2-40B4-BE49-F238E27FC236}">
                <a16:creationId xmlns:a16="http://schemas.microsoft.com/office/drawing/2014/main" id="{3373908B-D122-8E2F-1C4B-B458BC86CD4E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1625600"/>
            <a:ext cx="2286000" cy="4165600"/>
            <a:chOff x="1248" y="1024"/>
            <a:chExt cx="1440" cy="2624"/>
          </a:xfrm>
        </p:grpSpPr>
        <p:sp>
          <p:nvSpPr>
            <p:cNvPr id="35847" name="Line 8">
              <a:extLst>
                <a:ext uri="{FF2B5EF4-FFF2-40B4-BE49-F238E27FC236}">
                  <a16:creationId xmlns:a16="http://schemas.microsoft.com/office/drawing/2014/main" id="{97024162-9196-4DFA-98BC-7C3E16F8D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024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36000" tIns="36000" rIns="36000" bIns="36000" anchor="ctr">
              <a:spAutoFit/>
            </a:bodyPr>
            <a:lstStyle/>
            <a:p>
              <a:endParaRPr lang="en-GB"/>
            </a:p>
          </p:txBody>
        </p:sp>
        <p:sp>
          <p:nvSpPr>
            <p:cNvPr id="35848" name="Line 9">
              <a:extLst>
                <a:ext uri="{FF2B5EF4-FFF2-40B4-BE49-F238E27FC236}">
                  <a16:creationId xmlns:a16="http://schemas.microsoft.com/office/drawing/2014/main" id="{653A80B1-B04A-4B30-C3D9-0FAA22545C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792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36000" tIns="36000" rIns="36000" bIns="36000" anchor="ctr">
              <a:spAutoFit/>
            </a:bodyPr>
            <a:lstStyle/>
            <a:p>
              <a:endParaRPr lang="en-GB"/>
            </a:p>
          </p:txBody>
        </p:sp>
        <p:sp>
          <p:nvSpPr>
            <p:cNvPr id="35849" name="Line 10">
              <a:extLst>
                <a:ext uri="{FF2B5EF4-FFF2-40B4-BE49-F238E27FC236}">
                  <a16:creationId xmlns:a16="http://schemas.microsoft.com/office/drawing/2014/main" id="{AE6BAD55-FABE-CC01-DA42-D4E29EE179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416"/>
              <a:ext cx="13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36000" tIns="36000" rIns="36000" bIns="36000" anchor="ctr">
              <a:spAutoFit/>
            </a:bodyPr>
            <a:lstStyle/>
            <a:p>
              <a:endParaRPr lang="en-GB"/>
            </a:p>
          </p:txBody>
        </p:sp>
        <p:sp>
          <p:nvSpPr>
            <p:cNvPr id="35850" name="Line 11">
              <a:extLst>
                <a:ext uri="{FF2B5EF4-FFF2-40B4-BE49-F238E27FC236}">
                  <a16:creationId xmlns:a16="http://schemas.microsoft.com/office/drawing/2014/main" id="{80C11C7A-EC45-E59D-9166-5E41245648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032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36000" tIns="36000" rIns="36000" bIns="36000" anchor="ctr">
              <a:spAutoFit/>
            </a:bodyPr>
            <a:lstStyle/>
            <a:p>
              <a:endParaRPr lang="en-GB"/>
            </a:p>
          </p:txBody>
        </p:sp>
        <p:sp>
          <p:nvSpPr>
            <p:cNvPr id="35851" name="Line 12">
              <a:extLst>
                <a:ext uri="{FF2B5EF4-FFF2-40B4-BE49-F238E27FC236}">
                  <a16:creationId xmlns:a16="http://schemas.microsoft.com/office/drawing/2014/main" id="{6F6611B0-8454-66B6-3067-C6BCFD072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648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36000" tIns="36000" rIns="36000" bIns="36000" anchor="ctr">
              <a:spAutoFit/>
            </a:bodyPr>
            <a:lstStyle/>
            <a:p>
              <a:endParaRPr lang="en-GB"/>
            </a:p>
          </p:txBody>
        </p:sp>
      </p:grpSp>
      <p:sp>
        <p:nvSpPr>
          <p:cNvPr id="35846" name="Slide Number Placeholder 1">
            <a:extLst>
              <a:ext uri="{FF2B5EF4-FFF2-40B4-BE49-F238E27FC236}">
                <a16:creationId xmlns:a16="http://schemas.microsoft.com/office/drawing/2014/main" id="{F5772C38-A571-D86C-8875-712468BBC5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BA6C5752-326D-4A4E-A0A0-CCAB1117D877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19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83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214B979C-5627-5E68-544B-D76C7C15B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A36B7FCF-3111-38F2-D802-AFD0F4B897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AU" altLang="en-US"/>
          </a:p>
          <a:p>
            <a:pPr marL="0" indent="0">
              <a:buFont typeface="Wingdings" panose="05000000000000000000" pitchFamily="2" charset="2"/>
              <a:buNone/>
            </a:pPr>
            <a:endParaRPr lang="en-AU" altLang="en-US"/>
          </a:p>
          <a:p>
            <a:pPr marL="0" indent="0">
              <a:buFont typeface="Wingdings" panose="05000000000000000000" pitchFamily="2" charset="2"/>
              <a:buNone/>
            </a:pPr>
            <a:endParaRPr lang="en-AU" altLang="en-US"/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AU" altLang="en-US"/>
              <a:t>BREAK</a:t>
            </a:r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76725FDC-A62A-1C6C-4737-D99C93E559A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FE497E4A-0CDE-4439-8D46-F970F7F1AAD5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20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88D410A-AB76-446B-96F2-BE6A58969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4000"/>
            <a:ext cx="7162800" cy="4953000"/>
          </a:xfrm>
          <a:prstGeom prst="rect">
            <a:avLst/>
          </a:prstGeom>
          <a:solidFill>
            <a:srgbClr val="E1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>
              <a:latin typeface="Helvetica" panose="020B0604020202020204" pitchFamily="34" charset="0"/>
            </a:endParaRPr>
          </a:p>
        </p:txBody>
      </p:sp>
      <p:pic>
        <p:nvPicPr>
          <p:cNvPr id="38915" name="Picture 6" descr="roadmap">
            <a:extLst>
              <a:ext uri="{FF2B5EF4-FFF2-40B4-BE49-F238E27FC236}">
                <a16:creationId xmlns:a16="http://schemas.microsoft.com/office/drawing/2014/main" id="{7A658087-4DB4-17D8-994A-4CC248DC1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654175"/>
            <a:ext cx="4191000" cy="475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6340" name="Rectangle 4">
            <a:extLst>
              <a:ext uri="{FF2B5EF4-FFF2-40B4-BE49-F238E27FC236}">
                <a16:creationId xmlns:a16="http://schemas.microsoft.com/office/drawing/2014/main" id="{2EE01457-AFEF-00C3-3C5E-DA2D71055F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Outline</a:t>
            </a:r>
          </a:p>
        </p:txBody>
      </p:sp>
      <p:sp>
        <p:nvSpPr>
          <p:cNvPr id="38917" name="Rectangle 4">
            <a:extLst>
              <a:ext uri="{FF2B5EF4-FFF2-40B4-BE49-F238E27FC236}">
                <a16:creationId xmlns:a16="http://schemas.microsoft.com/office/drawing/2014/main" id="{5176959F-A6FA-0A56-37CE-FB0825806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371600"/>
            <a:ext cx="69977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 sz="3600" b="1">
              <a:solidFill>
                <a:schemeClr val="tx2"/>
              </a:solidFill>
            </a:endParaRPr>
          </a:p>
        </p:txBody>
      </p:sp>
      <p:sp>
        <p:nvSpPr>
          <p:cNvPr id="38918" name="Rectangle 6">
            <a:extLst>
              <a:ext uri="{FF2B5EF4-FFF2-40B4-BE49-F238E27FC236}">
                <a16:creationId xmlns:a16="http://schemas.microsoft.com/office/drawing/2014/main" id="{E385B28C-9FC5-BDB4-C8E7-62C677FBC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143000"/>
            <a:ext cx="7543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85750" indent="-285750"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6200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/>
            <a:r>
              <a:rPr lang="en-US" altLang="en-US"/>
              <a:t>Software Quality</a:t>
            </a:r>
          </a:p>
          <a:p>
            <a:pPr lvl="1" eaLnBrk="1" hangingPunct="1"/>
            <a:r>
              <a:rPr lang="en-US" altLang="en-US"/>
              <a:t>Quality Models</a:t>
            </a:r>
          </a:p>
          <a:p>
            <a:pPr eaLnBrk="1" hangingPunct="1"/>
            <a:r>
              <a:rPr lang="en-US" altLang="en-US" b="1"/>
              <a:t>Quality Attributes</a:t>
            </a:r>
            <a:endParaRPr lang="en-US" altLang="en-US"/>
          </a:p>
          <a:p>
            <a:pPr lvl="1" eaLnBrk="1" hangingPunct="1"/>
            <a:r>
              <a:rPr lang="en-US" altLang="en-US"/>
              <a:t>Quality Attribute Scenarios</a:t>
            </a:r>
          </a:p>
          <a:p>
            <a:pPr eaLnBrk="1" hangingPunct="1"/>
            <a:r>
              <a:rPr lang="en-US" altLang="en-US"/>
              <a:t>Requirements V&amp;V</a:t>
            </a:r>
          </a:p>
        </p:txBody>
      </p:sp>
      <p:sp>
        <p:nvSpPr>
          <p:cNvPr id="38919" name="Slide Number Placeholder 1">
            <a:extLst>
              <a:ext uri="{FF2B5EF4-FFF2-40B4-BE49-F238E27FC236}">
                <a16:creationId xmlns:a16="http://schemas.microsoft.com/office/drawing/2014/main" id="{49B62F4C-B71A-BA4A-FE7B-167E7FFB7B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35B81ED2-F588-4892-8037-C2B084790115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21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EED4A079-0982-2A91-75F4-357341C3C535}"/>
              </a:ext>
            </a:extLst>
          </p:cNvPr>
          <p:cNvSpPr txBox="1">
            <a:spLocks noGrp="1"/>
          </p:cNvSpPr>
          <p:nvPr/>
        </p:nvSpPr>
        <p:spPr bwMode="auto">
          <a:xfrm>
            <a:off x="6781800" y="6172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SzTx/>
              <a:buFontTx/>
              <a:buNone/>
            </a:pPr>
            <a:fld id="{45C912F3-2E1F-4AE2-8F5A-F0E7E0DC3103}" type="slidenum">
              <a:rPr lang="en-AU" altLang="en-US" sz="1400">
                <a:latin typeface="Times New Roman" panose="02020603050405020304" pitchFamily="18" charset="0"/>
              </a:rPr>
              <a:pPr algn="r">
                <a:spcBef>
                  <a:spcPct val="0"/>
                </a:spcBef>
                <a:buSzTx/>
                <a:buFontTx/>
                <a:buNone/>
              </a:pPr>
              <a:t>22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 algn="r"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498691" name="Rectangle 2">
            <a:extLst>
              <a:ext uri="{FF2B5EF4-FFF2-40B4-BE49-F238E27FC236}">
                <a16:creationId xmlns:a16="http://schemas.microsoft.com/office/drawing/2014/main" id="{EDE349B3-B0C1-8BB7-256B-B9A220E2D4A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Quality Attributes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87281BAF-ED20-97A1-4523-05017CB1933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400"/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Quality attributes apply both to the </a:t>
            </a:r>
            <a:r>
              <a:rPr lang="en-US" altLang="en-US" sz="2400" i="1">
                <a:solidFill>
                  <a:srgbClr val="7E0000"/>
                </a:solidFill>
              </a:rPr>
              <a:t>product</a:t>
            </a:r>
            <a:r>
              <a:rPr lang="en-US" altLang="en-US" sz="2400"/>
              <a:t> and the </a:t>
            </a:r>
            <a:r>
              <a:rPr lang="en-US" altLang="en-US" sz="2400" i="1">
                <a:solidFill>
                  <a:srgbClr val="7E0000"/>
                </a:solidFill>
              </a:rPr>
              <a:t>process</a:t>
            </a:r>
            <a:r>
              <a:rPr lang="en-US" altLang="en-US" sz="2400"/>
              <a:t>.</a:t>
            </a:r>
          </a:p>
          <a:p>
            <a:pPr marL="342900" indent="-342900">
              <a:lnSpc>
                <a:spcPct val="90000"/>
              </a:lnSpc>
            </a:pPr>
            <a:r>
              <a:rPr lang="en-US" altLang="en-US" sz="2400" b="1" i="1"/>
              <a:t>product</a:t>
            </a:r>
            <a:r>
              <a:rPr lang="en-US" altLang="en-US" sz="2400"/>
              <a:t>: delivered to the customer</a:t>
            </a:r>
          </a:p>
          <a:p>
            <a:pPr marL="342900" indent="-342900">
              <a:lnSpc>
                <a:spcPct val="90000"/>
              </a:lnSpc>
            </a:pPr>
            <a:r>
              <a:rPr lang="en-US" altLang="en-US" sz="2400" b="1" i="1"/>
              <a:t>process:</a:t>
            </a:r>
            <a:r>
              <a:rPr lang="en-US" altLang="en-US" sz="2400"/>
              <a:t> produces the software product</a:t>
            </a:r>
          </a:p>
          <a:p>
            <a:pPr marL="342900" indent="-342900">
              <a:lnSpc>
                <a:spcPct val="90000"/>
              </a:lnSpc>
            </a:pPr>
            <a:r>
              <a:rPr lang="en-US" altLang="en-US" sz="2400" b="1" i="1"/>
              <a:t>resources:</a:t>
            </a:r>
            <a:r>
              <a:rPr lang="en-US" altLang="en-US" sz="2400"/>
              <a:t> (both the product and the process require resources)</a:t>
            </a: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F"/>
            </a:pPr>
            <a:r>
              <a:rPr lang="en-US" altLang="en-US" sz="2400"/>
              <a:t>Underlying assumption: </a:t>
            </a:r>
            <a:r>
              <a:rPr lang="en-US" altLang="en-US" sz="2400" i="1">
                <a:solidFill>
                  <a:srgbClr val="7E0000"/>
                </a:solidFill>
              </a:rPr>
              <a:t>a quality process leads to a quality product</a:t>
            </a:r>
            <a:r>
              <a:rPr lang="en-US" altLang="en-US" sz="2400"/>
              <a:t> (cf. metaphor of manufacturing lines).</a:t>
            </a: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F"/>
            </a:pPr>
            <a:r>
              <a:rPr lang="en-US" altLang="en-US" sz="2400"/>
              <a:t>This is not necessarily true for software! Perhaps the appropriate statement is: </a:t>
            </a:r>
            <a:r>
              <a:rPr lang="en-US" altLang="en-US" sz="2400" i="1">
                <a:solidFill>
                  <a:srgbClr val="7E0000"/>
                </a:solidFill>
              </a:rPr>
              <a:t>“A quality process is </a:t>
            </a:r>
            <a:r>
              <a:rPr lang="en-US" altLang="en-US" sz="2400" i="1" u="sng">
                <a:solidFill>
                  <a:srgbClr val="7E0000"/>
                </a:solidFill>
              </a:rPr>
              <a:t>more likely </a:t>
            </a:r>
            <a:r>
              <a:rPr lang="en-US" altLang="en-US" sz="2400" i="1">
                <a:solidFill>
                  <a:srgbClr val="7E0000"/>
                </a:solidFill>
              </a:rPr>
              <a:t>to lead to quality software more often”.</a:t>
            </a: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F"/>
            </a:pPr>
            <a:endParaRPr lang="en-US" altLang="en-US" sz="2400"/>
          </a:p>
        </p:txBody>
      </p:sp>
      <p:sp>
        <p:nvSpPr>
          <p:cNvPr id="40965" name="Slide Number Placeholder 1">
            <a:extLst>
              <a:ext uri="{FF2B5EF4-FFF2-40B4-BE49-F238E27FC236}">
                <a16:creationId xmlns:a16="http://schemas.microsoft.com/office/drawing/2014/main" id="{C220298E-40BA-F9B0-3DB1-BB089DF648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5953DA2E-3F0B-4547-A0A7-896E4C261BA7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22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/>
          <p:cNvSpPr/>
          <p:nvPr/>
        </p:nvSpPr>
        <p:spPr>
          <a:xfrm>
            <a:off x="0" y="0"/>
            <a:ext cx="9144000" cy="5300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txBody>
          <a:bodyPr lIns="180000" anchor="ctr"/>
          <a:lstStyle/>
          <a:p>
            <a:pPr algn="l">
              <a:buNone/>
            </a:pPr>
            <a:r>
              <a:rPr lang="en-AU" sz="2600" b="1" dirty="0">
                <a:solidFill>
                  <a:srgbClr val="FFFFFF"/>
                </a:solidFill>
              </a:rPr>
              <a:t>Quality Attributes: Product, Process &amp; Resources</a:t>
            </a:r>
          </a:p>
        </p:txBody>
      </p:sp>
      <p:sp>
        <p:nvSpPr>
          <p:cNvPr id="21" name="LeftHdr"/>
          <p:cNvSpPr/>
          <p:nvPr/>
        </p:nvSpPr>
        <p:spPr>
          <a:xfrm>
            <a:off x="228600" y="570000"/>
            <a:ext cx="3885600" cy="270000"/>
          </a:xfrm>
          <a:prstGeom prst="rect">
            <a:avLst/>
          </a:prstGeom>
          <a:solidFill>
            <a:srgbClr val="004D3D"/>
          </a:solidFill>
          <a:ln>
            <a:noFill/>
          </a:ln>
        </p:spPr>
        <p:txBody>
          <a:bodyPr lIns="91440" anchor="ctr"/>
          <a:lstStyle/>
          <a:p>
            <a:pPr algn="ctr">
              <a:buNone/>
            </a:pPr>
            <a:r>
              <a:rPr lang="en-AU" sz="1600" b="1" dirty="0">
                <a:solidFill>
                  <a:srgbClr val="FFFFFF"/>
                </a:solidFill>
              </a:rPr>
              <a:t>The Three Quality Perspectives</a:t>
            </a:r>
          </a:p>
        </p:txBody>
      </p:sp>
      <p:sp>
        <p:nvSpPr>
          <p:cNvPr id="22" name="RightHdr"/>
          <p:cNvSpPr/>
          <p:nvPr/>
        </p:nvSpPr>
        <p:spPr>
          <a:xfrm>
            <a:off x="4685400" y="570000"/>
            <a:ext cx="4230000" cy="270000"/>
          </a:xfrm>
          <a:prstGeom prst="rect">
            <a:avLst/>
          </a:prstGeom>
          <a:solidFill>
            <a:srgbClr val="004D3D"/>
          </a:solidFill>
          <a:ln>
            <a:noFill/>
          </a:ln>
        </p:spPr>
        <p:txBody>
          <a:bodyPr lIns="91440" anchor="ctr"/>
          <a:lstStyle/>
          <a:p>
            <a:pPr algn="ctr">
              <a:buNone/>
            </a:pPr>
            <a:r>
              <a:rPr lang="en-AU" sz="1600" b="1" dirty="0">
                <a:solidFill>
                  <a:srgbClr val="FFFFFF"/>
                </a:solidFill>
              </a:rPr>
              <a:t>Manufacturing vs Software Reality</a:t>
            </a:r>
          </a:p>
        </p:txBody>
      </p:sp>
      <p:sp>
        <p:nvSpPr>
          <p:cNvPr id="23" name="ProductBox"/>
          <p:cNvSpPr/>
          <p:nvPr/>
        </p:nvSpPr>
        <p:spPr>
          <a:xfrm>
            <a:off x="1371400" y="1196752"/>
            <a:ext cx="1600000" cy="560000"/>
          </a:xfrm>
          <a:prstGeom prst="roundRect">
            <a:avLst/>
          </a:prstGeom>
          <a:solidFill>
            <a:srgbClr val="7E0000"/>
          </a:solidFill>
          <a:ln w="19050">
            <a:solidFill>
              <a:srgbClr val="7E0000"/>
            </a:solidFill>
          </a:ln>
        </p:spPr>
        <p:txBody>
          <a:bodyPr lIns="60960" rIns="60960" anchor="ctr"/>
          <a:lstStyle/>
          <a:p>
            <a:pPr algn="ctr">
              <a:buNone/>
            </a:pPr>
            <a:r>
              <a:rPr lang="en-AU" sz="1600" b="1" dirty="0">
                <a:solidFill>
                  <a:srgbClr val="FFFFFF"/>
                </a:solidFill>
              </a:rPr>
              <a:t>PRODUCT</a:t>
            </a:r>
          </a:p>
          <a:p>
            <a:pPr algn="ctr">
              <a:buNone/>
            </a:pPr>
            <a:r>
              <a:rPr lang="en-AU" sz="1300" dirty="0">
                <a:solidFill>
                  <a:srgbClr val="FFCCCC"/>
                </a:solidFill>
              </a:rPr>
              <a:t>Delivered to customer</a:t>
            </a:r>
          </a:p>
        </p:txBody>
      </p:sp>
      <p:sp>
        <p:nvSpPr>
          <p:cNvPr id="24" name="ProcessBox"/>
          <p:cNvSpPr/>
          <p:nvPr/>
        </p:nvSpPr>
        <p:spPr>
          <a:xfrm>
            <a:off x="300000" y="2136752"/>
            <a:ext cx="1600000" cy="560000"/>
          </a:xfrm>
          <a:prstGeom prst="roundRect">
            <a:avLst/>
          </a:prstGeom>
          <a:solidFill>
            <a:srgbClr val="083A7F"/>
          </a:solidFill>
          <a:ln w="19050">
            <a:solidFill>
              <a:srgbClr val="083A7F"/>
            </a:solidFill>
          </a:ln>
        </p:spPr>
        <p:txBody>
          <a:bodyPr lIns="60960" rIns="60960" anchor="ctr"/>
          <a:lstStyle/>
          <a:p>
            <a:pPr algn="ctr">
              <a:buNone/>
            </a:pPr>
            <a:r>
              <a:rPr lang="en-AU" sz="1600" b="1" dirty="0">
                <a:solidFill>
                  <a:srgbClr val="FFFFFF"/>
                </a:solidFill>
              </a:rPr>
              <a:t>PROCESS</a:t>
            </a:r>
          </a:p>
          <a:p>
            <a:pPr algn="ctr">
              <a:buNone/>
            </a:pPr>
            <a:r>
              <a:rPr lang="en-AU" sz="1300" dirty="0">
                <a:solidFill>
                  <a:srgbClr val="AACCFF"/>
                </a:solidFill>
              </a:rPr>
              <a:t>Produces the software</a:t>
            </a:r>
          </a:p>
        </p:txBody>
      </p:sp>
      <p:sp>
        <p:nvSpPr>
          <p:cNvPr id="25" name="ResourcesBox"/>
          <p:cNvSpPr/>
          <p:nvPr/>
        </p:nvSpPr>
        <p:spPr>
          <a:xfrm>
            <a:off x="2200000" y="2136752"/>
            <a:ext cx="1600000" cy="560000"/>
          </a:xfrm>
          <a:prstGeom prst="roundRect">
            <a:avLst/>
          </a:prstGeom>
          <a:solidFill>
            <a:srgbClr val="4A4A4A"/>
          </a:solidFill>
          <a:ln w="19050">
            <a:solidFill>
              <a:srgbClr val="4A4A4A"/>
            </a:solidFill>
          </a:ln>
        </p:spPr>
        <p:txBody>
          <a:bodyPr lIns="60960" rIns="60960" anchor="ctr"/>
          <a:lstStyle/>
          <a:p>
            <a:pPr algn="ctr">
              <a:buNone/>
            </a:pPr>
            <a:r>
              <a:rPr lang="en-AU" sz="1600" b="1" dirty="0">
                <a:solidFill>
                  <a:srgbClr val="FFFFFF"/>
                </a:solidFill>
              </a:rPr>
              <a:t>RESOURCES</a:t>
            </a:r>
          </a:p>
          <a:p>
            <a:pPr algn="ctr">
              <a:buNone/>
            </a:pPr>
            <a:r>
              <a:rPr lang="en-AU" sz="1300" dirty="0">
                <a:solidFill>
                  <a:srgbClr val="DDDDDD"/>
                </a:solidFill>
              </a:rPr>
              <a:t>People, tools, time</a:t>
            </a:r>
          </a:p>
        </p:txBody>
      </p:sp>
      <p:sp>
        <p:nvSpPr>
          <p:cNvPr id="26" name="Arrow1"/>
          <p:cNvSpPr/>
          <p:nvPr/>
        </p:nvSpPr>
        <p:spPr>
          <a:xfrm>
            <a:off x="700000" y="1826752"/>
            <a:ext cx="1400000" cy="24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AU" sz="1300" dirty="0">
                <a:solidFill>
                  <a:srgbClr val="083A7F"/>
                </a:solidFill>
              </a:rPr>
              <a:t>↑ produces</a:t>
            </a:r>
          </a:p>
        </p:txBody>
      </p:sp>
      <p:sp>
        <p:nvSpPr>
          <p:cNvPr id="27" name="Arrow2"/>
          <p:cNvSpPr/>
          <p:nvPr/>
        </p:nvSpPr>
        <p:spPr>
          <a:xfrm>
            <a:off x="2200000" y="1826752"/>
            <a:ext cx="1500000" cy="24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AU" sz="1300" dirty="0">
                <a:solidFill>
                  <a:srgbClr val="4A4A4A"/>
                </a:solidFill>
              </a:rPr>
              <a:t>↑ consumes</a:t>
            </a:r>
          </a:p>
        </p:txBody>
      </p:sp>
      <p:sp>
        <p:nvSpPr>
          <p:cNvPr id="28" name="Divider"/>
          <p:cNvSpPr/>
          <p:nvPr/>
        </p:nvSpPr>
        <p:spPr>
          <a:xfrm>
            <a:off x="4571400" y="570000"/>
            <a:ext cx="76200" cy="570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  <p:graphicFrame>
        <p:nvGraphicFramePr>
          <p:cNvPr id="29" name="CompareTable"/>
          <p:cNvGraphicFramePr>
            <a:graphicFrameLocks noGrp="1"/>
          </p:cNvGraphicFramePr>
          <p:nvPr/>
        </p:nvGraphicFramePr>
        <p:xfrm>
          <a:off x="4685400" y="900000"/>
          <a:ext cx="4230000" cy="4236720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4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004D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400" b="1" dirty="0">
                          <a:solidFill>
                            <a:srgbClr val="FFFFFF"/>
                          </a:solidFill>
                        </a:rPr>
                        <a:t>Manufacturing</a:t>
                      </a:r>
                    </a:p>
                  </a:txBody>
                  <a:tcPr>
                    <a:solidFill>
                      <a:srgbClr val="004D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400" b="1" dirty="0">
                          <a:solidFill>
                            <a:srgbClr val="FFFFFF"/>
                          </a:solidFill>
                        </a:rPr>
                        <a:t>Software</a:t>
                      </a:r>
                    </a:p>
                  </a:txBody>
                  <a:tcPr>
                    <a:solidFill>
                      <a:srgbClr val="004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300" b="1" dirty="0"/>
                        <a:t>Process → Product link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300" dirty="0"/>
                        <a:t>✔ Consistent, repeatable. Same process always yields same product.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300" dirty="0"/>
                        <a:t>⚠ Creative, human. Good process improves chances but doesn't guarantee it.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300" b="1" dirty="0"/>
                        <a:t>Measurability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300" dirty="0"/>
                        <a:t>✔ Defects per unit easy to count. Tolerances are physical.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300" dirty="0"/>
                        <a:t>⚠ Defects are invisible. Usability &amp; maintainability hard to measure directly.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300" b="1" dirty="0"/>
                        <a:t>Replicate product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300" dirty="0"/>
                        <a:t>✔ Run the line again. Identical copy.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300" dirty="0"/>
                        <a:t>✔ Trivial (copy a file) — but quality of the original still varies.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300" b="1" dirty="0"/>
                        <a:t>Quality control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300" dirty="0"/>
                        <a:t>✔ Inspect output; reject defects at end of line.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300" dirty="0"/>
                        <a:t>⚠ Must test extensively. Cannot inspect all paths — testing only shows presence of bugs.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AssumptionBox"/>
          <p:cNvSpPr/>
          <p:nvPr/>
        </p:nvSpPr>
        <p:spPr>
          <a:xfrm>
            <a:off x="228600" y="5350000"/>
            <a:ext cx="8686800" cy="660000"/>
          </a:xfrm>
          <a:prstGeom prst="roundRect">
            <a:avLst/>
          </a:prstGeom>
          <a:solidFill>
            <a:srgbClr val="7E0000"/>
          </a:solidFill>
          <a:ln>
            <a:noFill/>
          </a:ln>
        </p:spPr>
        <p:txBody>
          <a:bodyPr lIns="160000" rIns="160000" anchor="ctr"/>
          <a:lstStyle/>
          <a:p>
            <a:pPr algn="ctr">
              <a:buNone/>
            </a:pPr>
            <a:r>
              <a:rPr lang="en-AU" sz="1500" b="1" dirty="0">
                <a:solidFill>
                  <a:srgbClr val="FFFFFF"/>
                </a:solidFill>
              </a:rPr>
              <a:t>Key Takeaway: </a:t>
            </a:r>
            <a:r>
              <a:rPr lang="en-AU" sz="1500" dirty="0">
                <a:solidFill>
                  <a:srgbClr val="FFFFFF"/>
                </a:solidFill>
              </a:rPr>
              <a:t>Unlike manufacturing, a quality process in software does </a:t>
            </a:r>
            <a:r>
              <a:rPr lang="en-AU" sz="1500" b="1" u="sng" dirty="0">
                <a:solidFill>
                  <a:srgbClr val="FFFFFF"/>
                </a:solidFill>
              </a:rPr>
              <a:t>not guarantee</a:t>
            </a:r>
            <a:r>
              <a:rPr lang="en-AU" sz="1500" dirty="0">
                <a:solidFill>
                  <a:srgbClr val="FFFFFF"/>
                </a:solidFill>
              </a:rPr>
              <a:t> a quality product — it only makes it </a:t>
            </a:r>
            <a:r>
              <a:rPr lang="en-AU" sz="1500" b="1" u="sng" dirty="0">
                <a:solidFill>
                  <a:srgbClr val="FFFFFF"/>
                </a:solidFill>
              </a:rPr>
              <a:t>more likely</a:t>
            </a:r>
            <a:r>
              <a:rPr lang="en-AU" sz="1500" dirty="0">
                <a:solidFill>
                  <a:srgbClr val="FFFFFF"/>
                </a:solidFill>
              </a:rPr>
              <a:t>. Software is a creative, human endeavour — not an assembly line.</a:t>
            </a:r>
          </a:p>
        </p:txBody>
      </p:sp>
      <p:sp>
        <p:nvSpPr>
          <p:cNvPr id="31" name="CoverPatch"/>
          <p:cNvSpPr/>
          <p:nvPr/>
        </p:nvSpPr>
        <p:spPr>
          <a:xfrm>
            <a:off x="8534400" y="570000"/>
            <a:ext cx="609600" cy="270000"/>
          </a:xfrm>
          <a:prstGeom prst="rect">
            <a:avLst/>
          </a:prstGeom>
          <a:solidFill>
            <a:srgbClr val="004D3D"/>
          </a:solidFill>
          <a:ln>
            <a:noFill/>
          </a:ln>
        </p:spPr>
        <p:txBody>
          <a:bodyPr/>
          <a:lstStyle/>
          <a:p>
            <a:pPr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5929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3">
            <a:extLst>
              <a:ext uri="{FF2B5EF4-FFF2-40B4-BE49-F238E27FC236}">
                <a16:creationId xmlns:a16="http://schemas.microsoft.com/office/drawing/2014/main" id="{0EFDF87E-978A-64EB-556E-76A0CB61E71B}"/>
              </a:ext>
            </a:extLst>
          </p:cNvPr>
          <p:cNvSpPr txBox="1">
            <a:spLocks noGrp="1"/>
          </p:cNvSpPr>
          <p:nvPr/>
        </p:nvSpPr>
        <p:spPr bwMode="auto">
          <a:xfrm>
            <a:off x="6781800" y="6172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SzTx/>
              <a:buFontTx/>
              <a:buNone/>
            </a:pPr>
            <a:fld id="{3321CAE0-6504-4EC4-9E81-7B9C9B8EFBB6}" type="slidenum">
              <a:rPr lang="en-AU" altLang="en-US" sz="1400">
                <a:latin typeface="Times New Roman" panose="02020603050405020304" pitchFamily="18" charset="0"/>
              </a:rPr>
              <a:pPr algn="r">
                <a:spcBef>
                  <a:spcPct val="0"/>
                </a:spcBef>
                <a:buSzTx/>
                <a:buFontTx/>
                <a:buNone/>
              </a:pPr>
              <a:t>24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 algn="r"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500739" name="Rectangle 2">
            <a:extLst>
              <a:ext uri="{FF2B5EF4-FFF2-40B4-BE49-F238E27FC236}">
                <a16:creationId xmlns:a16="http://schemas.microsoft.com/office/drawing/2014/main" id="{84F6DF69-F2C5-BD57-26A0-34800642A30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Quality Attributes (cont.)</a:t>
            </a:r>
          </a:p>
        </p:txBody>
      </p:sp>
      <p:sp>
        <p:nvSpPr>
          <p:cNvPr id="500740" name="Rectangle 3">
            <a:extLst>
              <a:ext uri="{FF2B5EF4-FFF2-40B4-BE49-F238E27FC236}">
                <a16:creationId xmlns:a16="http://schemas.microsoft.com/office/drawing/2014/main" id="{CFD500C3-A323-C5EE-839A-42535D6412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>
              <a:buFont typeface="Wingdings" charset="0"/>
              <a:buNone/>
              <a:defRPr/>
            </a:pPr>
            <a:endParaRPr lang="en-US" sz="1000">
              <a:ea typeface="+mn-ea"/>
              <a:cs typeface="+mn-cs"/>
            </a:endParaRPr>
          </a:p>
          <a:p>
            <a:pPr marL="342900" indent="-342900">
              <a:buFont typeface="Wingdings" charset="0"/>
              <a:buNone/>
              <a:defRPr/>
            </a:pPr>
            <a:r>
              <a:rPr lang="en-US">
                <a:ea typeface="+mn-ea"/>
                <a:cs typeface="+mn-cs"/>
              </a:rPr>
              <a:t>Quality attributes can be </a:t>
            </a:r>
            <a:r>
              <a:rPr lang="en-US" i="1">
                <a:solidFill>
                  <a:srgbClr val="7E0000"/>
                </a:solidFill>
                <a:ea typeface="+mn-ea"/>
                <a:cs typeface="+mn-cs"/>
              </a:rPr>
              <a:t>external</a:t>
            </a:r>
            <a:r>
              <a:rPr lang="en-US">
                <a:ea typeface="+mn-ea"/>
                <a:cs typeface="+mn-cs"/>
              </a:rPr>
              <a:t> or </a:t>
            </a:r>
            <a:r>
              <a:rPr lang="en-US" i="1">
                <a:solidFill>
                  <a:srgbClr val="7E0000"/>
                </a:solidFill>
                <a:ea typeface="+mn-ea"/>
                <a:cs typeface="+mn-cs"/>
              </a:rPr>
              <a:t>internal</a:t>
            </a:r>
            <a:r>
              <a:rPr lang="en-US">
                <a:ea typeface="+mn-ea"/>
                <a:cs typeface="+mn-cs"/>
              </a:rPr>
              <a:t>.</a:t>
            </a:r>
          </a:p>
          <a:p>
            <a:pPr marL="342900" indent="-342900">
              <a:buFont typeface="Wingdings" charset="0"/>
              <a:buChar char="n"/>
              <a:defRPr/>
            </a:pPr>
            <a:r>
              <a:rPr lang="en-US" sz="2400" b="1" i="1">
                <a:ea typeface="+mn-ea"/>
                <a:cs typeface="+mn-cs"/>
              </a:rPr>
              <a:t>External:</a:t>
            </a:r>
            <a:r>
              <a:rPr lang="en-US" sz="2400">
                <a:ea typeface="+mn-ea"/>
                <a:cs typeface="+mn-cs"/>
              </a:rPr>
              <a:t> Derived from the relationship between the environment and the system (or the process).</a:t>
            </a:r>
          </a:p>
          <a:p>
            <a:pPr marL="742950" lvl="1">
              <a:buFont typeface="Wingdings" charset="0"/>
              <a:buChar char="¨"/>
              <a:defRPr/>
            </a:pPr>
            <a:r>
              <a:rPr lang="en-US" sz="2000">
                <a:ea typeface="+mn-ea"/>
              </a:rPr>
              <a:t>Often relate to </a:t>
            </a:r>
            <a:r>
              <a:rPr lang="en-US" sz="2000" i="1">
                <a:solidFill>
                  <a:srgbClr val="7E0000"/>
                </a:solidFill>
                <a:ea typeface="+mn-ea"/>
              </a:rPr>
              <a:t>form</a:t>
            </a:r>
            <a:r>
              <a:rPr lang="en-US" sz="2000">
                <a:ea typeface="+mn-ea"/>
              </a:rPr>
              <a:t>, not function</a:t>
            </a:r>
          </a:p>
          <a:p>
            <a:pPr marL="742950" lvl="1">
              <a:buFont typeface="Wingdings" charset="0"/>
              <a:buChar char="¨"/>
              <a:defRPr/>
            </a:pPr>
            <a:r>
              <a:rPr lang="en-US" sz="2000">
                <a:ea typeface="+mn-ea"/>
              </a:rPr>
              <a:t>e.g. Reliability, Usability</a:t>
            </a:r>
          </a:p>
          <a:p>
            <a:pPr marL="342900" indent="-342900">
              <a:buFont typeface="Wingdings" charset="0"/>
              <a:buChar char="n"/>
              <a:defRPr/>
            </a:pPr>
            <a:r>
              <a:rPr lang="en-US" sz="2400" b="1" i="1">
                <a:ea typeface="+mn-ea"/>
                <a:cs typeface="+mn-cs"/>
              </a:rPr>
              <a:t>Internal:</a:t>
            </a:r>
            <a:r>
              <a:rPr lang="en-US" sz="2400">
                <a:ea typeface="+mn-ea"/>
                <a:cs typeface="+mn-cs"/>
              </a:rPr>
              <a:t> Derived immediately from the product or process description:</a:t>
            </a:r>
          </a:p>
          <a:p>
            <a:pPr marL="742950" lvl="1">
              <a:buFont typeface="Wingdings" charset="0"/>
              <a:buChar char="¨"/>
              <a:defRPr/>
            </a:pPr>
            <a:r>
              <a:rPr lang="en-US" sz="2000">
                <a:ea typeface="+mn-ea"/>
              </a:rPr>
              <a:t>Underlying assumption: </a:t>
            </a:r>
            <a:r>
              <a:rPr lang="en-US" sz="2000" i="1">
                <a:solidFill>
                  <a:srgbClr val="7E0000"/>
                </a:solidFill>
                <a:ea typeface="+mn-ea"/>
              </a:rPr>
              <a:t>internal quality leads to external quality</a:t>
            </a:r>
            <a:r>
              <a:rPr lang="en-US" sz="2000">
                <a:ea typeface="+mn-ea"/>
              </a:rPr>
              <a:t> (cf. metaphor manufacturing lines)</a:t>
            </a:r>
          </a:p>
          <a:p>
            <a:pPr marL="742950" lvl="1">
              <a:buFont typeface="Wingdings" charset="0"/>
              <a:buChar char="¨"/>
              <a:defRPr/>
            </a:pPr>
            <a:r>
              <a:rPr lang="en-US" sz="2000">
                <a:ea typeface="+mn-ea"/>
              </a:rPr>
              <a:t>e.g. Efficiency, Operability</a:t>
            </a:r>
          </a:p>
        </p:txBody>
      </p:sp>
      <p:sp>
        <p:nvSpPr>
          <p:cNvPr id="43013" name="Slide Number Placeholder 1">
            <a:extLst>
              <a:ext uri="{FF2B5EF4-FFF2-40B4-BE49-F238E27FC236}">
                <a16:creationId xmlns:a16="http://schemas.microsoft.com/office/drawing/2014/main" id="{D689517E-5A20-804D-934A-BDB3332D8EE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8AFE7B57-90E7-43E7-84E8-C42D3D449A2F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24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441EAF-3CDA-0AE8-AE3D-050A165318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E0576-3E04-4E3A-837F-56978C0AE7AC}" type="slidenum">
              <a:rPr lang="en-AU" altLang="en-US" smtClean="0"/>
              <a:pPr>
                <a:defRPr/>
              </a:pPr>
              <a:t>25</a:t>
            </a:fld>
            <a:endParaRPr lang="en-AU" altLang="en-US"/>
          </a:p>
          <a:p>
            <a:pPr>
              <a:defRPr/>
            </a:pPr>
            <a:endParaRPr lang="en-AU" altLang="en-US"/>
          </a:p>
        </p:txBody>
      </p:sp>
      <p:sp>
        <p:nvSpPr>
          <p:cNvPr id="10" name="TitleBar"/>
          <p:cNvSpPr/>
          <p:nvPr/>
        </p:nvSpPr>
        <p:spPr>
          <a:xfrm>
            <a:off x="0" y="0"/>
            <a:ext cx="9144000" cy="5300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txBody>
          <a:bodyPr lIns="180000" rIns="180000" anchor="ctr"/>
          <a:lstStyle/>
          <a:p>
            <a:pPr algn="l">
              <a:buNone/>
            </a:pPr>
            <a:r>
              <a:rPr lang="en-AU" sz="2600" b="1" dirty="0">
                <a:solidFill>
                  <a:srgbClr val="FFFFFF"/>
                </a:solidFill>
              </a:rPr>
              <a:t>External vs Internal Quality Attributes</a:t>
            </a:r>
          </a:p>
        </p:txBody>
      </p:sp>
      <p:graphicFrame>
        <p:nvGraphicFramePr>
          <p:cNvPr id="11" name="CompTable"/>
          <p:cNvGraphicFramePr>
            <a:graphicFrameLocks noGrp="1"/>
          </p:cNvGraphicFramePr>
          <p:nvPr/>
        </p:nvGraphicFramePr>
        <p:xfrm>
          <a:off x="228600" y="590000"/>
          <a:ext cx="8686800" cy="298704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6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004D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600" b="1" dirty="0">
                          <a:solidFill>
                            <a:srgbClr val="FFFFFF"/>
                          </a:solidFill>
                        </a:rPr>
                        <a:t>External Quality</a:t>
                      </a:r>
                    </a:p>
                  </a:txBody>
                  <a:tcPr>
                    <a:solidFill>
                      <a:srgbClr val="7E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1600" b="1" dirty="0">
                          <a:solidFill>
                            <a:srgbClr val="FFFFFF"/>
                          </a:solidFill>
                        </a:rPr>
                        <a:t>Internal Quality</a:t>
                      </a:r>
                    </a:p>
                  </a:txBody>
                  <a:tcPr>
                    <a:solidFill>
                      <a:srgbClr val="083A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500" b="1" dirty="0">
                          <a:solidFill>
                            <a:srgbClr val="000000"/>
                          </a:solidFill>
                        </a:rPr>
                        <a:t>What it 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500" dirty="0">
                          <a:solidFill>
                            <a:srgbClr val="000000"/>
                          </a:solidFill>
                        </a:rPr>
                        <a:t>Observed at runtime — how the system behaves in its environment and for its users.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500" dirty="0">
                          <a:solidFill>
                            <a:srgbClr val="000000"/>
                          </a:solidFill>
                        </a:rPr>
                        <a:t>Read from the product/process description — measurable from code or design without running the system.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500" b="1" dirty="0">
                          <a:solidFill>
                            <a:srgbClr val="000000"/>
                          </a:solidFill>
                        </a:rPr>
                        <a:t>Who sees 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500" dirty="0">
                          <a:solidFill>
                            <a:srgbClr val="000000"/>
                          </a:solidFill>
                        </a:rPr>
                        <a:t>Customers, users, operators — anyone using the live system.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500" dirty="0">
                          <a:solidFill>
                            <a:srgbClr val="000000"/>
                          </a:solidFill>
                        </a:rPr>
                        <a:t>Developers, architects, testers — people who read code and design.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500" b="1" dirty="0">
                          <a:solidFill>
                            <a:srgbClr val="000000"/>
                          </a:solidFill>
                        </a:rPr>
                        <a:t>Focus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500" b="1" dirty="0">
                          <a:solidFill>
                            <a:srgbClr val="7E0000"/>
                          </a:solidFill>
                        </a:rPr>
                        <a:t>Form</a:t>
                      </a:r>
                      <a:r>
                        <a:rPr lang="en-AU" sz="1500" b="1" dirty="0">
                          <a:solidFill>
                            <a:srgbClr val="000000"/>
                          </a:solidFill>
                        </a:rPr>
                        <a:t> — how it behaves, not just what it does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500" b="1" dirty="0">
                          <a:solidFill>
                            <a:srgbClr val="083A7F"/>
                          </a:solidFill>
                        </a:rPr>
                        <a:t>Structure</a:t>
                      </a:r>
                      <a:r>
                        <a:rPr lang="en-AU" sz="1500" b="1" dirty="0">
                          <a:solidFill>
                            <a:srgbClr val="000000"/>
                          </a:solidFill>
                        </a:rPr>
                        <a:t> — how the code and design is organised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500" b="1" dirty="0">
                          <a:solidFill>
                            <a:srgbClr val="000000"/>
                          </a:solidFill>
                        </a:rPr>
                        <a:t>Examples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500" b="1" dirty="0">
                          <a:solidFill>
                            <a:srgbClr val="7E0000"/>
                          </a:solidFill>
                        </a:rPr>
                        <a:t>Reliability</a:t>
                      </a:r>
                      <a:r>
                        <a:rPr lang="en-AU" sz="1500" b="1" dirty="0">
                          <a:solidFill>
                            <a:srgbClr val="000000"/>
                          </a:solidFill>
                        </a:rPr>
                        <a:t> — crashes less than 1x/month</a:t>
                      </a:r>
                    </a:p>
                    <a:p>
                      <a:pPr algn="l">
                        <a:buNone/>
                      </a:pPr>
                      <a:r>
                        <a:rPr lang="en-AU" sz="1500" b="1" dirty="0">
                          <a:solidFill>
                            <a:srgbClr val="7E0000"/>
                          </a:solidFill>
                        </a:rPr>
                        <a:t>Usability</a:t>
                      </a:r>
                      <a:r>
                        <a:rPr lang="en-AU" sz="1500" b="1" dirty="0">
                          <a:solidFill>
                            <a:srgbClr val="000000"/>
                          </a:solidFill>
                        </a:rPr>
                        <a:t> — task completed in &lt;5 min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sz="1500" b="1" dirty="0">
                          <a:solidFill>
                            <a:srgbClr val="083A7F"/>
                          </a:solidFill>
                        </a:rPr>
                        <a:t>Efficiency</a:t>
                      </a:r>
                      <a:r>
                        <a:rPr lang="en-AU" sz="1500" b="1" dirty="0">
                          <a:solidFill>
                            <a:srgbClr val="000000"/>
                          </a:solidFill>
                        </a:rPr>
                        <a:t> — cyclomatic complexity &lt;10</a:t>
                      </a:r>
                    </a:p>
                    <a:p>
                      <a:pPr algn="l">
                        <a:buNone/>
                      </a:pPr>
                      <a:r>
                        <a:rPr lang="en-AU" sz="1500" b="1" dirty="0">
                          <a:solidFill>
                            <a:srgbClr val="083A7F"/>
                          </a:solidFill>
                        </a:rPr>
                        <a:t>Operability</a:t>
                      </a:r>
                      <a:r>
                        <a:rPr lang="en-AU" sz="1500" b="1" dirty="0">
                          <a:solidFill>
                            <a:srgbClr val="000000"/>
                          </a:solidFill>
                        </a:rPr>
                        <a:t> — low coupling between modules</a:t>
                      </a:r>
                    </a:p>
                  </a:txBody>
                  <a:tcPr>
                    <a:solidFill>
                      <a:srgbClr val="F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FlowHdr"/>
          <p:cNvSpPr/>
          <p:nvPr/>
        </p:nvSpPr>
        <p:spPr>
          <a:xfrm>
            <a:off x="228600" y="3760000"/>
            <a:ext cx="8686800" cy="220000"/>
          </a:xfrm>
          <a:prstGeom prst="rect">
            <a:avLst/>
          </a:prstGeom>
          <a:solidFill>
            <a:srgbClr val="004D3D"/>
          </a:solidFill>
          <a:ln>
            <a:noFill/>
          </a:ln>
        </p:spPr>
        <p:txBody>
          <a:bodyPr lIns="91440" rIns="91440" anchor="ctr"/>
          <a:lstStyle/>
          <a:p>
            <a:pPr algn="ctr">
              <a:buNone/>
            </a:pPr>
            <a:r>
              <a:rPr lang="en-AU" sz="1500" b="1" dirty="0">
                <a:solidFill>
                  <a:srgbClr val="FFFFFF"/>
                </a:solidFill>
              </a:rPr>
              <a:t>The Underlying Assumption: Does Internal Quality Lead to External Quality?</a:t>
            </a:r>
          </a:p>
        </p:txBody>
      </p:sp>
      <p:sp>
        <p:nvSpPr>
          <p:cNvPr id="13" name="InternalBox"/>
          <p:cNvSpPr/>
          <p:nvPr/>
        </p:nvSpPr>
        <p:spPr>
          <a:xfrm>
            <a:off x="457200" y="4040000"/>
            <a:ext cx="2500000" cy="900000"/>
          </a:xfrm>
          <a:prstGeom prst="roundRect">
            <a:avLst/>
          </a:prstGeom>
          <a:solidFill>
            <a:srgbClr val="083A7F"/>
          </a:solidFill>
          <a:ln>
            <a:noFill/>
          </a:ln>
        </p:spPr>
        <p:txBody>
          <a:bodyPr lIns="91440" rIns="91440" anchor="ctr"/>
          <a:lstStyle/>
          <a:p>
            <a:pPr algn="ctr">
              <a:buNone/>
            </a:pPr>
            <a:r>
              <a:rPr lang="en-AU" sz="1700" b="1" dirty="0">
                <a:solidFill>
                  <a:srgbClr val="FFFFFF"/>
                </a:solidFill>
              </a:rPr>
              <a:t>INTERNAL QUALITY</a:t>
            </a:r>
          </a:p>
          <a:p>
            <a:pPr algn="ctr">
              <a:buNone/>
            </a:pPr>
            <a:r>
              <a:rPr lang="en-AU" sz="1300" dirty="0">
                <a:solidFill>
                  <a:srgbClr val="AACCFF"/>
                </a:solidFill>
              </a:rPr>
              <a:t>Clean code, low coupling,</a:t>
            </a:r>
          </a:p>
          <a:p>
            <a:pPr algn="ctr">
              <a:buNone/>
            </a:pPr>
            <a:r>
              <a:rPr lang="en-AU" sz="1300" dirty="0">
                <a:solidFill>
                  <a:srgbClr val="AACCFF"/>
                </a:solidFill>
              </a:rPr>
              <a:t>good architecture</a:t>
            </a:r>
          </a:p>
        </p:txBody>
      </p:sp>
      <p:sp>
        <p:nvSpPr>
          <p:cNvPr id="14" name="ArrowShaft"/>
          <p:cNvSpPr/>
          <p:nvPr/>
        </p:nvSpPr>
        <p:spPr>
          <a:xfrm>
            <a:off x="3100000" y="4430000"/>
            <a:ext cx="2900000" cy="13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lIns="91440" rIns="91440" anchor="ctr"/>
          <a:lstStyle/>
          <a:p>
            <a:pPr>
              <a:buNone/>
            </a:pPr>
            <a:endParaRPr/>
          </a:p>
        </p:txBody>
      </p:sp>
      <p:sp>
        <p:nvSpPr>
          <p:cNvPr id="16" name="ArrowLbl"/>
          <p:cNvSpPr/>
          <p:nvPr/>
        </p:nvSpPr>
        <p:spPr>
          <a:xfrm>
            <a:off x="3100000" y="4240000"/>
            <a:ext cx="2900000" cy="200000"/>
          </a:xfrm>
          <a:prstGeom prst="rect">
            <a:avLst/>
          </a:prstGeom>
          <a:noFill/>
          <a:ln>
            <a:noFill/>
          </a:ln>
        </p:spPr>
        <p:txBody>
          <a:bodyPr lIns="91440" rIns="91440" anchor="ctr"/>
          <a:lstStyle/>
          <a:p>
            <a:pPr algn="ctr">
              <a:buNone/>
            </a:pPr>
            <a:r>
              <a:rPr lang="en-AU" sz="1300" i="1" dirty="0">
                <a:solidFill>
                  <a:srgbClr val="555555"/>
                </a:solidFill>
              </a:rPr>
              <a:t>assumed to lead to</a:t>
            </a:r>
          </a:p>
        </p:txBody>
      </p:sp>
      <p:sp>
        <p:nvSpPr>
          <p:cNvPr id="18" name="Caveat"/>
          <p:cNvSpPr/>
          <p:nvPr/>
        </p:nvSpPr>
        <p:spPr>
          <a:xfrm>
            <a:off x="3000000" y="4620000"/>
            <a:ext cx="3100000" cy="260000"/>
          </a:xfrm>
          <a:prstGeom prst="rect">
            <a:avLst/>
          </a:prstGeom>
          <a:noFill/>
          <a:ln>
            <a:noFill/>
          </a:ln>
        </p:spPr>
        <p:txBody>
          <a:bodyPr lIns="91440" rIns="91440" anchor="ctr"/>
          <a:lstStyle/>
          <a:p>
            <a:pPr algn="ctr">
              <a:buNone/>
            </a:pPr>
            <a:r>
              <a:rPr lang="en-AU" sz="1300" b="1" dirty="0">
                <a:solidFill>
                  <a:srgbClr val="CC6600"/>
                </a:solidFill>
              </a:rPr>
              <a:t>⚠ True in manufacturing; </a:t>
            </a:r>
            <a:r>
              <a:rPr lang="en-AU" sz="1300" b="1" u="sng" dirty="0">
                <a:solidFill>
                  <a:srgbClr val="CC6600"/>
                </a:solidFill>
              </a:rPr>
              <a:t>not guaranteed</a:t>
            </a:r>
            <a:r>
              <a:rPr lang="en-AU" sz="1300" b="1" dirty="0">
                <a:solidFill>
                  <a:srgbClr val="CC6600"/>
                </a:solidFill>
              </a:rPr>
              <a:t> for software</a:t>
            </a:r>
          </a:p>
        </p:txBody>
      </p:sp>
      <p:sp>
        <p:nvSpPr>
          <p:cNvPr id="17" name="ExternalBox"/>
          <p:cNvSpPr/>
          <p:nvPr/>
        </p:nvSpPr>
        <p:spPr>
          <a:xfrm>
            <a:off x="6186000" y="4040000"/>
            <a:ext cx="2500000" cy="900000"/>
          </a:xfrm>
          <a:prstGeom prst="roundRect">
            <a:avLst/>
          </a:prstGeom>
          <a:solidFill>
            <a:srgbClr val="7E0000"/>
          </a:solidFill>
          <a:ln>
            <a:noFill/>
          </a:ln>
        </p:spPr>
        <p:txBody>
          <a:bodyPr lIns="91440" rIns="91440" anchor="ctr"/>
          <a:lstStyle/>
          <a:p>
            <a:pPr algn="ctr">
              <a:buNone/>
            </a:pPr>
            <a:r>
              <a:rPr lang="en-AU" sz="1700" b="1" dirty="0">
                <a:solidFill>
                  <a:srgbClr val="FFFFFF"/>
                </a:solidFill>
              </a:rPr>
              <a:t>EXTERNAL QUALITY</a:t>
            </a:r>
          </a:p>
          <a:p>
            <a:pPr algn="ctr">
              <a:buNone/>
            </a:pPr>
            <a:r>
              <a:rPr lang="en-AU" sz="1300" dirty="0">
                <a:solidFill>
                  <a:srgbClr val="FFCCCC"/>
                </a:solidFill>
              </a:rPr>
              <a:t>Reliable, usable,</a:t>
            </a:r>
          </a:p>
          <a:p>
            <a:pPr algn="ctr">
              <a:buNone/>
            </a:pPr>
            <a:r>
              <a:rPr lang="en-AU" sz="1300" dirty="0">
                <a:solidFill>
                  <a:srgbClr val="FFCCCC"/>
                </a:solidFill>
              </a:rPr>
              <a:t>performs well for users</a:t>
            </a:r>
          </a:p>
        </p:txBody>
      </p:sp>
      <p:sp>
        <p:nvSpPr>
          <p:cNvPr id="19" name="Takeaway"/>
          <p:cNvSpPr/>
          <p:nvPr/>
        </p:nvSpPr>
        <p:spPr>
          <a:xfrm>
            <a:off x="228600" y="5800000"/>
            <a:ext cx="8686800" cy="750000"/>
          </a:xfrm>
          <a:prstGeom prst="roundRect">
            <a:avLst/>
          </a:prstGeom>
          <a:solidFill>
            <a:srgbClr val="AAE2CA"/>
          </a:solidFill>
          <a:ln>
            <a:noFill/>
          </a:ln>
        </p:spPr>
        <p:txBody>
          <a:bodyPr lIns="160000" rIns="160000" anchor="ctr"/>
          <a:lstStyle/>
          <a:p>
            <a:pPr algn="l">
              <a:buNone/>
            </a:pPr>
            <a:r>
              <a:rPr lang="en-AU" sz="1500" b="1" dirty="0">
                <a:solidFill>
                  <a:srgbClr val="003322"/>
                </a:solidFill>
              </a:rPr>
              <a:t>Key Takeaway: </a:t>
            </a:r>
            <a:r>
              <a:rPr lang="en-AU" sz="1500" dirty="0">
                <a:solidFill>
                  <a:srgbClr val="003322"/>
                </a:solidFill>
              </a:rPr>
              <a:t>External quality is what the customer experiences. Internal quality is what the developer controls. Better internal quality is our </a:t>
            </a:r>
            <a:r>
              <a:rPr lang="en-AU" sz="1500" b="1" dirty="0">
                <a:solidFill>
                  <a:srgbClr val="003322"/>
                </a:solidFill>
              </a:rPr>
              <a:t>best lever</a:t>
            </a:r>
            <a:r>
              <a:rPr lang="en-AU" sz="1500" dirty="0">
                <a:solidFill>
                  <a:srgbClr val="003322"/>
                </a:solidFill>
              </a:rPr>
              <a:t> for achieving external quality — but not a guarantee.</a:t>
            </a:r>
          </a:p>
        </p:txBody>
      </p:sp>
    </p:spTree>
    <p:extLst>
      <p:ext uri="{BB962C8B-B14F-4D97-AF65-F5344CB8AC3E}">
        <p14:creationId xmlns:p14="http://schemas.microsoft.com/office/powerpoint/2010/main" val="617413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2">
            <a:extLst>
              <a:ext uri="{FF2B5EF4-FFF2-40B4-BE49-F238E27FC236}">
                <a16:creationId xmlns:a16="http://schemas.microsoft.com/office/drawing/2014/main" id="{A32F39F8-F523-BA75-2DB1-DD0BA712019F}"/>
              </a:ext>
            </a:extLst>
          </p:cNvPr>
          <p:cNvSpPr txBox="1">
            <a:spLocks noGrp="1"/>
          </p:cNvSpPr>
          <p:nvPr/>
        </p:nvSpPr>
        <p:spPr bwMode="auto">
          <a:xfrm>
            <a:off x="6781800" y="6172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SzTx/>
              <a:buFontTx/>
              <a:buNone/>
            </a:pPr>
            <a:fld id="{CDBC44CB-9AA6-41CD-AD45-46E0097960B0}" type="slidenum">
              <a:rPr lang="en-AU" altLang="en-US" sz="1400">
                <a:latin typeface="Times New Roman" panose="02020603050405020304" pitchFamily="18" charset="0"/>
              </a:rPr>
              <a:pPr algn="r">
                <a:spcBef>
                  <a:spcPct val="0"/>
                </a:spcBef>
                <a:buSzTx/>
                <a:buFontTx/>
                <a:buNone/>
              </a:pPr>
              <a:t>26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 algn="r"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2565EA21-527F-3934-FCF1-0A89780FCE4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AU" altLang="en-US"/>
              <a:t>McCall</a:t>
            </a:r>
            <a:r>
              <a:rPr lang="ja-JP" altLang="en-AU">
                <a:latin typeface="Arial" panose="020B0604020202020204" pitchFamily="34" charset="0"/>
              </a:rPr>
              <a:t>’</a:t>
            </a:r>
            <a:r>
              <a:rPr lang="en-AU" altLang="ja-JP"/>
              <a:t>s Quality Model</a:t>
            </a:r>
            <a:endParaRPr lang="en-AU" altLang="en-US"/>
          </a:p>
        </p:txBody>
      </p:sp>
      <p:grpSp>
        <p:nvGrpSpPr>
          <p:cNvPr id="45060" name="Group 26">
            <a:extLst>
              <a:ext uri="{FF2B5EF4-FFF2-40B4-BE49-F238E27FC236}">
                <a16:creationId xmlns:a16="http://schemas.microsoft.com/office/drawing/2014/main" id="{87F97FD0-A92E-EB04-3E16-5B57B62BA173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219200"/>
            <a:ext cx="7345363" cy="4679950"/>
            <a:chOff x="567" y="981"/>
            <a:chExt cx="4627" cy="2948"/>
          </a:xfrm>
        </p:grpSpPr>
        <p:sp>
          <p:nvSpPr>
            <p:cNvPr id="45063" name="Rectangle 3">
              <a:extLst>
                <a:ext uri="{FF2B5EF4-FFF2-40B4-BE49-F238E27FC236}">
                  <a16:creationId xmlns:a16="http://schemas.microsoft.com/office/drawing/2014/main" id="{C8AEECE9-33B8-DC98-322F-564EF6C1E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" y="1706"/>
              <a:ext cx="1270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AU" altLang="en-US" sz="1800">
                  <a:latin typeface="Arial" panose="020B0604020202020204" pitchFamily="34" charset="0"/>
                </a:rPr>
                <a:t>Correctness</a:t>
              </a:r>
            </a:p>
          </p:txBody>
        </p:sp>
        <p:sp>
          <p:nvSpPr>
            <p:cNvPr id="45064" name="Rectangle 4">
              <a:extLst>
                <a:ext uri="{FF2B5EF4-FFF2-40B4-BE49-F238E27FC236}">
                  <a16:creationId xmlns:a16="http://schemas.microsoft.com/office/drawing/2014/main" id="{5DE14A45-D2A9-D56D-9665-241624EDB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" y="2341"/>
              <a:ext cx="1270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AU" altLang="en-US" sz="1800">
                  <a:latin typeface="Arial" panose="020B0604020202020204" pitchFamily="34" charset="0"/>
                </a:rPr>
                <a:t>Reliability</a:t>
              </a:r>
            </a:p>
          </p:txBody>
        </p:sp>
        <p:sp>
          <p:nvSpPr>
            <p:cNvPr id="45065" name="Rectangle 5">
              <a:extLst>
                <a:ext uri="{FF2B5EF4-FFF2-40B4-BE49-F238E27FC236}">
                  <a16:creationId xmlns:a16="http://schemas.microsoft.com/office/drawing/2014/main" id="{3D97D73B-A8F8-9737-C9E0-4E65D68C4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" y="3249"/>
              <a:ext cx="1270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AU" altLang="en-US" sz="1800">
                  <a:latin typeface="Arial" panose="020B0604020202020204" pitchFamily="34" charset="0"/>
                </a:rPr>
                <a:t>Usability</a:t>
              </a:r>
            </a:p>
          </p:txBody>
        </p:sp>
        <p:sp>
          <p:nvSpPr>
            <p:cNvPr id="45066" name="Rectangle 6">
              <a:extLst>
                <a:ext uri="{FF2B5EF4-FFF2-40B4-BE49-F238E27FC236}">
                  <a16:creationId xmlns:a16="http://schemas.microsoft.com/office/drawing/2014/main" id="{B1A80E39-62C2-4E59-89A1-5F1A20E27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981"/>
              <a:ext cx="2041" cy="29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Ctr="1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AU" altLang="en-US" sz="2000">
                  <a:latin typeface="Arial" panose="020B0604020202020204" pitchFamily="34" charset="0"/>
                </a:rPr>
                <a:t>User</a:t>
              </a:r>
              <a:r>
                <a:rPr lang="ja-JP" altLang="en-AU" sz="2000">
                  <a:latin typeface="Arial" panose="020B0604020202020204" pitchFamily="34" charset="0"/>
                </a:rPr>
                <a:t>’</a:t>
              </a:r>
              <a:r>
                <a:rPr lang="en-AU" altLang="ja-JP" sz="2000">
                  <a:latin typeface="Arial" panose="020B0604020202020204" pitchFamily="34" charset="0"/>
                </a:rPr>
                <a:t>s view:</a:t>
              </a:r>
            </a:p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AU" altLang="en-US" sz="2000">
                  <a:latin typeface="Arial" panose="020B0604020202020204" pitchFamily="34" charset="0"/>
                </a:rPr>
                <a:t>External quality factors</a:t>
              </a:r>
            </a:p>
          </p:txBody>
        </p:sp>
        <p:sp>
          <p:nvSpPr>
            <p:cNvPr id="45067" name="Rectangle 7">
              <a:extLst>
                <a:ext uri="{FF2B5EF4-FFF2-40B4-BE49-F238E27FC236}">
                  <a16:creationId xmlns:a16="http://schemas.microsoft.com/office/drawing/2014/main" id="{4CD631E7-AC03-5DCB-5E7B-6537CDD9B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1389"/>
              <a:ext cx="1497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AU" altLang="en-US" sz="1800">
                  <a:latin typeface="Arial" panose="020B0604020202020204" pitchFamily="34" charset="0"/>
                </a:rPr>
                <a:t>Traceability</a:t>
              </a:r>
            </a:p>
          </p:txBody>
        </p:sp>
        <p:sp>
          <p:nvSpPr>
            <p:cNvPr id="45068" name="Rectangle 8">
              <a:extLst>
                <a:ext uri="{FF2B5EF4-FFF2-40B4-BE49-F238E27FC236}">
                  <a16:creationId xmlns:a16="http://schemas.microsoft.com/office/drawing/2014/main" id="{C588E907-8F14-467B-DD1A-A3FA46348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1707"/>
              <a:ext cx="1497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AU" altLang="en-US" sz="1800">
                  <a:latin typeface="Arial" panose="020B0604020202020204" pitchFamily="34" charset="0"/>
                </a:rPr>
                <a:t>Completeness</a:t>
              </a:r>
            </a:p>
          </p:txBody>
        </p:sp>
        <p:sp>
          <p:nvSpPr>
            <p:cNvPr id="45069" name="Rectangle 9">
              <a:extLst>
                <a:ext uri="{FF2B5EF4-FFF2-40B4-BE49-F238E27FC236}">
                  <a16:creationId xmlns:a16="http://schemas.microsoft.com/office/drawing/2014/main" id="{469C49AB-0ADB-F968-83DC-D73A1A405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2024"/>
              <a:ext cx="1497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AU" altLang="en-US" sz="1800">
                  <a:latin typeface="Arial" panose="020B0604020202020204" pitchFamily="34" charset="0"/>
                </a:rPr>
                <a:t>Consistency</a:t>
              </a:r>
            </a:p>
          </p:txBody>
        </p:sp>
        <p:sp>
          <p:nvSpPr>
            <p:cNvPr id="45070" name="Rectangle 10">
              <a:extLst>
                <a:ext uri="{FF2B5EF4-FFF2-40B4-BE49-F238E27FC236}">
                  <a16:creationId xmlns:a16="http://schemas.microsoft.com/office/drawing/2014/main" id="{95A7E07E-3549-3983-E278-3E1D67ED4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2659"/>
              <a:ext cx="1497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AU" altLang="en-US" sz="1800">
                  <a:latin typeface="Arial" panose="020B0604020202020204" pitchFamily="34" charset="0"/>
                </a:rPr>
                <a:t>Error Tolerance</a:t>
              </a:r>
            </a:p>
          </p:txBody>
        </p:sp>
        <p:sp>
          <p:nvSpPr>
            <p:cNvPr id="45071" name="Rectangle 11">
              <a:extLst>
                <a:ext uri="{FF2B5EF4-FFF2-40B4-BE49-F238E27FC236}">
                  <a16:creationId xmlns:a16="http://schemas.microsoft.com/office/drawing/2014/main" id="{D8AEE39A-3D70-3488-3DEF-4A52279D7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2342"/>
              <a:ext cx="1497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AU" altLang="en-US" sz="1800">
                  <a:latin typeface="Arial" panose="020B0604020202020204" pitchFamily="34" charset="0"/>
                </a:rPr>
                <a:t>Efficiency</a:t>
              </a:r>
            </a:p>
          </p:txBody>
        </p:sp>
        <p:sp>
          <p:nvSpPr>
            <p:cNvPr id="45072" name="Rectangle 12">
              <a:extLst>
                <a:ext uri="{FF2B5EF4-FFF2-40B4-BE49-F238E27FC236}">
                  <a16:creationId xmlns:a16="http://schemas.microsoft.com/office/drawing/2014/main" id="{951B5A05-4628-BC10-8802-1431E157C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2977"/>
              <a:ext cx="1497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AU" altLang="en-US" sz="1800">
                  <a:latin typeface="Arial" panose="020B0604020202020204" pitchFamily="34" charset="0"/>
                </a:rPr>
                <a:t>Operability</a:t>
              </a:r>
            </a:p>
          </p:txBody>
        </p:sp>
        <p:sp>
          <p:nvSpPr>
            <p:cNvPr id="45073" name="Rectangle 13">
              <a:extLst>
                <a:ext uri="{FF2B5EF4-FFF2-40B4-BE49-F238E27FC236}">
                  <a16:creationId xmlns:a16="http://schemas.microsoft.com/office/drawing/2014/main" id="{D7EF11D5-6D83-D880-C8FC-09FC399DB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3295"/>
              <a:ext cx="1497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AU" altLang="en-US" sz="1800">
                  <a:latin typeface="Arial" panose="020B0604020202020204" pitchFamily="34" charset="0"/>
                </a:rPr>
                <a:t>Training</a:t>
              </a:r>
            </a:p>
          </p:txBody>
        </p:sp>
        <p:sp>
          <p:nvSpPr>
            <p:cNvPr id="45074" name="Rectangle 14">
              <a:extLst>
                <a:ext uri="{FF2B5EF4-FFF2-40B4-BE49-F238E27FC236}">
                  <a16:creationId xmlns:a16="http://schemas.microsoft.com/office/drawing/2014/main" id="{2BE3F26E-B23D-796A-9467-BEF7C5F06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3612"/>
              <a:ext cx="1497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AU" altLang="en-US" sz="1800">
                  <a:latin typeface="Arial" panose="020B0604020202020204" pitchFamily="34" charset="0"/>
                </a:rPr>
                <a:t>Communicativeness</a:t>
              </a:r>
            </a:p>
          </p:txBody>
        </p:sp>
        <p:cxnSp>
          <p:nvCxnSpPr>
            <p:cNvPr id="45075" name="AutoShape 15">
              <a:extLst>
                <a:ext uri="{FF2B5EF4-FFF2-40B4-BE49-F238E27FC236}">
                  <a16:creationId xmlns:a16="http://schemas.microsoft.com/office/drawing/2014/main" id="{60423ADE-E23A-2EBF-5019-122F8180091B}"/>
                </a:ext>
              </a:extLst>
            </p:cNvPr>
            <p:cNvCxnSpPr>
              <a:cxnSpLocks noChangeShapeType="1"/>
              <a:stCxn id="45067" idx="1"/>
              <a:endCxn id="45063" idx="3"/>
            </p:cNvCxnSpPr>
            <p:nvPr/>
          </p:nvCxnSpPr>
          <p:spPr bwMode="auto">
            <a:xfrm flipH="1">
              <a:off x="2200" y="1521"/>
              <a:ext cx="1224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6" name="AutoShape 16">
              <a:extLst>
                <a:ext uri="{FF2B5EF4-FFF2-40B4-BE49-F238E27FC236}">
                  <a16:creationId xmlns:a16="http://schemas.microsoft.com/office/drawing/2014/main" id="{05B8393B-7609-DE61-BC92-01D1FB714937}"/>
                </a:ext>
              </a:extLst>
            </p:cNvPr>
            <p:cNvCxnSpPr>
              <a:cxnSpLocks noChangeShapeType="1"/>
              <a:stCxn id="45068" idx="1"/>
              <a:endCxn id="45063" idx="3"/>
            </p:cNvCxnSpPr>
            <p:nvPr/>
          </p:nvCxnSpPr>
          <p:spPr bwMode="auto">
            <a:xfrm flipH="1" flipV="1">
              <a:off x="2200" y="1838"/>
              <a:ext cx="1224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7" name="AutoShape 17">
              <a:extLst>
                <a:ext uri="{FF2B5EF4-FFF2-40B4-BE49-F238E27FC236}">
                  <a16:creationId xmlns:a16="http://schemas.microsoft.com/office/drawing/2014/main" id="{0A16387B-F81D-0A2B-FD71-50AA75890796}"/>
                </a:ext>
              </a:extLst>
            </p:cNvPr>
            <p:cNvCxnSpPr>
              <a:cxnSpLocks noChangeShapeType="1"/>
              <a:stCxn id="45069" idx="1"/>
              <a:endCxn id="45063" idx="3"/>
            </p:cNvCxnSpPr>
            <p:nvPr/>
          </p:nvCxnSpPr>
          <p:spPr bwMode="auto">
            <a:xfrm flipH="1" flipV="1">
              <a:off x="2200" y="1838"/>
              <a:ext cx="1224" cy="3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8" name="AutoShape 18">
              <a:extLst>
                <a:ext uri="{FF2B5EF4-FFF2-40B4-BE49-F238E27FC236}">
                  <a16:creationId xmlns:a16="http://schemas.microsoft.com/office/drawing/2014/main" id="{4DC4747F-6A86-079E-FD8E-83F35D4E4FB4}"/>
                </a:ext>
              </a:extLst>
            </p:cNvPr>
            <p:cNvCxnSpPr>
              <a:cxnSpLocks noChangeShapeType="1"/>
              <a:stCxn id="45069" idx="1"/>
              <a:endCxn id="45064" idx="3"/>
            </p:cNvCxnSpPr>
            <p:nvPr/>
          </p:nvCxnSpPr>
          <p:spPr bwMode="auto">
            <a:xfrm flipH="1">
              <a:off x="2200" y="2156"/>
              <a:ext cx="1224" cy="3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79" name="AutoShape 19">
              <a:extLst>
                <a:ext uri="{FF2B5EF4-FFF2-40B4-BE49-F238E27FC236}">
                  <a16:creationId xmlns:a16="http://schemas.microsoft.com/office/drawing/2014/main" id="{B9CEBEA7-565C-02CE-E00E-B23FCE096456}"/>
                </a:ext>
              </a:extLst>
            </p:cNvPr>
            <p:cNvCxnSpPr>
              <a:cxnSpLocks noChangeShapeType="1"/>
              <a:stCxn id="45071" idx="1"/>
              <a:endCxn id="45064" idx="3"/>
            </p:cNvCxnSpPr>
            <p:nvPr/>
          </p:nvCxnSpPr>
          <p:spPr bwMode="auto">
            <a:xfrm flipH="1" flipV="1">
              <a:off x="2200" y="2473"/>
              <a:ext cx="1224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80" name="AutoShape 20">
              <a:extLst>
                <a:ext uri="{FF2B5EF4-FFF2-40B4-BE49-F238E27FC236}">
                  <a16:creationId xmlns:a16="http://schemas.microsoft.com/office/drawing/2014/main" id="{30015CD4-C705-BE12-A482-15431724CEA3}"/>
                </a:ext>
              </a:extLst>
            </p:cNvPr>
            <p:cNvCxnSpPr>
              <a:cxnSpLocks noChangeShapeType="1"/>
              <a:stCxn id="45070" idx="1"/>
              <a:endCxn id="45064" idx="3"/>
            </p:cNvCxnSpPr>
            <p:nvPr/>
          </p:nvCxnSpPr>
          <p:spPr bwMode="auto">
            <a:xfrm flipH="1" flipV="1">
              <a:off x="2200" y="2473"/>
              <a:ext cx="1224" cy="3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81" name="AutoShape 21">
              <a:extLst>
                <a:ext uri="{FF2B5EF4-FFF2-40B4-BE49-F238E27FC236}">
                  <a16:creationId xmlns:a16="http://schemas.microsoft.com/office/drawing/2014/main" id="{F5521C61-0768-0A92-E833-D6F7FEE06D51}"/>
                </a:ext>
              </a:extLst>
            </p:cNvPr>
            <p:cNvCxnSpPr>
              <a:cxnSpLocks noChangeShapeType="1"/>
              <a:stCxn id="45072" idx="1"/>
              <a:endCxn id="45065" idx="3"/>
            </p:cNvCxnSpPr>
            <p:nvPr/>
          </p:nvCxnSpPr>
          <p:spPr bwMode="auto">
            <a:xfrm flipH="1">
              <a:off x="2200" y="3109"/>
              <a:ext cx="1224" cy="27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82" name="AutoShape 22">
              <a:extLst>
                <a:ext uri="{FF2B5EF4-FFF2-40B4-BE49-F238E27FC236}">
                  <a16:creationId xmlns:a16="http://schemas.microsoft.com/office/drawing/2014/main" id="{81B9EFA7-87A5-84FE-5353-F015CBF3B5CB}"/>
                </a:ext>
              </a:extLst>
            </p:cNvPr>
            <p:cNvCxnSpPr>
              <a:cxnSpLocks noChangeShapeType="1"/>
              <a:stCxn id="45073" idx="1"/>
              <a:endCxn id="45065" idx="3"/>
            </p:cNvCxnSpPr>
            <p:nvPr/>
          </p:nvCxnSpPr>
          <p:spPr bwMode="auto">
            <a:xfrm flipH="1" flipV="1">
              <a:off x="2200" y="3381"/>
              <a:ext cx="1224" cy="4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83" name="AutoShape 23">
              <a:extLst>
                <a:ext uri="{FF2B5EF4-FFF2-40B4-BE49-F238E27FC236}">
                  <a16:creationId xmlns:a16="http://schemas.microsoft.com/office/drawing/2014/main" id="{0F07202F-391D-C5DF-FD83-D0F92F965BD6}"/>
                </a:ext>
              </a:extLst>
            </p:cNvPr>
            <p:cNvCxnSpPr>
              <a:cxnSpLocks noChangeShapeType="1"/>
              <a:stCxn id="45074" idx="1"/>
              <a:endCxn id="45065" idx="3"/>
            </p:cNvCxnSpPr>
            <p:nvPr/>
          </p:nvCxnSpPr>
          <p:spPr bwMode="auto">
            <a:xfrm flipH="1" flipV="1">
              <a:off x="2200" y="3381"/>
              <a:ext cx="1224" cy="3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84" name="Rectangle 24">
              <a:extLst>
                <a:ext uri="{FF2B5EF4-FFF2-40B4-BE49-F238E27FC236}">
                  <a16:creationId xmlns:a16="http://schemas.microsoft.com/office/drawing/2014/main" id="{EA8CB68B-7216-0856-A032-7FC711D8B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3" y="981"/>
              <a:ext cx="2041" cy="29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Ctr="1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AU" altLang="en-US" sz="2000">
                  <a:latin typeface="Arial" panose="020B0604020202020204" pitchFamily="34" charset="0"/>
                </a:rPr>
                <a:t>Developer</a:t>
              </a:r>
              <a:r>
                <a:rPr lang="ja-JP" altLang="en-AU" sz="2000">
                  <a:latin typeface="Arial" panose="020B0604020202020204" pitchFamily="34" charset="0"/>
                </a:rPr>
                <a:t>’</a:t>
              </a:r>
              <a:r>
                <a:rPr lang="en-AU" altLang="ja-JP" sz="2000">
                  <a:latin typeface="Arial" panose="020B0604020202020204" pitchFamily="34" charset="0"/>
                </a:rPr>
                <a:t>s view:</a:t>
              </a:r>
            </a:p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AU" altLang="en-US" sz="2000">
                  <a:latin typeface="Arial" panose="020B0604020202020204" pitchFamily="34" charset="0"/>
                </a:rPr>
                <a:t>Internal quality factors</a:t>
              </a:r>
            </a:p>
          </p:txBody>
        </p:sp>
      </p:grpSp>
      <p:sp>
        <p:nvSpPr>
          <p:cNvPr id="45061" name="Rectangle 27">
            <a:extLst>
              <a:ext uri="{FF2B5EF4-FFF2-40B4-BE49-F238E27FC236}">
                <a16:creationId xmlns:a16="http://schemas.microsoft.com/office/drawing/2014/main" id="{E67D132F-42FE-84CC-FB7C-870ADAE19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1722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i="1">
                <a:solidFill>
                  <a:srgbClr val="083A7F"/>
                </a:solidFill>
              </a:rPr>
              <a:t>This is only a partial view of McCall’s Quality Model!</a:t>
            </a:r>
          </a:p>
        </p:txBody>
      </p:sp>
      <p:sp>
        <p:nvSpPr>
          <p:cNvPr id="45062" name="Slide Number Placeholder 1">
            <a:extLst>
              <a:ext uri="{FF2B5EF4-FFF2-40B4-BE49-F238E27FC236}">
                <a16:creationId xmlns:a16="http://schemas.microsoft.com/office/drawing/2014/main" id="{12CF28AA-582D-E118-E4C6-6734F1E6B5C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0049FA97-BB56-48D5-92EB-06A0077DB71D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26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>
            <a:extLst>
              <a:ext uri="{FF2B5EF4-FFF2-40B4-BE49-F238E27FC236}">
                <a16:creationId xmlns:a16="http://schemas.microsoft.com/office/drawing/2014/main" id="{08D4A29B-F8C8-736F-9504-B63834307B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dirty="0">
              <a:ea typeface="+mj-ea"/>
              <a:cs typeface="+mj-cs"/>
            </a:endParaRPr>
          </a:p>
        </p:txBody>
      </p:sp>
      <p:sp>
        <p:nvSpPr>
          <p:cNvPr id="517123" name="Rectangle 3">
            <a:extLst>
              <a:ext uri="{FF2B5EF4-FFF2-40B4-BE49-F238E27FC236}">
                <a16:creationId xmlns:a16="http://schemas.microsoft.com/office/drawing/2014/main" id="{08F3E4C4-E9C0-8EB5-E555-420148FAAA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0"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>
              <a:buFont typeface="Wingdings" charset="0"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sz="4000" i="1" dirty="0">
                <a:ea typeface="+mn-ea"/>
                <a:cs typeface="+mn-cs"/>
              </a:rPr>
              <a:t>	</a:t>
            </a:r>
            <a:r>
              <a:rPr lang="en-US" sz="4000" i="1" dirty="0">
                <a:solidFill>
                  <a:srgbClr val="083A7F"/>
                </a:solidFill>
                <a:ea typeface="+mn-ea"/>
                <a:cs typeface="+mn-cs"/>
              </a:rPr>
              <a:t>But how do we use a Quality Model to (systematically) specify non-functional requirements?</a:t>
            </a:r>
            <a:endParaRPr lang="en-US" sz="4000" i="1" dirty="0">
              <a:ea typeface="+mn-ea"/>
              <a:cs typeface="+mn-cs"/>
            </a:endParaRPr>
          </a:p>
        </p:txBody>
      </p:sp>
      <p:sp>
        <p:nvSpPr>
          <p:cNvPr id="47108" name="Slide Number Placeholder 1">
            <a:extLst>
              <a:ext uri="{FF2B5EF4-FFF2-40B4-BE49-F238E27FC236}">
                <a16:creationId xmlns:a16="http://schemas.microsoft.com/office/drawing/2014/main" id="{749C7E2A-AE5D-5C8F-34F4-46BDBC34C5B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1C4BA193-010A-472D-9354-4A23962DA23D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27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FA89AFF9-4240-752E-B695-ECCF759CB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4000"/>
            <a:ext cx="7162800" cy="4953000"/>
          </a:xfrm>
          <a:prstGeom prst="rect">
            <a:avLst/>
          </a:prstGeom>
          <a:solidFill>
            <a:srgbClr val="E1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>
              <a:latin typeface="Helvetica" panose="020B0604020202020204" pitchFamily="34" charset="0"/>
            </a:endParaRPr>
          </a:p>
        </p:txBody>
      </p:sp>
      <p:pic>
        <p:nvPicPr>
          <p:cNvPr id="48131" name="Picture 6" descr="roadmap">
            <a:extLst>
              <a:ext uri="{FF2B5EF4-FFF2-40B4-BE49-F238E27FC236}">
                <a16:creationId xmlns:a16="http://schemas.microsoft.com/office/drawing/2014/main" id="{FE515411-6B2D-A280-5931-4F1B451F1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654175"/>
            <a:ext cx="4191000" cy="475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4292" name="Rectangle 4">
            <a:extLst>
              <a:ext uri="{FF2B5EF4-FFF2-40B4-BE49-F238E27FC236}">
                <a16:creationId xmlns:a16="http://schemas.microsoft.com/office/drawing/2014/main" id="{3BB4DA6F-C479-54E7-90A1-D4C259E35E3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Outline</a:t>
            </a:r>
          </a:p>
        </p:txBody>
      </p:sp>
      <p:sp>
        <p:nvSpPr>
          <p:cNvPr id="48133" name="Rectangle 4">
            <a:extLst>
              <a:ext uri="{FF2B5EF4-FFF2-40B4-BE49-F238E27FC236}">
                <a16:creationId xmlns:a16="http://schemas.microsoft.com/office/drawing/2014/main" id="{A2AA2343-4D26-0E99-C74F-ED1B75173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371600"/>
            <a:ext cx="69977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 sz="3600" b="1">
              <a:solidFill>
                <a:schemeClr val="tx2"/>
              </a:solidFill>
            </a:endParaRP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0EE66004-CE84-4DBC-F94D-B4C84D8A0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143000"/>
            <a:ext cx="7543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85750" indent="-285750"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6200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/>
            <a:r>
              <a:rPr lang="en-US" altLang="en-US"/>
              <a:t>Software Quality</a:t>
            </a:r>
          </a:p>
          <a:p>
            <a:pPr lvl="1" eaLnBrk="1" hangingPunct="1"/>
            <a:r>
              <a:rPr lang="en-US" altLang="en-US"/>
              <a:t>Quality Models</a:t>
            </a:r>
          </a:p>
          <a:p>
            <a:pPr eaLnBrk="1" hangingPunct="1"/>
            <a:r>
              <a:rPr lang="en-US" altLang="en-US"/>
              <a:t>Quality Attributes</a:t>
            </a:r>
          </a:p>
          <a:p>
            <a:pPr lvl="1" eaLnBrk="1" hangingPunct="1"/>
            <a:r>
              <a:rPr lang="en-US" altLang="en-US" b="1"/>
              <a:t>Quality Attribute Scenarios</a:t>
            </a:r>
            <a:endParaRPr lang="en-US" altLang="en-US"/>
          </a:p>
          <a:p>
            <a:pPr eaLnBrk="1" hangingPunct="1"/>
            <a:r>
              <a:rPr lang="en-US" altLang="en-US"/>
              <a:t>Requirements Validation</a:t>
            </a:r>
          </a:p>
        </p:txBody>
      </p:sp>
      <p:sp>
        <p:nvSpPr>
          <p:cNvPr id="48135" name="Slide Number Placeholder 1">
            <a:extLst>
              <a:ext uri="{FF2B5EF4-FFF2-40B4-BE49-F238E27FC236}">
                <a16:creationId xmlns:a16="http://schemas.microsoft.com/office/drawing/2014/main" id="{328B4B8A-0A55-4F00-8773-5C368BEAD15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2938022E-2F34-4B4C-B4FD-43663D3A1B70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28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>
            <a:extLst>
              <a:ext uri="{FF2B5EF4-FFF2-40B4-BE49-F238E27FC236}">
                <a16:creationId xmlns:a16="http://schemas.microsoft.com/office/drawing/2014/main" id="{B656BA25-A415-789D-88F4-F098C23887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Quality Attribute Scenarios</a:t>
            </a:r>
          </a:p>
        </p:txBody>
      </p:sp>
      <p:pic>
        <p:nvPicPr>
          <p:cNvPr id="50179" name="Picture 5" descr="getfile">
            <a:extLst>
              <a:ext uri="{FF2B5EF4-FFF2-40B4-BE49-F238E27FC236}">
                <a16:creationId xmlns:a16="http://schemas.microsoft.com/office/drawing/2014/main" id="{DEEDA81D-443C-E3C5-392A-3B1104B2F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05000"/>
            <a:ext cx="74676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0" name="Slide Number Placeholder 1">
            <a:extLst>
              <a:ext uri="{FF2B5EF4-FFF2-40B4-BE49-F238E27FC236}">
                <a16:creationId xmlns:a16="http://schemas.microsoft.com/office/drawing/2014/main" id="{C27E0615-9951-1ADF-77A3-3D8E887DEBE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6DEF17B5-F7F2-42F0-A0A5-67458D0C4ADD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29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>
            <a:extLst>
              <a:ext uri="{FF2B5EF4-FFF2-40B4-BE49-F238E27FC236}">
                <a16:creationId xmlns:a16="http://schemas.microsoft.com/office/drawing/2014/main" id="{5254F7C5-071B-0440-C6E6-F3C2DADDC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200" dirty="0">
                <a:ea typeface="+mj-ea"/>
                <a:cs typeface="+mj-cs"/>
              </a:rPr>
              <a:t>Effectiveness of Quality Attribute Scenarios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A04D1D3-C2A7-5954-5F21-602556A1CB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Quality Attribute Scenarios (QAS) provide a </a:t>
            </a:r>
            <a:r>
              <a:rPr lang="en-US" altLang="en-US" i="1">
                <a:solidFill>
                  <a:srgbClr val="083A7F"/>
                </a:solidFill>
              </a:rPr>
              <a:t>tool to help identifying</a:t>
            </a:r>
            <a:r>
              <a:rPr lang="en-US" altLang="en-US"/>
              <a:t> non-functional requirements</a:t>
            </a:r>
          </a:p>
          <a:p>
            <a:pPr lvl="1"/>
            <a:r>
              <a:rPr lang="en-US" altLang="en-US"/>
              <a:t>QAS alone will not guarantee that quality aspects are met!</a:t>
            </a:r>
          </a:p>
          <a:p>
            <a:pPr lvl="1"/>
            <a:r>
              <a:rPr lang="en-US" altLang="en-US"/>
              <a:t>Allow for a systematic approach to deal with quality aspects.</a:t>
            </a:r>
          </a:p>
          <a:p>
            <a:pPr lvl="1"/>
            <a:r>
              <a:rPr lang="en-US" altLang="en-US"/>
              <a:t>If scenarios are inadequate, do not hesitate to extend them (but with care!)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600"/>
          </a:p>
          <a:p>
            <a:r>
              <a:rPr lang="en-US" altLang="en-US"/>
              <a:t>But:</a:t>
            </a:r>
          </a:p>
          <a:p>
            <a:pPr lvl="1"/>
            <a:r>
              <a:rPr lang="en-US" altLang="en-US"/>
              <a:t>QAS have proven to be </a:t>
            </a:r>
            <a:r>
              <a:rPr lang="en-US" altLang="en-US" i="1">
                <a:solidFill>
                  <a:srgbClr val="7F0101"/>
                </a:solidFill>
              </a:rPr>
              <a:t>too complex</a:t>
            </a:r>
            <a:r>
              <a:rPr lang="en-US" altLang="en-US"/>
              <a:t> to be useful in the context of “our purpose” </a:t>
            </a:r>
            <a:r>
              <a:rPr lang="en-US" altLang="en-US">
                <a:sym typeface="Wingdings" panose="05000000000000000000" pitchFamily="2" charset="2"/>
              </a:rPr>
              <a:t></a:t>
            </a:r>
            <a:endParaRPr lang="en-US" altLang="en-US"/>
          </a:p>
        </p:txBody>
      </p:sp>
      <p:sp>
        <p:nvSpPr>
          <p:cNvPr id="52228" name="Slide Number Placeholder 1">
            <a:extLst>
              <a:ext uri="{FF2B5EF4-FFF2-40B4-BE49-F238E27FC236}">
                <a16:creationId xmlns:a16="http://schemas.microsoft.com/office/drawing/2014/main" id="{B48924D5-631F-83A1-9A28-B0F7C56349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7A9C8F96-480B-4D7D-A9B7-8AB4B2854C53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30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1A878085-2144-447F-7771-5E3C8D472B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“Hypothesis”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58BC0122-0B72-CF13-3F21-0F46647775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Identify the top 3 to 5 quality attributes/factors of the </a:t>
            </a:r>
            <a:r>
              <a:rPr lang="en-US" altLang="en-US" sz="2400">
                <a:solidFill>
                  <a:srgbClr val="083A7F"/>
                </a:solidFill>
              </a:rPr>
              <a:t>domain</a:t>
            </a:r>
          </a:p>
          <a:p>
            <a:pPr lvl="1">
              <a:buFont typeface="Wingdings" panose="05000000000000000000" pitchFamily="2" charset="2"/>
              <a:buChar char="F"/>
            </a:pPr>
            <a:r>
              <a:rPr lang="en-US" altLang="en-US" sz="2000"/>
              <a:t>Assume that qualities of similar applications will also be of relevance for the application under consideration</a:t>
            </a:r>
          </a:p>
          <a:p>
            <a:r>
              <a:rPr lang="en-US" altLang="en-US" sz="2400" i="1"/>
              <a:t>Systematically</a:t>
            </a:r>
            <a:r>
              <a:rPr lang="en-US" altLang="en-US" sz="2400"/>
              <a:t> go through all identified </a:t>
            </a:r>
            <a:r>
              <a:rPr lang="en-US" altLang="en-US" sz="2400">
                <a:solidFill>
                  <a:srgbClr val="083A7F"/>
                </a:solidFill>
              </a:rPr>
              <a:t>user task</a:t>
            </a:r>
          </a:p>
          <a:p>
            <a:pPr lvl="1"/>
            <a:r>
              <a:rPr lang="en-US" altLang="en-US" sz="2000"/>
              <a:t>Identify these tasks that make explicit mention of the identified quality attributes</a:t>
            </a:r>
          </a:p>
          <a:p>
            <a:pPr lvl="1"/>
            <a:r>
              <a:rPr lang="en-US" altLang="en-US" sz="2000"/>
              <a:t>Note: “critical” of user tasks generally imply some quality requirements!</a:t>
            </a:r>
          </a:p>
          <a:p>
            <a:r>
              <a:rPr lang="en-US" altLang="en-US" sz="2400"/>
              <a:t>Spell out the resulting non-functional requirements in a </a:t>
            </a:r>
            <a:r>
              <a:rPr lang="en-US" altLang="en-US" sz="2400" i="1">
                <a:solidFill>
                  <a:srgbClr val="7F0101"/>
                </a:solidFill>
              </a:rPr>
              <a:t>verifiable</a:t>
            </a:r>
            <a:r>
              <a:rPr lang="en-US" altLang="en-US" sz="2400">
                <a:solidFill>
                  <a:srgbClr val="7F0101"/>
                </a:solidFill>
              </a:rPr>
              <a:t> </a:t>
            </a:r>
            <a:r>
              <a:rPr lang="en-US" altLang="en-US" sz="2400"/>
              <a:t>form.</a:t>
            </a:r>
          </a:p>
          <a:p>
            <a:pPr>
              <a:buFont typeface="Wingdings" panose="05000000000000000000" pitchFamily="2" charset="2"/>
              <a:buChar char="F"/>
            </a:pPr>
            <a:r>
              <a:rPr lang="en-US" altLang="en-US" sz="2400" i="1"/>
              <a:t>Maybe not be 100% perfect, but a good start…</a:t>
            </a:r>
          </a:p>
        </p:txBody>
      </p:sp>
      <p:sp>
        <p:nvSpPr>
          <p:cNvPr id="54276" name="Slide Number Placeholder 1">
            <a:extLst>
              <a:ext uri="{FF2B5EF4-FFF2-40B4-BE49-F238E27FC236}">
                <a16:creationId xmlns:a16="http://schemas.microsoft.com/office/drawing/2014/main" id="{4F53AE2B-84EA-D753-CFEE-AF601700FB1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6132B176-DC8D-46F6-B5E5-2FAAD068AAB2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31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D3101801-4B9A-77C5-9EF1-64E6AF8C23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6323" name="Slide Number Placeholder 2">
            <a:extLst>
              <a:ext uri="{FF2B5EF4-FFF2-40B4-BE49-F238E27FC236}">
                <a16:creationId xmlns:a16="http://schemas.microsoft.com/office/drawing/2014/main" id="{C35D79F8-7461-F91C-1D17-13BD1EC529B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DE910111-FA8A-4A95-81F0-EB282AED18EE}" type="slidenum">
              <a:rPr lang="en-AU" altLang="en-US" sz="1400" smtClean="0">
                <a:latin typeface="Times New Roman" panose="02020603050405020304" pitchFamily="18" charset="0"/>
              </a:rPr>
              <a:pPr/>
              <a:t>32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endParaRPr lang="en-AU" altLang="en-US" sz="1400">
              <a:latin typeface="Times New Roman" panose="02020603050405020304" pitchFamily="18" charset="0"/>
            </a:endParaRPr>
          </a:p>
        </p:txBody>
      </p:sp>
      <p:pic>
        <p:nvPicPr>
          <p:cNvPr id="56324" name="Picture 2" descr="Alex Xu on X: &quot;/1 The CAP theorem is one of the most famous terms in  computer science, but I bet different developers have different  understandings. Let's examine what it is and">
            <a:extLst>
              <a:ext uri="{FF2B5EF4-FFF2-40B4-BE49-F238E27FC236}">
                <a16:creationId xmlns:a16="http://schemas.microsoft.com/office/drawing/2014/main" id="{8DFE2728-CC0A-8B5A-40A5-8E3B340C4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38" y="0"/>
            <a:ext cx="88217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1">
            <a:extLst>
              <a:ext uri="{FF2B5EF4-FFF2-40B4-BE49-F238E27FC236}">
                <a16:creationId xmlns:a16="http://schemas.microsoft.com/office/drawing/2014/main" id="{FDD21261-C180-25A0-229B-EBF8ADBF830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E072F2A8-8871-41EA-9789-AFF9B4DF6511}" type="slidenum">
              <a:rPr lang="en-AU" altLang="en-US" sz="1400" smtClean="0">
                <a:latin typeface="Times New Roman" panose="02020603050405020304" pitchFamily="18" charset="0"/>
              </a:rPr>
              <a:pPr/>
              <a:t>33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endParaRPr lang="en-AU" altLang="en-US" sz="1400">
              <a:latin typeface="Times New Roman" panose="02020603050405020304" pitchFamily="18" charset="0"/>
            </a:endParaRPr>
          </a:p>
        </p:txBody>
      </p:sp>
      <p:pic>
        <p:nvPicPr>
          <p:cNvPr id="57347" name="Picture 2" descr="Alex Xu on LinkedIn: #systemdesign #coding #interviewtips | 73 comments">
            <a:extLst>
              <a:ext uri="{FF2B5EF4-FFF2-40B4-BE49-F238E27FC236}">
                <a16:creationId xmlns:a16="http://schemas.microsoft.com/office/drawing/2014/main" id="{8944E49F-38A5-7410-1796-D9FEBA375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3363"/>
            <a:ext cx="9085263" cy="662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1">
            <a:extLst>
              <a:ext uri="{FF2B5EF4-FFF2-40B4-BE49-F238E27FC236}">
                <a16:creationId xmlns:a16="http://schemas.microsoft.com/office/drawing/2014/main" id="{059A8E56-FD4F-06CA-5E5F-932872F8FEA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650F16D6-8D73-4B92-9047-ACCB174DE08F}" type="slidenum">
              <a:rPr lang="en-AU" altLang="en-US" sz="1400" smtClean="0">
                <a:latin typeface="Times New Roman" panose="02020603050405020304" pitchFamily="18" charset="0"/>
              </a:rPr>
              <a:pPr/>
              <a:t>34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endParaRPr lang="en-AU" altLang="en-US" sz="1400">
              <a:latin typeface="Times New Roman" panose="02020603050405020304" pitchFamily="18" charset="0"/>
            </a:endParaRPr>
          </a:p>
        </p:txBody>
      </p:sp>
      <p:pic>
        <p:nvPicPr>
          <p:cNvPr id="58371" name="Picture 2" descr="@alexxubyte's video Tweet">
            <a:extLst>
              <a:ext uri="{FF2B5EF4-FFF2-40B4-BE49-F238E27FC236}">
                <a16:creationId xmlns:a16="http://schemas.microsoft.com/office/drawing/2014/main" id="{0AD62CA6-0FFC-7463-3FF1-9939109D0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163" y="0"/>
            <a:ext cx="52736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1">
            <a:extLst>
              <a:ext uri="{FF2B5EF4-FFF2-40B4-BE49-F238E27FC236}">
                <a16:creationId xmlns:a16="http://schemas.microsoft.com/office/drawing/2014/main" id="{8F0939E3-6048-1F70-A8F2-28786AA24D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68147FCE-55A0-480A-BC99-51B475133340}" type="slidenum">
              <a:rPr lang="en-AU" altLang="en-US" sz="1400" smtClean="0">
                <a:latin typeface="Times New Roman" panose="02020603050405020304" pitchFamily="18" charset="0"/>
              </a:rPr>
              <a:pPr/>
              <a:t>35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endParaRPr lang="en-AU" altLang="en-US" sz="1400">
              <a:latin typeface="Times New Roman" panose="02020603050405020304" pitchFamily="18" charset="0"/>
            </a:endParaRPr>
          </a:p>
        </p:txBody>
      </p:sp>
      <p:pic>
        <p:nvPicPr>
          <p:cNvPr id="59395" name="Picture 2" descr="@alexxubyte's video Tweet">
            <a:extLst>
              <a:ext uri="{FF2B5EF4-FFF2-40B4-BE49-F238E27FC236}">
                <a16:creationId xmlns:a16="http://schemas.microsoft.com/office/drawing/2014/main" id="{0E06279E-EC7D-80A2-C1D4-FA4EA4299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163" y="0"/>
            <a:ext cx="52736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EBA814A-7081-9973-BA08-51514F1C15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</a:t>
            </a:r>
          </a:p>
        </p:txBody>
      </p:sp>
      <p:sp>
        <p:nvSpPr>
          <p:cNvPr id="513027" name="Rectangle 3">
            <a:extLst>
              <a:ext uri="{FF2B5EF4-FFF2-40B4-BE49-F238E27FC236}">
                <a16:creationId xmlns:a16="http://schemas.microsoft.com/office/drawing/2014/main" id="{9B334190-A80F-CF64-583C-185AAD60CB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3200" dirty="0"/>
              <a:t>For the Hotel </a:t>
            </a:r>
            <a:r>
              <a:rPr lang="en-US" sz="3200"/>
              <a:t>Information System</a:t>
            </a:r>
            <a:r>
              <a:rPr lang="en-US" sz="3200" dirty="0"/>
              <a:t>:</a:t>
            </a:r>
          </a:p>
          <a:p>
            <a:pPr>
              <a:defRPr/>
            </a:pPr>
            <a:r>
              <a:rPr lang="en-US" dirty="0"/>
              <a:t>Identify the top 3 to 5 quality attributes/factors …</a:t>
            </a:r>
          </a:p>
          <a:p>
            <a:pPr>
              <a:defRPr/>
            </a:pPr>
            <a:r>
              <a:rPr lang="en-US" i="1" dirty="0"/>
              <a:t>Systematically</a:t>
            </a:r>
            <a:r>
              <a:rPr lang="en-US" dirty="0"/>
              <a:t> go through all identified </a:t>
            </a:r>
            <a:r>
              <a:rPr lang="en-US" dirty="0">
                <a:solidFill>
                  <a:srgbClr val="083A7F"/>
                </a:solidFill>
              </a:rPr>
              <a:t>user task … </a:t>
            </a:r>
          </a:p>
          <a:p>
            <a:pPr lvl="1">
              <a:defRPr/>
            </a:pPr>
            <a:r>
              <a:rPr lang="en-US" sz="2000" dirty="0"/>
              <a:t>User …</a:t>
            </a:r>
          </a:p>
          <a:p>
            <a:pPr lvl="1">
              <a:defRPr/>
            </a:pPr>
            <a:r>
              <a:rPr lang="en-US" altLang="en-US" sz="2000" dirty="0"/>
              <a:t>“</a:t>
            </a:r>
            <a:r>
              <a:rPr lang="en-US" sz="2000" dirty="0"/>
              <a:t>critical</a:t>
            </a:r>
            <a:r>
              <a:rPr lang="en-US" altLang="en-US" sz="2000" dirty="0"/>
              <a:t>”</a:t>
            </a:r>
            <a:r>
              <a:rPr lang="en-US" sz="2000" dirty="0"/>
              <a:t> parts … </a:t>
            </a:r>
          </a:p>
          <a:p>
            <a:pPr>
              <a:defRPr/>
            </a:pPr>
            <a:r>
              <a:rPr lang="en-US" dirty="0"/>
              <a:t>Spell out the resulting non-functional requirements in a </a:t>
            </a:r>
            <a:r>
              <a:rPr lang="en-US" i="1" dirty="0">
                <a:solidFill>
                  <a:srgbClr val="7F0101"/>
                </a:solidFill>
              </a:rPr>
              <a:t>verifiable</a:t>
            </a:r>
            <a:r>
              <a:rPr lang="en-US" dirty="0">
                <a:solidFill>
                  <a:srgbClr val="7F0101"/>
                </a:solidFill>
              </a:rPr>
              <a:t> </a:t>
            </a:r>
            <a:r>
              <a:rPr lang="en-US" dirty="0"/>
              <a:t>form …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…  see tutorial</a:t>
            </a:r>
          </a:p>
        </p:txBody>
      </p:sp>
      <p:sp>
        <p:nvSpPr>
          <p:cNvPr id="60420" name="Slide Number Placeholder 1">
            <a:extLst>
              <a:ext uri="{FF2B5EF4-FFF2-40B4-BE49-F238E27FC236}">
                <a16:creationId xmlns:a16="http://schemas.microsoft.com/office/drawing/2014/main" id="{4916CE0A-0844-1BED-67B7-406FDC66E7A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FB1BC0D1-BE1C-4A5E-BA62-FE8021F42415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36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E9D4433A-B016-FCCF-13B6-7C7C23BBF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4000"/>
            <a:ext cx="7162800" cy="4953000"/>
          </a:xfrm>
          <a:prstGeom prst="rect">
            <a:avLst/>
          </a:prstGeom>
          <a:solidFill>
            <a:srgbClr val="E1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>
              <a:latin typeface="Helvetica" panose="020B0604020202020204" pitchFamily="34" charset="0"/>
            </a:endParaRPr>
          </a:p>
        </p:txBody>
      </p:sp>
      <p:pic>
        <p:nvPicPr>
          <p:cNvPr id="62467" name="Picture 6" descr="roadmap">
            <a:extLst>
              <a:ext uri="{FF2B5EF4-FFF2-40B4-BE49-F238E27FC236}">
                <a16:creationId xmlns:a16="http://schemas.microsoft.com/office/drawing/2014/main" id="{F3413027-BBC2-0D77-13A3-91C9FD66B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654175"/>
            <a:ext cx="4191000" cy="475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8388" name="Rectangle 4">
            <a:extLst>
              <a:ext uri="{FF2B5EF4-FFF2-40B4-BE49-F238E27FC236}">
                <a16:creationId xmlns:a16="http://schemas.microsoft.com/office/drawing/2014/main" id="{0A7C9F76-4CF7-B364-A31E-2A8056D2E49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Outline</a:t>
            </a:r>
          </a:p>
        </p:txBody>
      </p:sp>
      <p:sp>
        <p:nvSpPr>
          <p:cNvPr id="62469" name="Rectangle 4">
            <a:extLst>
              <a:ext uri="{FF2B5EF4-FFF2-40B4-BE49-F238E27FC236}">
                <a16:creationId xmlns:a16="http://schemas.microsoft.com/office/drawing/2014/main" id="{513EE154-4753-9501-EB1F-0D2D036E5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371600"/>
            <a:ext cx="69977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 sz="3600" b="1">
              <a:solidFill>
                <a:schemeClr val="tx2"/>
              </a:solidFill>
            </a:endParaRPr>
          </a:p>
        </p:txBody>
      </p:sp>
      <p:sp>
        <p:nvSpPr>
          <p:cNvPr id="62470" name="Rectangle 6">
            <a:extLst>
              <a:ext uri="{FF2B5EF4-FFF2-40B4-BE49-F238E27FC236}">
                <a16:creationId xmlns:a16="http://schemas.microsoft.com/office/drawing/2014/main" id="{7337EF79-9F5B-AB43-936D-B76C2F0CB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143000"/>
            <a:ext cx="7543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85750" indent="-285750"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6200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/>
            <a:r>
              <a:rPr lang="en-US" altLang="en-US"/>
              <a:t>Software Quality</a:t>
            </a:r>
          </a:p>
          <a:p>
            <a:pPr lvl="1" eaLnBrk="1" hangingPunct="1"/>
            <a:r>
              <a:rPr lang="en-US" altLang="en-US"/>
              <a:t>Quality Models</a:t>
            </a:r>
          </a:p>
          <a:p>
            <a:pPr eaLnBrk="1" hangingPunct="1"/>
            <a:r>
              <a:rPr lang="en-US" altLang="en-US"/>
              <a:t>Quality Attributes</a:t>
            </a:r>
          </a:p>
          <a:p>
            <a:pPr lvl="1" eaLnBrk="1" hangingPunct="1"/>
            <a:r>
              <a:rPr lang="en-US" altLang="en-US"/>
              <a:t>Quality Attribute Scenarios</a:t>
            </a:r>
          </a:p>
          <a:p>
            <a:pPr eaLnBrk="1" hangingPunct="1"/>
            <a:r>
              <a:rPr lang="en-US" altLang="en-US" b="1"/>
              <a:t>Requirements V&amp;V</a:t>
            </a:r>
            <a:endParaRPr lang="en-US" altLang="en-US"/>
          </a:p>
        </p:txBody>
      </p:sp>
      <p:sp>
        <p:nvSpPr>
          <p:cNvPr id="62471" name="Slide Number Placeholder 1">
            <a:extLst>
              <a:ext uri="{FF2B5EF4-FFF2-40B4-BE49-F238E27FC236}">
                <a16:creationId xmlns:a16="http://schemas.microsoft.com/office/drawing/2014/main" id="{67FFB894-6F13-F43F-1BCC-0B09E010B22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F3DCA1FD-DD1A-45A8-93AE-93BF977BA5FA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37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>
            <a:extLst>
              <a:ext uri="{FF2B5EF4-FFF2-40B4-BE49-F238E27FC236}">
                <a16:creationId xmlns:a16="http://schemas.microsoft.com/office/drawing/2014/main" id="{56049549-D7E2-E72A-EE64-0D5F24127A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Validation and Verification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BC595D07-E129-764B-204C-C29096AE6E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0C3A80"/>
                </a:solidFill>
              </a:rPr>
              <a:t>Validation</a:t>
            </a:r>
            <a:r>
              <a:rPr lang="en-US" altLang="en-US" b="1" i="1"/>
              <a:t>:</a:t>
            </a:r>
            <a:endParaRPr lang="en-US" altLang="en-US"/>
          </a:p>
          <a:p>
            <a:r>
              <a:rPr lang="en-US" altLang="en-US"/>
              <a:t>Are we building the </a:t>
            </a:r>
            <a:r>
              <a:rPr lang="en-US" altLang="en-US" i="1">
                <a:solidFill>
                  <a:srgbClr val="7F0101"/>
                </a:solidFill>
              </a:rPr>
              <a:t>right product</a:t>
            </a:r>
            <a:r>
              <a:rPr lang="en-US" altLang="en-US"/>
              <a:t>? </a:t>
            </a:r>
          </a:p>
          <a:p>
            <a:pPr marL="809625" lvl="1" indent="-333375"/>
            <a:r>
              <a:rPr lang="en-US" altLang="en-US"/>
              <a:t>do requirements meet stakeholders’ </a:t>
            </a:r>
            <a:r>
              <a:rPr lang="en-US" altLang="en-US" i="1">
                <a:solidFill>
                  <a:srgbClr val="083A7F"/>
                </a:solidFill>
              </a:rPr>
              <a:t>expectations</a:t>
            </a:r>
            <a:r>
              <a:rPr lang="en-US" altLang="en-US"/>
              <a:t>?</a:t>
            </a:r>
          </a:p>
          <a:p>
            <a:pPr marL="809625" lvl="1" indent="-333375"/>
            <a:r>
              <a:rPr lang="en-US" altLang="en-US"/>
              <a:t>are requirements </a:t>
            </a:r>
            <a:r>
              <a:rPr lang="en-US" altLang="en-US" i="1"/>
              <a:t>realistic,</a:t>
            </a:r>
            <a:r>
              <a:rPr lang="en-US" altLang="en-US"/>
              <a:t> </a:t>
            </a:r>
            <a:r>
              <a:rPr lang="en-US" altLang="en-US" i="1"/>
              <a:t>achievable, </a:t>
            </a:r>
            <a:r>
              <a:rPr lang="en-US" altLang="en-US"/>
              <a:t>prioritized?</a:t>
            </a:r>
          </a:p>
          <a:p>
            <a:pPr marL="809625" lvl="1" indent="-333375">
              <a:buFont typeface="Wingdings" panose="05000000000000000000" pitchFamily="2" charset="2"/>
              <a:buChar char="☞"/>
            </a:pPr>
            <a:r>
              <a:rPr lang="en-US" altLang="en-US"/>
              <a:t>can requirements be traced back to </a:t>
            </a:r>
            <a:r>
              <a:rPr lang="en-US" altLang="en-US">
                <a:solidFill>
                  <a:srgbClr val="083A7F"/>
                </a:solidFill>
              </a:rPr>
              <a:t>business goals</a:t>
            </a:r>
            <a:r>
              <a:rPr lang="en-US" altLang="en-US"/>
              <a:t>?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0C3A80"/>
                </a:solidFill>
              </a:rPr>
              <a:t>Verification</a:t>
            </a:r>
            <a:r>
              <a:rPr lang="en-US" altLang="en-US" b="1" i="1"/>
              <a:t>:</a:t>
            </a:r>
            <a:endParaRPr lang="en-US" altLang="en-US"/>
          </a:p>
          <a:p>
            <a:r>
              <a:rPr lang="en-US" altLang="en-US"/>
              <a:t>Are we </a:t>
            </a:r>
            <a:r>
              <a:rPr lang="en-US" altLang="en-US" i="1">
                <a:solidFill>
                  <a:srgbClr val="7F0101"/>
                </a:solidFill>
              </a:rPr>
              <a:t>building the product right</a:t>
            </a:r>
            <a:r>
              <a:rPr lang="en-US" altLang="en-US"/>
              <a:t>? </a:t>
            </a:r>
          </a:p>
          <a:p>
            <a:pPr marL="809625" lvl="1" indent="-333375"/>
            <a:r>
              <a:rPr lang="en-US" altLang="en-US"/>
              <a:t>are the requirements implemented correctly?</a:t>
            </a:r>
          </a:p>
          <a:p>
            <a:pPr marL="809625" lvl="1" indent="-333375">
              <a:buFont typeface="Wingdings" panose="05000000000000000000" pitchFamily="2" charset="2"/>
              <a:buChar char="☞"/>
            </a:pPr>
            <a:r>
              <a:rPr lang="en-US" altLang="en-US"/>
              <a:t>can you come up with some </a:t>
            </a:r>
            <a:r>
              <a:rPr lang="en-US" altLang="en-US" i="1">
                <a:solidFill>
                  <a:srgbClr val="7F0101"/>
                </a:solidFill>
              </a:rPr>
              <a:t>objective</a:t>
            </a:r>
            <a:r>
              <a:rPr lang="en-US" altLang="en-US">
                <a:solidFill>
                  <a:srgbClr val="7F0101"/>
                </a:solidFill>
              </a:rPr>
              <a:t> </a:t>
            </a:r>
            <a:r>
              <a:rPr lang="en-US" altLang="en-US"/>
              <a:t>testing scenario?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64516" name="TextBox 1">
            <a:extLst>
              <a:ext uri="{FF2B5EF4-FFF2-40B4-BE49-F238E27FC236}">
                <a16:creationId xmlns:a16="http://schemas.microsoft.com/office/drawing/2014/main" id="{021BF244-3258-759C-46AE-FAC441E17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370138" y="1509713"/>
            <a:ext cx="184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64517" name="Slide Number Placeholder 1">
            <a:extLst>
              <a:ext uri="{FF2B5EF4-FFF2-40B4-BE49-F238E27FC236}">
                <a16:creationId xmlns:a16="http://schemas.microsoft.com/office/drawing/2014/main" id="{B9DFD90D-6AEC-2044-D509-0045FDBAB4E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6C1C0A16-F010-40D1-9B1B-7FBDE8DB91FC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38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>
            <a:extLst>
              <a:ext uri="{FF2B5EF4-FFF2-40B4-BE49-F238E27FC236}">
                <a16:creationId xmlns:a16="http://schemas.microsoft.com/office/drawing/2014/main" id="{1D008569-4DCB-B5DD-7CC7-05A001F43C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Traceability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305D0839-81EE-98D5-72F5-D77FD37A99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0" y="1143000"/>
            <a:ext cx="7543800" cy="502285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700"/>
              <a:t>Traceability needed in both </a:t>
            </a:r>
            <a:r>
              <a:rPr lang="en-US" altLang="en-US" sz="2700">
                <a:solidFill>
                  <a:srgbClr val="023B7F"/>
                </a:solidFill>
              </a:rPr>
              <a:t>forward</a:t>
            </a:r>
            <a:r>
              <a:rPr lang="en-US" altLang="en-US" sz="2700"/>
              <a:t> and </a:t>
            </a:r>
            <a:r>
              <a:rPr lang="en-US" altLang="en-US" sz="2700">
                <a:solidFill>
                  <a:srgbClr val="023B7F"/>
                </a:solidFill>
              </a:rPr>
              <a:t>backward</a:t>
            </a:r>
            <a:endParaRPr lang="en-US" altLang="en-US" sz="27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700"/>
              <a:t>directions: </a:t>
            </a:r>
          </a:p>
          <a:p>
            <a:pPr>
              <a:lnSpc>
                <a:spcPct val="90000"/>
              </a:lnSpc>
            </a:pPr>
            <a:r>
              <a:rPr lang="en-US" altLang="en-US" sz="2700"/>
              <a:t>Where did a requirement come from? Does it “origin” from a business goal? What priority does it have?</a:t>
            </a:r>
          </a:p>
          <a:p>
            <a:pPr>
              <a:lnSpc>
                <a:spcPct val="90000"/>
              </a:lnSpc>
            </a:pPr>
            <a:r>
              <a:rPr lang="en-US" altLang="en-US" sz="2700"/>
              <a:t>Where in the design/implementation is this requirement been addressed?</a:t>
            </a:r>
          </a:p>
          <a:p>
            <a:pPr>
              <a:lnSpc>
                <a:spcPct val="90000"/>
              </a:lnSpc>
            </a:pPr>
            <a:r>
              <a:rPr lang="en-US" altLang="en-US" sz="2700"/>
              <a:t>What are the implications on design/implementation if this requirement is changed?</a:t>
            </a:r>
          </a:p>
        </p:txBody>
      </p:sp>
      <p:sp>
        <p:nvSpPr>
          <p:cNvPr id="66564" name="Slide Number Placeholder 1">
            <a:extLst>
              <a:ext uri="{FF2B5EF4-FFF2-40B4-BE49-F238E27FC236}">
                <a16:creationId xmlns:a16="http://schemas.microsoft.com/office/drawing/2014/main" id="{BA385084-54DB-332B-BB2E-0347DAC2B32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59BE2DC6-B075-471D-9B1B-615F07B1C66A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39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>
            <a:extLst>
              <a:ext uri="{FF2B5EF4-FFF2-40B4-BE49-F238E27FC236}">
                <a16:creationId xmlns:a16="http://schemas.microsoft.com/office/drawing/2014/main" id="{8E2EED4E-2AC5-F121-1DE4-C89ADF4C93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Traceability (cont.)</a:t>
            </a:r>
            <a:endParaRPr lang="en-AU" dirty="0">
              <a:ea typeface="+mj-ea"/>
              <a:cs typeface="+mj-cs"/>
            </a:endParaRPr>
          </a:p>
        </p:txBody>
      </p:sp>
      <p:sp>
        <p:nvSpPr>
          <p:cNvPr id="68611" name="AutoShape 3">
            <a:extLst>
              <a:ext uri="{FF2B5EF4-FFF2-40B4-BE49-F238E27FC236}">
                <a16:creationId xmlns:a16="http://schemas.microsoft.com/office/drawing/2014/main" id="{9C631A37-143F-D4AC-689F-AFB1980C7C9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3976688" y="4792662"/>
            <a:ext cx="190500" cy="1133475"/>
          </a:xfrm>
          <a:prstGeom prst="upDownArrow">
            <a:avLst>
              <a:gd name="adj1" fmla="val 50000"/>
              <a:gd name="adj2" fmla="val 119000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68612" name="AutoShape 4">
            <a:extLst>
              <a:ext uri="{FF2B5EF4-FFF2-40B4-BE49-F238E27FC236}">
                <a16:creationId xmlns:a16="http://schemas.microsoft.com/office/drawing/2014/main" id="{3F7B29B6-EC31-BE17-D729-25366F6E6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125538"/>
            <a:ext cx="1281113" cy="806450"/>
          </a:xfrm>
          <a:prstGeom prst="flowChartDocumen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Goals &amp;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demands</a:t>
            </a:r>
          </a:p>
        </p:txBody>
      </p:sp>
      <p:sp>
        <p:nvSpPr>
          <p:cNvPr id="68613" name="AutoShape 5">
            <a:extLst>
              <a:ext uri="{FF2B5EF4-FFF2-40B4-BE49-F238E27FC236}">
                <a16:creationId xmlns:a16="http://schemas.microsoft.com/office/drawing/2014/main" id="{9F62BAD5-7283-91DF-AFFE-D808A53F7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8675" y="2976563"/>
            <a:ext cx="1190625" cy="492125"/>
          </a:xfrm>
          <a:prstGeom prst="flowChartDocument">
            <a:avLst/>
          </a:prstGeom>
          <a:solidFill>
            <a:schemeClr val="bg1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Reqspec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8614" name="AutoShape 6">
            <a:extLst>
              <a:ext uri="{FF2B5EF4-FFF2-40B4-BE49-F238E27FC236}">
                <a16:creationId xmlns:a16="http://schemas.microsoft.com/office/drawing/2014/main" id="{DD525BA6-94A3-39BC-A712-FDAFABE22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5" y="4792663"/>
            <a:ext cx="1116013" cy="463550"/>
          </a:xfrm>
          <a:prstGeom prst="flowChartDocumen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Design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8615" name="AutoShape 7">
            <a:extLst>
              <a:ext uri="{FF2B5EF4-FFF2-40B4-BE49-F238E27FC236}">
                <a16:creationId xmlns:a16="http://schemas.microsoft.com/office/drawing/2014/main" id="{DC30C1A2-2670-6506-62B8-DBD09A5B5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2225" y="5130800"/>
            <a:ext cx="1149350" cy="463550"/>
          </a:xfrm>
          <a:prstGeom prst="flowChartDocumen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Program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8616" name="AutoShape 8">
            <a:extLst>
              <a:ext uri="{FF2B5EF4-FFF2-40B4-BE49-F238E27FC236}">
                <a16:creationId xmlns:a16="http://schemas.microsoft.com/office/drawing/2014/main" id="{BB264D29-5A24-89EC-6318-1C41FACFC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095875"/>
            <a:ext cx="1481138" cy="541338"/>
          </a:xfrm>
          <a:prstGeom prst="bevel">
            <a:avLst>
              <a:gd name="adj" fmla="val 17940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Operation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8617" name="Text Box 9">
            <a:extLst>
              <a:ext uri="{FF2B5EF4-FFF2-40B4-BE49-F238E27FC236}">
                <a16:creationId xmlns:a16="http://schemas.microsoft.com/office/drawing/2014/main" id="{A08110CF-2EFC-1A85-EED6-89D1AC252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700213"/>
            <a:ext cx="2132013" cy="89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 noProof="1">
                <a:latin typeface="Arial" panose="020B0604020202020204" pitchFamily="34" charset="0"/>
              </a:rPr>
              <a:t>Goal-domain tracing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 noProof="1">
                <a:latin typeface="Arial" panose="020B0604020202020204" pitchFamily="34" charset="0"/>
              </a:rPr>
              <a:t>Domain-reqs tracing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 noProof="1">
                <a:latin typeface="Arial" panose="020B0604020202020204" pitchFamily="34" charset="0"/>
              </a:rPr>
              <a:t>Reviews and tests</a:t>
            </a:r>
            <a:endParaRPr lang="en-GB" altLang="en-US" sz="1800" b="1" noProof="1">
              <a:latin typeface="Arial" panose="020B0604020202020204" pitchFamily="34" charset="0"/>
            </a:endParaRPr>
          </a:p>
        </p:txBody>
      </p:sp>
      <p:sp>
        <p:nvSpPr>
          <p:cNvPr id="68618" name="Text Box 10">
            <a:extLst>
              <a:ext uri="{FF2B5EF4-FFF2-40B4-BE49-F238E27FC236}">
                <a16:creationId xmlns:a16="http://schemas.microsoft.com/office/drawing/2014/main" id="{F1BBE540-1AA1-95DC-9480-397C40B3E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9575" y="3705225"/>
            <a:ext cx="2944813" cy="89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 noProof="1">
                <a:latin typeface="Arial" panose="020B0604020202020204" pitchFamily="34" charset="0"/>
              </a:rPr>
              <a:t>Direct implementation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 noProof="1">
                <a:latin typeface="Arial" panose="020B0604020202020204" pitchFamily="34" charset="0"/>
              </a:rPr>
              <a:t>Verification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 noProof="1">
                <a:latin typeface="Arial" panose="020B0604020202020204" pitchFamily="34" charset="0"/>
              </a:rPr>
              <a:t>Embedded trace inf</a:t>
            </a:r>
            <a:r>
              <a:rPr lang="en-AU" altLang="en-US" sz="1800">
                <a:latin typeface="Arial" panose="020B0604020202020204" pitchFamily="34" charset="0"/>
              </a:rPr>
              <a:t>ormation</a:t>
            </a:r>
            <a:endParaRPr lang="en-AU" altLang="en-US" sz="1800" b="1" noProof="1">
              <a:latin typeface="Arial" panose="020B0604020202020204" pitchFamily="34" charset="0"/>
            </a:endParaRPr>
          </a:p>
        </p:txBody>
      </p:sp>
      <p:sp>
        <p:nvSpPr>
          <p:cNvPr id="68619" name="AutoShape 11">
            <a:extLst>
              <a:ext uri="{FF2B5EF4-FFF2-40B4-BE49-F238E27FC236}">
                <a16:creationId xmlns:a16="http://schemas.microsoft.com/office/drawing/2014/main" id="{0965D0A3-BEB3-D793-E39C-BB0BB0475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644900"/>
            <a:ext cx="1285875" cy="685800"/>
          </a:xfrm>
          <a:prstGeom prst="wedgeRoundRectCallout">
            <a:avLst>
              <a:gd name="adj1" fmla="val 31727"/>
              <a:gd name="adj2" fmla="val 98611"/>
              <a:gd name="adj3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 noProof="1">
                <a:latin typeface="Arial" panose="020B0604020202020204" pitchFamily="34" charset="0"/>
              </a:rPr>
              <a:t>System &amp;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 noProof="1">
                <a:latin typeface="Arial" panose="020B0604020202020204" pitchFamily="34" charset="0"/>
              </a:rPr>
              <a:t>accept test</a:t>
            </a:r>
            <a:endParaRPr lang="en-GB" altLang="en-US" sz="1800" b="1" noProof="1">
              <a:latin typeface="Arial" panose="020B0604020202020204" pitchFamily="34" charset="0"/>
            </a:endParaRPr>
          </a:p>
        </p:txBody>
      </p:sp>
      <p:sp>
        <p:nvSpPr>
          <p:cNvPr id="68620" name="Text Box 12">
            <a:extLst>
              <a:ext uri="{FF2B5EF4-FFF2-40B4-BE49-F238E27FC236}">
                <a16:creationId xmlns:a16="http://schemas.microsoft.com/office/drawing/2014/main" id="{840C1300-7511-7D95-4D1D-AA78D5601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6188" y="2882900"/>
            <a:ext cx="1317625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 noProof="1">
                <a:latin typeface="Arial" panose="020B0604020202020204" pitchFamily="34" charset="0"/>
              </a:rPr>
              <a:t>Consistency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 noProof="1">
                <a:latin typeface="Arial" panose="020B0604020202020204" pitchFamily="34" charset="0"/>
              </a:rPr>
              <a:t>checks</a:t>
            </a:r>
            <a:endParaRPr lang="en-GB" altLang="en-US" sz="1800" b="1" noProof="1">
              <a:latin typeface="Arial" panose="020B0604020202020204" pitchFamily="34" charset="0"/>
            </a:endParaRPr>
          </a:p>
        </p:txBody>
      </p:sp>
      <p:sp>
        <p:nvSpPr>
          <p:cNvPr id="68621" name="Freeform 13">
            <a:extLst>
              <a:ext uri="{FF2B5EF4-FFF2-40B4-BE49-F238E27FC236}">
                <a16:creationId xmlns:a16="http://schemas.microsoft.com/office/drawing/2014/main" id="{99240242-39F6-FD8D-1C31-0AC2851532AA}"/>
              </a:ext>
            </a:extLst>
          </p:cNvPr>
          <p:cNvSpPr>
            <a:spLocks/>
          </p:cNvSpPr>
          <p:nvPr/>
        </p:nvSpPr>
        <p:spPr bwMode="auto">
          <a:xfrm>
            <a:off x="5851525" y="2725738"/>
            <a:ext cx="623888" cy="962025"/>
          </a:xfrm>
          <a:custGeom>
            <a:avLst/>
            <a:gdLst>
              <a:gd name="T0" fmla="*/ 0 w 393"/>
              <a:gd name="T1" fmla="*/ 2147483646 h 606"/>
              <a:gd name="T2" fmla="*/ 2147483646 w 393"/>
              <a:gd name="T3" fmla="*/ 2147483646 h 60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93" h="606">
                <a:moveTo>
                  <a:pt x="0" y="363"/>
                </a:moveTo>
                <a:cubicBezTo>
                  <a:pt x="276" y="606"/>
                  <a:pt x="393" y="0"/>
                  <a:pt x="12" y="207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GB"/>
          </a:p>
        </p:txBody>
      </p:sp>
      <p:sp>
        <p:nvSpPr>
          <p:cNvPr id="68622" name="AutoShape 14">
            <a:extLst>
              <a:ext uri="{FF2B5EF4-FFF2-40B4-BE49-F238E27FC236}">
                <a16:creationId xmlns:a16="http://schemas.microsoft.com/office/drawing/2014/main" id="{00CC7506-3F14-A89E-951F-66AB1C3B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1916113"/>
            <a:ext cx="144462" cy="1066800"/>
          </a:xfrm>
          <a:prstGeom prst="upDownArrow">
            <a:avLst>
              <a:gd name="adj1" fmla="val 50000"/>
              <a:gd name="adj2" fmla="val 147693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68623" name="Freeform 15">
            <a:extLst>
              <a:ext uri="{FF2B5EF4-FFF2-40B4-BE49-F238E27FC236}">
                <a16:creationId xmlns:a16="http://schemas.microsoft.com/office/drawing/2014/main" id="{725834BF-CBA2-230A-7808-AA45F5B2444B}"/>
              </a:ext>
            </a:extLst>
          </p:cNvPr>
          <p:cNvSpPr>
            <a:spLocks/>
          </p:cNvSpPr>
          <p:nvPr/>
        </p:nvSpPr>
        <p:spPr bwMode="auto">
          <a:xfrm>
            <a:off x="2571750" y="3238500"/>
            <a:ext cx="2057400" cy="1847850"/>
          </a:xfrm>
          <a:custGeom>
            <a:avLst/>
            <a:gdLst>
              <a:gd name="T0" fmla="*/ 2147483646 w 1296"/>
              <a:gd name="T1" fmla="*/ 0 h 1164"/>
              <a:gd name="T2" fmla="*/ 0 w 1296"/>
              <a:gd name="T3" fmla="*/ 2147483646 h 116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296" h="1164">
                <a:moveTo>
                  <a:pt x="1296" y="0"/>
                </a:moveTo>
                <a:cubicBezTo>
                  <a:pt x="732" y="204"/>
                  <a:pt x="252" y="600"/>
                  <a:pt x="0" y="1164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GB"/>
          </a:p>
        </p:txBody>
      </p:sp>
      <p:sp>
        <p:nvSpPr>
          <p:cNvPr id="68624" name="AutoShape 16">
            <a:extLst>
              <a:ext uri="{FF2B5EF4-FFF2-40B4-BE49-F238E27FC236}">
                <a16:creationId xmlns:a16="http://schemas.microsoft.com/office/drawing/2014/main" id="{1FE4FB6F-D4F5-978F-6D6A-9B6AFD24C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3487738"/>
            <a:ext cx="190500" cy="1219200"/>
          </a:xfrm>
          <a:prstGeom prst="upDownArrow">
            <a:avLst>
              <a:gd name="adj1" fmla="val 50000"/>
              <a:gd name="adj2" fmla="val 128000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68625" name="Text Box 17">
            <a:extLst>
              <a:ext uri="{FF2B5EF4-FFF2-40B4-BE49-F238E27FC236}">
                <a16:creationId xmlns:a16="http://schemas.microsoft.com/office/drawing/2014/main" id="{389A8C32-DFD4-848F-0F31-42E10972A4AE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3679032" y="1974056"/>
            <a:ext cx="1276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 b="1" noProof="1">
                <a:latin typeface="Arial" panose="020B0604020202020204" pitchFamily="34" charset="0"/>
              </a:rPr>
              <a:t>Validation</a:t>
            </a:r>
          </a:p>
        </p:txBody>
      </p:sp>
      <p:sp>
        <p:nvSpPr>
          <p:cNvPr id="68626" name="Text Box 18">
            <a:extLst>
              <a:ext uri="{FF2B5EF4-FFF2-40B4-BE49-F238E27FC236}">
                <a16:creationId xmlns:a16="http://schemas.microsoft.com/office/drawing/2014/main" id="{74E746B5-3934-EB4E-70D1-324BB1491EC7}"/>
              </a:ext>
            </a:extLst>
          </p:cNvPr>
          <p:cNvSpPr txBox="1">
            <a:spLocks noChangeArrowheads="1"/>
          </p:cNvSpPr>
          <p:nvPr/>
        </p:nvSpPr>
        <p:spPr bwMode="auto">
          <a:xfrm rot="-2377661">
            <a:off x="2686050" y="3519488"/>
            <a:ext cx="1428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800" b="1" noProof="1">
                <a:latin typeface="Arial" panose="020B0604020202020204" pitchFamily="34" charset="0"/>
              </a:rPr>
              <a:t>Verification</a:t>
            </a:r>
          </a:p>
        </p:txBody>
      </p:sp>
      <p:sp>
        <p:nvSpPr>
          <p:cNvPr id="68627" name="Rectangle 19">
            <a:extLst>
              <a:ext uri="{FF2B5EF4-FFF2-40B4-BE49-F238E27FC236}">
                <a16:creationId xmlns:a16="http://schemas.microsoft.com/office/drawing/2014/main" id="{49E45DDF-6E7C-8344-A602-83459C30F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616585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200" noProof="1">
                <a:latin typeface="Times New Roman" panose="02020603050405020304" pitchFamily="18" charset="0"/>
              </a:rPr>
              <a:t>From: Soren Lauesen: Software Requirements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GB" altLang="en-US" sz="1200" noProof="1">
                <a:latin typeface="Times New Roman" panose="02020603050405020304" pitchFamily="18" charset="0"/>
              </a:rPr>
              <a:t>© Pearson / Addison-Wesley 2002</a:t>
            </a:r>
          </a:p>
        </p:txBody>
      </p:sp>
      <p:sp>
        <p:nvSpPr>
          <p:cNvPr id="68628" name="Slide Number Placeholder 1">
            <a:extLst>
              <a:ext uri="{FF2B5EF4-FFF2-40B4-BE49-F238E27FC236}">
                <a16:creationId xmlns:a16="http://schemas.microsoft.com/office/drawing/2014/main" id="{19985BE6-96C7-062D-065C-C53959B0001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7C3CD080-FA93-48E1-97F9-3F61DE19497D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40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>
            <a:extLst>
              <a:ext uri="{FF2B5EF4-FFF2-40B4-BE49-F238E27FC236}">
                <a16:creationId xmlns:a16="http://schemas.microsoft.com/office/drawing/2014/main" id="{9FAED18F-64AA-88EC-59F2-2629A60E2B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AU" sz="3400" dirty="0">
                <a:ea typeface="+mj-ea"/>
                <a:cs typeface="+mj-cs"/>
              </a:rPr>
              <a:t>Quality Criteria for a Requirements Spec.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9B2B61A1-A583-5C57-37BC-A46A071E6F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95263" indent="-195263"/>
            <a:r>
              <a:rPr lang="en-AU" altLang="en-US" sz="2400" i="1"/>
              <a:t> </a:t>
            </a:r>
            <a:r>
              <a:rPr lang="en-AU" altLang="en-US" sz="2400" i="1">
                <a:solidFill>
                  <a:srgbClr val="083A7F"/>
                </a:solidFill>
              </a:rPr>
              <a:t>Correct</a:t>
            </a:r>
            <a:r>
              <a:rPr lang="en-AU" altLang="en-US" sz="2400"/>
              <a:t>: each requirement reflects a need</a:t>
            </a:r>
          </a:p>
          <a:p>
            <a:pPr marL="195263" indent="-195263"/>
            <a:r>
              <a:rPr lang="en-AU" altLang="en-US" sz="2400" i="1"/>
              <a:t> </a:t>
            </a:r>
            <a:r>
              <a:rPr lang="en-AU" altLang="en-US" sz="2400" i="1">
                <a:solidFill>
                  <a:srgbClr val="083A7F"/>
                </a:solidFill>
              </a:rPr>
              <a:t>Traceable</a:t>
            </a:r>
            <a:r>
              <a:rPr lang="en-AU" altLang="en-US" sz="2400"/>
              <a:t>: to goals/purpose (also to design/implementation…)</a:t>
            </a:r>
          </a:p>
          <a:p>
            <a:pPr marL="195263" indent="-195263"/>
            <a:r>
              <a:rPr lang="en-AU" altLang="en-US" sz="2400" i="1"/>
              <a:t> </a:t>
            </a:r>
            <a:r>
              <a:rPr lang="en-AU" altLang="en-US" sz="2400" i="1">
                <a:solidFill>
                  <a:srgbClr val="083A7F"/>
                </a:solidFill>
              </a:rPr>
              <a:t>Complete</a:t>
            </a:r>
            <a:r>
              <a:rPr lang="en-AU" altLang="en-US" sz="2400"/>
              <a:t>: all necessary requirements are included</a:t>
            </a:r>
          </a:p>
          <a:p>
            <a:pPr marL="195263" indent="-195263"/>
            <a:r>
              <a:rPr lang="en-AU" altLang="en-US" sz="2400" i="1"/>
              <a:t> </a:t>
            </a:r>
            <a:r>
              <a:rPr lang="en-AU" altLang="en-US" sz="2400" i="1">
                <a:solidFill>
                  <a:srgbClr val="083A7F"/>
                </a:solidFill>
              </a:rPr>
              <a:t>Consistent</a:t>
            </a:r>
            <a:r>
              <a:rPr lang="en-AU" altLang="en-US" sz="2400"/>
              <a:t>: all parts of SRS match; there are no inconsistencies</a:t>
            </a:r>
          </a:p>
          <a:p>
            <a:pPr marL="195263" indent="-195263"/>
            <a:r>
              <a:rPr lang="en-AU" altLang="en-US" sz="2400"/>
              <a:t> </a:t>
            </a:r>
            <a:r>
              <a:rPr lang="en-AU" altLang="en-US" sz="2400" i="1">
                <a:solidFill>
                  <a:srgbClr val="7F0101"/>
                </a:solidFill>
              </a:rPr>
              <a:t>Verifiable</a:t>
            </a:r>
            <a:r>
              <a:rPr lang="en-AU" altLang="en-US" sz="2400"/>
              <a:t>: possible to see whether it can be met/tested</a:t>
            </a:r>
          </a:p>
          <a:p>
            <a:pPr marL="195263" indent="-195263">
              <a:buFont typeface="Wingdings" panose="05000000000000000000" pitchFamily="2" charset="2"/>
              <a:buNone/>
            </a:pPr>
            <a:endParaRPr lang="en-AU" altLang="en-US" sz="1000"/>
          </a:p>
          <a:p>
            <a:pPr marL="195263" indent="-195263"/>
            <a:r>
              <a:rPr lang="en-AU" altLang="en-US" sz="2400"/>
              <a:t> </a:t>
            </a:r>
            <a:r>
              <a:rPr lang="en-AU" altLang="en-US" sz="2400" i="1">
                <a:solidFill>
                  <a:srgbClr val="083A7F"/>
                </a:solidFill>
              </a:rPr>
              <a:t>Unambiguous</a:t>
            </a:r>
            <a:r>
              <a:rPr lang="en-AU" altLang="en-US" sz="2400"/>
              <a:t>: all stakeholders agree on meaning</a:t>
            </a:r>
          </a:p>
          <a:p>
            <a:pPr marL="195263" indent="-195263"/>
            <a:r>
              <a:rPr lang="en-AU" altLang="en-US" sz="2400" i="1"/>
              <a:t> </a:t>
            </a:r>
            <a:r>
              <a:rPr lang="en-AU" altLang="en-US" sz="2400" i="1">
                <a:solidFill>
                  <a:srgbClr val="083A7F"/>
                </a:solidFill>
              </a:rPr>
              <a:t>Ranked for importance/stability</a:t>
            </a:r>
            <a:r>
              <a:rPr lang="en-AU" altLang="en-US" sz="2400"/>
              <a:t>: priorities; expected changes</a:t>
            </a:r>
          </a:p>
          <a:p>
            <a:pPr marL="195263" indent="-195263"/>
            <a:r>
              <a:rPr lang="en-AU" altLang="en-US" sz="2400" i="1"/>
              <a:t> </a:t>
            </a:r>
            <a:r>
              <a:rPr lang="en-AU" altLang="en-US" sz="2400" i="1">
                <a:solidFill>
                  <a:srgbClr val="083A7F"/>
                </a:solidFill>
              </a:rPr>
              <a:t>Modifiable</a:t>
            </a:r>
            <a:r>
              <a:rPr lang="en-AU" altLang="en-US" sz="2400"/>
              <a:t>: easy to change; maintain consistency</a:t>
            </a:r>
          </a:p>
          <a:p>
            <a:pPr marL="195263" indent="-195263"/>
            <a:r>
              <a:rPr lang="en-AU" altLang="en-US" sz="2400" i="1">
                <a:solidFill>
                  <a:srgbClr val="000000"/>
                </a:solidFill>
              </a:rPr>
              <a:t> </a:t>
            </a:r>
            <a:r>
              <a:rPr lang="en-AU" altLang="en-US" sz="2400" i="1">
                <a:solidFill>
                  <a:srgbClr val="083A7F"/>
                </a:solidFill>
              </a:rPr>
              <a:t>Understandable</a:t>
            </a:r>
            <a:r>
              <a:rPr lang="en-AU" altLang="en-US" sz="2400" i="1"/>
              <a:t> by customer and developers</a:t>
            </a:r>
            <a:endParaRPr lang="en-US" altLang="en-US" sz="2400" i="1"/>
          </a:p>
        </p:txBody>
      </p:sp>
      <p:sp>
        <p:nvSpPr>
          <p:cNvPr id="70660" name="Slide Number Placeholder 1">
            <a:extLst>
              <a:ext uri="{FF2B5EF4-FFF2-40B4-BE49-F238E27FC236}">
                <a16:creationId xmlns:a16="http://schemas.microsoft.com/office/drawing/2014/main" id="{5FC0C410-0D88-87DB-232A-8482D4A6529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731641BA-FA1D-4ADE-8AE2-015341A3A540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41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>
            <a:extLst>
              <a:ext uri="{FF2B5EF4-FFF2-40B4-BE49-F238E27FC236}">
                <a16:creationId xmlns:a16="http://schemas.microsoft.com/office/drawing/2014/main" id="{8D2AF804-A133-BD65-454A-3F80CA78F3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ea typeface="+mj-ea"/>
                <a:cs typeface="+mj-cs"/>
              </a:rPr>
              <a:t>I. CRUD Completeness Checks</a:t>
            </a:r>
          </a:p>
        </p:txBody>
      </p:sp>
      <p:grpSp>
        <p:nvGrpSpPr>
          <p:cNvPr id="72707" name="Group 3">
            <a:extLst>
              <a:ext uri="{FF2B5EF4-FFF2-40B4-BE49-F238E27FC236}">
                <a16:creationId xmlns:a16="http://schemas.microsoft.com/office/drawing/2014/main" id="{CE9388CC-F544-5E6F-73AB-F2CF2AA0E9B8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1341438"/>
            <a:ext cx="5638800" cy="4938712"/>
            <a:chOff x="1156" y="845"/>
            <a:chExt cx="3552" cy="3111"/>
          </a:xfrm>
        </p:grpSpPr>
        <p:sp>
          <p:nvSpPr>
            <p:cNvPr id="72709" name="Text Box 4">
              <a:extLst>
                <a:ext uri="{FF2B5EF4-FFF2-40B4-BE49-F238E27FC236}">
                  <a16:creationId xmlns:a16="http://schemas.microsoft.com/office/drawing/2014/main" id="{E93555C8-3AB8-DCDB-A36B-96470AEEB7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2024"/>
              <a:ext cx="3506" cy="193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tabLst>
                  <a:tab pos="1428750" algn="l"/>
                  <a:tab pos="2095500" algn="l"/>
                  <a:tab pos="2762250" algn="l"/>
                  <a:tab pos="3429000" algn="l"/>
                  <a:tab pos="4095750" algn="l"/>
                  <a:tab pos="4762500" algn="l"/>
                </a:tabLst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tabLst>
                  <a:tab pos="1428750" algn="l"/>
                  <a:tab pos="2095500" algn="l"/>
                  <a:tab pos="2762250" algn="l"/>
                  <a:tab pos="3429000" algn="l"/>
                  <a:tab pos="4095750" algn="l"/>
                  <a:tab pos="4762500" algn="l"/>
                </a:tabLst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tabLst>
                  <a:tab pos="1428750" algn="l"/>
                  <a:tab pos="2095500" algn="l"/>
                  <a:tab pos="2762250" algn="l"/>
                  <a:tab pos="3429000" algn="l"/>
                  <a:tab pos="4095750" algn="l"/>
                  <a:tab pos="4762500" algn="l"/>
                </a:tabLst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tabLst>
                  <a:tab pos="1428750" algn="l"/>
                  <a:tab pos="2095500" algn="l"/>
                  <a:tab pos="2762250" algn="l"/>
                  <a:tab pos="3429000" algn="l"/>
                  <a:tab pos="4095750" algn="l"/>
                  <a:tab pos="4762500" algn="l"/>
                </a:tabLs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tabLst>
                  <a:tab pos="1428750" algn="l"/>
                  <a:tab pos="2095500" algn="l"/>
                  <a:tab pos="2762250" algn="l"/>
                  <a:tab pos="3429000" algn="l"/>
                  <a:tab pos="4095750" algn="l"/>
                  <a:tab pos="4762500" algn="l"/>
                </a:tabLst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tabLst>
                  <a:tab pos="1428750" algn="l"/>
                  <a:tab pos="2095500" algn="l"/>
                  <a:tab pos="2762250" algn="l"/>
                  <a:tab pos="3429000" algn="l"/>
                  <a:tab pos="4095750" algn="l"/>
                  <a:tab pos="4762500" algn="l"/>
                </a:tabLst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tabLst>
                  <a:tab pos="1428750" algn="l"/>
                  <a:tab pos="2095500" algn="l"/>
                  <a:tab pos="2762250" algn="l"/>
                  <a:tab pos="3429000" algn="l"/>
                  <a:tab pos="4095750" algn="l"/>
                  <a:tab pos="4762500" algn="l"/>
                </a:tabLst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tabLst>
                  <a:tab pos="1428750" algn="l"/>
                  <a:tab pos="2095500" algn="l"/>
                  <a:tab pos="2762250" algn="l"/>
                  <a:tab pos="3429000" algn="l"/>
                  <a:tab pos="4095750" algn="l"/>
                  <a:tab pos="4762500" algn="l"/>
                </a:tabLst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tabLst>
                  <a:tab pos="1428750" algn="l"/>
                  <a:tab pos="2095500" algn="l"/>
                  <a:tab pos="2762250" algn="l"/>
                  <a:tab pos="3429000" algn="l"/>
                  <a:tab pos="4095750" algn="l"/>
                  <a:tab pos="4762500" algn="l"/>
                </a:tabLst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1"/>
                <a:t>Book	C  U  O	C    	         O	    U  O		</a:t>
              </a:r>
            </a:p>
            <a:p>
              <a:pPr>
                <a:lnSpc>
                  <a:spcPct val="15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1"/>
                <a:t>CheckinBooked	  RU	    U  O	         O	    U  O	</a:t>
              </a:r>
            </a:p>
            <a:p>
              <a:pPr>
                <a:lnSpc>
                  <a:spcPct val="15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1"/>
                <a:t>CheckinNonbkd	C  U  O	C  	         O	    U  O</a:t>
              </a:r>
            </a:p>
            <a:p>
              <a:pPr>
                <a:lnSpc>
                  <a:spcPct val="15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1"/>
                <a:t>Checkout	    U	    U  O	  R	    U	</a:t>
              </a:r>
            </a:p>
            <a:p>
              <a:pPr>
                <a:lnSpc>
                  <a:spcPct val="15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1"/>
                <a:t>ChangeRoom	  R	  R	         O	    U  O</a:t>
              </a:r>
            </a:p>
            <a:p>
              <a:pPr>
                <a:lnSpc>
                  <a:spcPct val="15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1"/>
                <a:t>RecordService			         O		C	  R        </a:t>
              </a:r>
            </a:p>
            <a:p>
              <a:pPr>
                <a:lnSpc>
                  <a:spcPct val="15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1"/>
                <a:t>PriceChange			C  UDO			C  UDO</a:t>
              </a:r>
            </a:p>
            <a:p>
              <a:pPr>
                <a:lnSpc>
                  <a:spcPct val="150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1"/>
                <a:t>Missing?	      D	  D		C?UD?	    UD</a:t>
              </a:r>
            </a:p>
          </p:txBody>
        </p:sp>
        <p:sp>
          <p:nvSpPr>
            <p:cNvPr id="72710" name="Text Box 5">
              <a:extLst>
                <a:ext uri="{FF2B5EF4-FFF2-40B4-BE49-F238E27FC236}">
                  <a16:creationId xmlns:a16="http://schemas.microsoft.com/office/drawing/2014/main" id="{8C778019-5DE5-0624-5FB4-79787FD0F6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845"/>
              <a:ext cx="33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Create, Read, Update, Delete + Overview</a:t>
              </a:r>
            </a:p>
          </p:txBody>
        </p:sp>
        <p:sp>
          <p:nvSpPr>
            <p:cNvPr id="72711" name="Text Box 6">
              <a:extLst>
                <a:ext uri="{FF2B5EF4-FFF2-40B4-BE49-F238E27FC236}">
                  <a16:creationId xmlns:a16="http://schemas.microsoft.com/office/drawing/2014/main" id="{2E278FD2-51DF-5469-407A-6A75177259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025" y="434"/>
              <a:ext cx="812" cy="2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800" b="1" noProof="1"/>
                <a:t>Guest</a:t>
              </a:r>
            </a:p>
            <a:p>
              <a:pPr>
                <a:spcBef>
                  <a:spcPct val="145000"/>
                </a:spcBef>
                <a:buSzTx/>
                <a:buFontTx/>
                <a:buNone/>
              </a:pPr>
              <a:r>
                <a:rPr lang="en-GB" altLang="en-US" sz="1800" b="1" noProof="1"/>
                <a:t>Stay</a:t>
              </a:r>
            </a:p>
            <a:p>
              <a:pPr>
                <a:spcBef>
                  <a:spcPct val="145000"/>
                </a:spcBef>
                <a:buSzTx/>
                <a:buFontTx/>
                <a:buNone/>
              </a:pPr>
              <a:r>
                <a:rPr lang="en-GB" altLang="en-US" sz="1800" b="1" noProof="1"/>
                <a:t>Room</a:t>
              </a:r>
            </a:p>
            <a:p>
              <a:pPr>
                <a:spcBef>
                  <a:spcPct val="145000"/>
                </a:spcBef>
                <a:buSzTx/>
                <a:buFontTx/>
                <a:buNone/>
              </a:pPr>
              <a:r>
                <a:rPr lang="en-GB" altLang="en-US" sz="1800" b="1" noProof="1"/>
                <a:t>RoomState</a:t>
              </a:r>
            </a:p>
            <a:p>
              <a:pPr>
                <a:spcBef>
                  <a:spcPct val="145000"/>
                </a:spcBef>
                <a:buSzTx/>
                <a:buFontTx/>
                <a:buNone/>
              </a:pPr>
              <a:r>
                <a:rPr lang="en-GB" altLang="en-US" sz="1800" b="1" noProof="1"/>
                <a:t>Service</a:t>
              </a:r>
            </a:p>
            <a:p>
              <a:pPr>
                <a:spcBef>
                  <a:spcPct val="145000"/>
                </a:spcBef>
                <a:buSzTx/>
                <a:buFontTx/>
                <a:buNone/>
              </a:pPr>
              <a:r>
                <a:rPr lang="en-GB" altLang="en-US" sz="1800" b="1" noProof="1"/>
                <a:t>ServiceType</a:t>
              </a:r>
            </a:p>
          </p:txBody>
        </p:sp>
        <p:sp>
          <p:nvSpPr>
            <p:cNvPr id="72712" name="Rectangle 7">
              <a:extLst>
                <a:ext uri="{FF2B5EF4-FFF2-40B4-BE49-F238E27FC236}">
                  <a16:creationId xmlns:a16="http://schemas.microsoft.com/office/drawing/2014/main" id="{5DC01159-25AA-49A0-2ED3-7C500D93A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1209"/>
              <a:ext cx="3506" cy="274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72713" name="Line 8">
              <a:extLst>
                <a:ext uri="{FF2B5EF4-FFF2-40B4-BE49-F238E27FC236}">
                  <a16:creationId xmlns:a16="http://schemas.microsoft.com/office/drawing/2014/main" id="{1580DD53-898E-F0D9-B5C3-CD8D6EECB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1" y="1209"/>
              <a:ext cx="0" cy="27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714" name="Line 9">
              <a:extLst>
                <a:ext uri="{FF2B5EF4-FFF2-40B4-BE49-F238E27FC236}">
                  <a16:creationId xmlns:a16="http://schemas.microsoft.com/office/drawing/2014/main" id="{0CF4A8CE-A7D2-D5C2-1176-A629296057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0" y="1209"/>
              <a:ext cx="0" cy="27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715" name="Line 10">
              <a:extLst>
                <a:ext uri="{FF2B5EF4-FFF2-40B4-BE49-F238E27FC236}">
                  <a16:creationId xmlns:a16="http://schemas.microsoft.com/office/drawing/2014/main" id="{BD81BBFF-0DED-B7CA-DB2F-FC0C607B6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0" y="1209"/>
              <a:ext cx="0" cy="27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716" name="Line 11">
              <a:extLst>
                <a:ext uri="{FF2B5EF4-FFF2-40B4-BE49-F238E27FC236}">
                  <a16:creationId xmlns:a16="http://schemas.microsoft.com/office/drawing/2014/main" id="{6AE71105-BB08-F690-8F7D-A4FB206C3F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0" y="1209"/>
              <a:ext cx="0" cy="27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717" name="Line 12">
              <a:extLst>
                <a:ext uri="{FF2B5EF4-FFF2-40B4-BE49-F238E27FC236}">
                  <a16:creationId xmlns:a16="http://schemas.microsoft.com/office/drawing/2014/main" id="{ED0F8AFF-6292-118F-56BF-F1E1E1F559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1209"/>
              <a:ext cx="0" cy="27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718" name="Line 13">
              <a:extLst>
                <a:ext uri="{FF2B5EF4-FFF2-40B4-BE49-F238E27FC236}">
                  <a16:creationId xmlns:a16="http://schemas.microsoft.com/office/drawing/2014/main" id="{07191612-D427-8FF7-32F3-EC61C439B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0" y="1209"/>
              <a:ext cx="0" cy="27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719" name="Line 14">
              <a:extLst>
                <a:ext uri="{FF2B5EF4-FFF2-40B4-BE49-F238E27FC236}">
                  <a16:creationId xmlns:a16="http://schemas.microsoft.com/office/drawing/2014/main" id="{C0CC810C-7C8A-238D-3A0D-9A31B49FDE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2" y="2312"/>
              <a:ext cx="35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720" name="Line 15">
              <a:extLst>
                <a:ext uri="{FF2B5EF4-FFF2-40B4-BE49-F238E27FC236}">
                  <a16:creationId xmlns:a16="http://schemas.microsoft.com/office/drawing/2014/main" id="{2F56114C-D1BF-4AF6-8DE4-7830040643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2" y="2546"/>
              <a:ext cx="35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721" name="Line 16">
              <a:extLst>
                <a:ext uri="{FF2B5EF4-FFF2-40B4-BE49-F238E27FC236}">
                  <a16:creationId xmlns:a16="http://schemas.microsoft.com/office/drawing/2014/main" id="{AA3C4006-CAD6-536E-0BD6-32006FC12E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2" y="2780"/>
              <a:ext cx="35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722" name="Line 17">
              <a:extLst>
                <a:ext uri="{FF2B5EF4-FFF2-40B4-BE49-F238E27FC236}">
                  <a16:creationId xmlns:a16="http://schemas.microsoft.com/office/drawing/2014/main" id="{3F3DCC03-3131-3B49-F429-E1FB340B21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2" y="3014"/>
              <a:ext cx="35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723" name="Line 18">
              <a:extLst>
                <a:ext uri="{FF2B5EF4-FFF2-40B4-BE49-F238E27FC236}">
                  <a16:creationId xmlns:a16="http://schemas.microsoft.com/office/drawing/2014/main" id="{019AAB1F-C253-1594-357B-00F76C038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2" y="3248"/>
              <a:ext cx="35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724" name="Line 19">
              <a:extLst>
                <a:ext uri="{FF2B5EF4-FFF2-40B4-BE49-F238E27FC236}">
                  <a16:creationId xmlns:a16="http://schemas.microsoft.com/office/drawing/2014/main" id="{3BE2E6A5-6BA3-B6FC-73F6-7E32956DBA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2" y="3482"/>
              <a:ext cx="35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725" name="Line 20">
              <a:extLst>
                <a:ext uri="{FF2B5EF4-FFF2-40B4-BE49-F238E27FC236}">
                  <a16:creationId xmlns:a16="http://schemas.microsoft.com/office/drawing/2014/main" id="{ABB74CCD-D72B-A350-CB27-F61684EB5E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2" y="3716"/>
              <a:ext cx="35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726" name="Line 21">
              <a:extLst>
                <a:ext uri="{FF2B5EF4-FFF2-40B4-BE49-F238E27FC236}">
                  <a16:creationId xmlns:a16="http://schemas.microsoft.com/office/drawing/2014/main" id="{5409D313-3DA9-5D33-4F36-AD5B11C1E7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2" y="1209"/>
              <a:ext cx="939" cy="8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727" name="Text Box 22">
              <a:extLst>
                <a:ext uri="{FF2B5EF4-FFF2-40B4-BE49-F238E27FC236}">
                  <a16:creationId xmlns:a16="http://schemas.microsoft.com/office/drawing/2014/main" id="{7FCDA7EC-89C3-8CBA-E697-E00513E5F4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2" y="1232"/>
              <a:ext cx="5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800" b="1" noProof="1">
                  <a:latin typeface="Times New Roman" panose="02020603050405020304" pitchFamily="18" charset="0"/>
                </a:rPr>
                <a:t>Entity</a:t>
              </a:r>
            </a:p>
          </p:txBody>
        </p:sp>
        <p:sp>
          <p:nvSpPr>
            <p:cNvPr id="72728" name="Text Box 23">
              <a:extLst>
                <a:ext uri="{FF2B5EF4-FFF2-40B4-BE49-F238E27FC236}">
                  <a16:creationId xmlns:a16="http://schemas.microsoft.com/office/drawing/2014/main" id="{390B20F3-8B4B-65AD-0873-1CBA7FD843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4" y="1757"/>
              <a:ext cx="4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800" b="1" noProof="1">
                  <a:latin typeface="Times New Roman" panose="02020603050405020304" pitchFamily="18" charset="0"/>
                </a:rPr>
                <a:t>Task</a:t>
              </a:r>
            </a:p>
          </p:txBody>
        </p:sp>
      </p:grpSp>
      <p:sp>
        <p:nvSpPr>
          <p:cNvPr id="72708" name="Slide Number Placeholder 1">
            <a:extLst>
              <a:ext uri="{FF2B5EF4-FFF2-40B4-BE49-F238E27FC236}">
                <a16:creationId xmlns:a16="http://schemas.microsoft.com/office/drawing/2014/main" id="{35CFB911-1D41-69FE-8BA7-46DFA6AB27D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FC44F703-FE1F-41BE-9100-808D473320BB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42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356C2F7A-49D0-BCAB-DB9D-71DD5DEA955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ea typeface="+mj-ea"/>
                <a:cs typeface="+mj-cs"/>
              </a:rPr>
              <a:t>II. Scenarios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F2939083-0198-62B9-F1D2-3FCC85C33D6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AU" altLang="en-US" sz="1000"/>
          </a:p>
          <a:p>
            <a:pPr marL="0" indent="0"/>
            <a:r>
              <a:rPr lang="en-AU" altLang="en-US"/>
              <a:t>Users </a:t>
            </a:r>
            <a:r>
              <a:rPr lang="en-AU" altLang="en-US" i="1">
                <a:solidFill>
                  <a:srgbClr val="0C3A80"/>
                </a:solidFill>
              </a:rPr>
              <a:t>interact</a:t>
            </a:r>
            <a:r>
              <a:rPr lang="en-AU" altLang="en-US"/>
              <a:t> with a computer system to complete a </a:t>
            </a:r>
            <a:r>
              <a:rPr lang="en-AU" altLang="en-US">
                <a:latin typeface="Arial" panose="020B0604020202020204" pitchFamily="34" charset="0"/>
              </a:rPr>
              <a:t>“</a:t>
            </a:r>
            <a:r>
              <a:rPr lang="en-AU" altLang="ja-JP"/>
              <a:t>task</a:t>
            </a:r>
            <a:r>
              <a:rPr lang="en-AU" altLang="en-US">
                <a:latin typeface="Arial" panose="020B0604020202020204" pitchFamily="34" charset="0"/>
              </a:rPr>
              <a:t>”</a:t>
            </a:r>
            <a:r>
              <a:rPr lang="en-AU" altLang="ja-JP"/>
              <a:t> (or) achieve a </a:t>
            </a:r>
            <a:r>
              <a:rPr lang="en-AU" altLang="en-US"/>
              <a:t>“</a:t>
            </a:r>
            <a:r>
              <a:rPr lang="en-AU" altLang="ja-JP"/>
              <a:t>goal</a:t>
            </a:r>
            <a:r>
              <a:rPr lang="en-AU" altLang="en-US"/>
              <a:t>”</a:t>
            </a:r>
            <a:r>
              <a:rPr lang="en-AU" altLang="ja-JP"/>
              <a:t> (or have some fun…)</a:t>
            </a:r>
          </a:p>
          <a:p>
            <a:pPr marL="0" indent="0"/>
            <a:r>
              <a:rPr lang="en-AU" altLang="en-US"/>
              <a:t>These interactions can be captured as a set of </a:t>
            </a:r>
            <a:r>
              <a:rPr lang="en-AU" altLang="en-US" i="1">
                <a:solidFill>
                  <a:srgbClr val="0C3A80"/>
                </a:solidFill>
              </a:rPr>
              <a:t>scenarios</a:t>
            </a:r>
            <a:r>
              <a:rPr lang="en-AU" altLang="en-US"/>
              <a:t> (or) stories</a:t>
            </a:r>
          </a:p>
          <a:p>
            <a:pPr marL="0" indent="0"/>
            <a:r>
              <a:rPr lang="en-AU" altLang="en-US"/>
              <a:t>Each </a:t>
            </a:r>
            <a:r>
              <a:rPr lang="en-AU" altLang="en-US" i="1"/>
              <a:t>activity</a:t>
            </a:r>
            <a:r>
              <a:rPr lang="en-AU" altLang="en-US"/>
              <a:t> in a scenario must be “covered” by one (or possibly more) user tasks</a:t>
            </a:r>
          </a:p>
          <a:p>
            <a:pPr marL="809625" lvl="1" indent="-333375">
              <a:buFont typeface="Wingdings" panose="05000000000000000000" pitchFamily="2" charset="2"/>
              <a:buChar char="☞"/>
            </a:pPr>
            <a:r>
              <a:rPr lang="en-AU" altLang="en-US"/>
              <a:t>sanity check for </a:t>
            </a:r>
            <a:r>
              <a:rPr lang="en-AU" altLang="en-US" i="1">
                <a:solidFill>
                  <a:srgbClr val="083A7F"/>
                </a:solidFill>
              </a:rPr>
              <a:t>completeness</a:t>
            </a:r>
            <a:r>
              <a:rPr lang="en-AU" altLang="en-US"/>
              <a:t>!</a:t>
            </a:r>
          </a:p>
        </p:txBody>
      </p:sp>
      <p:sp>
        <p:nvSpPr>
          <p:cNvPr id="74756" name="Slide Number Placeholder 1">
            <a:extLst>
              <a:ext uri="{FF2B5EF4-FFF2-40B4-BE49-F238E27FC236}">
                <a16:creationId xmlns:a16="http://schemas.microsoft.com/office/drawing/2014/main" id="{7AA8D591-EC5B-6040-A421-E56F47018B1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70CC24F8-857C-4462-99E6-4A862E8263DF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43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E67B4A85-EC62-9D85-CB79-2A3F3542FC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Checking SRS – Contents Check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FBF78641-11EA-90A6-401D-7D1940622C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0" y="1143000"/>
            <a:ext cx="7669213" cy="45180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AU" altLang="en-US" sz="2400"/>
              <a:t>Introduction, “Context”</a:t>
            </a:r>
          </a:p>
          <a:p>
            <a:pPr>
              <a:lnSpc>
                <a:spcPct val="90000"/>
              </a:lnSpc>
            </a:pPr>
            <a:r>
              <a:rPr lang="en-AU" altLang="en-US" sz="2400"/>
              <a:t>System Goals, Business Goals</a:t>
            </a:r>
          </a:p>
          <a:p>
            <a:pPr lvl="1">
              <a:lnSpc>
                <a:spcPct val="90000"/>
              </a:lnSpc>
            </a:pPr>
            <a:r>
              <a:rPr lang="en-AU" altLang="en-US" sz="2000"/>
              <a:t>might also include </a:t>
            </a:r>
            <a:r>
              <a:rPr lang="en-AU" altLang="ja-JP" sz="2000">
                <a:latin typeface="Arial" panose="020B0604020202020204" pitchFamily="34" charset="0"/>
              </a:rPr>
              <a:t>“</a:t>
            </a:r>
            <a:r>
              <a:rPr lang="en-AU" altLang="ja-JP" sz="2000"/>
              <a:t>Paint Points</a:t>
            </a:r>
            <a:r>
              <a:rPr lang="en-AU" altLang="ja-JP" sz="2000">
                <a:latin typeface="Arial" panose="020B0604020202020204" pitchFamily="34" charset="0"/>
              </a:rPr>
              <a:t>”</a:t>
            </a:r>
            <a:r>
              <a:rPr lang="en-AU" altLang="ja-JP" sz="2000"/>
              <a:t> or </a:t>
            </a:r>
            <a:r>
              <a:rPr lang="en-AU" altLang="ja-JP" sz="2000">
                <a:latin typeface="Arial" panose="020B0604020202020204" pitchFamily="34" charset="0"/>
              </a:rPr>
              <a:t>“</a:t>
            </a:r>
            <a:r>
              <a:rPr lang="en-AU" altLang="ja-JP" sz="2000"/>
              <a:t>Pleasure Points</a:t>
            </a:r>
            <a:r>
              <a:rPr lang="en-AU" altLang="ja-JP" sz="2000">
                <a:latin typeface="Arial" panose="020B0604020202020204" pitchFamily="34" charset="0"/>
              </a:rPr>
              <a:t>”</a:t>
            </a:r>
            <a:endParaRPr lang="en-AU" altLang="ja-JP" sz="2000"/>
          </a:p>
          <a:p>
            <a:pPr>
              <a:lnSpc>
                <a:spcPct val="90000"/>
              </a:lnSpc>
            </a:pPr>
            <a:r>
              <a:rPr lang="en-AU" altLang="en-US" sz="2400"/>
              <a:t>Data Requirements</a:t>
            </a:r>
          </a:p>
          <a:p>
            <a:pPr lvl="1">
              <a:lnSpc>
                <a:spcPct val="90000"/>
              </a:lnSpc>
            </a:pPr>
            <a:r>
              <a:rPr lang="en-AU" altLang="en-US" sz="2000"/>
              <a:t>domain model (and </a:t>
            </a:r>
            <a:r>
              <a:rPr lang="en-AU" altLang="en-US" sz="2000" i="1"/>
              <a:t>not</a:t>
            </a:r>
            <a:r>
              <a:rPr lang="en-AU" altLang="en-US" sz="2000"/>
              <a:t> a database schema!)</a:t>
            </a:r>
          </a:p>
          <a:p>
            <a:pPr>
              <a:lnSpc>
                <a:spcPct val="90000"/>
              </a:lnSpc>
            </a:pPr>
            <a:r>
              <a:rPr lang="en-AU" altLang="en-US" sz="2400"/>
              <a:t>Functional Requirements</a:t>
            </a:r>
          </a:p>
          <a:p>
            <a:pPr lvl="1">
              <a:lnSpc>
                <a:spcPct val="90000"/>
              </a:lnSpc>
            </a:pPr>
            <a:r>
              <a:rPr lang="en-AU" altLang="en-US" sz="2000"/>
              <a:t>include handling of </a:t>
            </a:r>
            <a:r>
              <a:rPr lang="en-AU" altLang="en-US" sz="2000" i="1"/>
              <a:t>Special Cases</a:t>
            </a:r>
          </a:p>
          <a:p>
            <a:pPr>
              <a:lnSpc>
                <a:spcPct val="90000"/>
              </a:lnSpc>
            </a:pPr>
            <a:r>
              <a:rPr lang="en-AU" altLang="en-US" sz="2400"/>
              <a:t>Quality Requirements (</a:t>
            </a:r>
            <a:r>
              <a:rPr lang="en-AU" altLang="ja-JP" sz="2400">
                <a:latin typeface="Arial" panose="020B0604020202020204" pitchFamily="34" charset="0"/>
              </a:rPr>
              <a:t>“</a:t>
            </a:r>
            <a:r>
              <a:rPr lang="en-AU" altLang="ja-JP" sz="2400"/>
              <a:t>-illities</a:t>
            </a:r>
            <a:r>
              <a:rPr lang="en-AU" altLang="ja-JP" sz="2400">
                <a:latin typeface="Arial" panose="020B0604020202020204" pitchFamily="34" charset="0"/>
              </a:rPr>
              <a:t>”</a:t>
            </a:r>
            <a:r>
              <a:rPr lang="en-AU" altLang="ja-JP" sz="2400"/>
              <a:t>)</a:t>
            </a:r>
          </a:p>
          <a:p>
            <a:pPr>
              <a:lnSpc>
                <a:spcPct val="90000"/>
              </a:lnSpc>
            </a:pPr>
            <a:r>
              <a:rPr lang="en-AU" altLang="ja-JP" sz="2400" b="1"/>
              <a:t>Evidence of validation</a:t>
            </a:r>
            <a:r>
              <a:rPr lang="en-AU" altLang="ja-JP" sz="2400"/>
              <a:t>: reviews, confirmation, CRUD check, scenarios ...</a:t>
            </a:r>
          </a:p>
          <a:p>
            <a:pPr>
              <a:lnSpc>
                <a:spcPct val="90000"/>
              </a:lnSpc>
            </a:pPr>
            <a:r>
              <a:rPr lang="en-AU" altLang="en-US" sz="2400"/>
              <a:t>…</a:t>
            </a:r>
            <a:endParaRPr lang="en-AU" altLang="en-US" sz="1400"/>
          </a:p>
          <a:p>
            <a:pPr>
              <a:lnSpc>
                <a:spcPct val="90000"/>
              </a:lnSpc>
              <a:buSzPct val="85000"/>
              <a:buFont typeface="Wingdings" panose="05000000000000000000" pitchFamily="2" charset="2"/>
              <a:buChar char="F"/>
            </a:pPr>
            <a:r>
              <a:rPr lang="en-AU" altLang="en-US" sz="2400" i="1"/>
              <a:t>May need to add other items based on problem domain and experienced problems!</a:t>
            </a:r>
            <a:endParaRPr lang="en-AU" alt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BA0608-F76B-E4FD-0E8A-2EE9694CE0F3}"/>
              </a:ext>
            </a:extLst>
          </p:cNvPr>
          <p:cNvSpPr txBox="1">
            <a:spLocks noChangeArrowheads="1"/>
          </p:cNvSpPr>
          <p:nvPr/>
        </p:nvSpPr>
        <p:spPr bwMode="auto">
          <a:xfrm rot="-2045862">
            <a:off x="1155700" y="2994025"/>
            <a:ext cx="697865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5900" b="1">
                <a:solidFill>
                  <a:srgbClr val="7F0101"/>
                </a:solidFill>
              </a:rPr>
              <a:t>Evidence of Validation!</a:t>
            </a:r>
          </a:p>
        </p:txBody>
      </p:sp>
      <p:sp>
        <p:nvSpPr>
          <p:cNvPr id="76805" name="Slide Number Placeholder 2">
            <a:extLst>
              <a:ext uri="{FF2B5EF4-FFF2-40B4-BE49-F238E27FC236}">
                <a16:creationId xmlns:a16="http://schemas.microsoft.com/office/drawing/2014/main" id="{2BFD2329-615C-BFA4-0A13-EE491FAEADF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0F2BB475-EACB-4517-BA0F-4BA487EF95FF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44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A551409E-F612-A26B-4E11-AA52A294FA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Checking SRS – Structure Check</a:t>
            </a:r>
          </a:p>
        </p:txBody>
      </p:sp>
      <p:sp>
        <p:nvSpPr>
          <p:cNvPr id="430083" name="Rectangle 3">
            <a:extLst>
              <a:ext uri="{FF2B5EF4-FFF2-40B4-BE49-F238E27FC236}">
                <a16:creationId xmlns:a16="http://schemas.microsoft.com/office/drawing/2014/main" id="{CCCEEFD5-0900-7352-D1FC-78BFCE627D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0"/>
              <a:buNone/>
              <a:defRPr/>
            </a:pPr>
            <a:endParaRPr lang="en-AU" sz="1200" dirty="0">
              <a:ea typeface="+mn-ea"/>
              <a:cs typeface="+mn-cs"/>
            </a:endParaRPr>
          </a:p>
          <a:p>
            <a:pPr>
              <a:buFont typeface="Wingdings" charset="0"/>
              <a:buChar char="n"/>
              <a:defRPr/>
            </a:pPr>
            <a:r>
              <a:rPr lang="en-AU" i="1" dirty="0">
                <a:ea typeface="+mn-ea"/>
                <a:cs typeface="+mn-cs"/>
              </a:rPr>
              <a:t>Verifiable</a:t>
            </a:r>
            <a:r>
              <a:rPr lang="en-AU" dirty="0">
                <a:ea typeface="+mn-ea"/>
                <a:cs typeface="+mn-cs"/>
              </a:rPr>
              <a:t> requirements</a:t>
            </a:r>
          </a:p>
          <a:p>
            <a:pPr>
              <a:buFont typeface="Wingdings" charset="0"/>
              <a:buChar char="n"/>
              <a:defRPr/>
            </a:pPr>
            <a:r>
              <a:rPr lang="en-AU" dirty="0">
                <a:ea typeface="+mn-ea"/>
                <a:cs typeface="+mn-cs"/>
              </a:rPr>
              <a:t>Purpose of each requirement</a:t>
            </a:r>
          </a:p>
          <a:p>
            <a:pPr>
              <a:buFont typeface="Wingdings" charset="0"/>
              <a:buChar char="n"/>
              <a:defRPr/>
            </a:pPr>
            <a:r>
              <a:rPr lang="en-AU" dirty="0">
                <a:ea typeface="+mn-ea"/>
                <a:cs typeface="+mn-cs"/>
              </a:rPr>
              <a:t>Sample solutions for requirements given</a:t>
            </a:r>
          </a:p>
          <a:p>
            <a:pPr>
              <a:buFont typeface="Wingdings" charset="0"/>
              <a:buChar char="n"/>
              <a:defRPr/>
            </a:pPr>
            <a:r>
              <a:rPr lang="en-AU" dirty="0">
                <a:ea typeface="+mn-ea"/>
                <a:cs typeface="+mn-cs"/>
              </a:rPr>
              <a:t>Explanations of graphical illustrations</a:t>
            </a:r>
          </a:p>
          <a:p>
            <a:pPr lvl="1">
              <a:buFont typeface="Wingdings" charset="0"/>
              <a:buChar char="F"/>
              <a:defRPr/>
            </a:pPr>
            <a:r>
              <a:rPr lang="en-AU" i="1" dirty="0">
                <a:ea typeface="+mn-ea"/>
              </a:rPr>
              <a:t>Do not assume the reader knows what notation is used!!</a:t>
            </a:r>
          </a:p>
          <a:p>
            <a:pPr>
              <a:buFont typeface="Wingdings" charset="0"/>
              <a:buChar char="n"/>
              <a:defRPr/>
            </a:pPr>
            <a:r>
              <a:rPr lang="en-AU" dirty="0">
                <a:ea typeface="+mn-ea"/>
                <a:cs typeface="+mn-cs"/>
              </a:rPr>
              <a:t>Importance/stability for each requirement</a:t>
            </a:r>
          </a:p>
          <a:p>
            <a:pPr>
              <a:buFont typeface="Wingdings" charset="0"/>
              <a:buChar char="n"/>
              <a:defRPr/>
            </a:pPr>
            <a:r>
              <a:rPr lang="en-AU" dirty="0">
                <a:ea typeface="+mn-ea"/>
                <a:cs typeface="+mn-cs"/>
              </a:rPr>
              <a:t>Cross-references (instead of redundant information)</a:t>
            </a:r>
          </a:p>
        </p:txBody>
      </p:sp>
      <p:sp>
        <p:nvSpPr>
          <p:cNvPr id="78852" name="Slide Number Placeholder 1">
            <a:extLst>
              <a:ext uri="{FF2B5EF4-FFF2-40B4-BE49-F238E27FC236}">
                <a16:creationId xmlns:a16="http://schemas.microsoft.com/office/drawing/2014/main" id="{1C73CADA-2243-B478-64D7-D81B64DC234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E91423F5-7DE8-48A1-8826-F1217E1034A6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45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>
            <a:extLst>
              <a:ext uri="{FF2B5EF4-FFF2-40B4-BE49-F238E27FC236}">
                <a16:creationId xmlns:a16="http://schemas.microsoft.com/office/drawing/2014/main" id="{E88B716E-824C-A811-DE59-A59348962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SRS Sample</a:t>
            </a:r>
          </a:p>
        </p:txBody>
      </p:sp>
      <p:sp>
        <p:nvSpPr>
          <p:cNvPr id="80899" name="Content Placeholder 2">
            <a:extLst>
              <a:ext uri="{FF2B5EF4-FFF2-40B4-BE49-F238E27FC236}">
                <a16:creationId xmlns:a16="http://schemas.microsoft.com/office/drawing/2014/main" id="{07074ED7-B413-9E92-A92C-0DE57E244B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>
                <a:hlinkClick r:id="rId2"/>
              </a:rPr>
              <a:t>Software Requirements Specification document with example - Krazytech</a:t>
            </a:r>
            <a:endParaRPr lang="en-US" altLang="en-US"/>
          </a:p>
        </p:txBody>
      </p:sp>
      <p:sp>
        <p:nvSpPr>
          <p:cNvPr id="80900" name="Slide Number Placeholder 3">
            <a:extLst>
              <a:ext uri="{FF2B5EF4-FFF2-40B4-BE49-F238E27FC236}">
                <a16:creationId xmlns:a16="http://schemas.microsoft.com/office/drawing/2014/main" id="{A3C1D0DE-3CA3-B686-C749-6DF3BB5F8B6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fld id="{694A66FF-CEA3-48C0-A9BF-20B11E850797}" type="slidenum">
              <a:rPr lang="en-AU" altLang="en-US" sz="1400" smtClean="0">
                <a:latin typeface="Times New Roman" panose="02020603050405020304" pitchFamily="18" charset="0"/>
              </a:rPr>
              <a:pPr/>
              <a:t>46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E1D7C5A3-72AB-C9E1-50B6-F0CC43C75A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Questions for Consideration</a:t>
            </a:r>
          </a:p>
        </p:txBody>
      </p:sp>
      <p:sp>
        <p:nvSpPr>
          <p:cNvPr id="258051" name="Rectangle 3">
            <a:extLst>
              <a:ext uri="{FF2B5EF4-FFF2-40B4-BE49-F238E27FC236}">
                <a16:creationId xmlns:a16="http://schemas.microsoft.com/office/drawing/2014/main" id="{D517AD1D-135B-5B48-56DE-78374513B1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2988" y="1125538"/>
            <a:ext cx="7543800" cy="4800600"/>
          </a:xfrm>
        </p:spPr>
        <p:txBody>
          <a:bodyPr/>
          <a:lstStyle/>
          <a:p>
            <a:pPr marL="0" indent="0">
              <a:buFont typeface="Wingdings" charset="0"/>
              <a:buNone/>
              <a:defRPr/>
            </a:pPr>
            <a:endParaRPr lang="en-AU" sz="1000" dirty="0">
              <a:ea typeface="+mn-ea"/>
              <a:cs typeface="+mn-cs"/>
            </a:endParaRPr>
          </a:p>
          <a:p>
            <a:pPr marL="269875" indent="-269875">
              <a:buFont typeface="+mj-lt"/>
              <a:buAutoNum type="arabicPeriod"/>
              <a:defRPr/>
            </a:pPr>
            <a:r>
              <a:rPr lang="en-AU" sz="2300" dirty="0">
                <a:ea typeface="+mn-ea"/>
                <a:cs typeface="+mn-cs"/>
              </a:rPr>
              <a:t>What is throughput? How is it measured? Why is it important to make a distinction between </a:t>
            </a:r>
            <a:r>
              <a:rPr lang="en-AU" sz="2300" i="1" dirty="0">
                <a:ea typeface="+mn-ea"/>
                <a:cs typeface="+mn-cs"/>
              </a:rPr>
              <a:t>average</a:t>
            </a:r>
            <a:r>
              <a:rPr lang="en-AU" sz="2300" dirty="0">
                <a:ea typeface="+mn-ea"/>
                <a:cs typeface="+mn-cs"/>
              </a:rPr>
              <a:t> throughput and </a:t>
            </a:r>
            <a:r>
              <a:rPr lang="en-AU" sz="2300" i="1" dirty="0">
                <a:ea typeface="+mn-ea"/>
                <a:cs typeface="+mn-cs"/>
              </a:rPr>
              <a:t>peak</a:t>
            </a:r>
            <a:r>
              <a:rPr lang="en-AU" sz="2300" dirty="0">
                <a:ea typeface="+mn-ea"/>
                <a:cs typeface="+mn-cs"/>
              </a:rPr>
              <a:t> throughput?</a:t>
            </a:r>
          </a:p>
          <a:p>
            <a:pPr marL="269875" indent="-269875">
              <a:buFont typeface="+mj-lt"/>
              <a:buAutoNum type="arabicPeriod"/>
              <a:defRPr/>
            </a:pPr>
            <a:r>
              <a:rPr lang="en-AU" sz="2300" dirty="0">
                <a:ea typeface="+mn-ea"/>
                <a:cs typeface="+mn-cs"/>
              </a:rPr>
              <a:t>What is scalability? Explain the differences between scaling up and scaling out.</a:t>
            </a:r>
          </a:p>
          <a:p>
            <a:pPr marL="269875" indent="-269875">
              <a:buFont typeface="+mj-lt"/>
              <a:buAutoNum type="arabicPeriod"/>
              <a:defRPr/>
            </a:pPr>
            <a:r>
              <a:rPr lang="en-AU" sz="2300" dirty="0">
                <a:ea typeface="+mn-ea"/>
                <a:cs typeface="+mn-cs"/>
              </a:rPr>
              <a:t>In regards to Security, what is the difference between Authentication and Authorization and how do they provide security to an application?</a:t>
            </a:r>
          </a:p>
          <a:p>
            <a:pPr marL="269875" indent="-269875">
              <a:buFont typeface="+mj-lt"/>
              <a:buAutoNum type="arabicPeriod"/>
              <a:defRPr/>
            </a:pPr>
            <a:r>
              <a:rPr lang="en-AU" sz="2300" dirty="0">
                <a:ea typeface="+mn-ea"/>
                <a:cs typeface="+mn-cs"/>
              </a:rPr>
              <a:t>If one wishes to specify Testability as a quality requirement for a product, how can this requirement possibly be expressed?</a:t>
            </a:r>
          </a:p>
          <a:p>
            <a:pPr marL="269875" indent="-269875">
              <a:buFont typeface="+mj-lt"/>
              <a:buAutoNum type="arabicPeriod"/>
              <a:defRPr/>
            </a:pPr>
            <a:r>
              <a:rPr lang="en-AU" sz="2300" dirty="0">
                <a:ea typeface="+mn-ea"/>
                <a:cs typeface="+mn-cs"/>
              </a:rPr>
              <a:t>What are the most important quality attributes for an online banking system? Explain your rationale.</a:t>
            </a:r>
          </a:p>
        </p:txBody>
      </p:sp>
      <p:sp>
        <p:nvSpPr>
          <p:cNvPr id="81924" name="Slide Number Placeholder 1">
            <a:extLst>
              <a:ext uri="{FF2B5EF4-FFF2-40B4-BE49-F238E27FC236}">
                <a16:creationId xmlns:a16="http://schemas.microsoft.com/office/drawing/2014/main" id="{564C3D1B-AAB2-AF67-B047-E5288E31625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85FC954F-3645-4F21-98C0-09AB3F8F2209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47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Rectangle 2">
            <a:extLst>
              <a:ext uri="{FF2B5EF4-FFF2-40B4-BE49-F238E27FC236}">
                <a16:creationId xmlns:a16="http://schemas.microsoft.com/office/drawing/2014/main" id="{AF76BF60-8236-38A1-7ABD-A614EE14E5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Question to Answer Week 3</a:t>
            </a:r>
          </a:p>
        </p:txBody>
      </p:sp>
      <p:sp>
        <p:nvSpPr>
          <p:cNvPr id="547843" name="Rectangle 3">
            <a:extLst>
              <a:ext uri="{FF2B5EF4-FFF2-40B4-BE49-F238E27FC236}">
                <a16:creationId xmlns:a16="http://schemas.microsoft.com/office/drawing/2014/main" id="{23A7B648-FB6F-B382-CD8B-6AF38E761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0"/>
              <a:buNone/>
              <a:defRPr/>
            </a:pPr>
            <a:endParaRPr lang="en-AU" dirty="0">
              <a:ea typeface="+mn-ea"/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AU" dirty="0">
                <a:ea typeface="+mn-ea"/>
                <a:cs typeface="+mn-cs"/>
              </a:rPr>
              <a:t>	</a:t>
            </a:r>
            <a:r>
              <a:rPr lang="en-AU" i="1" dirty="0">
                <a:ea typeface="+mn-ea"/>
                <a:cs typeface="+mn-cs"/>
              </a:rPr>
              <a:t>Why can quality attributes, in general, </a:t>
            </a:r>
            <a:r>
              <a:rPr lang="en-AU" b="1" i="1" dirty="0">
                <a:ea typeface="+mn-ea"/>
                <a:cs typeface="+mn-cs"/>
              </a:rPr>
              <a:t>not</a:t>
            </a:r>
            <a:r>
              <a:rPr lang="en-AU" i="1" dirty="0">
                <a:ea typeface="+mn-ea"/>
                <a:cs typeface="+mn-cs"/>
              </a:rPr>
              <a:t> be considered in isolation? Give two examples of quality attributes that impact other quality attributes for a system under consideration.</a:t>
            </a:r>
          </a:p>
        </p:txBody>
      </p:sp>
      <p:sp>
        <p:nvSpPr>
          <p:cNvPr id="83972" name="Slide Number Placeholder 1">
            <a:extLst>
              <a:ext uri="{FF2B5EF4-FFF2-40B4-BE49-F238E27FC236}">
                <a16:creationId xmlns:a16="http://schemas.microsoft.com/office/drawing/2014/main" id="{CD6CAC44-912F-4EB8-F3DD-3FE61D2420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ED28A414-333A-4666-9386-4DEDE2CCD129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48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8" name="Rectangle 4">
            <a:extLst>
              <a:ext uri="{FF2B5EF4-FFF2-40B4-BE49-F238E27FC236}">
                <a16:creationId xmlns:a16="http://schemas.microsoft.com/office/drawing/2014/main" id="{D5182AAF-F7E3-607C-35C6-BF8043DA33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ea typeface="+mj-ea"/>
                <a:cs typeface="+mj-cs"/>
              </a:rPr>
              <a:t>Required Reading Lecture 4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190469" name="Rectangle 5">
            <a:extLst>
              <a:ext uri="{FF2B5EF4-FFF2-40B4-BE49-F238E27FC236}">
                <a16:creationId xmlns:a16="http://schemas.microsoft.com/office/drawing/2014/main" id="{2631C43B-1EAB-B62A-41E9-784AE317E0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0"/>
              <a:buNone/>
              <a:defRPr/>
            </a:pPr>
            <a:endParaRPr lang="en-AU" sz="1600" dirty="0">
              <a:ea typeface="+mn-ea"/>
              <a:cs typeface="+mn-cs"/>
            </a:endParaRPr>
          </a:p>
          <a:p>
            <a:pPr>
              <a:buFont typeface="Wingdings" charset="0"/>
              <a:buNone/>
              <a:defRPr/>
            </a:pPr>
            <a:endParaRPr lang="en-AU" sz="1600" dirty="0">
              <a:ea typeface="+mn-ea"/>
              <a:cs typeface="+mn-cs"/>
            </a:endParaRPr>
          </a:p>
          <a:p>
            <a:pPr>
              <a:buFont typeface="Wingdings" charset="0"/>
              <a:buChar char="n"/>
              <a:defRPr/>
            </a:pPr>
            <a:r>
              <a:rPr lang="en-US" dirty="0">
                <a:ea typeface="+mn-ea"/>
                <a:cs typeface="+mn-cs"/>
              </a:rPr>
              <a:t>Guy Steele, </a:t>
            </a:r>
            <a:r>
              <a:rPr lang="en-US" i="1" dirty="0">
                <a:solidFill>
                  <a:srgbClr val="7F0101"/>
                </a:solidFill>
                <a:ea typeface="+mn-ea"/>
                <a:cs typeface="+mn-cs"/>
              </a:rPr>
              <a:t>Growing a Language</a:t>
            </a:r>
            <a:r>
              <a:rPr lang="en-US" dirty="0">
                <a:ea typeface="+mn-ea"/>
                <a:cs typeface="+mn-cs"/>
              </a:rPr>
              <a:t>, Journal of Higher-Order and Symbolic Computation, October 1999 (available from Canvas).</a:t>
            </a:r>
          </a:p>
        </p:txBody>
      </p:sp>
      <p:sp>
        <p:nvSpPr>
          <p:cNvPr id="86020" name="Slide Number Placeholder 1">
            <a:extLst>
              <a:ext uri="{FF2B5EF4-FFF2-40B4-BE49-F238E27FC236}">
                <a16:creationId xmlns:a16="http://schemas.microsoft.com/office/drawing/2014/main" id="{94DC561C-9245-618F-B1B8-994CA87BEB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362F757F-ADFA-4952-B302-099409A2503C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49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FF0000"/>
      </a:accent2>
      <a:accent3>
        <a:srgbClr val="FFFFFF"/>
      </a:accent3>
      <a:accent4>
        <a:srgbClr val="000000"/>
      </a:accent4>
      <a:accent5>
        <a:srgbClr val="AAE2CA"/>
      </a:accent5>
      <a:accent6>
        <a:srgbClr val="E70000"/>
      </a:accent6>
      <a:hlink>
        <a:srgbClr val="5F5F5F"/>
      </a:hlink>
      <a:folHlink>
        <a:srgbClr val="B2B2B2"/>
      </a:folHlink>
    </a:clrScheme>
    <a:fontScheme name="Default Design">
      <a:majorFont>
        <a:latin typeface="Arial Narrow"/>
        <a:ea typeface="ＭＳ Ｐゴシック"/>
        <a:cs typeface=""/>
      </a:majorFont>
      <a:minorFont>
        <a:latin typeface="Arial Narrow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 Narrow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 Narrow" charset="0"/>
            <a:ea typeface="ＭＳ Ｐゴシック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Default Design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D91781-EFA6-4040-AE4C-602E83D2983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9052a7e-42f1-4893-bedc-0d6678af6775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5583b3fa-365b-4fa2-9885-a560b35483b3}" enabled="1" method="Standard" siteId="{df7f7579-3e9c-4a7e-b844-420280f5385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6081</TotalTime>
  <Words>3791</Words>
  <Application>Microsoft Office PowerPoint</Application>
  <PresentationFormat>On-screen Show (4:3)</PresentationFormat>
  <Paragraphs>700</Paragraphs>
  <Slides>49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MS PGothic</vt:lpstr>
      <vt:lpstr>Aptos</vt:lpstr>
      <vt:lpstr>Arial</vt:lpstr>
      <vt:lpstr>Arial Narrow</vt:lpstr>
      <vt:lpstr>Courier</vt:lpstr>
      <vt:lpstr>Helvetica</vt:lpstr>
      <vt:lpstr>Times New Roman</vt:lpstr>
      <vt:lpstr>Wingdings</vt:lpstr>
      <vt:lpstr>ヒラギノ角ゴ ProN W3</vt:lpstr>
      <vt:lpstr>Default Design</vt:lpstr>
      <vt:lpstr>SWE30003 Software Architectures and Design</vt:lpstr>
      <vt:lpstr>Logistical matters</vt:lpstr>
      <vt:lpstr>Question to Answer - Week 2</vt:lpstr>
      <vt:lpstr>Principal References</vt:lpstr>
      <vt:lpstr>Outline</vt:lpstr>
      <vt:lpstr>PowerPoint Presentation</vt:lpstr>
      <vt:lpstr>What is Quality?</vt:lpstr>
      <vt:lpstr>What is Software Quality?</vt:lpstr>
      <vt:lpstr>PowerPoint Presentation</vt:lpstr>
      <vt:lpstr>What's Wrong With Those Requirements?</vt:lpstr>
      <vt:lpstr>Problems with Software Quality</vt:lpstr>
      <vt:lpstr>PowerPoint Presentation</vt:lpstr>
      <vt:lpstr>Outline</vt:lpstr>
      <vt:lpstr>Hierarchical Quality Model</vt:lpstr>
      <vt:lpstr>Hierarchical Quality Model (cont.)</vt:lpstr>
      <vt:lpstr>What about other Qualities?</vt:lpstr>
      <vt:lpstr>Model of McCall and Matsumoto </vt:lpstr>
      <vt:lpstr>ISO 9126</vt:lpstr>
      <vt:lpstr>PowerPoint Presentation</vt:lpstr>
      <vt:lpstr>PowerPoint Presentation</vt:lpstr>
      <vt:lpstr>Outline</vt:lpstr>
      <vt:lpstr>Quality Attributes</vt:lpstr>
      <vt:lpstr>PowerPoint Presentation</vt:lpstr>
      <vt:lpstr>Quality Attributes (cont.)</vt:lpstr>
      <vt:lpstr>PowerPoint Presentation</vt:lpstr>
      <vt:lpstr>McCall’s Quality Model</vt:lpstr>
      <vt:lpstr>PowerPoint Presentation</vt:lpstr>
      <vt:lpstr>Outline</vt:lpstr>
      <vt:lpstr>Quality Attribute Scenarios</vt:lpstr>
      <vt:lpstr>Effectiveness of Quality Attribute Scenarios</vt:lpstr>
      <vt:lpstr>“Hypothesis”</vt:lpstr>
      <vt:lpstr>PowerPoint Presentation</vt:lpstr>
      <vt:lpstr>PowerPoint Presentation</vt:lpstr>
      <vt:lpstr>PowerPoint Presentation</vt:lpstr>
      <vt:lpstr>PowerPoint Presentation</vt:lpstr>
      <vt:lpstr>Examples</vt:lpstr>
      <vt:lpstr>Outline</vt:lpstr>
      <vt:lpstr>Validation and Verification</vt:lpstr>
      <vt:lpstr>Traceability</vt:lpstr>
      <vt:lpstr>Traceability (cont.)</vt:lpstr>
      <vt:lpstr>Quality Criteria for a Requirements Spec.</vt:lpstr>
      <vt:lpstr>I. CRUD Completeness Checks</vt:lpstr>
      <vt:lpstr>II. Scenarios</vt:lpstr>
      <vt:lpstr>Checking SRS – Contents Check</vt:lpstr>
      <vt:lpstr>Checking SRS – Structure Check</vt:lpstr>
      <vt:lpstr>SRS Sample</vt:lpstr>
      <vt:lpstr>Questions for Consideration</vt:lpstr>
      <vt:lpstr>Question to Answer Week 3</vt:lpstr>
      <vt:lpstr>Required Reading Lecture 4</vt:lpstr>
    </vt:vector>
  </TitlesOfParts>
  <Company>Swinburne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Swinburne Marketing Strategy</dc:title>
  <dc:creator>Swinburne University</dc:creator>
  <cp:lastModifiedBy>Vinh Hoang</cp:lastModifiedBy>
  <cp:revision>327</cp:revision>
  <cp:lastPrinted>2022-03-09T10:49:34Z</cp:lastPrinted>
  <dcterms:created xsi:type="dcterms:W3CDTF">1999-08-10T04:13:56Z</dcterms:created>
  <dcterms:modified xsi:type="dcterms:W3CDTF">2026-05-13T13:44:45Z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Default Design:4</vt:lpwstr>
  </property>
  <property fmtid="{D5CDD505-2E9C-101B-9397-08002B2CF9AE}" pid="3" name="ClassificationContentMarkingHeaderText">
    <vt:lpwstr>Internal</vt:lpwstr>
  </property>
</Properties>
</file>