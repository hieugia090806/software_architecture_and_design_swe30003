
<file path=[Content_Types].xml><?xml version="1.0" encoding="utf-8"?>
<Types xmlns="http://schemas.openxmlformats.org/package/2006/content-types">
  <Default Extension="fntdata" ContentType="application/x-fontdata"/>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true" autoCompressPictures="0" embedTrueTypeFonts="true">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Lst>
  <p:notesMasterIdLst>
    <p:notesMasterId r:id="rId13"/>
  </p:notesMasterIdLst>
  <p:sldSz cx="9144000" cy="5143500"/>
  <p:notesSz cx="5143500" cy="9144000"/>
  <p:embeddedFontLst>
    <p:embeddedFont>
      <p:font typeface="Brygada 1918"/>
      <p:regular r:id="rId201314"/>
    </p:embeddedFont>
    <p:embeddedFont>
      <p:font typeface="Brygada 1918 Medium"/>
      <p:regular r:id="rId201315"/>
    </p:embeddedFont>
    <p:embeddedFont>
      <p:font typeface="Brygada 1918 SemiBold"/>
      <p:regular r:id="rId201316"/>
    </p:embeddedFont>
    <p:embeddedFont>
      <p:font typeface="Brygada 1918 Bold"/>
      <p:regular r:id="rId201317"/>
    </p:embeddedFont>
    <p:embeddedFont>
      <p:font typeface="Montserrat Thin"/>
      <p:regular r:id="rId201318"/>
    </p:embeddedFont>
    <p:embeddedFont>
      <p:font typeface="Montserrat"/>
      <p:regular r:id="rId201319"/>
    </p:embeddedFont>
    <p:embeddedFont>
      <p:font typeface="Montserrat SemiBold"/>
      <p:regular r:id="rId201320"/>
    </p:embeddedFont>
    <p:embeddedFont>
      <p:font typeface="Montserrat Bold"/>
      <p:regular r:id="rId201321"/>
    </p:embeddedFont>
    <p:embeddedFont>
      <p:font typeface="Montserrat Black"/>
      <p:regular r:id="rId201322"/>
    </p:embeddedFont>
    <p:embeddedFont>
      <p:font typeface="Montserrat Light"/>
      <p:regular r:id="rId201323"/>
    </p:embeddedFont>
    <p:embeddedFont>
      <p:font typeface="Montserrat ExtraLight"/>
      <p:regular r:id="rId201324"/>
    </p:embeddedFont>
    <p:embeddedFont>
      <p:font typeface="Montserrat Medium"/>
      <p:regular r:id="rId201325"/>
    </p:embeddedFont>
    <p:embeddedFont>
      <p:font typeface="Montserrat ExtraBold"/>
      <p:regular r:id="rId201326"/>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notesMaster" Target="notesMasters/notesMaster1.xml"/><Relationship Id="rId14" Type="http://schemas.openxmlformats.org/officeDocument/2006/relationships/presProps" Target="presProps.xml"/><Relationship Id="rId15" Type="http://schemas.openxmlformats.org/officeDocument/2006/relationships/viewProps" Target="viewProps.xml"/><Relationship Id="rId16" Type="http://schemas.openxmlformats.org/officeDocument/2006/relationships/theme" Target="theme/theme1.xml"/><Relationship Id="rId17" Type="http://schemas.openxmlformats.org/officeDocument/2006/relationships/tableStyles" Target="tableStyles.xml"/><Relationship Id="rId201314" Target="fonts/201314.fntdata" Type="http://schemas.openxmlformats.org/officeDocument/2006/relationships/font"/><Relationship Id="rId201315" Target="fonts/201315.fntdata" Type="http://schemas.openxmlformats.org/officeDocument/2006/relationships/font"/><Relationship Id="rId201316" Target="fonts/201316.fntdata" Type="http://schemas.openxmlformats.org/officeDocument/2006/relationships/font"/><Relationship Id="rId201317" Target="fonts/201317.fntdata" Type="http://schemas.openxmlformats.org/officeDocument/2006/relationships/font"/><Relationship Id="rId201318" Target="fonts/201318.fntdata" Type="http://schemas.openxmlformats.org/officeDocument/2006/relationships/font"/><Relationship Id="rId201319" Target="fonts/201319.fntdata" Type="http://schemas.openxmlformats.org/officeDocument/2006/relationships/font"/><Relationship Id="rId201320" Target="fonts/201320.fntdata" Type="http://schemas.openxmlformats.org/officeDocument/2006/relationships/font"/><Relationship Id="rId201321" Target="fonts/201321.fntdata" Type="http://schemas.openxmlformats.org/officeDocument/2006/relationships/font"/><Relationship Id="rId201322" Target="fonts/201322.fntdata" Type="http://schemas.openxmlformats.org/officeDocument/2006/relationships/font"/><Relationship Id="rId201323" Target="fonts/201323.fntdata" Type="http://schemas.openxmlformats.org/officeDocument/2006/relationships/font"/><Relationship Id="rId201324" Target="fonts/201324.fntdata" Type="http://schemas.openxmlformats.org/officeDocument/2006/relationships/font"/><Relationship Id="rId201325" Target="fonts/201325.fntdata" Type="http://schemas.openxmlformats.org/officeDocument/2006/relationships/font"/><Relationship Id="rId201326" Target="fonts/201326.fntdata" Type="http://schemas.openxmlformats.org/officeDocument/2006/relationships/font"/><Relationship Id="rId201327" Target="fonts/201327.fntdata" Type="http://schemas.openxmlformats.org/officeDocument/2006/relationships/font"/><Relationship Id="rId201328" Target="fonts/201328.fntdata" Type="http://schemas.openxmlformats.org/officeDocument/2006/relationships/font"/><Relationship Id="rId201329" Target="fonts/201329.fntdata" Type="http://schemas.openxmlformats.org/officeDocument/2006/relationships/font"/></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2-1.png"/><Relationship Id="rId3"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master 1">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421424"/>
          </a:solidFill>
          <a:ln/>
        </p:spPr>
      </p:sp>
      <p:sp>
        <p:nvSpPr>
          <p:cNvPr id="3" name="Shape 1"/>
          <p:cNvSpPr/>
          <p:nvPr/>
        </p:nvSpPr>
        <p:spPr>
          <a:xfrm>
            <a:off x="0" y="0"/>
            <a:ext cx="9144000" cy="5143500"/>
          </a:xfrm>
          <a:prstGeom prst="rect">
            <a:avLst/>
          </a:prstGeom>
          <a:solidFill>
            <a:srgbClr val="5C2438"/>
          </a:solidFill>
          <a:ln/>
        </p:spPr>
      </p:sp>
      <p:pic>
        <p:nvPicPr>
          <p:cNvPr id="4" name="Image 0" descr="preencoded.png">
            <a:hlinkClick r:id="rId2" tooltip=""/>
          </p:cNvPr>
          <p:cNvPicPr>
            <a:picLocks noChangeAspect="1"/>
          </p:cNvPicPr>
          <p:nvPr/>
        </p:nvPicPr>
        <p:blipFill>
          <a:blip r:embed="rId1"/>
          <a:stretch>
            <a:fillRect/>
          </a:stretch>
        </p:blipFill>
        <p:spPr>
          <a:xfrm>
            <a:off x="8029180" y="4844491"/>
            <a:ext cx="1071843" cy="256032"/>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e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jpeg"/><Relationship Id="rId2" Type="http://schemas.openxmlformats.org/officeDocument/2006/relationships/slideLayout" Target="../slideLayouts/slideLayout2.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jpeg"/><Relationship Id="rId2" Type="http://schemas.openxmlformats.org/officeDocument/2006/relationships/slideLayout" Target="../slideLayouts/slideLayout2.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jpeg"/><Relationship Id="rId2" Type="http://schemas.openxmlformats.org/officeDocument/2006/relationships/slideLayout" Target="../slideLayouts/slideLayout2.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jpeg"/><Relationship Id="rId2" Type="http://schemas.openxmlformats.org/officeDocument/2006/relationships/slideLayout" Target="../slideLayouts/slideLayout2.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jpeg"/><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jpeg"/><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jpeg"/><Relationship Id="rId2" Type="http://schemas.openxmlformats.org/officeDocument/2006/relationships/slideLayout" Target="../slideLayouts/slideLayout2.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2.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jpeg"/><Relationship Id="rId2" Type="http://schemas.openxmlformats.org/officeDocument/2006/relationships/slideLayout" Target="../slideLayouts/slideLayout2.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svg"/><Relationship Id="rId3" Type="http://schemas.openxmlformats.org/officeDocument/2006/relationships/image" Target="../media/image-11-3.png"/><Relationship Id="rId4" Type="http://schemas.openxmlformats.org/officeDocument/2006/relationships/image" Target="../media/image-11-4.svg"/><Relationship Id="rId5" Type="http://schemas.openxmlformats.org/officeDocument/2006/relationships/image" Target="../media/image-11-1.png"/><Relationship Id="rId6" Type="http://schemas.openxmlformats.org/officeDocument/2006/relationships/image" Target="../media/image-11-2.svg"/><Relationship Id="rId7" Type="http://schemas.openxmlformats.org/officeDocument/2006/relationships/slideLayout" Target="../slideLayouts/slideLayout2.xml"/><Relationship Id="rId8" Type="http://schemas.openxmlformats.org/officeDocument/2006/relationships/notesSlide" Target="../notesSlides/notesSlide11.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3429000" cy="5143500"/>
          </a:xfrm>
          <a:prstGeom prst="rect">
            <a:avLst/>
          </a:prstGeom>
        </p:spPr>
      </p:pic>
      <p:sp>
        <p:nvSpPr>
          <p:cNvPr id="3" name="Text 0"/>
          <p:cNvSpPr/>
          <p:nvPr/>
        </p:nvSpPr>
        <p:spPr>
          <a:xfrm>
            <a:off x="3897288" y="1588443"/>
            <a:ext cx="4778425" cy="1337890"/>
          </a:xfrm>
          <a:prstGeom prst="rect">
            <a:avLst/>
          </a:prstGeom>
          <a:noFill/>
          <a:ln/>
        </p:spPr>
        <p:txBody>
          <a:bodyPr wrap="square" lIns="0" tIns="0" rIns="0" bIns="0" rtlCol="0" anchor="t">
            <a:normAutofit/>
          </a:bodyPr>
          <a:lstStyle/>
          <a:p>
            <a:pPr algn="l" indent="0" marL="0">
              <a:lnSpc>
                <a:spcPct val="104000"/>
              </a:lnSpc>
              <a:buNone/>
            </a:pPr>
            <a:r>
              <a:rPr lang="en-US" sz="2800" b="1" dirty="0">
                <a:solidFill>
                  <a:srgbClr val="FFB393"/>
                </a:solidFill>
                <a:latin typeface="Brygada 1918 Bold" pitchFamily="34" charset="0"/>
                <a:ea typeface="Brygada 1918 Bold" pitchFamily="34" charset="-122"/>
                <a:cs typeface="Brygada 1918 Bold" pitchFamily="34" charset="-120"/>
              </a:rPr>
              <a:t>SWE30003 – Week 9: Architecture Design Case Study &amp; Tactics</a:t>
            </a:r>
            <a:endParaRPr lang="en-US" sz="2800" dirty="0"/>
          </a:p>
        </p:txBody>
      </p:sp>
      <p:sp>
        <p:nvSpPr>
          <p:cNvPr id="4" name="Text 1"/>
          <p:cNvSpPr/>
          <p:nvPr/>
        </p:nvSpPr>
        <p:spPr>
          <a:xfrm>
            <a:off x="3897288" y="3127028"/>
            <a:ext cx="4778425" cy="428030"/>
          </a:xfrm>
          <a:prstGeom prst="rect">
            <a:avLst/>
          </a:prstGeom>
          <a:noFill/>
          <a:ln/>
        </p:spPr>
        <p:txBody>
          <a:bodyPr wrap="square" lIns="0" tIns="0" rIns="0" bIns="0" rtlCol="0" anchor="t">
            <a:normAutofit/>
          </a:bodyPr>
          <a:lstStyle/>
          <a:p>
            <a:pPr algn="l" indent="0" marL="0">
              <a:lnSpc>
                <a:spcPct val="133000"/>
              </a:lnSpc>
              <a:buNone/>
            </a:pPr>
            <a:r>
              <a:rPr lang="en-US" sz="1050" dirty="0">
                <a:solidFill>
                  <a:srgbClr val="F4CAB8"/>
                </a:solidFill>
                <a:latin typeface="Montserrat Medium" pitchFamily="34" charset="0"/>
                <a:ea typeface="Montserrat Medium" pitchFamily="34" charset="-122"/>
                <a:cs typeface="Montserrat Medium" pitchFamily="34" charset="-120"/>
              </a:rPr>
              <a:t>Swinburne University of Technology · SWE30003 Software Architectures and Design</a:t>
            </a:r>
            <a:endParaRPr lang="en-US" sz="10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3429000" cy="5143500"/>
          </a:xfrm>
          <a:prstGeom prst="rect">
            <a:avLst/>
          </a:prstGeom>
        </p:spPr>
      </p:pic>
      <p:sp>
        <p:nvSpPr>
          <p:cNvPr id="3" name="Text 0"/>
          <p:cNvSpPr/>
          <p:nvPr/>
        </p:nvSpPr>
        <p:spPr>
          <a:xfrm>
            <a:off x="3897288" y="925116"/>
            <a:ext cx="4778425" cy="445963"/>
          </a:xfrm>
          <a:prstGeom prst="rect">
            <a:avLst/>
          </a:prstGeom>
          <a:noFill/>
          <a:ln/>
        </p:spPr>
        <p:txBody>
          <a:bodyPr wrap="none" lIns="0" tIns="0" rIns="0" bIns="0" rtlCol="0" anchor="t"/>
          <a:lstStyle/>
          <a:p>
            <a:pPr algn="l" indent="0" marL="0">
              <a:lnSpc>
                <a:spcPct val="104000"/>
              </a:lnSpc>
              <a:buNone/>
            </a:pPr>
            <a:r>
              <a:rPr lang="en-US" sz="2800" b="1" dirty="0">
                <a:solidFill>
                  <a:srgbClr val="FFB393"/>
                </a:solidFill>
                <a:latin typeface="Brygada 1918 Bold" pitchFamily="34" charset="0"/>
                <a:ea typeface="Brygada 1918 Bold" pitchFamily="34" charset="-122"/>
                <a:cs typeface="Brygada 1918 Bold" pitchFamily="34" charset="-120"/>
              </a:rPr>
              <a:t>This Week's Agenda</a:t>
            </a:r>
            <a:endParaRPr lang="en-US" sz="2800" dirty="0"/>
          </a:p>
        </p:txBody>
      </p:sp>
      <p:sp>
        <p:nvSpPr>
          <p:cNvPr id="4" name="Text 1"/>
          <p:cNvSpPr/>
          <p:nvPr/>
        </p:nvSpPr>
        <p:spPr>
          <a:xfrm>
            <a:off x="3897288" y="1571774"/>
            <a:ext cx="267593" cy="167208"/>
          </a:xfrm>
          <a:prstGeom prst="rect">
            <a:avLst/>
          </a:prstGeom>
          <a:noFill/>
          <a:ln/>
        </p:spPr>
        <p:txBody>
          <a:bodyPr wrap="none" lIns="0" tIns="0" rIns="0" bIns="0" rtlCol="0" anchor="ctr"/>
          <a:lstStyle/>
          <a:p>
            <a:pPr algn="l" indent="0" marL="0">
              <a:lnSpc>
                <a:spcPct val="100000"/>
              </a:lnSpc>
              <a:buNone/>
            </a:pPr>
            <a:r>
              <a:rPr lang="en-US" sz="1050" dirty="0">
                <a:solidFill>
                  <a:srgbClr val="F4CAB8"/>
                </a:solidFill>
                <a:latin typeface="Brygada 1918" pitchFamily="34" charset="0"/>
                <a:ea typeface="Brygada 1918" pitchFamily="34" charset="-122"/>
                <a:cs typeface="Brygada 1918" pitchFamily="34" charset="-120"/>
              </a:rPr>
              <a:t>01</a:t>
            </a:r>
            <a:endParaRPr lang="en-US" sz="1050" dirty="0"/>
          </a:p>
        </p:txBody>
      </p:sp>
      <p:sp>
        <p:nvSpPr>
          <p:cNvPr id="5" name="Shape 2"/>
          <p:cNvSpPr/>
          <p:nvPr/>
        </p:nvSpPr>
        <p:spPr>
          <a:xfrm>
            <a:off x="3897288" y="1780059"/>
            <a:ext cx="2322314" cy="19050"/>
          </a:xfrm>
          <a:prstGeom prst="rect">
            <a:avLst/>
          </a:prstGeom>
          <a:solidFill>
            <a:srgbClr val="FFB393"/>
          </a:solidFill>
          <a:ln/>
        </p:spPr>
      </p:sp>
      <p:sp>
        <p:nvSpPr>
          <p:cNvPr id="6" name="Text 3"/>
          <p:cNvSpPr/>
          <p:nvPr/>
        </p:nvSpPr>
        <p:spPr>
          <a:xfrm>
            <a:off x="3897288" y="1885057"/>
            <a:ext cx="2322314" cy="223019"/>
          </a:xfrm>
          <a:prstGeom prst="rect">
            <a:avLst/>
          </a:prstGeom>
          <a:noFill/>
          <a:ln/>
        </p:spPr>
        <p:txBody>
          <a:bodyPr wrap="none" lIns="0" tIns="0" rIns="0" bIns="0" rtlCol="0" anchor="t"/>
          <a:lstStyle/>
          <a:p>
            <a:pPr algn="l" indent="0" marL="0">
              <a:lnSpc>
                <a:spcPct val="104000"/>
              </a:lnSpc>
              <a:buNone/>
            </a:pPr>
            <a:r>
              <a:rPr lang="en-US" sz="1400" b="1" dirty="0">
                <a:solidFill>
                  <a:srgbClr val="F4CAB8"/>
                </a:solidFill>
                <a:latin typeface="Brygada 1918 Bold" pitchFamily="34" charset="0"/>
                <a:ea typeface="Brygada 1918 Bold" pitchFamily="34" charset="-122"/>
                <a:cs typeface="Brygada 1918 Bold" pitchFamily="34" charset="-120"/>
              </a:rPr>
              <a:t>Part 1: KWIC Case Study</a:t>
            </a:r>
            <a:endParaRPr lang="en-US" sz="1400" dirty="0"/>
          </a:p>
        </p:txBody>
      </p:sp>
      <p:sp>
        <p:nvSpPr>
          <p:cNvPr id="7" name="Text 4"/>
          <p:cNvSpPr/>
          <p:nvPr/>
        </p:nvSpPr>
        <p:spPr>
          <a:xfrm>
            <a:off x="3897288" y="2188294"/>
            <a:ext cx="2322314" cy="856059"/>
          </a:xfrm>
          <a:prstGeom prst="rect">
            <a:avLst/>
          </a:prstGeom>
          <a:noFill/>
          <a:ln/>
        </p:spPr>
        <p:txBody>
          <a:bodyPr wrap="square" lIns="0" tIns="0" rIns="0" bIns="0" rtlCol="0" anchor="t">
            <a:normAutofit/>
          </a:bodyPr>
          <a:lstStyle/>
          <a:p>
            <a:pPr algn="l" indent="0" marL="0">
              <a:lnSpc>
                <a:spcPct val="133000"/>
              </a:lnSpc>
              <a:buNone/>
            </a:pPr>
            <a:r>
              <a:rPr lang="en-US" sz="1050" dirty="0">
                <a:solidFill>
                  <a:srgbClr val="F4CAB8"/>
                </a:solidFill>
                <a:latin typeface="Montserrat Medium" pitchFamily="34" charset="0"/>
                <a:ea typeface="Montserrat Medium" pitchFamily="34" charset="-122"/>
                <a:cs typeface="Montserrat Medium" pitchFamily="34" charset="-120"/>
              </a:rPr>
              <a:t>Four architectural styles compared — Shared Memory, ADT, Implicit Invocation, and Pipe-and-Filter</a:t>
            </a:r>
            <a:endParaRPr lang="en-US" sz="1050" dirty="0"/>
          </a:p>
        </p:txBody>
      </p:sp>
      <p:sp>
        <p:nvSpPr>
          <p:cNvPr id="8" name="Text 5"/>
          <p:cNvSpPr/>
          <p:nvPr/>
        </p:nvSpPr>
        <p:spPr>
          <a:xfrm>
            <a:off x="6353398" y="1571774"/>
            <a:ext cx="267593" cy="167208"/>
          </a:xfrm>
          <a:prstGeom prst="rect">
            <a:avLst/>
          </a:prstGeom>
          <a:noFill/>
          <a:ln/>
        </p:spPr>
        <p:txBody>
          <a:bodyPr wrap="none" lIns="0" tIns="0" rIns="0" bIns="0" rtlCol="0" anchor="ctr"/>
          <a:lstStyle/>
          <a:p>
            <a:pPr algn="l" indent="0" marL="0">
              <a:lnSpc>
                <a:spcPct val="100000"/>
              </a:lnSpc>
              <a:buNone/>
            </a:pPr>
            <a:r>
              <a:rPr lang="en-US" sz="1050" dirty="0">
                <a:solidFill>
                  <a:srgbClr val="F4CAB8"/>
                </a:solidFill>
                <a:latin typeface="Brygada 1918" pitchFamily="34" charset="0"/>
                <a:ea typeface="Brygada 1918" pitchFamily="34" charset="-122"/>
                <a:cs typeface="Brygada 1918" pitchFamily="34" charset="-120"/>
              </a:rPr>
              <a:t>02</a:t>
            </a:r>
            <a:endParaRPr lang="en-US" sz="1050" dirty="0"/>
          </a:p>
        </p:txBody>
      </p:sp>
      <p:sp>
        <p:nvSpPr>
          <p:cNvPr id="9" name="Shape 6"/>
          <p:cNvSpPr/>
          <p:nvPr/>
        </p:nvSpPr>
        <p:spPr>
          <a:xfrm>
            <a:off x="6353398" y="1780059"/>
            <a:ext cx="2322314" cy="19050"/>
          </a:xfrm>
          <a:prstGeom prst="rect">
            <a:avLst/>
          </a:prstGeom>
          <a:solidFill>
            <a:srgbClr val="FFB393"/>
          </a:solidFill>
          <a:ln/>
        </p:spPr>
      </p:sp>
      <p:sp>
        <p:nvSpPr>
          <p:cNvPr id="10" name="Text 7"/>
          <p:cNvSpPr/>
          <p:nvPr/>
        </p:nvSpPr>
        <p:spPr>
          <a:xfrm>
            <a:off x="6353398" y="1885057"/>
            <a:ext cx="2322314" cy="446038"/>
          </a:xfrm>
          <a:prstGeom prst="rect">
            <a:avLst/>
          </a:prstGeom>
          <a:noFill/>
          <a:ln/>
        </p:spPr>
        <p:txBody>
          <a:bodyPr wrap="square" lIns="0" tIns="0" rIns="0" bIns="0" rtlCol="0" anchor="t">
            <a:normAutofit/>
          </a:bodyPr>
          <a:lstStyle/>
          <a:p>
            <a:pPr algn="l" indent="0" marL="0">
              <a:lnSpc>
                <a:spcPct val="104000"/>
              </a:lnSpc>
              <a:buNone/>
            </a:pPr>
            <a:r>
              <a:rPr lang="en-US" sz="1400" b="1" dirty="0">
                <a:solidFill>
                  <a:srgbClr val="F4CAB8"/>
                </a:solidFill>
                <a:latin typeface="Brygada 1918 Bold" pitchFamily="34" charset="0"/>
                <a:ea typeface="Brygada 1918 Bold" pitchFamily="34" charset="-122"/>
                <a:cs typeface="Brygada 1918 Bold" pitchFamily="34" charset="-120"/>
              </a:rPr>
              <a:t>Part 2: Architectural Tactics</a:t>
            </a:r>
            <a:endParaRPr lang="en-US" sz="1400" dirty="0"/>
          </a:p>
        </p:txBody>
      </p:sp>
      <p:sp>
        <p:nvSpPr>
          <p:cNvPr id="11" name="Text 8"/>
          <p:cNvSpPr/>
          <p:nvPr/>
        </p:nvSpPr>
        <p:spPr>
          <a:xfrm>
            <a:off x="6353398" y="2411313"/>
            <a:ext cx="2322314" cy="642045"/>
          </a:xfrm>
          <a:prstGeom prst="rect">
            <a:avLst/>
          </a:prstGeom>
          <a:noFill/>
          <a:ln/>
        </p:spPr>
        <p:txBody>
          <a:bodyPr wrap="square" lIns="0" tIns="0" rIns="0" bIns="0" rtlCol="0" anchor="t">
            <a:normAutofit/>
          </a:bodyPr>
          <a:lstStyle/>
          <a:p>
            <a:pPr algn="l" indent="0" marL="0">
              <a:lnSpc>
                <a:spcPct val="133000"/>
              </a:lnSpc>
              <a:buNone/>
            </a:pPr>
            <a:r>
              <a:rPr lang="en-US" sz="1050" dirty="0">
                <a:solidFill>
                  <a:srgbClr val="F4CAB8"/>
                </a:solidFill>
                <a:latin typeface="Montserrat Medium" pitchFamily="34" charset="0"/>
                <a:ea typeface="Montserrat Medium" pitchFamily="34" charset="-122"/>
                <a:cs typeface="Montserrat Medium" pitchFamily="34" charset="-120"/>
              </a:rPr>
              <a:t>Scalability, Availability, Modifiability, Performance, and Security tactics</a:t>
            </a:r>
            <a:endParaRPr lang="en-US" sz="1050" dirty="0"/>
          </a:p>
        </p:txBody>
      </p:sp>
      <p:sp>
        <p:nvSpPr>
          <p:cNvPr id="12" name="Text 9"/>
          <p:cNvSpPr/>
          <p:nvPr/>
        </p:nvSpPr>
        <p:spPr>
          <a:xfrm>
            <a:off x="3897288" y="3287464"/>
            <a:ext cx="267593" cy="167208"/>
          </a:xfrm>
          <a:prstGeom prst="rect">
            <a:avLst/>
          </a:prstGeom>
          <a:noFill/>
          <a:ln/>
        </p:spPr>
        <p:txBody>
          <a:bodyPr wrap="none" lIns="0" tIns="0" rIns="0" bIns="0" rtlCol="0" anchor="ctr"/>
          <a:lstStyle/>
          <a:p>
            <a:pPr algn="l" indent="0" marL="0">
              <a:lnSpc>
                <a:spcPct val="100000"/>
              </a:lnSpc>
              <a:buNone/>
            </a:pPr>
            <a:r>
              <a:rPr lang="en-US" sz="1050" dirty="0">
                <a:solidFill>
                  <a:srgbClr val="F4CAB8"/>
                </a:solidFill>
                <a:latin typeface="Brygada 1918" pitchFamily="34" charset="0"/>
                <a:ea typeface="Brygada 1918" pitchFamily="34" charset="-122"/>
                <a:cs typeface="Brygada 1918" pitchFamily="34" charset="-120"/>
              </a:rPr>
              <a:t>03</a:t>
            </a:r>
            <a:endParaRPr lang="en-US" sz="1050" dirty="0"/>
          </a:p>
        </p:txBody>
      </p:sp>
      <p:sp>
        <p:nvSpPr>
          <p:cNvPr id="13" name="Shape 10"/>
          <p:cNvSpPr/>
          <p:nvPr/>
        </p:nvSpPr>
        <p:spPr>
          <a:xfrm>
            <a:off x="3897288" y="3495749"/>
            <a:ext cx="4778425" cy="19050"/>
          </a:xfrm>
          <a:prstGeom prst="rect">
            <a:avLst/>
          </a:prstGeom>
          <a:solidFill>
            <a:srgbClr val="FFB393"/>
          </a:solidFill>
          <a:ln/>
        </p:spPr>
      </p:sp>
      <p:sp>
        <p:nvSpPr>
          <p:cNvPr id="14" name="Text 11"/>
          <p:cNvSpPr/>
          <p:nvPr/>
        </p:nvSpPr>
        <p:spPr>
          <a:xfrm>
            <a:off x="3897288" y="3600748"/>
            <a:ext cx="4778425" cy="223019"/>
          </a:xfrm>
          <a:prstGeom prst="rect">
            <a:avLst/>
          </a:prstGeom>
          <a:noFill/>
          <a:ln/>
        </p:spPr>
        <p:txBody>
          <a:bodyPr wrap="none" lIns="0" tIns="0" rIns="0" bIns="0" rtlCol="0" anchor="t"/>
          <a:lstStyle/>
          <a:p>
            <a:pPr algn="l" indent="0" marL="0">
              <a:lnSpc>
                <a:spcPct val="104000"/>
              </a:lnSpc>
              <a:buNone/>
            </a:pPr>
            <a:r>
              <a:rPr lang="en-US" sz="1400" b="1" dirty="0">
                <a:solidFill>
                  <a:srgbClr val="F4CAB8"/>
                </a:solidFill>
                <a:latin typeface="Brygada 1918 Bold" pitchFamily="34" charset="0"/>
                <a:ea typeface="Brygada 1918 Bold" pitchFamily="34" charset="-122"/>
                <a:cs typeface="Brygada 1918 Bold" pitchFamily="34" charset="-120"/>
              </a:rPr>
              <a:t>Tutorial</a:t>
            </a:r>
            <a:endParaRPr lang="en-US" sz="1400" dirty="0"/>
          </a:p>
        </p:txBody>
      </p:sp>
      <p:sp>
        <p:nvSpPr>
          <p:cNvPr id="15" name="Text 12"/>
          <p:cNvSpPr/>
          <p:nvPr/>
        </p:nvSpPr>
        <p:spPr>
          <a:xfrm>
            <a:off x="3897288" y="3903985"/>
            <a:ext cx="4778425" cy="214015"/>
          </a:xfrm>
          <a:prstGeom prst="rect">
            <a:avLst/>
          </a:prstGeom>
          <a:noFill/>
          <a:ln/>
        </p:spPr>
        <p:txBody>
          <a:bodyPr wrap="none" lIns="0" tIns="0" rIns="0" bIns="0" rtlCol="0" anchor="t"/>
          <a:lstStyle/>
          <a:p>
            <a:pPr algn="l" indent="0" marL="0">
              <a:lnSpc>
                <a:spcPct val="133000"/>
              </a:lnSpc>
              <a:buNone/>
            </a:pPr>
            <a:r>
              <a:rPr lang="en-US" sz="1050" dirty="0">
                <a:solidFill>
                  <a:srgbClr val="F4CAB8"/>
                </a:solidFill>
                <a:latin typeface="Montserrat Medium" pitchFamily="34" charset="0"/>
                <a:ea typeface="Montserrat Medium" pitchFamily="34" charset="-122"/>
                <a:cs typeface="Montserrat Medium" pitchFamily="34" charset="-120"/>
              </a:rPr>
              <a:t>Discussion questions on architectural styles and patterns</a:t>
            </a:r>
            <a:endParaRPr lang="en-US" sz="10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3429000" cy="5143500"/>
          </a:xfrm>
          <a:prstGeom prst="rect">
            <a:avLst/>
          </a:prstGeom>
        </p:spPr>
      </p:pic>
      <p:sp>
        <p:nvSpPr>
          <p:cNvPr id="3" name="Shape 0"/>
          <p:cNvSpPr/>
          <p:nvPr/>
        </p:nvSpPr>
        <p:spPr>
          <a:xfrm>
            <a:off x="3897288" y="1513433"/>
            <a:ext cx="755675" cy="203299"/>
          </a:xfrm>
          <a:prstGeom prst="roundRect">
            <a:avLst>
              <a:gd name="adj" fmla="val 7899"/>
            </a:avLst>
          </a:prstGeom>
          <a:solidFill>
            <a:srgbClr val="4D1700"/>
          </a:solidFill>
          <a:ln/>
        </p:spPr>
      </p:sp>
      <p:sp>
        <p:nvSpPr>
          <p:cNvPr id="4" name="Text 1"/>
          <p:cNvSpPr/>
          <p:nvPr/>
        </p:nvSpPr>
        <p:spPr>
          <a:xfrm>
            <a:off x="3977506" y="1553542"/>
            <a:ext cx="1052438" cy="123081"/>
          </a:xfrm>
          <a:prstGeom prst="rect">
            <a:avLst/>
          </a:prstGeom>
          <a:noFill/>
          <a:ln/>
        </p:spPr>
        <p:txBody>
          <a:bodyPr wrap="none" lIns="0" tIns="0" rIns="0" bIns="0" rtlCol="0" anchor="t"/>
          <a:lstStyle/>
          <a:p>
            <a:pPr algn="l" indent="0" marL="0">
              <a:lnSpc>
                <a:spcPct val="96000"/>
              </a:lnSpc>
              <a:buNone/>
            </a:pPr>
            <a:r>
              <a:rPr lang="en-US" sz="800" dirty="0">
                <a:solidFill>
                  <a:srgbClr val="F4CAB8"/>
                </a:solidFill>
                <a:latin typeface="Montserrat Medium" pitchFamily="34" charset="0"/>
                <a:ea typeface="Montserrat Medium" pitchFamily="34" charset="-122"/>
                <a:cs typeface="Montserrat Medium" pitchFamily="34" charset="-120"/>
              </a:rPr>
              <a:t>CHAPTER 1</a:t>
            </a:r>
            <a:endParaRPr lang="en-US" sz="800" dirty="0"/>
          </a:p>
        </p:txBody>
      </p:sp>
      <p:sp>
        <p:nvSpPr>
          <p:cNvPr id="5" name="Text 2"/>
          <p:cNvSpPr/>
          <p:nvPr/>
        </p:nvSpPr>
        <p:spPr>
          <a:xfrm>
            <a:off x="3897288" y="1770236"/>
            <a:ext cx="4778425" cy="1231106"/>
          </a:xfrm>
          <a:prstGeom prst="rect">
            <a:avLst/>
          </a:prstGeom>
          <a:noFill/>
          <a:ln/>
        </p:spPr>
        <p:txBody>
          <a:bodyPr wrap="square" lIns="0" tIns="0" rIns="0" bIns="0" rtlCol="0" anchor="t">
            <a:normAutofit/>
          </a:bodyPr>
          <a:lstStyle/>
          <a:p>
            <a:pPr algn="l" indent="0" marL="0">
              <a:lnSpc>
                <a:spcPct val="104000"/>
              </a:lnSpc>
              <a:buNone/>
            </a:pPr>
            <a:r>
              <a:rPr lang="en-US" sz="3850" b="1" dirty="0">
                <a:solidFill>
                  <a:srgbClr val="FFB393"/>
                </a:solidFill>
                <a:latin typeface="Brygada 1918 Bold" pitchFamily="34" charset="0"/>
                <a:ea typeface="Brygada 1918 Bold" pitchFamily="34" charset="-122"/>
                <a:cs typeface="Brygada 1918 Bold" pitchFamily="34" charset="-120"/>
              </a:rPr>
              <a:t>Part 1: KWIC Case Study</a:t>
            </a:r>
            <a:endParaRPr lang="en-US" sz="3850" dirty="0"/>
          </a:p>
        </p:txBody>
      </p:sp>
      <p:sp>
        <p:nvSpPr>
          <p:cNvPr id="6" name="Text 3"/>
          <p:cNvSpPr/>
          <p:nvPr/>
        </p:nvSpPr>
        <p:spPr>
          <a:xfrm>
            <a:off x="3897288" y="3202037"/>
            <a:ext cx="4778425" cy="428030"/>
          </a:xfrm>
          <a:prstGeom prst="rect">
            <a:avLst/>
          </a:prstGeom>
          <a:noFill/>
          <a:ln/>
        </p:spPr>
        <p:txBody>
          <a:bodyPr wrap="square" lIns="0" tIns="0" rIns="0" bIns="0" rtlCol="0" anchor="t">
            <a:normAutofit/>
          </a:bodyPr>
          <a:lstStyle/>
          <a:p>
            <a:pPr algn="l" indent="0" marL="0">
              <a:lnSpc>
                <a:spcPct val="133000"/>
              </a:lnSpc>
              <a:buNone/>
            </a:pPr>
            <a:r>
              <a:rPr lang="en-US" sz="1050" dirty="0">
                <a:solidFill>
                  <a:srgbClr val="F4CAB8"/>
                </a:solidFill>
                <a:latin typeface="Montserrat Medium" pitchFamily="34" charset="0"/>
                <a:ea typeface="Montserrat Medium" pitchFamily="34" charset="-122"/>
                <a:cs typeface="Montserrat Medium" pitchFamily="34" charset="-120"/>
              </a:rPr>
              <a:t>A classic decomposition study from Parnas (1972) — how you break a system apart matters as much as what you build.</a:t>
            </a:r>
            <a:endParaRPr lang="en-US" sz="10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468288" y="385539"/>
            <a:ext cx="8207425" cy="411212"/>
          </a:xfrm>
          <a:prstGeom prst="rect">
            <a:avLst/>
          </a:prstGeom>
          <a:noFill/>
          <a:ln/>
        </p:spPr>
        <p:txBody>
          <a:bodyPr wrap="none" lIns="0" tIns="0" rIns="0" bIns="0" rtlCol="0" anchor="t"/>
          <a:lstStyle/>
          <a:p>
            <a:pPr algn="l" indent="0" marL="0">
              <a:lnSpc>
                <a:spcPct val="104000"/>
              </a:lnSpc>
              <a:buNone/>
            </a:pPr>
            <a:r>
              <a:rPr lang="en-US" sz="2550" b="1" dirty="0">
                <a:solidFill>
                  <a:srgbClr val="FFB393"/>
                </a:solidFill>
                <a:latin typeface="Brygada 1918 Bold" pitchFamily="34" charset="0"/>
                <a:ea typeface="Brygada 1918 Bold" pitchFamily="34" charset="-122"/>
                <a:cs typeface="Brygada 1918 Bold" pitchFamily="34" charset="-120"/>
              </a:rPr>
              <a:t>What Is the KWIC Index System?</a:t>
            </a:r>
            <a:endParaRPr lang="en-US" sz="2550" dirty="0"/>
          </a:p>
        </p:txBody>
      </p:sp>
      <p:pic>
        <p:nvPicPr>
          <p:cNvPr id="3" name="Image 0" descr="preencoded.png">    </p:cNvPr>
          <p:cNvPicPr>
            <a:picLocks noChangeAspect="1"/>
          </p:cNvPicPr>
          <p:nvPr/>
        </p:nvPicPr>
        <p:blipFill>
          <a:blip r:embed="rId1"/>
          <a:stretch>
            <a:fillRect/>
          </a:stretch>
        </p:blipFill>
        <p:spPr>
          <a:xfrm>
            <a:off x="468288" y="1380902"/>
            <a:ext cx="5229448" cy="2963317"/>
          </a:xfrm>
          <a:prstGeom prst="rect">
            <a:avLst/>
          </a:prstGeom>
        </p:spPr>
      </p:pic>
      <p:sp>
        <p:nvSpPr>
          <p:cNvPr id="4" name="Text 1"/>
          <p:cNvSpPr/>
          <p:nvPr/>
        </p:nvSpPr>
        <p:spPr>
          <a:xfrm>
            <a:off x="6003429" y="1081013"/>
            <a:ext cx="2676971" cy="205532"/>
          </a:xfrm>
          <a:prstGeom prst="rect">
            <a:avLst/>
          </a:prstGeom>
          <a:noFill/>
          <a:ln/>
        </p:spPr>
        <p:txBody>
          <a:bodyPr wrap="none" lIns="0" tIns="0" rIns="0" bIns="0" rtlCol="0" anchor="t"/>
          <a:lstStyle/>
          <a:p>
            <a:pPr algn="l" indent="0" marL="0">
              <a:lnSpc>
                <a:spcPct val="104000"/>
              </a:lnSpc>
              <a:buNone/>
            </a:pPr>
            <a:r>
              <a:rPr lang="en-US" sz="1250" b="1" dirty="0">
                <a:solidFill>
                  <a:srgbClr val="FFB393"/>
                </a:solidFill>
                <a:latin typeface="Brygada 1918 Bold" pitchFamily="34" charset="0"/>
                <a:ea typeface="Brygada 1918 Bold" pitchFamily="34" charset="-122"/>
                <a:cs typeface="Brygada 1918 Bold" pitchFamily="34" charset="-120"/>
              </a:rPr>
              <a:t>The Problem</a:t>
            </a:r>
            <a:endParaRPr lang="en-US" sz="1250" dirty="0"/>
          </a:p>
        </p:txBody>
      </p:sp>
      <p:sp>
        <p:nvSpPr>
          <p:cNvPr id="5" name="Text 2"/>
          <p:cNvSpPr/>
          <p:nvPr/>
        </p:nvSpPr>
        <p:spPr>
          <a:xfrm>
            <a:off x="6003429" y="1400249"/>
            <a:ext cx="2676971" cy="1707133"/>
          </a:xfrm>
          <a:prstGeom prst="rect">
            <a:avLst/>
          </a:prstGeom>
          <a:noFill/>
          <a:ln/>
        </p:spPr>
        <p:txBody>
          <a:bodyPr wrap="square" lIns="0" tIns="0" rIns="0" bIns="0" rtlCol="0" anchor="t">
            <a:normAutofit/>
          </a:bodyPr>
          <a:lstStyle/>
          <a:p>
            <a:pPr algn="l" indent="0" marL="0">
              <a:lnSpc>
                <a:spcPct val="128000"/>
              </a:lnSpc>
              <a:buNone/>
            </a:pPr>
            <a:r>
              <a:rPr lang="en-US" sz="950" dirty="0">
                <a:solidFill>
                  <a:srgbClr val="F4CAB8"/>
                </a:solidFill>
                <a:latin typeface="Montserrat Medium" pitchFamily="34" charset="0"/>
                <a:ea typeface="Montserrat Medium" pitchFamily="34" charset="-122"/>
                <a:cs typeface="Montserrat Medium" pitchFamily="34" charset="-120"/>
              </a:rPr>
              <a:t>The Key Word in Context (KWIC) index system accepts an ordered set of lines, each line is an ordered set of words, and each word is an ordered set of characters. Any line may be </a:t>
            </a:r>
            <a:pPr algn="l" indent="0" marL="0">
              <a:lnSpc>
                <a:spcPct val="128000"/>
              </a:lnSpc>
              <a:buNone/>
            </a:pPr>
            <a:r>
              <a:rPr lang="en-US" sz="950" b="1" dirty="0">
                <a:solidFill>
                  <a:srgbClr val="F4CAB8"/>
                </a:solidFill>
                <a:latin typeface="Montserrat Bold" pitchFamily="34" charset="0"/>
                <a:ea typeface="Montserrat Bold" pitchFamily="34" charset="-122"/>
                <a:cs typeface="Montserrat Bold" pitchFamily="34" charset="-120"/>
              </a:rPr>
              <a:t>circularly shifted</a:t>
            </a:r>
            <a:pPr algn="l" indent="0" marL="0">
              <a:lnSpc>
                <a:spcPct val="128000"/>
              </a:lnSpc>
              <a:buNone/>
            </a:pPr>
            <a:r>
              <a:rPr lang="en-US" sz="950" dirty="0">
                <a:solidFill>
                  <a:srgbClr val="F4CAB8"/>
                </a:solidFill>
                <a:latin typeface="Montserrat Medium" pitchFamily="34" charset="0"/>
                <a:ea typeface="Montserrat Medium" pitchFamily="34" charset="-122"/>
                <a:cs typeface="Montserrat Medium" pitchFamily="34" charset="-120"/>
              </a:rPr>
              <a:t> by repeatedly removing the first word and appending it at the end. The system outputs all circular shifts of all lines in alphabetical order.</a:t>
            </a:r>
            <a:endParaRPr lang="en-US" sz="950" dirty="0"/>
          </a:p>
        </p:txBody>
      </p:sp>
      <p:sp>
        <p:nvSpPr>
          <p:cNvPr id="6" name="Text 3"/>
          <p:cNvSpPr/>
          <p:nvPr/>
        </p:nvSpPr>
        <p:spPr>
          <a:xfrm>
            <a:off x="6003429" y="3221087"/>
            <a:ext cx="2676971" cy="205532"/>
          </a:xfrm>
          <a:prstGeom prst="rect">
            <a:avLst/>
          </a:prstGeom>
          <a:noFill/>
          <a:ln/>
        </p:spPr>
        <p:txBody>
          <a:bodyPr wrap="none" lIns="0" tIns="0" rIns="0" bIns="0" rtlCol="0" anchor="t"/>
          <a:lstStyle/>
          <a:p>
            <a:pPr algn="l" indent="0" marL="0">
              <a:lnSpc>
                <a:spcPct val="104000"/>
              </a:lnSpc>
              <a:buNone/>
            </a:pPr>
            <a:r>
              <a:rPr lang="en-US" sz="1250" b="1" dirty="0">
                <a:solidFill>
                  <a:srgbClr val="FFB393"/>
                </a:solidFill>
                <a:latin typeface="Brygada 1918 Bold" pitchFamily="34" charset="0"/>
                <a:ea typeface="Brygada 1918 Bold" pitchFamily="34" charset="-122"/>
                <a:cs typeface="Brygada 1918 Bold" pitchFamily="34" charset="-120"/>
              </a:rPr>
              <a:t>Why It Matters</a:t>
            </a:r>
            <a:endParaRPr lang="en-US" sz="1250" dirty="0"/>
          </a:p>
        </p:txBody>
      </p:sp>
      <p:sp>
        <p:nvSpPr>
          <p:cNvPr id="7" name="Text 4"/>
          <p:cNvSpPr/>
          <p:nvPr/>
        </p:nvSpPr>
        <p:spPr>
          <a:xfrm>
            <a:off x="6003429" y="3540323"/>
            <a:ext cx="2676971" cy="1177826"/>
          </a:xfrm>
          <a:prstGeom prst="rect">
            <a:avLst/>
          </a:prstGeom>
          <a:noFill/>
          <a:ln/>
        </p:spPr>
        <p:txBody>
          <a:bodyPr wrap="square" lIns="0" tIns="0" rIns="0" bIns="0" rtlCol="0" anchor="t">
            <a:normAutofit/>
          </a:bodyPr>
          <a:lstStyle/>
          <a:p>
            <a:pPr algn="l" marL="193040" indent="-193040">
              <a:lnSpc>
                <a:spcPct val="128000"/>
              </a:lnSpc>
              <a:buSzPct val="100000"/>
              <a:buChar char="•"/>
            </a:pPr>
            <a:r>
              <a:rPr lang="en-US" sz="950" dirty="0">
                <a:solidFill>
                  <a:srgbClr val="F4CAB8"/>
                </a:solidFill>
                <a:latin typeface="Montserrat Medium" pitchFamily="34" charset="0"/>
                <a:ea typeface="Montserrat Medium" pitchFamily="34" charset="-122"/>
                <a:cs typeface="Montserrat Medium" pitchFamily="34" charset="-120"/>
              </a:rPr>
              <a:t>Small system — but </a:t>
            </a:r>
            <a:pPr algn="l" marL="193040" indent="-193040">
              <a:lnSpc>
                <a:spcPct val="128000"/>
              </a:lnSpc>
              <a:buSzPct val="100000"/>
              <a:buChar char="•"/>
            </a:pPr>
            <a:r>
              <a:rPr lang="en-US" sz="950" b="1" dirty="0">
                <a:solidFill>
                  <a:srgbClr val="F4CAB8"/>
                </a:solidFill>
                <a:latin typeface="Montserrat Bold" pitchFamily="34" charset="0"/>
                <a:ea typeface="Montserrat Bold" pitchFamily="34" charset="-122"/>
                <a:cs typeface="Montserrat Bold" pitchFamily="34" charset="-120"/>
              </a:rPr>
              <a:t>big architectural implications</a:t>
            </a:r>
            <a:pPr algn="l" marL="193040" indent="-193040">
              <a:lnSpc>
                <a:spcPct val="128000"/>
              </a:lnSpc>
              <a:buSzPct val="100000"/>
              <a:buChar char="•"/>
            </a:pPr>
            <a:r>
              <a:rPr lang="en-US" sz="950" dirty="0">
                <a:solidFill>
                  <a:srgbClr val="F4CAB8"/>
                </a:solidFill>
                <a:latin typeface="Montserrat Medium" pitchFamily="34" charset="0"/>
                <a:ea typeface="Montserrat Medium" pitchFamily="34" charset="-122"/>
                <a:cs typeface="Montserrat Medium" pitchFamily="34" charset="-120"/>
              </a:rPr>
              <a:t> depending on decomposition choice</a:t>
            </a:r>
            <a:endParaRPr lang="en-US" sz="950" dirty="0"/>
          </a:p>
          <a:p>
            <a:pPr algn="l" marL="193040" indent="-193040">
              <a:lnSpc>
                <a:spcPct val="128000"/>
              </a:lnSpc>
              <a:buSzPct val="100000"/>
              <a:buChar char="•"/>
            </a:pPr>
            <a:r>
              <a:rPr lang="en-US" sz="950" dirty="0">
                <a:solidFill>
                  <a:srgbClr val="F4CAB8"/>
                </a:solidFill>
                <a:latin typeface="Montserrat Medium" pitchFamily="34" charset="0"/>
                <a:ea typeface="Montserrat Medium" pitchFamily="34" charset="-122"/>
                <a:cs typeface="Montserrat Medium" pitchFamily="34" charset="-120"/>
              </a:rPr>
              <a:t>Classic case study from </a:t>
            </a:r>
            <a:pPr algn="l" marL="193040" indent="-193040">
              <a:lnSpc>
                <a:spcPct val="128000"/>
              </a:lnSpc>
              <a:buSzPct val="100000"/>
              <a:buChar char="•"/>
            </a:pPr>
            <a:r>
              <a:rPr lang="en-US" sz="950" b="1" dirty="0">
                <a:solidFill>
                  <a:srgbClr val="F4CAB8"/>
                </a:solidFill>
                <a:latin typeface="Montserrat Bold" pitchFamily="34" charset="0"/>
                <a:ea typeface="Montserrat Bold" pitchFamily="34" charset="-122"/>
                <a:cs typeface="Montserrat Bold" pitchFamily="34" charset="-120"/>
              </a:rPr>
              <a:t>Parnas (1972)</a:t>
            </a:r>
            <a:pPr algn="l" marL="193040" indent="-193040">
              <a:lnSpc>
                <a:spcPct val="128000"/>
              </a:lnSpc>
              <a:buSzPct val="100000"/>
              <a:buChar char="•"/>
            </a:pPr>
            <a:r>
              <a:rPr lang="en-US" sz="950" dirty="0">
                <a:solidFill>
                  <a:srgbClr val="F4CAB8"/>
                </a:solidFill>
                <a:latin typeface="Montserrat Medium" pitchFamily="34" charset="0"/>
                <a:ea typeface="Montserrat Medium" pitchFamily="34" charset="-122"/>
                <a:cs typeface="Montserrat Medium" pitchFamily="34" charset="-120"/>
              </a:rPr>
              <a:t>: how you decompose matters as much as what you build</a:t>
            </a:r>
            <a:endParaRPr lang="en-US" sz="9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468288" y="496714"/>
            <a:ext cx="8207425" cy="445963"/>
          </a:xfrm>
          <a:prstGeom prst="rect">
            <a:avLst/>
          </a:prstGeom>
          <a:noFill/>
          <a:ln/>
        </p:spPr>
        <p:txBody>
          <a:bodyPr wrap="none" lIns="0" tIns="0" rIns="0" bIns="0" rtlCol="0" anchor="t"/>
          <a:lstStyle/>
          <a:p>
            <a:pPr algn="l" indent="0" marL="0">
              <a:lnSpc>
                <a:spcPct val="104000"/>
              </a:lnSpc>
              <a:buNone/>
            </a:pPr>
            <a:r>
              <a:rPr lang="en-US" sz="2800" b="1" dirty="0">
                <a:solidFill>
                  <a:srgbClr val="FFB393"/>
                </a:solidFill>
                <a:latin typeface="Brygada 1918 Bold" pitchFamily="34" charset="0"/>
                <a:ea typeface="Brygada 1918 Bold" pitchFamily="34" charset="-122"/>
                <a:cs typeface="Brygada 1918 Bold" pitchFamily="34" charset="-120"/>
              </a:rPr>
              <a:t>KWIC: Shared-Memory Architecture</a:t>
            </a:r>
            <a:endParaRPr lang="en-US" sz="2800" dirty="0"/>
          </a:p>
        </p:txBody>
      </p:sp>
      <p:sp>
        <p:nvSpPr>
          <p:cNvPr id="3" name="Text 1"/>
          <p:cNvSpPr/>
          <p:nvPr/>
        </p:nvSpPr>
        <p:spPr>
          <a:xfrm>
            <a:off x="468288" y="1827609"/>
            <a:ext cx="2660452" cy="223019"/>
          </a:xfrm>
          <a:prstGeom prst="rect">
            <a:avLst/>
          </a:prstGeom>
          <a:noFill/>
          <a:ln/>
        </p:spPr>
        <p:txBody>
          <a:bodyPr wrap="none" lIns="0" tIns="0" rIns="0" bIns="0" rtlCol="0" anchor="t"/>
          <a:lstStyle/>
          <a:p>
            <a:pPr algn="l" indent="0" marL="0">
              <a:lnSpc>
                <a:spcPct val="104000"/>
              </a:lnSpc>
              <a:buNone/>
            </a:pPr>
            <a:r>
              <a:rPr lang="en-US" sz="1400" b="1" dirty="0">
                <a:solidFill>
                  <a:srgbClr val="FFB393"/>
                </a:solidFill>
                <a:latin typeface="Brygada 1918 Bold" pitchFamily="34" charset="0"/>
                <a:ea typeface="Brygada 1918 Bold" pitchFamily="34" charset="-122"/>
                <a:cs typeface="Brygada 1918 Bold" pitchFamily="34" charset="-120"/>
              </a:rPr>
              <a:t>How It Works</a:t>
            </a:r>
            <a:endParaRPr lang="en-US" sz="1400" dirty="0"/>
          </a:p>
        </p:txBody>
      </p:sp>
      <p:sp>
        <p:nvSpPr>
          <p:cNvPr id="4" name="Text 2"/>
          <p:cNvSpPr/>
          <p:nvPr/>
        </p:nvSpPr>
        <p:spPr>
          <a:xfrm>
            <a:off x="468288" y="2184425"/>
            <a:ext cx="2660452" cy="856059"/>
          </a:xfrm>
          <a:prstGeom prst="rect">
            <a:avLst/>
          </a:prstGeom>
          <a:noFill/>
          <a:ln/>
        </p:spPr>
        <p:txBody>
          <a:bodyPr wrap="square" lIns="0" tIns="0" rIns="0" bIns="0" rtlCol="0" anchor="t">
            <a:normAutofit/>
          </a:bodyPr>
          <a:lstStyle/>
          <a:p>
            <a:pPr algn="l" indent="0" marL="0">
              <a:lnSpc>
                <a:spcPct val="133000"/>
              </a:lnSpc>
              <a:buNone/>
            </a:pPr>
            <a:r>
              <a:rPr lang="en-US" sz="1050" dirty="0">
                <a:solidFill>
                  <a:srgbClr val="F4CAB8"/>
                </a:solidFill>
                <a:latin typeface="Montserrat Medium" pitchFamily="34" charset="0"/>
                <a:ea typeface="Montserrat Medium" pitchFamily="34" charset="-122"/>
                <a:cs typeface="Montserrat Medium" pitchFamily="34" charset="-120"/>
              </a:rPr>
              <a:t>Modules — Input, Circular Shift, Alphabetize, and Output — </a:t>
            </a:r>
            <a:pPr algn="l" indent="0" marL="0">
              <a:lnSpc>
                <a:spcPct val="133000"/>
              </a:lnSpc>
              <a:buNone/>
            </a:pPr>
            <a:r>
              <a:rPr lang="en-US" sz="1050" b="1" dirty="0">
                <a:solidFill>
                  <a:srgbClr val="F4CAB8"/>
                </a:solidFill>
                <a:latin typeface="Montserrat Bold" pitchFamily="34" charset="0"/>
                <a:ea typeface="Montserrat Bold" pitchFamily="34" charset="-122"/>
                <a:cs typeface="Montserrat Bold" pitchFamily="34" charset="-120"/>
              </a:rPr>
              <a:t>share a common data store directly</a:t>
            </a:r>
            <a:pPr algn="l" indent="0" marL="0">
              <a:lnSpc>
                <a:spcPct val="133000"/>
              </a:lnSpc>
              <a:buNone/>
            </a:pPr>
            <a:r>
              <a:rPr lang="en-US" sz="1050" dirty="0">
                <a:solidFill>
                  <a:srgbClr val="F4CAB8"/>
                </a:solidFill>
                <a:latin typeface="Montserrat Medium" pitchFamily="34" charset="0"/>
                <a:ea typeface="Montserrat Medium" pitchFamily="34" charset="-122"/>
                <a:cs typeface="Montserrat Medium" pitchFamily="34" charset="-120"/>
              </a:rPr>
              <a:t>, with no abstraction layer between them.</a:t>
            </a:r>
            <a:endParaRPr lang="en-US" sz="1050" dirty="0"/>
          </a:p>
        </p:txBody>
      </p:sp>
      <p:pic>
        <p:nvPicPr>
          <p:cNvPr id="5" name="Image 0" descr="preencoded.png">    </p:cNvPr>
          <p:cNvPicPr>
            <a:picLocks noChangeAspect="1"/>
          </p:cNvPicPr>
          <p:nvPr/>
        </p:nvPicPr>
        <p:blipFill>
          <a:blip r:embed="rId1"/>
          <a:stretch>
            <a:fillRect/>
          </a:stretch>
        </p:blipFill>
        <p:spPr>
          <a:xfrm>
            <a:off x="4534272" y="1293912"/>
            <a:ext cx="3071813" cy="2266950"/>
          </a:xfrm>
          <a:prstGeom prst="rect">
            <a:avLst/>
          </a:prstGeom>
        </p:spPr>
      </p:pic>
      <p:sp>
        <p:nvSpPr>
          <p:cNvPr id="6" name="Shape 3"/>
          <p:cNvSpPr/>
          <p:nvPr/>
        </p:nvSpPr>
        <p:spPr>
          <a:xfrm>
            <a:off x="468288" y="3861941"/>
            <a:ext cx="8207425" cy="784845"/>
          </a:xfrm>
          <a:prstGeom prst="roundRect">
            <a:avLst>
              <a:gd name="adj" fmla="val 2557"/>
            </a:avLst>
          </a:prstGeom>
          <a:solidFill>
            <a:srgbClr val="4D1529"/>
          </a:solidFill>
          <a:ln/>
        </p:spPr>
      </p:sp>
      <p:sp>
        <p:nvSpPr>
          <p:cNvPr id="7" name="Shape 4"/>
          <p:cNvSpPr/>
          <p:nvPr/>
        </p:nvSpPr>
        <p:spPr>
          <a:xfrm>
            <a:off x="468288" y="3861941"/>
            <a:ext cx="4103712" cy="784845"/>
          </a:xfrm>
          <a:prstGeom prst="rect">
            <a:avLst/>
          </a:prstGeom>
          <a:solidFill>
            <a:srgbClr val="4D1529"/>
          </a:solidFill>
          <a:ln/>
        </p:spPr>
      </p:sp>
      <p:sp>
        <p:nvSpPr>
          <p:cNvPr id="8" name="Text 5"/>
          <p:cNvSpPr/>
          <p:nvPr/>
        </p:nvSpPr>
        <p:spPr>
          <a:xfrm>
            <a:off x="602084" y="3995738"/>
            <a:ext cx="3836119" cy="223019"/>
          </a:xfrm>
          <a:prstGeom prst="rect">
            <a:avLst/>
          </a:prstGeom>
          <a:noFill/>
          <a:ln/>
        </p:spPr>
        <p:txBody>
          <a:bodyPr wrap="none" lIns="0" tIns="0" rIns="0" bIns="0" rtlCol="0" anchor="t"/>
          <a:lstStyle/>
          <a:p>
            <a:pPr algn="l" indent="0" marL="0">
              <a:lnSpc>
                <a:spcPct val="104000"/>
              </a:lnSpc>
              <a:buNone/>
            </a:pPr>
            <a:r>
              <a:rPr lang="en-US" sz="1400" b="1" dirty="0">
                <a:solidFill>
                  <a:srgbClr val="F4CAB8"/>
                </a:solidFill>
                <a:latin typeface="Brygada 1918 Bold" pitchFamily="34" charset="0"/>
                <a:ea typeface="Brygada 1918 Bold" pitchFamily="34" charset="-122"/>
                <a:cs typeface="Brygada 1918 Bold" pitchFamily="34" charset="-120"/>
              </a:rPr>
              <a:t>+ Performance</a:t>
            </a:r>
            <a:endParaRPr lang="en-US" sz="1400" dirty="0"/>
          </a:p>
        </p:txBody>
      </p:sp>
      <p:sp>
        <p:nvSpPr>
          <p:cNvPr id="9" name="Text 6"/>
          <p:cNvSpPr/>
          <p:nvPr/>
        </p:nvSpPr>
        <p:spPr>
          <a:xfrm>
            <a:off x="602084" y="4298975"/>
            <a:ext cx="3836119" cy="214015"/>
          </a:xfrm>
          <a:prstGeom prst="rect">
            <a:avLst/>
          </a:prstGeom>
          <a:noFill/>
          <a:ln/>
        </p:spPr>
        <p:txBody>
          <a:bodyPr wrap="none" lIns="0" tIns="0" rIns="0" bIns="0" rtlCol="0" anchor="t"/>
          <a:lstStyle/>
          <a:p>
            <a:pPr algn="l" indent="0" marL="0">
              <a:lnSpc>
                <a:spcPct val="133000"/>
              </a:lnSpc>
              <a:buNone/>
            </a:pPr>
            <a:r>
              <a:rPr lang="en-US" sz="1050" dirty="0">
                <a:solidFill>
                  <a:srgbClr val="F4CAB8"/>
                </a:solidFill>
                <a:latin typeface="Montserrat Medium" pitchFamily="34" charset="0"/>
                <a:ea typeface="Montserrat Medium" pitchFamily="34" charset="-122"/>
                <a:cs typeface="Montserrat Medium" pitchFamily="34" charset="-120"/>
              </a:rPr>
              <a:t>Fast access, no data copying overhead</a:t>
            </a:r>
            <a:endParaRPr lang="en-US" sz="1050" dirty="0"/>
          </a:p>
        </p:txBody>
      </p:sp>
      <p:sp>
        <p:nvSpPr>
          <p:cNvPr id="10" name="Shape 7"/>
          <p:cNvSpPr/>
          <p:nvPr/>
        </p:nvSpPr>
        <p:spPr>
          <a:xfrm>
            <a:off x="4572000" y="3861941"/>
            <a:ext cx="4103712" cy="784845"/>
          </a:xfrm>
          <a:prstGeom prst="rect">
            <a:avLst/>
          </a:prstGeom>
          <a:solidFill>
            <a:srgbClr val="4D1529"/>
          </a:solidFill>
          <a:ln/>
        </p:spPr>
      </p:sp>
      <p:sp>
        <p:nvSpPr>
          <p:cNvPr id="11" name="Shape 8"/>
          <p:cNvSpPr/>
          <p:nvPr/>
        </p:nvSpPr>
        <p:spPr>
          <a:xfrm>
            <a:off x="4572000" y="3861941"/>
            <a:ext cx="19050" cy="784845"/>
          </a:xfrm>
          <a:prstGeom prst="roundRect">
            <a:avLst>
              <a:gd name="adj" fmla="val 105366"/>
            </a:avLst>
          </a:prstGeom>
          <a:solidFill>
            <a:srgbClr val="662E42"/>
          </a:solidFill>
          <a:ln/>
        </p:spPr>
      </p:sp>
      <p:sp>
        <p:nvSpPr>
          <p:cNvPr id="12" name="Text 9"/>
          <p:cNvSpPr/>
          <p:nvPr/>
        </p:nvSpPr>
        <p:spPr>
          <a:xfrm>
            <a:off x="4705796" y="3995738"/>
            <a:ext cx="3836119" cy="223019"/>
          </a:xfrm>
          <a:prstGeom prst="rect">
            <a:avLst/>
          </a:prstGeom>
          <a:noFill/>
          <a:ln/>
        </p:spPr>
        <p:txBody>
          <a:bodyPr wrap="none" lIns="0" tIns="0" rIns="0" bIns="0" rtlCol="0" anchor="t"/>
          <a:lstStyle/>
          <a:p>
            <a:pPr algn="l" indent="0" marL="0">
              <a:lnSpc>
                <a:spcPct val="104000"/>
              </a:lnSpc>
              <a:buNone/>
            </a:pPr>
            <a:r>
              <a:rPr lang="en-US" sz="1400" b="1" dirty="0">
                <a:solidFill>
                  <a:srgbClr val="F4CAB8"/>
                </a:solidFill>
                <a:latin typeface="Brygada 1918 Bold" pitchFamily="34" charset="0"/>
                <a:ea typeface="Brygada 1918 Bold" pitchFamily="34" charset="-122"/>
                <a:cs typeface="Brygada 1918 Bold" pitchFamily="34" charset="-120"/>
              </a:rPr>
              <a:t>− Modifiability</a:t>
            </a:r>
            <a:endParaRPr lang="en-US" sz="1400" dirty="0"/>
          </a:p>
        </p:txBody>
      </p:sp>
      <p:sp>
        <p:nvSpPr>
          <p:cNvPr id="13" name="Text 10"/>
          <p:cNvSpPr/>
          <p:nvPr/>
        </p:nvSpPr>
        <p:spPr>
          <a:xfrm>
            <a:off x="4705796" y="4298975"/>
            <a:ext cx="3836119" cy="214015"/>
          </a:xfrm>
          <a:prstGeom prst="rect">
            <a:avLst/>
          </a:prstGeom>
          <a:noFill/>
          <a:ln/>
        </p:spPr>
        <p:txBody>
          <a:bodyPr wrap="none" lIns="0" tIns="0" rIns="0" bIns="0" rtlCol="0" anchor="t"/>
          <a:lstStyle/>
          <a:p>
            <a:pPr algn="l" indent="0" marL="0">
              <a:lnSpc>
                <a:spcPct val="133000"/>
              </a:lnSpc>
              <a:buNone/>
            </a:pPr>
            <a:r>
              <a:rPr lang="en-US" sz="1050" dirty="0">
                <a:solidFill>
                  <a:srgbClr val="F4CAB8"/>
                </a:solidFill>
                <a:latin typeface="Montserrat Medium" pitchFamily="34" charset="0"/>
                <a:ea typeface="Montserrat Medium" pitchFamily="34" charset="-122"/>
                <a:cs typeface="Montserrat Medium" pitchFamily="34" charset="-120"/>
              </a:rPr>
              <a:t>Changing data representation affects </a:t>
            </a:r>
            <a:pPr algn="l" indent="0" marL="0">
              <a:lnSpc>
                <a:spcPct val="133000"/>
              </a:lnSpc>
              <a:buNone/>
            </a:pPr>
            <a:r>
              <a:rPr lang="en-US" sz="1050" b="1" dirty="0">
                <a:solidFill>
                  <a:srgbClr val="F4CAB8"/>
                </a:solidFill>
                <a:latin typeface="Montserrat Bold" pitchFamily="34" charset="0"/>
                <a:ea typeface="Montserrat Bold" pitchFamily="34" charset="-122"/>
                <a:cs typeface="Montserrat Bold" pitchFamily="34" charset="-120"/>
              </a:rPr>
              <a:t>all</a:t>
            </a:r>
            <a:pPr algn="l" indent="0" marL="0">
              <a:lnSpc>
                <a:spcPct val="133000"/>
              </a:lnSpc>
              <a:buNone/>
            </a:pPr>
            <a:r>
              <a:rPr lang="en-US" sz="1050" dirty="0">
                <a:solidFill>
                  <a:srgbClr val="F4CAB8"/>
                </a:solidFill>
                <a:latin typeface="Montserrat Medium" pitchFamily="34" charset="0"/>
                <a:ea typeface="Montserrat Medium" pitchFamily="34" charset="-122"/>
                <a:cs typeface="Montserrat Medium" pitchFamily="34" charset="-120"/>
              </a:rPr>
              <a:t> modules</a:t>
            </a:r>
            <a:endParaRPr lang="en-US" sz="10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468288" y="387325"/>
            <a:ext cx="8207425" cy="445963"/>
          </a:xfrm>
          <a:prstGeom prst="rect">
            <a:avLst/>
          </a:prstGeom>
          <a:noFill/>
          <a:ln/>
        </p:spPr>
        <p:txBody>
          <a:bodyPr wrap="none" lIns="0" tIns="0" rIns="0" bIns="0" rtlCol="0" anchor="t"/>
          <a:lstStyle/>
          <a:p>
            <a:pPr algn="l" indent="0" marL="0">
              <a:lnSpc>
                <a:spcPct val="104000"/>
              </a:lnSpc>
              <a:buNone/>
            </a:pPr>
            <a:r>
              <a:rPr lang="en-US" sz="2800" b="1" dirty="0">
                <a:solidFill>
                  <a:srgbClr val="FFB393"/>
                </a:solidFill>
                <a:latin typeface="Brygada 1918 Bold" pitchFamily="34" charset="0"/>
                <a:ea typeface="Brygada 1918 Bold" pitchFamily="34" charset="-122"/>
                <a:cs typeface="Brygada 1918 Bold" pitchFamily="34" charset="-120"/>
              </a:rPr>
              <a:t>KWIC: Abstract Data Type (ADT) Architecture</a:t>
            </a:r>
            <a:endParaRPr lang="en-US" sz="2800" dirty="0"/>
          </a:p>
        </p:txBody>
      </p:sp>
      <p:pic>
        <p:nvPicPr>
          <p:cNvPr id="3" name="Image 0" descr="preencoded.png">    </p:cNvPr>
          <p:cNvPicPr>
            <a:picLocks noChangeAspect="1"/>
          </p:cNvPicPr>
          <p:nvPr/>
        </p:nvPicPr>
        <p:blipFill>
          <a:blip r:embed="rId1"/>
          <a:stretch>
            <a:fillRect/>
          </a:stretch>
        </p:blipFill>
        <p:spPr>
          <a:xfrm>
            <a:off x="1542678" y="1184523"/>
            <a:ext cx="3071813" cy="2271713"/>
          </a:xfrm>
          <a:prstGeom prst="rect">
            <a:avLst/>
          </a:prstGeom>
        </p:spPr>
      </p:pic>
      <p:sp>
        <p:nvSpPr>
          <p:cNvPr id="4" name="Text 1"/>
          <p:cNvSpPr/>
          <p:nvPr/>
        </p:nvSpPr>
        <p:spPr>
          <a:xfrm>
            <a:off x="6020023" y="1506587"/>
            <a:ext cx="2660452" cy="223019"/>
          </a:xfrm>
          <a:prstGeom prst="rect">
            <a:avLst/>
          </a:prstGeom>
          <a:noFill/>
          <a:ln/>
        </p:spPr>
        <p:txBody>
          <a:bodyPr wrap="none" lIns="0" tIns="0" rIns="0" bIns="0" rtlCol="0" anchor="t"/>
          <a:lstStyle/>
          <a:p>
            <a:pPr algn="l" indent="0" marL="0">
              <a:lnSpc>
                <a:spcPct val="104000"/>
              </a:lnSpc>
              <a:buNone/>
            </a:pPr>
            <a:r>
              <a:rPr lang="en-US" sz="1400" b="1" dirty="0">
                <a:solidFill>
                  <a:srgbClr val="FFB393"/>
                </a:solidFill>
                <a:latin typeface="Brygada 1918 Bold" pitchFamily="34" charset="0"/>
                <a:ea typeface="Brygada 1918 Bold" pitchFamily="34" charset="-122"/>
                <a:cs typeface="Brygada 1918 Bold" pitchFamily="34" charset="-120"/>
              </a:rPr>
              <a:t>How It Works</a:t>
            </a:r>
            <a:endParaRPr lang="en-US" sz="1400" dirty="0"/>
          </a:p>
        </p:txBody>
      </p:sp>
      <p:sp>
        <p:nvSpPr>
          <p:cNvPr id="5" name="Text 2"/>
          <p:cNvSpPr/>
          <p:nvPr/>
        </p:nvSpPr>
        <p:spPr>
          <a:xfrm>
            <a:off x="6020023" y="1863403"/>
            <a:ext cx="2660452" cy="1284089"/>
          </a:xfrm>
          <a:prstGeom prst="rect">
            <a:avLst/>
          </a:prstGeom>
          <a:noFill/>
          <a:ln/>
        </p:spPr>
        <p:txBody>
          <a:bodyPr wrap="square" lIns="0" tIns="0" rIns="0" bIns="0" rtlCol="0" anchor="t">
            <a:normAutofit/>
          </a:bodyPr>
          <a:lstStyle/>
          <a:p>
            <a:pPr algn="l" indent="0" marL="0">
              <a:lnSpc>
                <a:spcPct val="133000"/>
              </a:lnSpc>
              <a:buNone/>
            </a:pPr>
            <a:r>
              <a:rPr lang="en-US" sz="1050" dirty="0">
                <a:solidFill>
                  <a:srgbClr val="F4CAB8"/>
                </a:solidFill>
                <a:latin typeface="Montserrat Medium" pitchFamily="34" charset="0"/>
                <a:ea typeface="Montserrat Medium" pitchFamily="34" charset="-122"/>
                <a:cs typeface="Montserrat Medium" pitchFamily="34" charset="-120"/>
              </a:rPr>
              <a:t>Each data store — Characters, Circular Shift, Alphabetized Index — is </a:t>
            </a:r>
            <a:pPr algn="l" indent="0" marL="0">
              <a:lnSpc>
                <a:spcPct val="133000"/>
              </a:lnSpc>
              <a:buNone/>
            </a:pPr>
            <a:r>
              <a:rPr lang="en-US" sz="1050" b="1" dirty="0">
                <a:solidFill>
                  <a:srgbClr val="F4CAB8"/>
                </a:solidFill>
                <a:latin typeface="Montserrat Bold" pitchFamily="34" charset="0"/>
                <a:ea typeface="Montserrat Bold" pitchFamily="34" charset="-122"/>
                <a:cs typeface="Montserrat Bold" pitchFamily="34" charset="-120"/>
              </a:rPr>
              <a:t>encapsulated as an ADT</a:t>
            </a:r>
            <a:pPr algn="l" indent="0" marL="0">
              <a:lnSpc>
                <a:spcPct val="133000"/>
              </a:lnSpc>
              <a:buNone/>
            </a:pPr>
            <a:r>
              <a:rPr lang="en-US" sz="1050" dirty="0">
                <a:solidFill>
                  <a:srgbClr val="F4CAB8"/>
                </a:solidFill>
                <a:latin typeface="Montserrat Medium" pitchFamily="34" charset="0"/>
                <a:ea typeface="Montserrat Medium" pitchFamily="34" charset="-122"/>
                <a:cs typeface="Montserrat Medium" pitchFamily="34" charset="-120"/>
              </a:rPr>
              <a:t> with well-defined interfaces. Internal representation is hidden from consumers.</a:t>
            </a:r>
            <a:endParaRPr lang="en-US" sz="1050" dirty="0"/>
          </a:p>
        </p:txBody>
      </p:sp>
      <p:sp>
        <p:nvSpPr>
          <p:cNvPr id="6" name="Shape 3"/>
          <p:cNvSpPr/>
          <p:nvPr/>
        </p:nvSpPr>
        <p:spPr>
          <a:xfrm>
            <a:off x="468288" y="3757315"/>
            <a:ext cx="8207425" cy="998860"/>
          </a:xfrm>
          <a:prstGeom prst="roundRect">
            <a:avLst>
              <a:gd name="adj" fmla="val 2010"/>
            </a:avLst>
          </a:prstGeom>
          <a:solidFill>
            <a:srgbClr val="4D1529"/>
          </a:solidFill>
          <a:ln/>
        </p:spPr>
      </p:sp>
      <p:sp>
        <p:nvSpPr>
          <p:cNvPr id="7" name="Shape 4"/>
          <p:cNvSpPr/>
          <p:nvPr/>
        </p:nvSpPr>
        <p:spPr>
          <a:xfrm>
            <a:off x="468288" y="3757315"/>
            <a:ext cx="4103712" cy="998860"/>
          </a:xfrm>
          <a:prstGeom prst="rect">
            <a:avLst/>
          </a:prstGeom>
          <a:solidFill>
            <a:srgbClr val="4D1529"/>
          </a:solidFill>
          <a:ln/>
        </p:spPr>
      </p:sp>
      <p:sp>
        <p:nvSpPr>
          <p:cNvPr id="8" name="Text 5"/>
          <p:cNvSpPr/>
          <p:nvPr/>
        </p:nvSpPr>
        <p:spPr>
          <a:xfrm>
            <a:off x="602084" y="3891111"/>
            <a:ext cx="3836119" cy="223019"/>
          </a:xfrm>
          <a:prstGeom prst="rect">
            <a:avLst/>
          </a:prstGeom>
          <a:noFill/>
          <a:ln/>
        </p:spPr>
        <p:txBody>
          <a:bodyPr wrap="none" lIns="0" tIns="0" rIns="0" bIns="0" rtlCol="0" anchor="t"/>
          <a:lstStyle/>
          <a:p>
            <a:pPr algn="l" indent="0" marL="0">
              <a:lnSpc>
                <a:spcPct val="104000"/>
              </a:lnSpc>
              <a:buNone/>
            </a:pPr>
            <a:r>
              <a:rPr lang="en-US" sz="1400" b="1" dirty="0">
                <a:solidFill>
                  <a:srgbClr val="F4CAB8"/>
                </a:solidFill>
                <a:latin typeface="Brygada 1918 Bold" pitchFamily="34" charset="0"/>
                <a:ea typeface="Brygada 1918 Bold" pitchFamily="34" charset="-122"/>
                <a:cs typeface="Brygada 1918 Bold" pitchFamily="34" charset="-120"/>
              </a:rPr>
              <a:t>+ Modifiability</a:t>
            </a:r>
            <a:endParaRPr lang="en-US" sz="1400" dirty="0"/>
          </a:p>
        </p:txBody>
      </p:sp>
      <p:sp>
        <p:nvSpPr>
          <p:cNvPr id="9" name="Text 6"/>
          <p:cNvSpPr/>
          <p:nvPr/>
        </p:nvSpPr>
        <p:spPr>
          <a:xfrm>
            <a:off x="602084" y="4194349"/>
            <a:ext cx="3836119" cy="428030"/>
          </a:xfrm>
          <a:prstGeom prst="rect">
            <a:avLst/>
          </a:prstGeom>
          <a:noFill/>
          <a:ln/>
        </p:spPr>
        <p:txBody>
          <a:bodyPr wrap="square" lIns="0" tIns="0" rIns="0" bIns="0" rtlCol="0" anchor="t">
            <a:normAutofit/>
          </a:bodyPr>
          <a:lstStyle/>
          <a:p>
            <a:pPr algn="l" indent="0" marL="0">
              <a:lnSpc>
                <a:spcPct val="133000"/>
              </a:lnSpc>
              <a:buNone/>
            </a:pPr>
            <a:r>
              <a:rPr lang="en-US" sz="1050" dirty="0">
                <a:solidFill>
                  <a:srgbClr val="F4CAB8"/>
                </a:solidFill>
                <a:latin typeface="Montserrat Medium" pitchFamily="34" charset="0"/>
                <a:ea typeface="Montserrat Medium" pitchFamily="34" charset="-122"/>
                <a:cs typeface="Montserrat Medium" pitchFamily="34" charset="-120"/>
              </a:rPr>
              <a:t>Internal representation can change without affecting other modules</a:t>
            </a:r>
            <a:endParaRPr lang="en-US" sz="1050" dirty="0"/>
          </a:p>
        </p:txBody>
      </p:sp>
      <p:sp>
        <p:nvSpPr>
          <p:cNvPr id="10" name="Shape 7"/>
          <p:cNvSpPr/>
          <p:nvPr/>
        </p:nvSpPr>
        <p:spPr>
          <a:xfrm>
            <a:off x="4572000" y="3757315"/>
            <a:ext cx="4103712" cy="998860"/>
          </a:xfrm>
          <a:prstGeom prst="rect">
            <a:avLst/>
          </a:prstGeom>
          <a:solidFill>
            <a:srgbClr val="4D1529"/>
          </a:solidFill>
          <a:ln/>
        </p:spPr>
      </p:sp>
      <p:sp>
        <p:nvSpPr>
          <p:cNvPr id="11" name="Shape 8"/>
          <p:cNvSpPr/>
          <p:nvPr/>
        </p:nvSpPr>
        <p:spPr>
          <a:xfrm>
            <a:off x="4572000" y="3757315"/>
            <a:ext cx="19050" cy="998860"/>
          </a:xfrm>
          <a:prstGeom prst="roundRect">
            <a:avLst>
              <a:gd name="adj" fmla="val 105366"/>
            </a:avLst>
          </a:prstGeom>
          <a:solidFill>
            <a:srgbClr val="662E42"/>
          </a:solidFill>
          <a:ln/>
        </p:spPr>
      </p:sp>
      <p:sp>
        <p:nvSpPr>
          <p:cNvPr id="12" name="Text 9"/>
          <p:cNvSpPr/>
          <p:nvPr/>
        </p:nvSpPr>
        <p:spPr>
          <a:xfrm>
            <a:off x="4705796" y="3891111"/>
            <a:ext cx="3836119" cy="223019"/>
          </a:xfrm>
          <a:prstGeom prst="rect">
            <a:avLst/>
          </a:prstGeom>
          <a:noFill/>
          <a:ln/>
        </p:spPr>
        <p:txBody>
          <a:bodyPr wrap="none" lIns="0" tIns="0" rIns="0" bIns="0" rtlCol="0" anchor="t"/>
          <a:lstStyle/>
          <a:p>
            <a:pPr algn="l" indent="0" marL="0">
              <a:lnSpc>
                <a:spcPct val="104000"/>
              </a:lnSpc>
              <a:buNone/>
            </a:pPr>
            <a:r>
              <a:rPr lang="en-US" sz="1400" b="1" dirty="0">
                <a:solidFill>
                  <a:srgbClr val="F4CAB8"/>
                </a:solidFill>
                <a:latin typeface="Brygada 1918 Bold" pitchFamily="34" charset="0"/>
                <a:ea typeface="Brygada 1918 Bold" pitchFamily="34" charset="-122"/>
                <a:cs typeface="Brygada 1918 Bold" pitchFamily="34" charset="-120"/>
              </a:rPr>
              <a:t>− Performance</a:t>
            </a:r>
            <a:endParaRPr lang="en-US" sz="1400" dirty="0"/>
          </a:p>
        </p:txBody>
      </p:sp>
      <p:sp>
        <p:nvSpPr>
          <p:cNvPr id="13" name="Text 10"/>
          <p:cNvSpPr/>
          <p:nvPr/>
        </p:nvSpPr>
        <p:spPr>
          <a:xfrm>
            <a:off x="4705796" y="4194349"/>
            <a:ext cx="3836119" cy="214015"/>
          </a:xfrm>
          <a:prstGeom prst="rect">
            <a:avLst/>
          </a:prstGeom>
          <a:noFill/>
          <a:ln/>
        </p:spPr>
        <p:txBody>
          <a:bodyPr wrap="none" lIns="0" tIns="0" rIns="0" bIns="0" rtlCol="0" anchor="t"/>
          <a:lstStyle/>
          <a:p>
            <a:pPr algn="l" indent="0" marL="0">
              <a:lnSpc>
                <a:spcPct val="133000"/>
              </a:lnSpc>
              <a:buNone/>
            </a:pPr>
            <a:r>
              <a:rPr lang="en-US" sz="1050" dirty="0">
                <a:solidFill>
                  <a:srgbClr val="F4CAB8"/>
                </a:solidFill>
                <a:latin typeface="Montserrat Medium" pitchFamily="34" charset="0"/>
                <a:ea typeface="Montserrat Medium" pitchFamily="34" charset="-122"/>
                <a:cs typeface="Montserrat Medium" pitchFamily="34" charset="-120"/>
              </a:rPr>
              <a:t>Overhead in speed and space due to abstraction layers</a:t>
            </a:r>
            <a:endParaRPr lang="en-US" sz="10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468288" y="389706"/>
            <a:ext cx="8207425" cy="445963"/>
          </a:xfrm>
          <a:prstGeom prst="rect">
            <a:avLst/>
          </a:prstGeom>
          <a:noFill/>
          <a:ln/>
        </p:spPr>
        <p:txBody>
          <a:bodyPr wrap="none" lIns="0" tIns="0" rIns="0" bIns="0" rtlCol="0" anchor="t"/>
          <a:lstStyle/>
          <a:p>
            <a:pPr algn="l" indent="0" marL="0">
              <a:lnSpc>
                <a:spcPct val="104000"/>
              </a:lnSpc>
              <a:buNone/>
            </a:pPr>
            <a:r>
              <a:rPr lang="en-US" sz="2800" b="1" dirty="0">
                <a:solidFill>
                  <a:srgbClr val="FFB393"/>
                </a:solidFill>
                <a:latin typeface="Brygada 1918 Bold" pitchFamily="34" charset="0"/>
                <a:ea typeface="Brygada 1918 Bold" pitchFamily="34" charset="-122"/>
                <a:cs typeface="Brygada 1918 Bold" pitchFamily="34" charset="-120"/>
              </a:rPr>
              <a:t>KWIC: Implicit Invocation Architecture</a:t>
            </a:r>
            <a:endParaRPr lang="en-US" sz="2800" dirty="0"/>
          </a:p>
        </p:txBody>
      </p:sp>
      <p:sp>
        <p:nvSpPr>
          <p:cNvPr id="3" name="Text 1"/>
          <p:cNvSpPr/>
          <p:nvPr/>
        </p:nvSpPr>
        <p:spPr>
          <a:xfrm>
            <a:off x="468288" y="1720602"/>
            <a:ext cx="2660452" cy="223019"/>
          </a:xfrm>
          <a:prstGeom prst="rect">
            <a:avLst/>
          </a:prstGeom>
          <a:noFill/>
          <a:ln/>
        </p:spPr>
        <p:txBody>
          <a:bodyPr wrap="none" lIns="0" tIns="0" rIns="0" bIns="0" rtlCol="0" anchor="t"/>
          <a:lstStyle/>
          <a:p>
            <a:pPr algn="l" indent="0" marL="0">
              <a:lnSpc>
                <a:spcPct val="104000"/>
              </a:lnSpc>
              <a:buNone/>
            </a:pPr>
            <a:r>
              <a:rPr lang="en-US" sz="1400" b="1" dirty="0">
                <a:solidFill>
                  <a:srgbClr val="FFB393"/>
                </a:solidFill>
                <a:latin typeface="Brygada 1918 Bold" pitchFamily="34" charset="0"/>
                <a:ea typeface="Brygada 1918 Bold" pitchFamily="34" charset="-122"/>
                <a:cs typeface="Brygada 1918 Bold" pitchFamily="34" charset="-120"/>
              </a:rPr>
              <a:t>How It Works</a:t>
            </a:r>
            <a:endParaRPr lang="en-US" sz="1400" dirty="0"/>
          </a:p>
        </p:txBody>
      </p:sp>
      <p:sp>
        <p:nvSpPr>
          <p:cNvPr id="4" name="Text 2"/>
          <p:cNvSpPr/>
          <p:nvPr/>
        </p:nvSpPr>
        <p:spPr>
          <a:xfrm>
            <a:off x="468288" y="2077417"/>
            <a:ext cx="2660452" cy="856059"/>
          </a:xfrm>
          <a:prstGeom prst="rect">
            <a:avLst/>
          </a:prstGeom>
          <a:noFill/>
          <a:ln/>
        </p:spPr>
        <p:txBody>
          <a:bodyPr wrap="square" lIns="0" tIns="0" rIns="0" bIns="0" rtlCol="0" anchor="t">
            <a:normAutofit/>
          </a:bodyPr>
          <a:lstStyle/>
          <a:p>
            <a:pPr algn="l" indent="0" marL="0">
              <a:lnSpc>
                <a:spcPct val="133000"/>
              </a:lnSpc>
              <a:buNone/>
            </a:pPr>
            <a:r>
              <a:rPr lang="en-US" sz="1050" dirty="0">
                <a:solidFill>
                  <a:srgbClr val="F4CAB8"/>
                </a:solidFill>
                <a:latin typeface="Montserrat Medium" pitchFamily="34" charset="0"/>
                <a:ea typeface="Montserrat Medium" pitchFamily="34" charset="-122"/>
                <a:cs typeface="Montserrat Medium" pitchFamily="34" charset="-120"/>
              </a:rPr>
              <a:t>Modules </a:t>
            </a:r>
            <a:pPr algn="l" indent="0" marL="0">
              <a:lnSpc>
                <a:spcPct val="133000"/>
              </a:lnSpc>
              <a:buNone/>
            </a:pPr>
            <a:r>
              <a:rPr lang="en-US" sz="1050" b="1" dirty="0">
                <a:solidFill>
                  <a:srgbClr val="F4CAB8"/>
                </a:solidFill>
                <a:latin typeface="Montserrat Bold" pitchFamily="34" charset="0"/>
                <a:ea typeface="Montserrat Bold" pitchFamily="34" charset="-122"/>
                <a:cs typeface="Montserrat Bold" pitchFamily="34" charset="-120"/>
              </a:rPr>
              <a:t>register interest in events</a:t>
            </a:r>
            <a:pPr algn="l" indent="0" marL="0">
              <a:lnSpc>
                <a:spcPct val="133000"/>
              </a:lnSpc>
              <a:buNone/>
            </a:pPr>
            <a:r>
              <a:rPr lang="en-US" sz="1050" dirty="0">
                <a:solidFill>
                  <a:srgbClr val="F4CAB8"/>
                </a:solidFill>
                <a:latin typeface="Montserrat Medium" pitchFamily="34" charset="0"/>
                <a:ea typeface="Montserrat Medium" pitchFamily="34" charset="-122"/>
                <a:cs typeface="Montserrat Medium" pitchFamily="34" charset="-120"/>
              </a:rPr>
              <a:t>. Circular Shift and Alphabetize are triggered automatically when data changes — no explicit call needed.</a:t>
            </a:r>
            <a:endParaRPr lang="en-US" sz="1050" dirty="0"/>
          </a:p>
        </p:txBody>
      </p:sp>
      <p:pic>
        <p:nvPicPr>
          <p:cNvPr id="5" name="Image 0" descr="preencoded.png">    </p:cNvPr>
          <p:cNvPicPr>
            <a:picLocks noChangeAspect="1"/>
          </p:cNvPicPr>
          <p:nvPr/>
        </p:nvPicPr>
        <p:blipFill>
          <a:blip r:embed="rId1"/>
          <a:stretch>
            <a:fillRect/>
          </a:stretch>
        </p:blipFill>
        <p:spPr>
          <a:xfrm>
            <a:off x="4534272" y="1186904"/>
            <a:ext cx="3071813" cy="2266950"/>
          </a:xfrm>
          <a:prstGeom prst="rect">
            <a:avLst/>
          </a:prstGeom>
        </p:spPr>
      </p:pic>
      <p:sp>
        <p:nvSpPr>
          <p:cNvPr id="6" name="Shape 3"/>
          <p:cNvSpPr/>
          <p:nvPr/>
        </p:nvSpPr>
        <p:spPr>
          <a:xfrm>
            <a:off x="468288" y="3754934"/>
            <a:ext cx="8207425" cy="998860"/>
          </a:xfrm>
          <a:prstGeom prst="roundRect">
            <a:avLst>
              <a:gd name="adj" fmla="val 2010"/>
            </a:avLst>
          </a:prstGeom>
          <a:solidFill>
            <a:srgbClr val="4D1529"/>
          </a:solidFill>
          <a:ln/>
        </p:spPr>
      </p:sp>
      <p:sp>
        <p:nvSpPr>
          <p:cNvPr id="7" name="Shape 4"/>
          <p:cNvSpPr/>
          <p:nvPr/>
        </p:nvSpPr>
        <p:spPr>
          <a:xfrm>
            <a:off x="468288" y="3754934"/>
            <a:ext cx="4103712" cy="998860"/>
          </a:xfrm>
          <a:prstGeom prst="rect">
            <a:avLst/>
          </a:prstGeom>
          <a:solidFill>
            <a:srgbClr val="4D1529"/>
          </a:solidFill>
          <a:ln/>
        </p:spPr>
      </p:sp>
      <p:sp>
        <p:nvSpPr>
          <p:cNvPr id="8" name="Text 5"/>
          <p:cNvSpPr/>
          <p:nvPr/>
        </p:nvSpPr>
        <p:spPr>
          <a:xfrm>
            <a:off x="602084" y="3888730"/>
            <a:ext cx="3836119" cy="223019"/>
          </a:xfrm>
          <a:prstGeom prst="rect">
            <a:avLst/>
          </a:prstGeom>
          <a:noFill/>
          <a:ln/>
        </p:spPr>
        <p:txBody>
          <a:bodyPr wrap="none" lIns="0" tIns="0" rIns="0" bIns="0" rtlCol="0" anchor="t"/>
          <a:lstStyle/>
          <a:p>
            <a:pPr algn="l" indent="0" marL="0">
              <a:lnSpc>
                <a:spcPct val="104000"/>
              </a:lnSpc>
              <a:buNone/>
            </a:pPr>
            <a:r>
              <a:rPr lang="en-US" sz="1400" b="1" dirty="0">
                <a:solidFill>
                  <a:srgbClr val="F4CAB8"/>
                </a:solidFill>
                <a:latin typeface="Brygada 1918 Bold" pitchFamily="34" charset="0"/>
                <a:ea typeface="Brygada 1918 Bold" pitchFamily="34" charset="-122"/>
                <a:cs typeface="Brygada 1918 Bold" pitchFamily="34" charset="-120"/>
              </a:rPr>
              <a:t>+ Extensibility</a:t>
            </a:r>
            <a:endParaRPr lang="en-US" sz="1400" dirty="0"/>
          </a:p>
        </p:txBody>
      </p:sp>
      <p:sp>
        <p:nvSpPr>
          <p:cNvPr id="9" name="Text 6"/>
          <p:cNvSpPr/>
          <p:nvPr/>
        </p:nvSpPr>
        <p:spPr>
          <a:xfrm>
            <a:off x="602084" y="4191967"/>
            <a:ext cx="3836119" cy="428030"/>
          </a:xfrm>
          <a:prstGeom prst="rect">
            <a:avLst/>
          </a:prstGeom>
          <a:noFill/>
          <a:ln/>
        </p:spPr>
        <p:txBody>
          <a:bodyPr wrap="square" lIns="0" tIns="0" rIns="0" bIns="0" rtlCol="0" anchor="t">
            <a:normAutofit/>
          </a:bodyPr>
          <a:lstStyle/>
          <a:p>
            <a:pPr algn="l" indent="0" marL="0">
              <a:lnSpc>
                <a:spcPct val="133000"/>
              </a:lnSpc>
              <a:buNone/>
            </a:pPr>
            <a:r>
              <a:rPr lang="en-US" sz="1050" dirty="0">
                <a:solidFill>
                  <a:srgbClr val="F4CAB8"/>
                </a:solidFill>
                <a:latin typeface="Montserrat Medium" pitchFamily="34" charset="0"/>
                <a:ea typeface="Montserrat Medium" pitchFamily="34" charset="-122"/>
                <a:cs typeface="Montserrat Medium" pitchFamily="34" charset="-120"/>
              </a:rPr>
              <a:t>New modules can be added without modifying existing ones</a:t>
            </a:r>
            <a:endParaRPr lang="en-US" sz="1050" dirty="0"/>
          </a:p>
        </p:txBody>
      </p:sp>
      <p:sp>
        <p:nvSpPr>
          <p:cNvPr id="10" name="Shape 7"/>
          <p:cNvSpPr/>
          <p:nvPr/>
        </p:nvSpPr>
        <p:spPr>
          <a:xfrm>
            <a:off x="4572000" y="3754934"/>
            <a:ext cx="4103712" cy="998860"/>
          </a:xfrm>
          <a:prstGeom prst="rect">
            <a:avLst/>
          </a:prstGeom>
          <a:solidFill>
            <a:srgbClr val="4D1529"/>
          </a:solidFill>
          <a:ln/>
        </p:spPr>
      </p:sp>
      <p:sp>
        <p:nvSpPr>
          <p:cNvPr id="11" name="Shape 8"/>
          <p:cNvSpPr/>
          <p:nvPr/>
        </p:nvSpPr>
        <p:spPr>
          <a:xfrm>
            <a:off x="4572000" y="3754934"/>
            <a:ext cx="19050" cy="998860"/>
          </a:xfrm>
          <a:prstGeom prst="roundRect">
            <a:avLst>
              <a:gd name="adj" fmla="val 105366"/>
            </a:avLst>
          </a:prstGeom>
          <a:solidFill>
            <a:srgbClr val="662E42"/>
          </a:solidFill>
          <a:ln/>
        </p:spPr>
      </p:sp>
      <p:sp>
        <p:nvSpPr>
          <p:cNvPr id="12" name="Text 9"/>
          <p:cNvSpPr/>
          <p:nvPr/>
        </p:nvSpPr>
        <p:spPr>
          <a:xfrm>
            <a:off x="4705796" y="3888730"/>
            <a:ext cx="3836119" cy="223019"/>
          </a:xfrm>
          <a:prstGeom prst="rect">
            <a:avLst/>
          </a:prstGeom>
          <a:noFill/>
          <a:ln/>
        </p:spPr>
        <p:txBody>
          <a:bodyPr wrap="none" lIns="0" tIns="0" rIns="0" bIns="0" rtlCol="0" anchor="t"/>
          <a:lstStyle/>
          <a:p>
            <a:pPr algn="l" indent="0" marL="0">
              <a:lnSpc>
                <a:spcPct val="104000"/>
              </a:lnSpc>
              <a:buNone/>
            </a:pPr>
            <a:r>
              <a:rPr lang="en-US" sz="1400" b="1" dirty="0">
                <a:solidFill>
                  <a:srgbClr val="F4CAB8"/>
                </a:solidFill>
                <a:latin typeface="Brygada 1918 Bold" pitchFamily="34" charset="0"/>
                <a:ea typeface="Brygada 1918 Bold" pitchFamily="34" charset="-122"/>
                <a:cs typeface="Brygada 1918 Bold" pitchFamily="34" charset="-120"/>
              </a:rPr>
              <a:t>− Control</a:t>
            </a:r>
            <a:endParaRPr lang="en-US" sz="1400" dirty="0"/>
          </a:p>
        </p:txBody>
      </p:sp>
      <p:sp>
        <p:nvSpPr>
          <p:cNvPr id="13" name="Text 10"/>
          <p:cNvSpPr/>
          <p:nvPr/>
        </p:nvSpPr>
        <p:spPr>
          <a:xfrm>
            <a:off x="4705796" y="4191967"/>
            <a:ext cx="3836119" cy="428030"/>
          </a:xfrm>
          <a:prstGeom prst="rect">
            <a:avLst/>
          </a:prstGeom>
          <a:noFill/>
          <a:ln/>
        </p:spPr>
        <p:txBody>
          <a:bodyPr wrap="square" lIns="0" tIns="0" rIns="0" bIns="0" rtlCol="0" anchor="t">
            <a:normAutofit/>
          </a:bodyPr>
          <a:lstStyle/>
          <a:p>
            <a:pPr algn="l" indent="0" marL="0">
              <a:lnSpc>
                <a:spcPct val="133000"/>
              </a:lnSpc>
              <a:buNone/>
            </a:pPr>
            <a:r>
              <a:rPr lang="en-US" sz="1050" dirty="0">
                <a:solidFill>
                  <a:srgbClr val="F4CAB8"/>
                </a:solidFill>
                <a:latin typeface="Montserrat Medium" pitchFamily="34" charset="0"/>
                <a:ea typeface="Montserrat Medium" pitchFamily="34" charset="-122"/>
                <a:cs typeface="Montserrat Medium" pitchFamily="34" charset="-120"/>
              </a:rPr>
              <a:t>Operation ordering is harder to reason about; higher space cost</a:t>
            </a:r>
            <a:endParaRPr lang="en-US" sz="10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468288" y="387325"/>
            <a:ext cx="8207425" cy="445963"/>
          </a:xfrm>
          <a:prstGeom prst="rect">
            <a:avLst/>
          </a:prstGeom>
          <a:noFill/>
          <a:ln/>
        </p:spPr>
        <p:txBody>
          <a:bodyPr wrap="none" lIns="0" tIns="0" rIns="0" bIns="0" rtlCol="0" anchor="t"/>
          <a:lstStyle/>
          <a:p>
            <a:pPr algn="l" indent="0" marL="0">
              <a:lnSpc>
                <a:spcPct val="104000"/>
              </a:lnSpc>
              <a:buNone/>
            </a:pPr>
            <a:r>
              <a:rPr lang="en-US" sz="2800" b="1" dirty="0">
                <a:solidFill>
                  <a:srgbClr val="FFB393"/>
                </a:solidFill>
                <a:latin typeface="Brygada 1918 Bold" pitchFamily="34" charset="0"/>
                <a:ea typeface="Brygada 1918 Bold" pitchFamily="34" charset="-122"/>
                <a:cs typeface="Brygada 1918 Bold" pitchFamily="34" charset="-120"/>
              </a:rPr>
              <a:t>KWIC: Pipe-and-Filter Architecture</a:t>
            </a:r>
            <a:endParaRPr lang="en-US" sz="2800" dirty="0"/>
          </a:p>
        </p:txBody>
      </p:sp>
      <p:pic>
        <p:nvPicPr>
          <p:cNvPr id="3" name="Image 0" descr="preencoded.png">    </p:cNvPr>
          <p:cNvPicPr>
            <a:picLocks noChangeAspect="1"/>
          </p:cNvPicPr>
          <p:nvPr/>
        </p:nvPicPr>
        <p:blipFill>
          <a:blip r:embed="rId1"/>
          <a:stretch>
            <a:fillRect/>
          </a:stretch>
        </p:blipFill>
        <p:spPr>
          <a:xfrm>
            <a:off x="1542678" y="1184523"/>
            <a:ext cx="3071813" cy="2271713"/>
          </a:xfrm>
          <a:prstGeom prst="rect">
            <a:avLst/>
          </a:prstGeom>
        </p:spPr>
      </p:pic>
      <p:sp>
        <p:nvSpPr>
          <p:cNvPr id="4" name="Text 1"/>
          <p:cNvSpPr/>
          <p:nvPr/>
        </p:nvSpPr>
        <p:spPr>
          <a:xfrm>
            <a:off x="6020023" y="1720602"/>
            <a:ext cx="2660452" cy="223019"/>
          </a:xfrm>
          <a:prstGeom prst="rect">
            <a:avLst/>
          </a:prstGeom>
          <a:noFill/>
          <a:ln/>
        </p:spPr>
        <p:txBody>
          <a:bodyPr wrap="none" lIns="0" tIns="0" rIns="0" bIns="0" rtlCol="0" anchor="t"/>
          <a:lstStyle/>
          <a:p>
            <a:pPr algn="l" indent="0" marL="0">
              <a:lnSpc>
                <a:spcPct val="104000"/>
              </a:lnSpc>
              <a:buNone/>
            </a:pPr>
            <a:r>
              <a:rPr lang="en-US" sz="1400" b="1" dirty="0">
                <a:solidFill>
                  <a:srgbClr val="FFB393"/>
                </a:solidFill>
                <a:latin typeface="Brygada 1918 Bold" pitchFamily="34" charset="0"/>
                <a:ea typeface="Brygada 1918 Bold" pitchFamily="34" charset="-122"/>
                <a:cs typeface="Brygada 1918 Bold" pitchFamily="34" charset="-120"/>
              </a:rPr>
              <a:t>How It Works</a:t>
            </a:r>
            <a:endParaRPr lang="en-US" sz="1400" dirty="0"/>
          </a:p>
        </p:txBody>
      </p:sp>
      <p:sp>
        <p:nvSpPr>
          <p:cNvPr id="5" name="Text 2"/>
          <p:cNvSpPr/>
          <p:nvPr/>
        </p:nvSpPr>
        <p:spPr>
          <a:xfrm>
            <a:off x="6020023" y="2077417"/>
            <a:ext cx="2660452" cy="856059"/>
          </a:xfrm>
          <a:prstGeom prst="rect">
            <a:avLst/>
          </a:prstGeom>
          <a:noFill/>
          <a:ln/>
        </p:spPr>
        <p:txBody>
          <a:bodyPr wrap="square" lIns="0" tIns="0" rIns="0" bIns="0" rtlCol="0" anchor="t">
            <a:normAutofit/>
          </a:bodyPr>
          <a:lstStyle/>
          <a:p>
            <a:pPr algn="l" indent="0" marL="0">
              <a:lnSpc>
                <a:spcPct val="133000"/>
              </a:lnSpc>
              <a:buNone/>
            </a:pPr>
            <a:r>
              <a:rPr lang="en-US" sz="1050" dirty="0">
                <a:solidFill>
                  <a:srgbClr val="F4CAB8"/>
                </a:solidFill>
                <a:latin typeface="Montserrat Medium" pitchFamily="34" charset="0"/>
                <a:ea typeface="Montserrat Medium" pitchFamily="34" charset="-122"/>
                <a:cs typeface="Montserrat Medium" pitchFamily="34" charset="-120"/>
              </a:rPr>
              <a:t>Data flows through a sequential pipeline: </a:t>
            </a:r>
            <a:pPr algn="l" indent="0" marL="0">
              <a:lnSpc>
                <a:spcPct val="133000"/>
              </a:lnSpc>
              <a:buNone/>
            </a:pPr>
            <a:r>
              <a:rPr lang="en-US" sz="1050" b="1" dirty="0">
                <a:solidFill>
                  <a:srgbClr val="F4CAB8"/>
                </a:solidFill>
                <a:latin typeface="Montserrat Bold" pitchFamily="34" charset="0"/>
                <a:ea typeface="Montserrat Bold" pitchFamily="34" charset="-122"/>
                <a:cs typeface="Montserrat Bold" pitchFamily="34" charset="-120"/>
              </a:rPr>
              <a:t>Input → Circular Shift → Alphabetizer → Output</a:t>
            </a:r>
            <a:pPr algn="l" indent="0" marL="0">
              <a:lnSpc>
                <a:spcPct val="133000"/>
              </a:lnSpc>
              <a:buNone/>
            </a:pPr>
            <a:r>
              <a:rPr lang="en-US" sz="1050" dirty="0">
                <a:solidFill>
                  <a:srgbClr val="F4CAB8"/>
                </a:solidFill>
                <a:latin typeface="Montserrat Medium" pitchFamily="34" charset="0"/>
                <a:ea typeface="Montserrat Medium" pitchFamily="34" charset="-122"/>
                <a:cs typeface="Montserrat Medium" pitchFamily="34" charset="-120"/>
              </a:rPr>
              <a:t>. Each filter is fully independent and composable.</a:t>
            </a:r>
            <a:endParaRPr lang="en-US" sz="1050" dirty="0"/>
          </a:p>
        </p:txBody>
      </p:sp>
      <p:sp>
        <p:nvSpPr>
          <p:cNvPr id="6" name="Shape 3"/>
          <p:cNvSpPr/>
          <p:nvPr/>
        </p:nvSpPr>
        <p:spPr>
          <a:xfrm>
            <a:off x="468288" y="3757315"/>
            <a:ext cx="8207425" cy="998860"/>
          </a:xfrm>
          <a:prstGeom prst="roundRect">
            <a:avLst>
              <a:gd name="adj" fmla="val 2010"/>
            </a:avLst>
          </a:prstGeom>
          <a:solidFill>
            <a:srgbClr val="4D1529"/>
          </a:solidFill>
          <a:ln/>
        </p:spPr>
      </p:sp>
      <p:sp>
        <p:nvSpPr>
          <p:cNvPr id="7" name="Shape 4"/>
          <p:cNvSpPr/>
          <p:nvPr/>
        </p:nvSpPr>
        <p:spPr>
          <a:xfrm>
            <a:off x="468288" y="3757315"/>
            <a:ext cx="4103712" cy="998860"/>
          </a:xfrm>
          <a:prstGeom prst="rect">
            <a:avLst/>
          </a:prstGeom>
          <a:solidFill>
            <a:srgbClr val="4D1529"/>
          </a:solidFill>
          <a:ln/>
        </p:spPr>
      </p:sp>
      <p:sp>
        <p:nvSpPr>
          <p:cNvPr id="8" name="Text 5"/>
          <p:cNvSpPr/>
          <p:nvPr/>
        </p:nvSpPr>
        <p:spPr>
          <a:xfrm>
            <a:off x="602084" y="3891111"/>
            <a:ext cx="3836119" cy="223019"/>
          </a:xfrm>
          <a:prstGeom prst="rect">
            <a:avLst/>
          </a:prstGeom>
          <a:noFill/>
          <a:ln/>
        </p:spPr>
        <p:txBody>
          <a:bodyPr wrap="none" lIns="0" tIns="0" rIns="0" bIns="0" rtlCol="0" anchor="t"/>
          <a:lstStyle/>
          <a:p>
            <a:pPr algn="l" indent="0" marL="0">
              <a:lnSpc>
                <a:spcPct val="104000"/>
              </a:lnSpc>
              <a:buNone/>
            </a:pPr>
            <a:r>
              <a:rPr lang="en-US" sz="1400" b="1" dirty="0">
                <a:solidFill>
                  <a:srgbClr val="F4CAB8"/>
                </a:solidFill>
                <a:latin typeface="Brygada 1918 Bold" pitchFamily="34" charset="0"/>
                <a:ea typeface="Brygada 1918 Bold" pitchFamily="34" charset="-122"/>
                <a:cs typeface="Brygada 1918 Bold" pitchFamily="34" charset="-120"/>
              </a:rPr>
              <a:t>+ Intuitive &amp; Reusable</a:t>
            </a:r>
            <a:endParaRPr lang="en-US" sz="1400" dirty="0"/>
          </a:p>
        </p:txBody>
      </p:sp>
      <p:sp>
        <p:nvSpPr>
          <p:cNvPr id="9" name="Text 6"/>
          <p:cNvSpPr/>
          <p:nvPr/>
        </p:nvSpPr>
        <p:spPr>
          <a:xfrm>
            <a:off x="602084" y="4194349"/>
            <a:ext cx="3836119" cy="214015"/>
          </a:xfrm>
          <a:prstGeom prst="rect">
            <a:avLst/>
          </a:prstGeom>
          <a:noFill/>
          <a:ln/>
        </p:spPr>
        <p:txBody>
          <a:bodyPr wrap="none" lIns="0" tIns="0" rIns="0" bIns="0" rtlCol="0" anchor="t"/>
          <a:lstStyle/>
          <a:p>
            <a:pPr algn="l" indent="0" marL="0">
              <a:lnSpc>
                <a:spcPct val="133000"/>
              </a:lnSpc>
              <a:buNone/>
            </a:pPr>
            <a:r>
              <a:rPr lang="en-US" sz="1050" dirty="0">
                <a:solidFill>
                  <a:srgbClr val="F4CAB8"/>
                </a:solidFill>
                <a:latin typeface="Montserrat Medium" pitchFamily="34" charset="0"/>
                <a:ea typeface="Montserrat Medium" pitchFamily="34" charset="-122"/>
                <a:cs typeface="Montserrat Medium" pitchFamily="34" charset="-120"/>
              </a:rPr>
              <a:t>Each filter is independent and easily composed</a:t>
            </a:r>
            <a:endParaRPr lang="en-US" sz="1050" dirty="0"/>
          </a:p>
        </p:txBody>
      </p:sp>
      <p:sp>
        <p:nvSpPr>
          <p:cNvPr id="10" name="Shape 7"/>
          <p:cNvSpPr/>
          <p:nvPr/>
        </p:nvSpPr>
        <p:spPr>
          <a:xfrm>
            <a:off x="4572000" y="3757315"/>
            <a:ext cx="4103712" cy="998860"/>
          </a:xfrm>
          <a:prstGeom prst="rect">
            <a:avLst/>
          </a:prstGeom>
          <a:solidFill>
            <a:srgbClr val="4D1529"/>
          </a:solidFill>
          <a:ln/>
        </p:spPr>
      </p:sp>
      <p:sp>
        <p:nvSpPr>
          <p:cNvPr id="11" name="Shape 8"/>
          <p:cNvSpPr/>
          <p:nvPr/>
        </p:nvSpPr>
        <p:spPr>
          <a:xfrm>
            <a:off x="4572000" y="3757315"/>
            <a:ext cx="19050" cy="998860"/>
          </a:xfrm>
          <a:prstGeom prst="roundRect">
            <a:avLst>
              <a:gd name="adj" fmla="val 105366"/>
            </a:avLst>
          </a:prstGeom>
          <a:solidFill>
            <a:srgbClr val="662E42"/>
          </a:solidFill>
          <a:ln/>
        </p:spPr>
      </p:sp>
      <p:sp>
        <p:nvSpPr>
          <p:cNvPr id="12" name="Text 9"/>
          <p:cNvSpPr/>
          <p:nvPr/>
        </p:nvSpPr>
        <p:spPr>
          <a:xfrm>
            <a:off x="4705796" y="3891111"/>
            <a:ext cx="3836119" cy="223019"/>
          </a:xfrm>
          <a:prstGeom prst="rect">
            <a:avLst/>
          </a:prstGeom>
          <a:noFill/>
          <a:ln/>
        </p:spPr>
        <p:txBody>
          <a:bodyPr wrap="none" lIns="0" tIns="0" rIns="0" bIns="0" rtlCol="0" anchor="t"/>
          <a:lstStyle/>
          <a:p>
            <a:pPr algn="l" indent="0" marL="0">
              <a:lnSpc>
                <a:spcPct val="104000"/>
              </a:lnSpc>
              <a:buNone/>
            </a:pPr>
            <a:r>
              <a:rPr lang="en-US" sz="1400" b="1" dirty="0">
                <a:solidFill>
                  <a:srgbClr val="F4CAB8"/>
                </a:solidFill>
                <a:latin typeface="Brygada 1918 Bold" pitchFamily="34" charset="0"/>
                <a:ea typeface="Brygada 1918 Bold" pitchFamily="34" charset="-122"/>
                <a:cs typeface="Brygada 1918 Bold" pitchFamily="34" charset="-120"/>
              </a:rPr>
              <a:t>−− Performance</a:t>
            </a:r>
            <a:endParaRPr lang="en-US" sz="1400" dirty="0"/>
          </a:p>
        </p:txBody>
      </p:sp>
      <p:sp>
        <p:nvSpPr>
          <p:cNvPr id="13" name="Text 10"/>
          <p:cNvSpPr/>
          <p:nvPr/>
        </p:nvSpPr>
        <p:spPr>
          <a:xfrm>
            <a:off x="4705796" y="4194349"/>
            <a:ext cx="3836119" cy="428030"/>
          </a:xfrm>
          <a:prstGeom prst="rect">
            <a:avLst/>
          </a:prstGeom>
          <a:noFill/>
          <a:ln/>
        </p:spPr>
        <p:txBody>
          <a:bodyPr wrap="square" lIns="0" tIns="0" rIns="0" bIns="0" rtlCol="0" anchor="t">
            <a:normAutofit/>
          </a:bodyPr>
          <a:lstStyle/>
          <a:p>
            <a:pPr algn="l" indent="0" marL="0">
              <a:lnSpc>
                <a:spcPct val="133000"/>
              </a:lnSpc>
              <a:buNone/>
            </a:pPr>
            <a:r>
              <a:rPr lang="en-US" sz="1050" dirty="0">
                <a:solidFill>
                  <a:srgbClr val="F4CAB8"/>
                </a:solidFill>
                <a:latin typeface="Montserrat Medium" pitchFamily="34" charset="0"/>
                <a:ea typeface="Montserrat Medium" pitchFamily="34" charset="-122"/>
                <a:cs typeface="Montserrat Medium" pitchFamily="34" charset="-120"/>
              </a:rPr>
              <a:t>Worst speed and space — data must be fully passed between every filter</a:t>
            </a:r>
            <a:endParaRPr lang="en-US" sz="10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468288" y="781422"/>
            <a:ext cx="8207425" cy="445963"/>
          </a:xfrm>
          <a:prstGeom prst="rect">
            <a:avLst/>
          </a:prstGeom>
          <a:noFill/>
          <a:ln/>
        </p:spPr>
        <p:txBody>
          <a:bodyPr wrap="none" lIns="0" tIns="0" rIns="0" bIns="0" rtlCol="0" anchor="t"/>
          <a:lstStyle/>
          <a:p>
            <a:pPr algn="l" indent="0" marL="0">
              <a:lnSpc>
                <a:spcPct val="104000"/>
              </a:lnSpc>
              <a:buNone/>
            </a:pPr>
            <a:r>
              <a:rPr lang="en-US" sz="2800" b="1" dirty="0">
                <a:solidFill>
                  <a:srgbClr val="FFB393"/>
                </a:solidFill>
                <a:latin typeface="Brygada 1918 Bold" pitchFamily="34" charset="0"/>
                <a:ea typeface="Brygada 1918 Bold" pitchFamily="34" charset="-122"/>
                <a:cs typeface="Brygada 1918 Bold" pitchFamily="34" charset="-120"/>
              </a:rPr>
              <a:t>Architecture &amp; Quality Trade-offs</a:t>
            </a:r>
            <a:endParaRPr lang="en-US" sz="2800" dirty="0"/>
          </a:p>
        </p:txBody>
      </p:sp>
      <p:sp>
        <p:nvSpPr>
          <p:cNvPr id="3" name="Shape 1"/>
          <p:cNvSpPr/>
          <p:nvPr/>
        </p:nvSpPr>
        <p:spPr>
          <a:xfrm>
            <a:off x="468288" y="1494979"/>
            <a:ext cx="8207425" cy="1967508"/>
          </a:xfrm>
          <a:prstGeom prst="roundRect">
            <a:avLst>
              <a:gd name="adj" fmla="val 1020"/>
            </a:avLst>
          </a:prstGeom>
          <a:noFill/>
          <a:ln w="4763">
            <a:solidFill>
              <a:srgbClr val="FFFFFF">
                <a:alpha val="24000"/>
              </a:srgbClr>
            </a:solidFill>
            <a:prstDash val="solid"/>
          </a:ln>
        </p:spPr>
      </p:sp>
      <p:sp>
        <p:nvSpPr>
          <p:cNvPr id="4" name="Shape 2"/>
          <p:cNvSpPr/>
          <p:nvPr/>
        </p:nvSpPr>
        <p:spPr>
          <a:xfrm>
            <a:off x="468288" y="1886099"/>
            <a:ext cx="8207425" cy="8363"/>
          </a:xfrm>
          <a:prstGeom prst="rect">
            <a:avLst/>
          </a:prstGeom>
          <a:solidFill>
            <a:srgbClr val="FFFFFF">
              <a:alpha val="24000"/>
            </a:srgbClr>
          </a:solidFill>
          <a:ln/>
        </p:spPr>
      </p:sp>
      <p:sp>
        <p:nvSpPr>
          <p:cNvPr id="5" name="Shape 3"/>
          <p:cNvSpPr/>
          <p:nvPr/>
        </p:nvSpPr>
        <p:spPr>
          <a:xfrm>
            <a:off x="468288" y="2279600"/>
            <a:ext cx="8207425" cy="8363"/>
          </a:xfrm>
          <a:prstGeom prst="rect">
            <a:avLst/>
          </a:prstGeom>
          <a:solidFill>
            <a:srgbClr val="FFFFFF">
              <a:alpha val="24000"/>
            </a:srgbClr>
          </a:solidFill>
          <a:ln/>
        </p:spPr>
      </p:sp>
      <p:sp>
        <p:nvSpPr>
          <p:cNvPr id="6" name="Shape 4"/>
          <p:cNvSpPr/>
          <p:nvPr/>
        </p:nvSpPr>
        <p:spPr>
          <a:xfrm>
            <a:off x="468288" y="2673102"/>
            <a:ext cx="8207425" cy="8363"/>
          </a:xfrm>
          <a:prstGeom prst="rect">
            <a:avLst/>
          </a:prstGeom>
          <a:solidFill>
            <a:srgbClr val="FFFFFF">
              <a:alpha val="24000"/>
            </a:srgbClr>
          </a:solidFill>
          <a:ln/>
        </p:spPr>
      </p:sp>
      <p:sp>
        <p:nvSpPr>
          <p:cNvPr id="7" name="Shape 5"/>
          <p:cNvSpPr/>
          <p:nvPr/>
        </p:nvSpPr>
        <p:spPr>
          <a:xfrm>
            <a:off x="468288" y="3066604"/>
            <a:ext cx="8207425" cy="8363"/>
          </a:xfrm>
          <a:prstGeom prst="rect">
            <a:avLst/>
          </a:prstGeom>
          <a:solidFill>
            <a:srgbClr val="FFFFFF">
              <a:alpha val="24000"/>
            </a:srgbClr>
          </a:solidFill>
          <a:ln/>
        </p:spPr>
      </p:sp>
      <p:sp>
        <p:nvSpPr>
          <p:cNvPr id="8" name="Shape 6"/>
          <p:cNvSpPr/>
          <p:nvPr/>
        </p:nvSpPr>
        <p:spPr>
          <a:xfrm>
            <a:off x="473199" y="1499741"/>
            <a:ext cx="2049438" cy="386358"/>
          </a:xfrm>
          <a:prstGeom prst="rect">
            <a:avLst/>
          </a:prstGeom>
          <a:solidFill>
            <a:srgbClr val="421424"/>
          </a:solidFill>
          <a:ln/>
        </p:spPr>
      </p:sp>
      <p:sp>
        <p:nvSpPr>
          <p:cNvPr id="9" name="Text 7"/>
          <p:cNvSpPr/>
          <p:nvPr/>
        </p:nvSpPr>
        <p:spPr>
          <a:xfrm>
            <a:off x="606996" y="1584722"/>
            <a:ext cx="2239045" cy="214015"/>
          </a:xfrm>
          <a:prstGeom prst="rect">
            <a:avLst/>
          </a:prstGeom>
          <a:noFill/>
          <a:ln/>
        </p:spPr>
        <p:txBody>
          <a:bodyPr wrap="none" lIns="0" tIns="0" rIns="0" bIns="0" rtlCol="0" anchor="t"/>
          <a:lstStyle/>
          <a:p>
            <a:pPr algn="l" indent="0" marL="0">
              <a:lnSpc>
                <a:spcPct val="133000"/>
              </a:lnSpc>
              <a:buNone/>
            </a:pPr>
            <a:r>
              <a:rPr lang="en-US" sz="1050" b="1" dirty="0">
                <a:solidFill>
                  <a:srgbClr val="FFFFFF"/>
                </a:solidFill>
                <a:latin typeface="Montserrat Bold" pitchFamily="34" charset="0"/>
                <a:ea typeface="Montserrat Bold" pitchFamily="34" charset="-122"/>
                <a:cs typeface="Montserrat Bold" pitchFamily="34" charset="-120"/>
              </a:rPr>
              <a:t>Architecture</a:t>
            </a:r>
            <a:endParaRPr lang="en-US" sz="1050" dirty="0"/>
          </a:p>
        </p:txBody>
      </p:sp>
      <p:sp>
        <p:nvSpPr>
          <p:cNvPr id="10" name="Shape 8"/>
          <p:cNvSpPr/>
          <p:nvPr/>
        </p:nvSpPr>
        <p:spPr>
          <a:xfrm>
            <a:off x="2522637" y="1499741"/>
            <a:ext cx="2049438" cy="386358"/>
          </a:xfrm>
          <a:prstGeom prst="rect">
            <a:avLst/>
          </a:prstGeom>
          <a:solidFill>
            <a:srgbClr val="421424"/>
          </a:solidFill>
          <a:ln/>
        </p:spPr>
      </p:sp>
      <p:sp>
        <p:nvSpPr>
          <p:cNvPr id="11" name="Text 9"/>
          <p:cNvSpPr/>
          <p:nvPr/>
        </p:nvSpPr>
        <p:spPr>
          <a:xfrm>
            <a:off x="2656433" y="1584722"/>
            <a:ext cx="2239045" cy="214015"/>
          </a:xfrm>
          <a:prstGeom prst="rect">
            <a:avLst/>
          </a:prstGeom>
          <a:noFill/>
          <a:ln/>
        </p:spPr>
        <p:txBody>
          <a:bodyPr wrap="none" lIns="0" tIns="0" rIns="0" bIns="0" rtlCol="0" anchor="t"/>
          <a:lstStyle/>
          <a:p>
            <a:pPr algn="l" indent="0" marL="0">
              <a:lnSpc>
                <a:spcPct val="133000"/>
              </a:lnSpc>
              <a:buNone/>
            </a:pPr>
            <a:r>
              <a:rPr lang="en-US" sz="1050" b="1" dirty="0">
                <a:solidFill>
                  <a:srgbClr val="FFFFFF"/>
                </a:solidFill>
                <a:latin typeface="Montserrat Bold" pitchFamily="34" charset="0"/>
                <a:ea typeface="Montserrat Bold" pitchFamily="34" charset="-122"/>
                <a:cs typeface="Montserrat Bold" pitchFamily="34" charset="-120"/>
              </a:rPr>
              <a:t>Performance</a:t>
            </a:r>
            <a:endParaRPr lang="en-US" sz="1050" dirty="0"/>
          </a:p>
        </p:txBody>
      </p:sp>
      <p:sp>
        <p:nvSpPr>
          <p:cNvPr id="12" name="Shape 10"/>
          <p:cNvSpPr/>
          <p:nvPr/>
        </p:nvSpPr>
        <p:spPr>
          <a:xfrm>
            <a:off x="4572074" y="1499741"/>
            <a:ext cx="2049438" cy="386358"/>
          </a:xfrm>
          <a:prstGeom prst="rect">
            <a:avLst/>
          </a:prstGeom>
          <a:solidFill>
            <a:srgbClr val="421424"/>
          </a:solidFill>
          <a:ln/>
        </p:spPr>
      </p:sp>
      <p:sp>
        <p:nvSpPr>
          <p:cNvPr id="13" name="Text 11"/>
          <p:cNvSpPr/>
          <p:nvPr/>
        </p:nvSpPr>
        <p:spPr>
          <a:xfrm>
            <a:off x="4705871" y="1584722"/>
            <a:ext cx="2239045" cy="214015"/>
          </a:xfrm>
          <a:prstGeom prst="rect">
            <a:avLst/>
          </a:prstGeom>
          <a:noFill/>
          <a:ln/>
        </p:spPr>
        <p:txBody>
          <a:bodyPr wrap="none" lIns="0" tIns="0" rIns="0" bIns="0" rtlCol="0" anchor="t"/>
          <a:lstStyle/>
          <a:p>
            <a:pPr algn="l" indent="0" marL="0">
              <a:lnSpc>
                <a:spcPct val="133000"/>
              </a:lnSpc>
              <a:buNone/>
            </a:pPr>
            <a:r>
              <a:rPr lang="en-US" sz="1050" b="1" dirty="0">
                <a:solidFill>
                  <a:srgbClr val="FFFFFF"/>
                </a:solidFill>
                <a:latin typeface="Montserrat Bold" pitchFamily="34" charset="0"/>
                <a:ea typeface="Montserrat Bold" pitchFamily="34" charset="-122"/>
                <a:cs typeface="Montserrat Bold" pitchFamily="34" charset="-120"/>
              </a:rPr>
              <a:t>Modifiability</a:t>
            </a:r>
            <a:endParaRPr lang="en-US" sz="1050" dirty="0"/>
          </a:p>
        </p:txBody>
      </p:sp>
      <p:sp>
        <p:nvSpPr>
          <p:cNvPr id="14" name="Shape 12"/>
          <p:cNvSpPr/>
          <p:nvPr/>
        </p:nvSpPr>
        <p:spPr>
          <a:xfrm>
            <a:off x="6621512" y="1499741"/>
            <a:ext cx="2049438" cy="386358"/>
          </a:xfrm>
          <a:prstGeom prst="rect">
            <a:avLst/>
          </a:prstGeom>
          <a:solidFill>
            <a:srgbClr val="421424"/>
          </a:solidFill>
          <a:ln/>
        </p:spPr>
      </p:sp>
      <p:sp>
        <p:nvSpPr>
          <p:cNvPr id="15" name="Text 13"/>
          <p:cNvSpPr/>
          <p:nvPr/>
        </p:nvSpPr>
        <p:spPr>
          <a:xfrm>
            <a:off x="6755309" y="1584722"/>
            <a:ext cx="2239045" cy="214015"/>
          </a:xfrm>
          <a:prstGeom prst="rect">
            <a:avLst/>
          </a:prstGeom>
          <a:noFill/>
          <a:ln/>
        </p:spPr>
        <p:txBody>
          <a:bodyPr wrap="none" lIns="0" tIns="0" rIns="0" bIns="0" rtlCol="0" anchor="t"/>
          <a:lstStyle/>
          <a:p>
            <a:pPr algn="l" indent="0" marL="0">
              <a:lnSpc>
                <a:spcPct val="133000"/>
              </a:lnSpc>
              <a:buNone/>
            </a:pPr>
            <a:r>
              <a:rPr lang="en-US" sz="1050" b="1" dirty="0">
                <a:solidFill>
                  <a:srgbClr val="FFFFFF"/>
                </a:solidFill>
                <a:latin typeface="Montserrat Bold" pitchFamily="34" charset="0"/>
                <a:ea typeface="Montserrat Bold" pitchFamily="34" charset="-122"/>
                <a:cs typeface="Montserrat Bold" pitchFamily="34" charset="-120"/>
              </a:rPr>
              <a:t>Extensibility</a:t>
            </a:r>
            <a:endParaRPr lang="en-US" sz="1050" dirty="0"/>
          </a:p>
        </p:txBody>
      </p:sp>
      <p:sp>
        <p:nvSpPr>
          <p:cNvPr id="16" name="Text 14"/>
          <p:cNvSpPr/>
          <p:nvPr/>
        </p:nvSpPr>
        <p:spPr>
          <a:xfrm>
            <a:off x="606996" y="1973461"/>
            <a:ext cx="2239045" cy="214015"/>
          </a:xfrm>
          <a:prstGeom prst="rect">
            <a:avLst/>
          </a:prstGeom>
          <a:noFill/>
          <a:ln/>
        </p:spPr>
        <p:txBody>
          <a:bodyPr wrap="none" lIns="0" tIns="0" rIns="0" bIns="0" rtlCol="0" anchor="t"/>
          <a:lstStyle/>
          <a:p>
            <a:pPr algn="l" indent="0" marL="0">
              <a:lnSpc>
                <a:spcPct val="133000"/>
              </a:lnSpc>
              <a:buNone/>
            </a:pPr>
            <a:r>
              <a:rPr lang="en-US" sz="1050" b="1" dirty="0">
                <a:solidFill>
                  <a:srgbClr val="F4CAB8"/>
                </a:solidFill>
                <a:latin typeface="Montserrat Bold" pitchFamily="34" charset="0"/>
                <a:ea typeface="Montserrat Bold" pitchFamily="34" charset="-122"/>
                <a:cs typeface="Montserrat Bold" pitchFamily="34" charset="-120"/>
              </a:rPr>
              <a:t>Shared Memory</a:t>
            </a:r>
            <a:endParaRPr lang="en-US" sz="1050" dirty="0"/>
          </a:p>
        </p:txBody>
      </p:sp>
      <p:sp>
        <p:nvSpPr>
          <p:cNvPr id="17" name="Text 15"/>
          <p:cNvSpPr/>
          <p:nvPr/>
        </p:nvSpPr>
        <p:spPr>
          <a:xfrm>
            <a:off x="2656433" y="1973461"/>
            <a:ext cx="2239045" cy="218777"/>
          </a:xfrm>
          <a:prstGeom prst="rect">
            <a:avLst/>
          </a:prstGeom>
          <a:noFill/>
          <a:ln/>
        </p:spPr>
        <p:txBody>
          <a:bodyPr wrap="none" lIns="0" tIns="0" rIns="0" bIns="0" rtlCol="0" anchor="t"/>
          <a:lstStyle/>
          <a:p>
            <a:pPr algn="l" indent="0" marL="0">
              <a:lnSpc>
                <a:spcPct val="133000"/>
              </a:lnSpc>
              <a:buNone/>
            </a:pPr>
            <a:r>
              <a:rPr lang="en-US" sz="1050" dirty="0">
                <a:solidFill>
                  <a:srgbClr val="000000"/>
                </a:solidFill>
                <a:latin typeface="Twemoji Mozilla" pitchFamily="34" charset="0"/>
                <a:ea typeface="Twemoji Mozilla" pitchFamily="34" charset="-122"/>
                <a:cs typeface="Twemoji Mozilla" pitchFamily="34" charset="-120"/>
              </a:rPr>
              <a:t>✅</a:t>
            </a:r>
            <a:pPr algn="l" indent="0" marL="0">
              <a:lnSpc>
                <a:spcPct val="133000"/>
              </a:lnSpc>
              <a:buNone/>
            </a:pPr>
            <a:r>
              <a:rPr lang="en-US" sz="1050" dirty="0">
                <a:solidFill>
                  <a:srgbClr val="F4CAB8"/>
                </a:solidFill>
                <a:latin typeface="Montserrat Medium" pitchFamily="34" charset="0"/>
                <a:ea typeface="Montserrat Medium" pitchFamily="34" charset="-122"/>
                <a:cs typeface="Montserrat Medium" pitchFamily="34" charset="-120"/>
              </a:rPr>
              <a:t> Best</a:t>
            </a:r>
            <a:endParaRPr lang="en-US" sz="1050" dirty="0"/>
          </a:p>
        </p:txBody>
      </p:sp>
      <p:sp>
        <p:nvSpPr>
          <p:cNvPr id="18" name="Text 16"/>
          <p:cNvSpPr/>
          <p:nvPr/>
        </p:nvSpPr>
        <p:spPr>
          <a:xfrm>
            <a:off x="4705871" y="1973461"/>
            <a:ext cx="2239045" cy="218777"/>
          </a:xfrm>
          <a:prstGeom prst="rect">
            <a:avLst/>
          </a:prstGeom>
          <a:noFill/>
          <a:ln/>
        </p:spPr>
        <p:txBody>
          <a:bodyPr wrap="none" lIns="0" tIns="0" rIns="0" bIns="0" rtlCol="0" anchor="t"/>
          <a:lstStyle/>
          <a:p>
            <a:pPr algn="l" indent="0" marL="0">
              <a:lnSpc>
                <a:spcPct val="133000"/>
              </a:lnSpc>
              <a:buNone/>
            </a:pPr>
            <a:r>
              <a:rPr lang="en-US" sz="1050" dirty="0">
                <a:solidFill>
                  <a:srgbClr val="000000"/>
                </a:solidFill>
                <a:latin typeface="Twemoji Mozilla" pitchFamily="34" charset="0"/>
                <a:ea typeface="Twemoji Mozilla" pitchFamily="34" charset="-122"/>
                <a:cs typeface="Twemoji Mozilla" pitchFamily="34" charset="-120"/>
              </a:rPr>
              <a:t>❌</a:t>
            </a:r>
            <a:pPr algn="l" indent="0" marL="0">
              <a:lnSpc>
                <a:spcPct val="133000"/>
              </a:lnSpc>
              <a:buNone/>
            </a:pPr>
            <a:r>
              <a:rPr lang="en-US" sz="1050" dirty="0">
                <a:solidFill>
                  <a:srgbClr val="F4CAB8"/>
                </a:solidFill>
                <a:latin typeface="Montserrat Medium" pitchFamily="34" charset="0"/>
                <a:ea typeface="Montserrat Medium" pitchFamily="34" charset="-122"/>
                <a:cs typeface="Montserrat Medium" pitchFamily="34" charset="-120"/>
              </a:rPr>
              <a:t> Worst</a:t>
            </a:r>
            <a:endParaRPr lang="en-US" sz="1050" dirty="0"/>
          </a:p>
        </p:txBody>
      </p:sp>
      <p:sp>
        <p:nvSpPr>
          <p:cNvPr id="19" name="Text 17"/>
          <p:cNvSpPr/>
          <p:nvPr/>
        </p:nvSpPr>
        <p:spPr>
          <a:xfrm>
            <a:off x="6755309" y="1973461"/>
            <a:ext cx="2239045" cy="218777"/>
          </a:xfrm>
          <a:prstGeom prst="rect">
            <a:avLst/>
          </a:prstGeom>
          <a:noFill/>
          <a:ln/>
        </p:spPr>
        <p:txBody>
          <a:bodyPr wrap="none" lIns="0" tIns="0" rIns="0" bIns="0" rtlCol="0" anchor="t"/>
          <a:lstStyle/>
          <a:p>
            <a:pPr algn="l" indent="0" marL="0">
              <a:lnSpc>
                <a:spcPct val="133000"/>
              </a:lnSpc>
              <a:buNone/>
            </a:pPr>
            <a:r>
              <a:rPr lang="en-US" sz="1050" dirty="0">
                <a:solidFill>
                  <a:srgbClr val="000000"/>
                </a:solidFill>
                <a:latin typeface="Twemoji Mozilla" pitchFamily="34" charset="0"/>
                <a:ea typeface="Twemoji Mozilla" pitchFamily="34" charset="-122"/>
                <a:cs typeface="Twemoji Mozilla" pitchFamily="34" charset="-120"/>
              </a:rPr>
              <a:t>⚠️</a:t>
            </a:r>
            <a:pPr algn="l" indent="0" marL="0">
              <a:lnSpc>
                <a:spcPct val="133000"/>
              </a:lnSpc>
              <a:buNone/>
            </a:pPr>
            <a:r>
              <a:rPr lang="en-US" sz="1050" dirty="0">
                <a:solidFill>
                  <a:srgbClr val="F4CAB8"/>
                </a:solidFill>
                <a:latin typeface="Montserrat Medium" pitchFamily="34" charset="0"/>
                <a:ea typeface="Montserrat Medium" pitchFamily="34" charset="-122"/>
                <a:cs typeface="Montserrat Medium" pitchFamily="34" charset="-120"/>
              </a:rPr>
              <a:t> Limited</a:t>
            </a:r>
            <a:endParaRPr lang="en-US" sz="1050" dirty="0"/>
          </a:p>
        </p:txBody>
      </p:sp>
      <p:sp>
        <p:nvSpPr>
          <p:cNvPr id="20" name="Text 18"/>
          <p:cNvSpPr/>
          <p:nvPr/>
        </p:nvSpPr>
        <p:spPr>
          <a:xfrm>
            <a:off x="606996" y="2366963"/>
            <a:ext cx="2239045" cy="214015"/>
          </a:xfrm>
          <a:prstGeom prst="rect">
            <a:avLst/>
          </a:prstGeom>
          <a:noFill/>
          <a:ln/>
        </p:spPr>
        <p:txBody>
          <a:bodyPr wrap="none" lIns="0" tIns="0" rIns="0" bIns="0" rtlCol="0" anchor="t"/>
          <a:lstStyle/>
          <a:p>
            <a:pPr algn="l" indent="0" marL="0">
              <a:lnSpc>
                <a:spcPct val="133000"/>
              </a:lnSpc>
              <a:buNone/>
            </a:pPr>
            <a:r>
              <a:rPr lang="en-US" sz="1050" b="1" dirty="0">
                <a:solidFill>
                  <a:srgbClr val="F4CAB8"/>
                </a:solidFill>
                <a:latin typeface="Montserrat Bold" pitchFamily="34" charset="0"/>
                <a:ea typeface="Montserrat Bold" pitchFamily="34" charset="-122"/>
                <a:cs typeface="Montserrat Bold" pitchFamily="34" charset="-120"/>
              </a:rPr>
              <a:t>ADT</a:t>
            </a:r>
            <a:endParaRPr lang="en-US" sz="1050" dirty="0"/>
          </a:p>
        </p:txBody>
      </p:sp>
      <p:sp>
        <p:nvSpPr>
          <p:cNvPr id="21" name="Text 19"/>
          <p:cNvSpPr/>
          <p:nvPr/>
        </p:nvSpPr>
        <p:spPr>
          <a:xfrm>
            <a:off x="2656433" y="2366963"/>
            <a:ext cx="2239045" cy="218777"/>
          </a:xfrm>
          <a:prstGeom prst="rect">
            <a:avLst/>
          </a:prstGeom>
          <a:noFill/>
          <a:ln/>
        </p:spPr>
        <p:txBody>
          <a:bodyPr wrap="none" lIns="0" tIns="0" rIns="0" bIns="0" rtlCol="0" anchor="t"/>
          <a:lstStyle/>
          <a:p>
            <a:pPr algn="l" indent="0" marL="0">
              <a:lnSpc>
                <a:spcPct val="133000"/>
              </a:lnSpc>
              <a:buNone/>
            </a:pPr>
            <a:r>
              <a:rPr lang="en-US" sz="1050" dirty="0">
                <a:solidFill>
                  <a:srgbClr val="000000"/>
                </a:solidFill>
                <a:latin typeface="Twemoji Mozilla" pitchFamily="34" charset="0"/>
                <a:ea typeface="Twemoji Mozilla" pitchFamily="34" charset="-122"/>
                <a:cs typeface="Twemoji Mozilla" pitchFamily="34" charset="-120"/>
              </a:rPr>
              <a:t>⚠️</a:t>
            </a:r>
            <a:pPr algn="l" indent="0" marL="0">
              <a:lnSpc>
                <a:spcPct val="133000"/>
              </a:lnSpc>
              <a:buNone/>
            </a:pPr>
            <a:r>
              <a:rPr lang="en-US" sz="1050" dirty="0">
                <a:solidFill>
                  <a:srgbClr val="F4CAB8"/>
                </a:solidFill>
                <a:latin typeface="Montserrat Medium" pitchFamily="34" charset="0"/>
                <a:ea typeface="Montserrat Medium" pitchFamily="34" charset="-122"/>
                <a:cs typeface="Montserrat Medium" pitchFamily="34" charset="-120"/>
              </a:rPr>
              <a:t> Poor</a:t>
            </a:r>
            <a:endParaRPr lang="en-US" sz="1050" dirty="0"/>
          </a:p>
        </p:txBody>
      </p:sp>
      <p:sp>
        <p:nvSpPr>
          <p:cNvPr id="22" name="Text 20"/>
          <p:cNvSpPr/>
          <p:nvPr/>
        </p:nvSpPr>
        <p:spPr>
          <a:xfrm>
            <a:off x="4705871" y="2366963"/>
            <a:ext cx="2239045" cy="218777"/>
          </a:xfrm>
          <a:prstGeom prst="rect">
            <a:avLst/>
          </a:prstGeom>
          <a:noFill/>
          <a:ln/>
        </p:spPr>
        <p:txBody>
          <a:bodyPr wrap="none" lIns="0" tIns="0" rIns="0" bIns="0" rtlCol="0" anchor="t"/>
          <a:lstStyle/>
          <a:p>
            <a:pPr algn="l" indent="0" marL="0">
              <a:lnSpc>
                <a:spcPct val="133000"/>
              </a:lnSpc>
              <a:buNone/>
            </a:pPr>
            <a:r>
              <a:rPr lang="en-US" sz="1050" dirty="0">
                <a:solidFill>
                  <a:srgbClr val="000000"/>
                </a:solidFill>
                <a:latin typeface="Twemoji Mozilla" pitchFamily="34" charset="0"/>
                <a:ea typeface="Twemoji Mozilla" pitchFamily="34" charset="-122"/>
                <a:cs typeface="Twemoji Mozilla" pitchFamily="34" charset="-120"/>
              </a:rPr>
              <a:t>✅</a:t>
            </a:r>
            <a:pPr algn="l" indent="0" marL="0">
              <a:lnSpc>
                <a:spcPct val="133000"/>
              </a:lnSpc>
              <a:buNone/>
            </a:pPr>
            <a:r>
              <a:rPr lang="en-US" sz="1050" dirty="0">
                <a:solidFill>
                  <a:srgbClr val="F4CAB8"/>
                </a:solidFill>
                <a:latin typeface="Montserrat Medium" pitchFamily="34" charset="0"/>
                <a:ea typeface="Montserrat Medium" pitchFamily="34" charset="-122"/>
                <a:cs typeface="Montserrat Medium" pitchFamily="34" charset="-120"/>
              </a:rPr>
              <a:t> Best</a:t>
            </a:r>
            <a:endParaRPr lang="en-US" sz="1050" dirty="0"/>
          </a:p>
        </p:txBody>
      </p:sp>
      <p:sp>
        <p:nvSpPr>
          <p:cNvPr id="23" name="Text 21"/>
          <p:cNvSpPr/>
          <p:nvPr/>
        </p:nvSpPr>
        <p:spPr>
          <a:xfrm>
            <a:off x="6755309" y="2366963"/>
            <a:ext cx="2239045" cy="218777"/>
          </a:xfrm>
          <a:prstGeom prst="rect">
            <a:avLst/>
          </a:prstGeom>
          <a:noFill/>
          <a:ln/>
        </p:spPr>
        <p:txBody>
          <a:bodyPr wrap="none" lIns="0" tIns="0" rIns="0" bIns="0" rtlCol="0" anchor="t"/>
          <a:lstStyle/>
          <a:p>
            <a:pPr algn="l" indent="0" marL="0">
              <a:lnSpc>
                <a:spcPct val="133000"/>
              </a:lnSpc>
              <a:buNone/>
            </a:pPr>
            <a:r>
              <a:rPr lang="en-US" sz="1050" dirty="0">
                <a:solidFill>
                  <a:srgbClr val="000000"/>
                </a:solidFill>
                <a:latin typeface="Twemoji Mozilla" pitchFamily="34" charset="0"/>
                <a:ea typeface="Twemoji Mozilla" pitchFamily="34" charset="-122"/>
                <a:cs typeface="Twemoji Mozilla" pitchFamily="34" charset="-120"/>
              </a:rPr>
              <a:t>✅</a:t>
            </a:r>
            <a:pPr algn="l" indent="0" marL="0">
              <a:lnSpc>
                <a:spcPct val="133000"/>
              </a:lnSpc>
              <a:buNone/>
            </a:pPr>
            <a:r>
              <a:rPr lang="en-US" sz="1050" dirty="0">
                <a:solidFill>
                  <a:srgbClr val="F4CAB8"/>
                </a:solidFill>
                <a:latin typeface="Montserrat Medium" pitchFamily="34" charset="0"/>
                <a:ea typeface="Montserrat Medium" pitchFamily="34" charset="-122"/>
                <a:cs typeface="Montserrat Medium" pitchFamily="34" charset="-120"/>
              </a:rPr>
              <a:t> Good</a:t>
            </a:r>
            <a:endParaRPr lang="en-US" sz="1050" dirty="0"/>
          </a:p>
        </p:txBody>
      </p:sp>
      <p:sp>
        <p:nvSpPr>
          <p:cNvPr id="24" name="Text 22"/>
          <p:cNvSpPr/>
          <p:nvPr/>
        </p:nvSpPr>
        <p:spPr>
          <a:xfrm>
            <a:off x="606996" y="2760464"/>
            <a:ext cx="2239045" cy="214015"/>
          </a:xfrm>
          <a:prstGeom prst="rect">
            <a:avLst/>
          </a:prstGeom>
          <a:noFill/>
          <a:ln/>
        </p:spPr>
        <p:txBody>
          <a:bodyPr wrap="none" lIns="0" tIns="0" rIns="0" bIns="0" rtlCol="0" anchor="t"/>
          <a:lstStyle/>
          <a:p>
            <a:pPr algn="l" indent="0" marL="0">
              <a:lnSpc>
                <a:spcPct val="133000"/>
              </a:lnSpc>
              <a:buNone/>
            </a:pPr>
            <a:r>
              <a:rPr lang="en-US" sz="1050" b="1" dirty="0">
                <a:solidFill>
                  <a:srgbClr val="F4CAB8"/>
                </a:solidFill>
                <a:latin typeface="Montserrat Bold" pitchFamily="34" charset="0"/>
                <a:ea typeface="Montserrat Bold" pitchFamily="34" charset="-122"/>
                <a:cs typeface="Montserrat Bold" pitchFamily="34" charset="-120"/>
              </a:rPr>
              <a:t>Implicit Invocation</a:t>
            </a:r>
            <a:endParaRPr lang="en-US" sz="1050" dirty="0"/>
          </a:p>
        </p:txBody>
      </p:sp>
      <p:sp>
        <p:nvSpPr>
          <p:cNvPr id="25" name="Text 23"/>
          <p:cNvSpPr/>
          <p:nvPr/>
        </p:nvSpPr>
        <p:spPr>
          <a:xfrm>
            <a:off x="2656433" y="2760464"/>
            <a:ext cx="2239045" cy="218777"/>
          </a:xfrm>
          <a:prstGeom prst="rect">
            <a:avLst/>
          </a:prstGeom>
          <a:noFill/>
          <a:ln/>
        </p:spPr>
        <p:txBody>
          <a:bodyPr wrap="none" lIns="0" tIns="0" rIns="0" bIns="0" rtlCol="0" anchor="t"/>
          <a:lstStyle/>
          <a:p>
            <a:pPr algn="l" indent="0" marL="0">
              <a:lnSpc>
                <a:spcPct val="133000"/>
              </a:lnSpc>
              <a:buNone/>
            </a:pPr>
            <a:r>
              <a:rPr lang="en-US" sz="1050" dirty="0">
                <a:solidFill>
                  <a:srgbClr val="000000"/>
                </a:solidFill>
                <a:latin typeface="Twemoji Mozilla" pitchFamily="34" charset="0"/>
                <a:ea typeface="Twemoji Mozilla" pitchFamily="34" charset="-122"/>
                <a:cs typeface="Twemoji Mozilla" pitchFamily="34" charset="-120"/>
              </a:rPr>
              <a:t>⚠️</a:t>
            </a:r>
            <a:pPr algn="l" indent="0" marL="0">
              <a:lnSpc>
                <a:spcPct val="133000"/>
              </a:lnSpc>
              <a:buNone/>
            </a:pPr>
            <a:r>
              <a:rPr lang="en-US" sz="1050" dirty="0">
                <a:solidFill>
                  <a:srgbClr val="F4CAB8"/>
                </a:solidFill>
                <a:latin typeface="Montserrat Medium" pitchFamily="34" charset="0"/>
                <a:ea typeface="Montserrat Medium" pitchFamily="34" charset="-122"/>
                <a:cs typeface="Montserrat Medium" pitchFamily="34" charset="-120"/>
              </a:rPr>
              <a:t> Poor space</a:t>
            </a:r>
            <a:endParaRPr lang="en-US" sz="1050" dirty="0"/>
          </a:p>
        </p:txBody>
      </p:sp>
      <p:sp>
        <p:nvSpPr>
          <p:cNvPr id="26" name="Text 24"/>
          <p:cNvSpPr/>
          <p:nvPr/>
        </p:nvSpPr>
        <p:spPr>
          <a:xfrm>
            <a:off x="4705871" y="2760464"/>
            <a:ext cx="2239045" cy="218777"/>
          </a:xfrm>
          <a:prstGeom prst="rect">
            <a:avLst/>
          </a:prstGeom>
          <a:noFill/>
          <a:ln/>
        </p:spPr>
        <p:txBody>
          <a:bodyPr wrap="none" lIns="0" tIns="0" rIns="0" bIns="0" rtlCol="0" anchor="t"/>
          <a:lstStyle/>
          <a:p>
            <a:pPr algn="l" indent="0" marL="0">
              <a:lnSpc>
                <a:spcPct val="133000"/>
              </a:lnSpc>
              <a:buNone/>
            </a:pPr>
            <a:r>
              <a:rPr lang="en-US" sz="1050" dirty="0">
                <a:solidFill>
                  <a:srgbClr val="000000"/>
                </a:solidFill>
                <a:latin typeface="Twemoji Mozilla" pitchFamily="34" charset="0"/>
                <a:ea typeface="Twemoji Mozilla" pitchFamily="34" charset="-122"/>
                <a:cs typeface="Twemoji Mozilla" pitchFamily="34" charset="-120"/>
              </a:rPr>
              <a:t>✅</a:t>
            </a:r>
            <a:pPr algn="l" indent="0" marL="0">
              <a:lnSpc>
                <a:spcPct val="133000"/>
              </a:lnSpc>
              <a:buNone/>
            </a:pPr>
            <a:r>
              <a:rPr lang="en-US" sz="1050" dirty="0">
                <a:solidFill>
                  <a:srgbClr val="F4CAB8"/>
                </a:solidFill>
                <a:latin typeface="Montserrat Medium" pitchFamily="34" charset="0"/>
                <a:ea typeface="Montserrat Medium" pitchFamily="34" charset="-122"/>
                <a:cs typeface="Montserrat Medium" pitchFamily="34" charset="-120"/>
              </a:rPr>
              <a:t> Good</a:t>
            </a:r>
            <a:endParaRPr lang="en-US" sz="1050" dirty="0"/>
          </a:p>
        </p:txBody>
      </p:sp>
      <p:sp>
        <p:nvSpPr>
          <p:cNvPr id="27" name="Text 25"/>
          <p:cNvSpPr/>
          <p:nvPr/>
        </p:nvSpPr>
        <p:spPr>
          <a:xfrm>
            <a:off x="6755309" y="2760464"/>
            <a:ext cx="2239045" cy="218777"/>
          </a:xfrm>
          <a:prstGeom prst="rect">
            <a:avLst/>
          </a:prstGeom>
          <a:noFill/>
          <a:ln/>
        </p:spPr>
        <p:txBody>
          <a:bodyPr wrap="none" lIns="0" tIns="0" rIns="0" bIns="0" rtlCol="0" anchor="t"/>
          <a:lstStyle/>
          <a:p>
            <a:pPr algn="l" indent="0" marL="0">
              <a:lnSpc>
                <a:spcPct val="133000"/>
              </a:lnSpc>
              <a:buNone/>
            </a:pPr>
            <a:r>
              <a:rPr lang="en-US" sz="1050" dirty="0">
                <a:solidFill>
                  <a:srgbClr val="000000"/>
                </a:solidFill>
                <a:latin typeface="Twemoji Mozilla" pitchFamily="34" charset="0"/>
                <a:ea typeface="Twemoji Mozilla" pitchFamily="34" charset="-122"/>
                <a:cs typeface="Twemoji Mozilla" pitchFamily="34" charset="-120"/>
              </a:rPr>
              <a:t>✅</a:t>
            </a:r>
            <a:pPr algn="l" indent="0" marL="0">
              <a:lnSpc>
                <a:spcPct val="133000"/>
              </a:lnSpc>
              <a:buNone/>
            </a:pPr>
            <a:r>
              <a:rPr lang="en-US" sz="1050" dirty="0">
                <a:solidFill>
                  <a:srgbClr val="F4CAB8"/>
                </a:solidFill>
                <a:latin typeface="Montserrat Medium" pitchFamily="34" charset="0"/>
                <a:ea typeface="Montserrat Medium" pitchFamily="34" charset="-122"/>
                <a:cs typeface="Montserrat Medium" pitchFamily="34" charset="-120"/>
              </a:rPr>
              <a:t> Best</a:t>
            </a:r>
            <a:endParaRPr lang="en-US" sz="1050" dirty="0"/>
          </a:p>
        </p:txBody>
      </p:sp>
      <p:sp>
        <p:nvSpPr>
          <p:cNvPr id="28" name="Text 26"/>
          <p:cNvSpPr/>
          <p:nvPr/>
        </p:nvSpPr>
        <p:spPr>
          <a:xfrm>
            <a:off x="606996" y="3153966"/>
            <a:ext cx="2239045" cy="214015"/>
          </a:xfrm>
          <a:prstGeom prst="rect">
            <a:avLst/>
          </a:prstGeom>
          <a:noFill/>
          <a:ln/>
        </p:spPr>
        <p:txBody>
          <a:bodyPr wrap="none" lIns="0" tIns="0" rIns="0" bIns="0" rtlCol="0" anchor="t"/>
          <a:lstStyle/>
          <a:p>
            <a:pPr algn="l" indent="0" marL="0">
              <a:lnSpc>
                <a:spcPct val="133000"/>
              </a:lnSpc>
              <a:buNone/>
            </a:pPr>
            <a:r>
              <a:rPr lang="en-US" sz="1050" b="1" dirty="0">
                <a:solidFill>
                  <a:srgbClr val="F4CAB8"/>
                </a:solidFill>
                <a:latin typeface="Montserrat Bold" pitchFamily="34" charset="0"/>
                <a:ea typeface="Montserrat Bold" pitchFamily="34" charset="-122"/>
                <a:cs typeface="Montserrat Bold" pitchFamily="34" charset="-120"/>
              </a:rPr>
              <a:t>Pipe-and-Filter</a:t>
            </a:r>
            <a:endParaRPr lang="en-US" sz="1050" dirty="0"/>
          </a:p>
        </p:txBody>
      </p:sp>
      <p:sp>
        <p:nvSpPr>
          <p:cNvPr id="29" name="Text 27"/>
          <p:cNvSpPr/>
          <p:nvPr/>
        </p:nvSpPr>
        <p:spPr>
          <a:xfrm>
            <a:off x="2656433" y="3153966"/>
            <a:ext cx="2239045" cy="218777"/>
          </a:xfrm>
          <a:prstGeom prst="rect">
            <a:avLst/>
          </a:prstGeom>
          <a:noFill/>
          <a:ln/>
        </p:spPr>
        <p:txBody>
          <a:bodyPr wrap="none" lIns="0" tIns="0" rIns="0" bIns="0" rtlCol="0" anchor="t"/>
          <a:lstStyle/>
          <a:p>
            <a:pPr algn="l" indent="0" marL="0">
              <a:lnSpc>
                <a:spcPct val="133000"/>
              </a:lnSpc>
              <a:buNone/>
            </a:pPr>
            <a:r>
              <a:rPr lang="en-US" sz="1050" dirty="0">
                <a:solidFill>
                  <a:srgbClr val="000000"/>
                </a:solidFill>
                <a:latin typeface="Twemoji Mozilla" pitchFamily="34" charset="0"/>
                <a:ea typeface="Twemoji Mozilla" pitchFamily="34" charset="-122"/>
                <a:cs typeface="Twemoji Mozilla" pitchFamily="34" charset="-120"/>
              </a:rPr>
              <a:t>❌</a:t>
            </a:r>
            <a:pPr algn="l" indent="0" marL="0">
              <a:lnSpc>
                <a:spcPct val="133000"/>
              </a:lnSpc>
              <a:buNone/>
            </a:pPr>
            <a:r>
              <a:rPr lang="en-US" sz="1050" dirty="0">
                <a:solidFill>
                  <a:srgbClr val="F4CAB8"/>
                </a:solidFill>
                <a:latin typeface="Montserrat Medium" pitchFamily="34" charset="0"/>
                <a:ea typeface="Montserrat Medium" pitchFamily="34" charset="-122"/>
                <a:cs typeface="Montserrat Medium" pitchFamily="34" charset="-120"/>
              </a:rPr>
              <a:t> Worst</a:t>
            </a:r>
            <a:endParaRPr lang="en-US" sz="1050" dirty="0"/>
          </a:p>
        </p:txBody>
      </p:sp>
      <p:sp>
        <p:nvSpPr>
          <p:cNvPr id="30" name="Text 28"/>
          <p:cNvSpPr/>
          <p:nvPr/>
        </p:nvSpPr>
        <p:spPr>
          <a:xfrm>
            <a:off x="4705871" y="3153966"/>
            <a:ext cx="2239045" cy="218777"/>
          </a:xfrm>
          <a:prstGeom prst="rect">
            <a:avLst/>
          </a:prstGeom>
          <a:noFill/>
          <a:ln/>
        </p:spPr>
        <p:txBody>
          <a:bodyPr wrap="none" lIns="0" tIns="0" rIns="0" bIns="0" rtlCol="0" anchor="t"/>
          <a:lstStyle/>
          <a:p>
            <a:pPr algn="l" indent="0" marL="0">
              <a:lnSpc>
                <a:spcPct val="133000"/>
              </a:lnSpc>
              <a:buNone/>
            </a:pPr>
            <a:r>
              <a:rPr lang="en-US" sz="1050" dirty="0">
                <a:solidFill>
                  <a:srgbClr val="000000"/>
                </a:solidFill>
                <a:latin typeface="Twemoji Mozilla" pitchFamily="34" charset="0"/>
                <a:ea typeface="Twemoji Mozilla" pitchFamily="34" charset="-122"/>
                <a:cs typeface="Twemoji Mozilla" pitchFamily="34" charset="-120"/>
              </a:rPr>
              <a:t>✅</a:t>
            </a:r>
            <a:pPr algn="l" indent="0" marL="0">
              <a:lnSpc>
                <a:spcPct val="133000"/>
              </a:lnSpc>
              <a:buNone/>
            </a:pPr>
            <a:r>
              <a:rPr lang="en-US" sz="1050" dirty="0">
                <a:solidFill>
                  <a:srgbClr val="F4CAB8"/>
                </a:solidFill>
                <a:latin typeface="Montserrat Medium" pitchFamily="34" charset="0"/>
                <a:ea typeface="Montserrat Medium" pitchFamily="34" charset="-122"/>
                <a:cs typeface="Montserrat Medium" pitchFamily="34" charset="-120"/>
              </a:rPr>
              <a:t> Good</a:t>
            </a:r>
            <a:endParaRPr lang="en-US" sz="1050" dirty="0"/>
          </a:p>
        </p:txBody>
      </p:sp>
      <p:sp>
        <p:nvSpPr>
          <p:cNvPr id="31" name="Text 29"/>
          <p:cNvSpPr/>
          <p:nvPr/>
        </p:nvSpPr>
        <p:spPr>
          <a:xfrm>
            <a:off x="6755309" y="3153966"/>
            <a:ext cx="2239045" cy="218777"/>
          </a:xfrm>
          <a:prstGeom prst="rect">
            <a:avLst/>
          </a:prstGeom>
          <a:noFill/>
          <a:ln/>
        </p:spPr>
        <p:txBody>
          <a:bodyPr wrap="none" lIns="0" tIns="0" rIns="0" bIns="0" rtlCol="0" anchor="t"/>
          <a:lstStyle/>
          <a:p>
            <a:pPr algn="l" indent="0" marL="0">
              <a:lnSpc>
                <a:spcPct val="133000"/>
              </a:lnSpc>
              <a:buNone/>
            </a:pPr>
            <a:r>
              <a:rPr lang="en-US" sz="1050" dirty="0">
                <a:solidFill>
                  <a:srgbClr val="000000"/>
                </a:solidFill>
                <a:latin typeface="Twemoji Mozilla" pitchFamily="34" charset="0"/>
                <a:ea typeface="Twemoji Mozilla" pitchFamily="34" charset="-122"/>
                <a:cs typeface="Twemoji Mozilla" pitchFamily="34" charset="-120"/>
              </a:rPr>
              <a:t>✅</a:t>
            </a:r>
            <a:pPr algn="l" indent="0" marL="0">
              <a:lnSpc>
                <a:spcPct val="133000"/>
              </a:lnSpc>
              <a:buNone/>
            </a:pPr>
            <a:r>
              <a:rPr lang="en-US" sz="1050" dirty="0">
                <a:solidFill>
                  <a:srgbClr val="F4CAB8"/>
                </a:solidFill>
                <a:latin typeface="Montserrat Medium" pitchFamily="34" charset="0"/>
                <a:ea typeface="Montserrat Medium" pitchFamily="34" charset="-122"/>
                <a:cs typeface="Montserrat Medium" pitchFamily="34" charset="-120"/>
              </a:rPr>
              <a:t> Reusable</a:t>
            </a:r>
            <a:endParaRPr lang="en-US" sz="1050" dirty="0"/>
          </a:p>
        </p:txBody>
      </p:sp>
      <p:sp>
        <p:nvSpPr>
          <p:cNvPr id="32" name="Shape 30"/>
          <p:cNvSpPr/>
          <p:nvPr/>
        </p:nvSpPr>
        <p:spPr>
          <a:xfrm>
            <a:off x="468288" y="3613026"/>
            <a:ext cx="8207425" cy="749052"/>
          </a:xfrm>
          <a:prstGeom prst="roundRect">
            <a:avLst>
              <a:gd name="adj" fmla="val 2680"/>
            </a:avLst>
          </a:prstGeom>
          <a:solidFill>
            <a:srgbClr val="802600"/>
          </a:solidFill>
          <a:ln/>
        </p:spPr>
      </p:sp>
      <p:pic>
        <p:nvPicPr>
          <p:cNvPr id="33" name="Image 0" descr="preencoded.png">    </p:cNvPr>
          <p:cNvPicPr>
            <a:picLocks noChangeAspect="1"/>
          </p:cNvPicPr>
          <p:nvPr/>
        </p:nvPicPr>
        <p:blipFill>
          <a:blip r:embed="rId1"/>
          <a:stretch>
            <a:fillRect/>
          </a:stretch>
        </p:blipFill>
        <p:spPr>
          <a:xfrm>
            <a:off x="602084" y="3801219"/>
            <a:ext cx="167208" cy="133796"/>
          </a:xfrm>
          <a:prstGeom prst="rect">
            <a:avLst/>
          </a:prstGeom>
        </p:spPr>
      </p:pic>
      <p:sp>
        <p:nvSpPr>
          <p:cNvPr id="34" name="Text 31"/>
          <p:cNvSpPr/>
          <p:nvPr/>
        </p:nvSpPr>
        <p:spPr>
          <a:xfrm>
            <a:off x="903089" y="3780234"/>
            <a:ext cx="7638827" cy="428030"/>
          </a:xfrm>
          <a:prstGeom prst="rect">
            <a:avLst/>
          </a:prstGeom>
          <a:noFill/>
          <a:ln/>
        </p:spPr>
        <p:txBody>
          <a:bodyPr wrap="square" lIns="0" tIns="0" rIns="0" bIns="0" rtlCol="0" anchor="t">
            <a:normAutofit/>
          </a:bodyPr>
          <a:lstStyle/>
          <a:p>
            <a:pPr algn="l" indent="0" marL="0">
              <a:lnSpc>
                <a:spcPct val="133000"/>
              </a:lnSpc>
              <a:buNone/>
            </a:pPr>
            <a:r>
              <a:rPr lang="en-US" sz="1050" dirty="0">
                <a:solidFill>
                  <a:srgbClr val="FFFFFF"/>
                </a:solidFill>
                <a:latin typeface="Montserrat Medium" pitchFamily="34" charset="0"/>
                <a:ea typeface="Montserrat Medium" pitchFamily="34" charset="-122"/>
                <a:cs typeface="Montserrat Medium" pitchFamily="34" charset="-120"/>
              </a:rPr>
              <a:t>No single architecture wins on all dimensions — choice depends on which quality attributes matter most for your system.</a:t>
            </a:r>
            <a:endParaRPr lang="en-US" sz="10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3429000" cy="5143500"/>
          </a:xfrm>
          <a:prstGeom prst="rect">
            <a:avLst/>
          </a:prstGeom>
        </p:spPr>
      </p:pic>
      <p:sp>
        <p:nvSpPr>
          <p:cNvPr id="3" name="Shape 0"/>
          <p:cNvSpPr/>
          <p:nvPr/>
        </p:nvSpPr>
        <p:spPr>
          <a:xfrm>
            <a:off x="3897288" y="1205657"/>
            <a:ext cx="777478" cy="203299"/>
          </a:xfrm>
          <a:prstGeom prst="roundRect">
            <a:avLst>
              <a:gd name="adj" fmla="val 7899"/>
            </a:avLst>
          </a:prstGeom>
          <a:solidFill>
            <a:srgbClr val="4D1700"/>
          </a:solidFill>
          <a:ln/>
        </p:spPr>
      </p:sp>
      <p:sp>
        <p:nvSpPr>
          <p:cNvPr id="4" name="Text 1"/>
          <p:cNvSpPr/>
          <p:nvPr/>
        </p:nvSpPr>
        <p:spPr>
          <a:xfrm>
            <a:off x="3977506" y="1245766"/>
            <a:ext cx="1074241" cy="123081"/>
          </a:xfrm>
          <a:prstGeom prst="rect">
            <a:avLst/>
          </a:prstGeom>
          <a:noFill/>
          <a:ln/>
        </p:spPr>
        <p:txBody>
          <a:bodyPr wrap="none" lIns="0" tIns="0" rIns="0" bIns="0" rtlCol="0" anchor="t"/>
          <a:lstStyle/>
          <a:p>
            <a:pPr algn="l" indent="0" marL="0">
              <a:lnSpc>
                <a:spcPct val="96000"/>
              </a:lnSpc>
              <a:buNone/>
            </a:pPr>
            <a:r>
              <a:rPr lang="en-US" sz="800" dirty="0">
                <a:solidFill>
                  <a:srgbClr val="F4CAB8"/>
                </a:solidFill>
                <a:latin typeface="Montserrat Medium" pitchFamily="34" charset="0"/>
                <a:ea typeface="Montserrat Medium" pitchFamily="34" charset="-122"/>
                <a:cs typeface="Montserrat Medium" pitchFamily="34" charset="-120"/>
              </a:rPr>
              <a:t>CHAPTER 2</a:t>
            </a:r>
            <a:endParaRPr lang="en-US" sz="800" dirty="0"/>
          </a:p>
        </p:txBody>
      </p:sp>
      <p:sp>
        <p:nvSpPr>
          <p:cNvPr id="5" name="Text 2"/>
          <p:cNvSpPr/>
          <p:nvPr/>
        </p:nvSpPr>
        <p:spPr>
          <a:xfrm>
            <a:off x="3897288" y="1462460"/>
            <a:ext cx="4778425" cy="1846659"/>
          </a:xfrm>
          <a:prstGeom prst="rect">
            <a:avLst/>
          </a:prstGeom>
          <a:noFill/>
          <a:ln/>
        </p:spPr>
        <p:txBody>
          <a:bodyPr wrap="square" lIns="0" tIns="0" rIns="0" bIns="0" rtlCol="0" anchor="t">
            <a:normAutofit/>
          </a:bodyPr>
          <a:lstStyle/>
          <a:p>
            <a:pPr algn="l" indent="0" marL="0">
              <a:lnSpc>
                <a:spcPct val="104000"/>
              </a:lnSpc>
              <a:buNone/>
            </a:pPr>
            <a:r>
              <a:rPr lang="en-US" sz="3850" b="1" dirty="0">
                <a:solidFill>
                  <a:srgbClr val="FFB393"/>
                </a:solidFill>
                <a:latin typeface="Brygada 1918 Bold" pitchFamily="34" charset="0"/>
                <a:ea typeface="Brygada 1918 Bold" pitchFamily="34" charset="-122"/>
                <a:cs typeface="Brygada 1918 Bold" pitchFamily="34" charset="-120"/>
              </a:rPr>
              <a:t>Part 2: Architectural Tactics</a:t>
            </a:r>
            <a:endParaRPr lang="en-US" sz="3850" dirty="0"/>
          </a:p>
        </p:txBody>
      </p:sp>
      <p:sp>
        <p:nvSpPr>
          <p:cNvPr id="6" name="Text 3"/>
          <p:cNvSpPr/>
          <p:nvPr/>
        </p:nvSpPr>
        <p:spPr>
          <a:xfrm>
            <a:off x="3897288" y="3509814"/>
            <a:ext cx="4778425" cy="428030"/>
          </a:xfrm>
          <a:prstGeom prst="rect">
            <a:avLst/>
          </a:prstGeom>
          <a:noFill/>
          <a:ln/>
        </p:spPr>
        <p:txBody>
          <a:bodyPr wrap="square" lIns="0" tIns="0" rIns="0" bIns="0" rtlCol="0" anchor="t">
            <a:normAutofit/>
          </a:bodyPr>
          <a:lstStyle/>
          <a:p>
            <a:pPr algn="l" indent="0" marL="0">
              <a:lnSpc>
                <a:spcPct val="133000"/>
              </a:lnSpc>
              <a:buNone/>
            </a:pPr>
            <a:r>
              <a:rPr lang="en-US" sz="1050" dirty="0">
                <a:solidFill>
                  <a:srgbClr val="F4CAB8"/>
                </a:solidFill>
                <a:latin typeface="Montserrat Medium" pitchFamily="34" charset="0"/>
                <a:ea typeface="Montserrat Medium" pitchFamily="34" charset="-122"/>
                <a:cs typeface="Montserrat Medium" pitchFamily="34" charset="-120"/>
              </a:rPr>
              <a:t>Design decisions that directly influence quality attribute responses — the building blocks of architecture-level engineering.</a:t>
            </a:r>
            <a:endParaRPr lang="en-US" sz="10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468288" y="466055"/>
            <a:ext cx="8207425" cy="418207"/>
          </a:xfrm>
          <a:prstGeom prst="rect">
            <a:avLst/>
          </a:prstGeom>
          <a:noFill/>
          <a:ln/>
        </p:spPr>
        <p:txBody>
          <a:bodyPr wrap="none" lIns="0" tIns="0" rIns="0" bIns="0" rtlCol="0" anchor="t"/>
          <a:lstStyle/>
          <a:p>
            <a:pPr algn="l" indent="0" marL="0">
              <a:lnSpc>
                <a:spcPct val="104000"/>
              </a:lnSpc>
              <a:buNone/>
            </a:pPr>
            <a:r>
              <a:rPr lang="en-US" sz="2600" b="1" dirty="0">
                <a:solidFill>
                  <a:srgbClr val="FFB393"/>
                </a:solidFill>
                <a:latin typeface="Brygada 1918 Bold" pitchFamily="34" charset="0"/>
                <a:ea typeface="Brygada 1918 Bold" pitchFamily="34" charset="-122"/>
                <a:cs typeface="Brygada 1918 Bold" pitchFamily="34" charset="-120"/>
              </a:rPr>
              <a:t>What Is an Architectural Tactic?</a:t>
            </a:r>
            <a:endParaRPr lang="en-US" sz="2600" dirty="0"/>
          </a:p>
        </p:txBody>
      </p:sp>
      <p:sp>
        <p:nvSpPr>
          <p:cNvPr id="3" name="Text 1"/>
          <p:cNvSpPr/>
          <p:nvPr/>
        </p:nvSpPr>
        <p:spPr>
          <a:xfrm>
            <a:off x="656406" y="1298749"/>
            <a:ext cx="3762598" cy="583332"/>
          </a:xfrm>
          <a:prstGeom prst="rect">
            <a:avLst/>
          </a:prstGeom>
          <a:noFill/>
          <a:ln/>
        </p:spPr>
        <p:txBody>
          <a:bodyPr wrap="square" lIns="0" tIns="0" rIns="0" bIns="0" rtlCol="0" anchor="t">
            <a:normAutofit/>
          </a:bodyPr>
          <a:lstStyle/>
          <a:p>
            <a:pPr algn="l" indent="0" marL="0">
              <a:lnSpc>
                <a:spcPct val="129000"/>
              </a:lnSpc>
              <a:buNone/>
            </a:pPr>
            <a:r>
              <a:rPr lang="en-US" sz="950" dirty="0">
                <a:solidFill>
                  <a:srgbClr val="F4CAB8"/>
                </a:solidFill>
                <a:latin typeface="Montserrat Medium" pitchFamily="34" charset="0"/>
                <a:ea typeface="Montserrat Medium" pitchFamily="34" charset="-122"/>
                <a:cs typeface="Montserrat Medium" pitchFamily="34" charset="-120"/>
              </a:rPr>
              <a:t>An architectural tactic is a transformation on an architecture or a change to the input to a system that results in the improvement of a specific quality attribute.</a:t>
            </a:r>
            <a:endParaRPr lang="en-US" sz="950" dirty="0"/>
          </a:p>
        </p:txBody>
      </p:sp>
      <p:sp>
        <p:nvSpPr>
          <p:cNvPr id="4" name="Shape 2"/>
          <p:cNvSpPr/>
          <p:nvPr/>
        </p:nvSpPr>
        <p:spPr>
          <a:xfrm>
            <a:off x="468288" y="1192932"/>
            <a:ext cx="14288" cy="794965"/>
          </a:xfrm>
          <a:prstGeom prst="roundRect">
            <a:avLst>
              <a:gd name="adj" fmla="val 59998"/>
            </a:avLst>
          </a:prstGeom>
          <a:solidFill>
            <a:srgbClr val="FFB393"/>
          </a:solidFill>
          <a:ln/>
        </p:spPr>
      </p:sp>
      <p:sp>
        <p:nvSpPr>
          <p:cNvPr id="5" name="Text 3"/>
          <p:cNvSpPr/>
          <p:nvPr/>
        </p:nvSpPr>
        <p:spPr>
          <a:xfrm>
            <a:off x="468288" y="2120205"/>
            <a:ext cx="3950717" cy="583332"/>
          </a:xfrm>
          <a:prstGeom prst="rect">
            <a:avLst/>
          </a:prstGeom>
          <a:noFill/>
          <a:ln/>
        </p:spPr>
        <p:txBody>
          <a:bodyPr wrap="square" lIns="0" tIns="0" rIns="0" bIns="0" rtlCol="0" anchor="t">
            <a:normAutofit/>
          </a:bodyPr>
          <a:lstStyle/>
          <a:p>
            <a:pPr algn="l" indent="0" marL="0">
              <a:lnSpc>
                <a:spcPct val="129000"/>
              </a:lnSpc>
              <a:buNone/>
            </a:pPr>
            <a:r>
              <a:rPr lang="en-US" sz="950" dirty="0">
                <a:solidFill>
                  <a:srgbClr val="F4CAB8"/>
                </a:solidFill>
                <a:latin typeface="Montserrat Medium" pitchFamily="34" charset="0"/>
                <a:ea typeface="Montserrat Medium" pitchFamily="34" charset="-122"/>
                <a:cs typeface="Montserrat Medium" pitchFamily="34" charset="-120"/>
              </a:rPr>
              <a:t>Tactics are the </a:t>
            </a:r>
            <a:pPr algn="l" indent="0" marL="0">
              <a:lnSpc>
                <a:spcPct val="129000"/>
              </a:lnSpc>
              <a:buNone/>
            </a:pPr>
            <a:r>
              <a:rPr lang="en-US" sz="950" b="1" dirty="0">
                <a:solidFill>
                  <a:srgbClr val="F4CAB8"/>
                </a:solidFill>
                <a:latin typeface="Montserrat Bold" pitchFamily="34" charset="0"/>
                <a:ea typeface="Montserrat Bold" pitchFamily="34" charset="-122"/>
                <a:cs typeface="Montserrat Bold" pitchFamily="34" charset="-120"/>
              </a:rPr>
              <a:t>elementary design decisions</a:t>
            </a:r>
            <a:pPr algn="l" indent="0" marL="0">
              <a:lnSpc>
                <a:spcPct val="129000"/>
              </a:lnSpc>
              <a:buNone/>
            </a:pPr>
            <a:r>
              <a:rPr lang="en-US" sz="950" dirty="0">
                <a:solidFill>
                  <a:srgbClr val="F4CAB8"/>
                </a:solidFill>
                <a:latin typeface="Montserrat Medium" pitchFamily="34" charset="0"/>
                <a:ea typeface="Montserrat Medium" pitchFamily="34" charset="-122"/>
                <a:cs typeface="Montserrat Medium" pitchFamily="34" charset="-120"/>
              </a:rPr>
              <a:t> architects apply to steer a system toward target quality levels. Patterns are often composed of multiple tactics working together.</a:t>
            </a:r>
            <a:endParaRPr lang="en-US" sz="950" dirty="0"/>
          </a:p>
        </p:txBody>
      </p:sp>
      <p:sp>
        <p:nvSpPr>
          <p:cNvPr id="6" name="Text 4"/>
          <p:cNvSpPr/>
          <p:nvPr/>
        </p:nvSpPr>
        <p:spPr>
          <a:xfrm>
            <a:off x="4729758" y="1178198"/>
            <a:ext cx="3950717" cy="209104"/>
          </a:xfrm>
          <a:prstGeom prst="rect">
            <a:avLst/>
          </a:prstGeom>
          <a:noFill/>
          <a:ln/>
        </p:spPr>
        <p:txBody>
          <a:bodyPr wrap="none" lIns="0" tIns="0" rIns="0" bIns="0" rtlCol="0" anchor="t"/>
          <a:lstStyle/>
          <a:p>
            <a:pPr algn="l" indent="0" marL="0">
              <a:lnSpc>
                <a:spcPct val="104000"/>
              </a:lnSpc>
              <a:buNone/>
            </a:pPr>
            <a:r>
              <a:rPr lang="en-US" sz="1300" b="1" dirty="0">
                <a:solidFill>
                  <a:srgbClr val="FFB393"/>
                </a:solidFill>
                <a:latin typeface="Brygada 1918 Bold" pitchFamily="34" charset="0"/>
                <a:ea typeface="Brygada 1918 Bold" pitchFamily="34" charset="-122"/>
                <a:cs typeface="Brygada 1918 Bold" pitchFamily="34" charset="-120"/>
              </a:rPr>
              <a:t>Tactic Examples by Quality Attribute</a:t>
            </a:r>
            <a:endParaRPr lang="en-US" sz="1300" dirty="0"/>
          </a:p>
        </p:txBody>
      </p:sp>
      <p:pic>
        <p:nvPicPr>
          <p:cNvPr id="7"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4729758" y="1519610"/>
            <a:ext cx="3950717" cy="994916"/>
          </a:xfrm>
          <a:prstGeom prst="rect">
            <a:avLst/>
          </a:prstGeom>
        </p:spPr>
      </p:pic>
      <p:sp>
        <p:nvSpPr>
          <p:cNvPr id="8" name="Text 5"/>
          <p:cNvSpPr/>
          <p:nvPr/>
        </p:nvSpPr>
        <p:spPr>
          <a:xfrm>
            <a:off x="4926583" y="1659285"/>
            <a:ext cx="3614217" cy="209104"/>
          </a:xfrm>
          <a:prstGeom prst="rect">
            <a:avLst/>
          </a:prstGeom>
          <a:noFill/>
          <a:ln/>
        </p:spPr>
        <p:txBody>
          <a:bodyPr wrap="none" lIns="0" tIns="0" rIns="0" bIns="0" rtlCol="0" anchor="t"/>
          <a:lstStyle/>
          <a:p>
            <a:pPr algn="l" indent="0" marL="0">
              <a:lnSpc>
                <a:spcPct val="104000"/>
              </a:lnSpc>
              <a:buNone/>
            </a:pPr>
            <a:r>
              <a:rPr lang="en-US" sz="1300" b="1" dirty="0">
                <a:solidFill>
                  <a:srgbClr val="F4CAB8"/>
                </a:solidFill>
                <a:latin typeface="Brygada 1918 Bold" pitchFamily="34" charset="0"/>
                <a:ea typeface="Brygada 1918 Bold" pitchFamily="34" charset="-122"/>
                <a:cs typeface="Brygada 1918 Bold" pitchFamily="34" charset="-120"/>
              </a:rPr>
              <a:t>Modifiability</a:t>
            </a:r>
            <a:endParaRPr lang="en-US" sz="1300" dirty="0"/>
          </a:p>
        </p:txBody>
      </p:sp>
      <p:sp>
        <p:nvSpPr>
          <p:cNvPr id="9" name="Text 6"/>
          <p:cNvSpPr/>
          <p:nvPr/>
        </p:nvSpPr>
        <p:spPr>
          <a:xfrm>
            <a:off x="4926583" y="1985963"/>
            <a:ext cx="3614217" cy="388888"/>
          </a:xfrm>
          <a:prstGeom prst="rect">
            <a:avLst/>
          </a:prstGeom>
          <a:noFill/>
          <a:ln/>
        </p:spPr>
        <p:txBody>
          <a:bodyPr wrap="square" lIns="0" tIns="0" rIns="0" bIns="0" rtlCol="0" anchor="t">
            <a:normAutofit/>
          </a:bodyPr>
          <a:lstStyle/>
          <a:p>
            <a:pPr algn="l" indent="0" marL="0">
              <a:lnSpc>
                <a:spcPct val="129000"/>
              </a:lnSpc>
              <a:buNone/>
            </a:pPr>
            <a:r>
              <a:rPr lang="en-US" sz="950" b="1" dirty="0">
                <a:solidFill>
                  <a:srgbClr val="F4CAB8"/>
                </a:solidFill>
                <a:latin typeface="Montserrat Bold" pitchFamily="34" charset="0"/>
                <a:ea typeface="Montserrat Bold" pitchFamily="34" charset="-122"/>
                <a:cs typeface="Montserrat Bold" pitchFamily="34" charset="-120"/>
              </a:rPr>
              <a:t>Information hiding</a:t>
            </a:r>
            <a:pPr algn="l" indent="0" marL="0">
              <a:lnSpc>
                <a:spcPct val="129000"/>
              </a:lnSpc>
              <a:buNone/>
            </a:pPr>
            <a:r>
              <a:rPr lang="en-US" sz="950" dirty="0">
                <a:solidFill>
                  <a:srgbClr val="F4CAB8"/>
                </a:solidFill>
                <a:latin typeface="Montserrat Medium" pitchFamily="34" charset="0"/>
                <a:ea typeface="Montserrat Medium" pitchFamily="34" charset="-122"/>
                <a:cs typeface="Montserrat Medium" pitchFamily="34" charset="-120"/>
              </a:rPr>
              <a:t> — encapsulate decisions likely to change</a:t>
            </a:r>
            <a:endParaRPr lang="en-US" sz="950" dirty="0"/>
          </a:p>
        </p:txBody>
      </p:sp>
      <p:pic>
        <p:nvPicPr>
          <p:cNvPr id="10" name="Image 1" descr="preencoded.png">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4729758" y="2632100"/>
            <a:ext cx="3950717" cy="800472"/>
          </a:xfrm>
          <a:prstGeom prst="rect">
            <a:avLst/>
          </a:prstGeom>
        </p:spPr>
      </p:pic>
      <p:sp>
        <p:nvSpPr>
          <p:cNvPr id="11" name="Text 7"/>
          <p:cNvSpPr/>
          <p:nvPr/>
        </p:nvSpPr>
        <p:spPr>
          <a:xfrm>
            <a:off x="4926583" y="2771775"/>
            <a:ext cx="3614217" cy="209104"/>
          </a:xfrm>
          <a:prstGeom prst="rect">
            <a:avLst/>
          </a:prstGeom>
          <a:noFill/>
          <a:ln/>
        </p:spPr>
        <p:txBody>
          <a:bodyPr wrap="none" lIns="0" tIns="0" rIns="0" bIns="0" rtlCol="0" anchor="t"/>
          <a:lstStyle/>
          <a:p>
            <a:pPr algn="l" indent="0" marL="0">
              <a:lnSpc>
                <a:spcPct val="104000"/>
              </a:lnSpc>
              <a:buNone/>
            </a:pPr>
            <a:r>
              <a:rPr lang="en-US" sz="1300" b="1" dirty="0">
                <a:solidFill>
                  <a:srgbClr val="F4CAB8"/>
                </a:solidFill>
                <a:latin typeface="Brygada 1918 Bold" pitchFamily="34" charset="0"/>
                <a:ea typeface="Brygada 1918 Bold" pitchFamily="34" charset="-122"/>
                <a:cs typeface="Brygada 1918 Bold" pitchFamily="34" charset="-120"/>
              </a:rPr>
              <a:t>Availability &amp; Reliability</a:t>
            </a:r>
            <a:endParaRPr lang="en-US" sz="1300" dirty="0"/>
          </a:p>
        </p:txBody>
      </p:sp>
      <p:sp>
        <p:nvSpPr>
          <p:cNvPr id="12" name="Text 8"/>
          <p:cNvSpPr/>
          <p:nvPr/>
        </p:nvSpPr>
        <p:spPr>
          <a:xfrm>
            <a:off x="4926583" y="3098453"/>
            <a:ext cx="3614217" cy="194444"/>
          </a:xfrm>
          <a:prstGeom prst="rect">
            <a:avLst/>
          </a:prstGeom>
          <a:noFill/>
          <a:ln/>
        </p:spPr>
        <p:txBody>
          <a:bodyPr wrap="none" lIns="0" tIns="0" rIns="0" bIns="0" rtlCol="0" anchor="t"/>
          <a:lstStyle/>
          <a:p>
            <a:pPr algn="l" indent="0" marL="0">
              <a:lnSpc>
                <a:spcPct val="129000"/>
              </a:lnSpc>
              <a:buNone/>
            </a:pPr>
            <a:r>
              <a:rPr lang="en-US" sz="950" b="1" dirty="0">
                <a:solidFill>
                  <a:srgbClr val="F4CAB8"/>
                </a:solidFill>
                <a:latin typeface="Montserrat Bold" pitchFamily="34" charset="0"/>
                <a:ea typeface="Montserrat Bold" pitchFamily="34" charset="-122"/>
                <a:cs typeface="Montserrat Bold" pitchFamily="34" charset="-120"/>
              </a:rPr>
              <a:t>Redundancy</a:t>
            </a:r>
            <a:pPr algn="l" indent="0" marL="0">
              <a:lnSpc>
                <a:spcPct val="129000"/>
              </a:lnSpc>
              <a:buNone/>
            </a:pPr>
            <a:r>
              <a:rPr lang="en-US" sz="950" dirty="0">
                <a:solidFill>
                  <a:srgbClr val="F4CAB8"/>
                </a:solidFill>
                <a:latin typeface="Montserrat Medium" pitchFamily="34" charset="0"/>
                <a:ea typeface="Montserrat Medium" pitchFamily="34" charset="-122"/>
                <a:cs typeface="Montserrat Medium" pitchFamily="34" charset="-120"/>
              </a:rPr>
              <a:t> — duplicate components to tolerate failure</a:t>
            </a:r>
            <a:endParaRPr lang="en-US" sz="950" dirty="0"/>
          </a:p>
        </p:txBody>
      </p:sp>
      <p:pic>
        <p:nvPicPr>
          <p:cNvPr id="13" name="Image 2" descr="preencoded.png">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4729758" y="3550146"/>
            <a:ext cx="3950717" cy="994916"/>
          </a:xfrm>
          <a:prstGeom prst="rect">
            <a:avLst/>
          </a:prstGeom>
        </p:spPr>
      </p:pic>
      <p:sp>
        <p:nvSpPr>
          <p:cNvPr id="14" name="Text 9"/>
          <p:cNvSpPr/>
          <p:nvPr/>
        </p:nvSpPr>
        <p:spPr>
          <a:xfrm>
            <a:off x="4926583" y="3689821"/>
            <a:ext cx="3614217" cy="209104"/>
          </a:xfrm>
          <a:prstGeom prst="rect">
            <a:avLst/>
          </a:prstGeom>
          <a:noFill/>
          <a:ln/>
        </p:spPr>
        <p:txBody>
          <a:bodyPr wrap="none" lIns="0" tIns="0" rIns="0" bIns="0" rtlCol="0" anchor="t"/>
          <a:lstStyle/>
          <a:p>
            <a:pPr algn="l" indent="0" marL="0">
              <a:lnSpc>
                <a:spcPct val="104000"/>
              </a:lnSpc>
              <a:buNone/>
            </a:pPr>
            <a:r>
              <a:rPr lang="en-US" sz="1300" b="1" dirty="0">
                <a:solidFill>
                  <a:srgbClr val="F4CAB8"/>
                </a:solidFill>
                <a:latin typeface="Brygada 1918 Bold" pitchFamily="34" charset="0"/>
                <a:ea typeface="Brygada 1918 Bold" pitchFamily="34" charset="-122"/>
                <a:cs typeface="Brygada 1918 Bold" pitchFamily="34" charset="-120"/>
              </a:rPr>
              <a:t>Performance</a:t>
            </a:r>
            <a:endParaRPr lang="en-US" sz="1300" dirty="0"/>
          </a:p>
        </p:txBody>
      </p:sp>
      <p:sp>
        <p:nvSpPr>
          <p:cNvPr id="15" name="Text 10"/>
          <p:cNvSpPr/>
          <p:nvPr/>
        </p:nvSpPr>
        <p:spPr>
          <a:xfrm>
            <a:off x="4926583" y="4016499"/>
            <a:ext cx="3614217" cy="388888"/>
          </a:xfrm>
          <a:prstGeom prst="rect">
            <a:avLst/>
          </a:prstGeom>
          <a:noFill/>
          <a:ln/>
        </p:spPr>
        <p:txBody>
          <a:bodyPr wrap="square" lIns="0" tIns="0" rIns="0" bIns="0" rtlCol="0" anchor="t">
            <a:normAutofit/>
          </a:bodyPr>
          <a:lstStyle/>
          <a:p>
            <a:pPr algn="l" indent="0" marL="0">
              <a:lnSpc>
                <a:spcPct val="129000"/>
              </a:lnSpc>
              <a:buNone/>
            </a:pPr>
            <a:r>
              <a:rPr lang="en-US" sz="950" b="1" dirty="0">
                <a:solidFill>
                  <a:srgbClr val="F4CAB8"/>
                </a:solidFill>
                <a:latin typeface="Montserrat Bold" pitchFamily="34" charset="0"/>
                <a:ea typeface="Montserrat Bold" pitchFamily="34" charset="-122"/>
                <a:cs typeface="Montserrat Bold" pitchFamily="34" charset="-120"/>
              </a:rPr>
              <a:t>Reduce arrival rate</a:t>
            </a:r>
            <a:pPr algn="l" indent="0" marL="0">
              <a:lnSpc>
                <a:spcPct val="129000"/>
              </a:lnSpc>
              <a:buNone/>
            </a:pPr>
            <a:r>
              <a:rPr lang="en-US" sz="950" dirty="0">
                <a:solidFill>
                  <a:srgbClr val="F4CAB8"/>
                </a:solidFill>
                <a:latin typeface="Montserrat Medium" pitchFamily="34" charset="0"/>
                <a:ea typeface="Montserrat Medium" pitchFamily="34" charset="-122"/>
                <a:cs typeface="Montserrat Medium" pitchFamily="34" charset="-120"/>
              </a:rPr>
              <a:t> of requests to improve latency and response time</a:t>
            </a:r>
            <a:endParaRPr lang="en-US" sz="9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11</Slides>
  <Notes>11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11</vt:i4>
      </vt:variant>
    </vt:vector>
  </HeadingPairs>
  <TitlesOfParts>
    <vt:vector size="1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lastModifiedBy/>
  <cp:revision>1</cp:revision>
  <dcterms:created xsi:type="dcterms:W3CDTF">2026-07-27T07:06:29Z</dcterms:created>
  <dcterms:modified xsi:type="dcterms:W3CDTF">2026-07-27T07:06:29Z</dcterms:modified>
</cp:coreProperties>
</file>