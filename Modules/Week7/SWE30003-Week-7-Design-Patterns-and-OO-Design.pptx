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f7fwe8bk6dvebp2/6ff72c68249e4955b62560c91768d86b/file/Inside-Patterns-1.pdf" TargetMode="External"/><Relationship Id="rId2" Type="http://schemas.openxmlformats.org/officeDocument/2006/relationships/hyperlink" Target="https://cdn.gamma.app/f7fwe8bk6dvebp2/55c857b78a5b457a9c4c33e38493dec5/html/Week07_Patterns_Summary.html" TargetMode="External"/><Relationship Id="rId3" Type="http://schemas.openxmlformats.org/officeDocument/2006/relationships/hyperlink" Target="https://cdn.gamma.app/f7fwe8bk6dvebp2/fdb76a9e1d6944ecb640d2cc5178b0d5/file/Tutorial-Answer-Week07.pdf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4089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SWE30003 – Week 7: Design Patterns &amp; OO Design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6119" y="314898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Architectures and Design · Swinburne University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8334"/>
            <a:ext cx="4722763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a Design Pattern?</a:t>
            </a:r>
            <a:endParaRPr lang="en-US" sz="2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087785"/>
            <a:ext cx="4722763" cy="11790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27227" y="1232743"/>
            <a:ext cx="437569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27227" y="1519386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reusable, well-proven solution to a recurring design problem within a specific context — describing both the problem and a generic solution scheme, including components, responsibilities, and relationships.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87352"/>
            <a:ext cx="4722763" cy="9782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7227" y="2532311"/>
            <a:ext cx="437569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Pattern is a Process AND a Thing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27227" y="2818954"/>
            <a:ext cx="437569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tells you </a:t>
            </a:r>
            <a:pPr algn="l" indent="0" marL="0">
              <a:lnSpc>
                <a:spcPct val="128000"/>
              </a:lnSpc>
              <a:buNone/>
            </a:pPr>
            <a:r>
              <a:rPr lang="en-US" sz="1000" i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(the resulting design structure) and </a:t>
            </a:r>
            <a:pPr algn="l" indent="0" marL="0">
              <a:lnSpc>
                <a:spcPct val="128000"/>
              </a:lnSpc>
              <a:buNone/>
            </a:pPr>
            <a:r>
              <a:rPr lang="en-US" sz="1000" i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it (the process that creates it).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486076"/>
            <a:ext cx="4722763" cy="11790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27227" y="3631034"/>
            <a:ext cx="437569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Patterns Matter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27227" y="3917677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communication, enable reuse, boost maintainability — and help novices act like experts without years of accumulated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395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Patterns vs. Related Concepts</a:t>
            </a:r>
            <a:endParaRPr lang="en-US" sz="1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19882"/>
            <a:ext cx="3989412" cy="398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232" y="2428503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where patterns sit in the design vocabulary helps apply them correctly: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663232" y="2545407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step-by-step computational logic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concrete, deployable unit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Framework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architecture skeleton you fill in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Pattern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language-agnostic, transferable design solution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Idiom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language-specific technique (e.g. programming to an interface)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270"/>
            <a:ext cx="8151763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Template Method Pattern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56842"/>
            <a:ext cx="5188893" cy="22259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03206" y="1175370"/>
            <a:ext cx="1220986" cy="195114"/>
          </a:xfrm>
          <a:prstGeom prst="roundRect">
            <a:avLst>
              <a:gd name="adj" fmla="val 22125"/>
            </a:avLst>
          </a:prstGeom>
          <a:solidFill>
            <a:srgbClr val="1C113B"/>
          </a:solidFill>
          <a:ln/>
        </p:spPr>
      </p:sp>
      <p:sp>
        <p:nvSpPr>
          <p:cNvPr id="5" name="Text 2"/>
          <p:cNvSpPr/>
          <p:nvPr/>
        </p:nvSpPr>
        <p:spPr>
          <a:xfrm>
            <a:off x="6080224" y="1213842"/>
            <a:ext cx="1524149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INHERITANCE-BASED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03206" y="1416993"/>
            <a:ext cx="264936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03206" y="1744117"/>
            <a:ext cx="26493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skeleton of an algorithm in a base class; let subclasses override specific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hook operations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altering the overall structure.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3206" y="2644229"/>
            <a:ext cx="264936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Mechanism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03206" y="2971354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parent class calls abstract hook methods. Subclasses provide concrete implementations for those hooks only.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03206" y="3675534"/>
            <a:ext cx="264936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Benefit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03206" y="4002658"/>
            <a:ext cx="2649364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behaviour is written once. Variation is cleanly isolated to hook methods — no duplication, easy extension.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580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Factory Method Pattern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54485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86025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6119" y="2803624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an interface for creating an object, but let subclasses decide which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concrete class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instantiate — creation is delegated downward.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954485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486025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Benefit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272433" y="2803624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Decouples the creator from the concrete product. Callers depend only on the interface, not the implementation — reducing coupling and improving extensibility.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954485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486025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When to Use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6048747" y="2803624"/>
            <a:ext cx="259913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exact type of object isn't known until runtime, or when subclasses should control which product gets created based on context.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6822"/>
            <a:ext cx="8151763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Strategy Pattern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230" y="1924869"/>
            <a:ext cx="4116735" cy="19031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06703" y="1151781"/>
            <a:ext cx="1296888" cy="198462"/>
          </a:xfrm>
          <a:prstGeom prst="roundRect">
            <a:avLst>
              <a:gd name="adj" fmla="val 22126"/>
            </a:avLst>
          </a:prstGeom>
          <a:solidFill>
            <a:srgbClr val="1C113B"/>
          </a:solidFill>
          <a:ln/>
        </p:spPr>
      </p:sp>
      <p:sp>
        <p:nvSpPr>
          <p:cNvPr id="5" name="Text 2"/>
          <p:cNvSpPr/>
          <p:nvPr/>
        </p:nvSpPr>
        <p:spPr>
          <a:xfrm>
            <a:off x="6085061" y="1190923"/>
            <a:ext cx="1597372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COMPOSITION-BASED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06703" y="1398389"/>
            <a:ext cx="264586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Intent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06703" y="1733252"/>
            <a:ext cx="264586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a family of algorithms, encapsulate each one, and make them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interchangeable at runtime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6703" y="2456259"/>
            <a:ext cx="264586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Mechanism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06703" y="2791123"/>
            <a:ext cx="264586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context holds a reference to a </a:t>
            </a:r>
            <a:pPr algn="l" indent="0" marL="0">
              <a:lnSpc>
                <a:spcPct val="128000"/>
              </a:lnSpc>
              <a:buNone/>
            </a:pPr>
            <a:r>
              <a:rPr lang="en-US" sz="1000" i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interface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delegates the algorithm to it — no subclassing required.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06703" y="3514130"/>
            <a:ext cx="2645866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Strategy vs. Template Method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006703" y="3848993"/>
            <a:ext cx="2645866" cy="845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Strategy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swaps whole algorithms at runtime via composition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Template Method</a:t>
            </a:r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customises steps at compile time via inheritance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0115"/>
            <a:ext cx="1162124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602605"/>
            <a:ext cx="144921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 CASE STUDY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2172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ATM Case Study: Identifying Classes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509936"/>
            <a:ext cx="2622724" cy="2120205"/>
          </a:xfrm>
          <a:prstGeom prst="roundRect">
            <a:avLst>
              <a:gd name="adj" fmla="val 280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1656457"/>
            <a:ext cx="232968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Hardware Interfaces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2640" y="1974056"/>
            <a:ext cx="2329681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CardReader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Keypad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CashDispenser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ReceiptPrinter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509936"/>
            <a:ext cx="2622724" cy="2120205"/>
          </a:xfrm>
          <a:prstGeom prst="roundRect">
            <a:avLst>
              <a:gd name="adj" fmla="val 280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7122" y="1656457"/>
            <a:ext cx="232968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Logic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07122" y="1974056"/>
            <a:ext cx="2329681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ATMController — orchestrates lifecycle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SessionManager — tracks one user session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509936"/>
            <a:ext cx="2622724" cy="2120205"/>
          </a:xfrm>
          <a:prstGeom prst="roundRect">
            <a:avLst>
              <a:gd name="adj" fmla="val 2808"/>
            </a:avLst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1605" y="1656457"/>
            <a:ext cx="232968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Data Entities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71605" y="1974056"/>
            <a:ext cx="2329681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BankDatabase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+ subclasses: Withdrawal, Deposit, Transfer, Inquiry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789611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2F1D63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990380"/>
            <a:ext cx="177180" cy="14175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6816" y="3966790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are identified through Responsibility-Driven Design (RDD) — hardware interfaces, control logic, and data entities emerge as distinct layers.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8620"/>
            <a:ext cx="1034728" cy="191839"/>
          </a:xfrm>
          <a:prstGeom prst="roundRect">
            <a:avLst>
              <a:gd name="adj" fmla="val 22114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1872" y="546497"/>
            <a:ext cx="134042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 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45406"/>
            <a:ext cx="8151763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ATM Case Study: Assigning Responsibilities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7203"/>
            <a:ext cx="5190753" cy="23886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99708" y="1440731"/>
            <a:ext cx="2652861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ATMController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99708" y="1760265"/>
            <a:ext cx="265286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global state; collaborates with CardReader to detect card insertion/ejection and with SessionManager to validate user state flows.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9708" y="2636490"/>
            <a:ext cx="2652861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SessionManager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99708" y="2956024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Drives PIN entry and menu navigation; authenticates via Account; triggers the appropriate Transaction subclass.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99708" y="3641303"/>
            <a:ext cx="2652861" cy="207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 Subclasses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99708" y="3960837"/>
            <a:ext cx="26528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limits, update Account balance, command CashDispenser and ReceiptPrinter to complete each operation.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9976"/>
            <a:ext cx="980480" cy="181719"/>
          </a:xfrm>
          <a:prstGeom prst="roundRect">
            <a:avLst>
              <a:gd name="adj" fmla="val 22117"/>
            </a:avLst>
          </a:prstGeom>
          <a:noFill/>
          <a:ln w="4763">
            <a:solidFill>
              <a:srgbClr val="876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7854" y="435843"/>
            <a:ext cx="1294209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ATM 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22027"/>
            <a:ext cx="8151763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CRC Cards &amp; Class Hierarchies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96119" y="1266825"/>
            <a:ext cx="2663354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CRC Cards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563960"/>
            <a:ext cx="2663354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– Responsibility – Collaboration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cards document each class's purpose, what it does, and who it collaborates with. They are the core artefact of RDD.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6119" y="2370311"/>
            <a:ext cx="2663354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Transaction Hierarchy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667446"/>
            <a:ext cx="2663354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abstract </a:t>
            </a:r>
            <a:pPr algn="l" indent="0" marL="0">
              <a:lnSpc>
                <a:spcPct val="123000"/>
              </a:lnSpc>
              <a:buNone/>
            </a:pPr>
            <a:r>
              <a:rPr lang="en-US" sz="900" i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 class with subclasses — WithdrawalTransaction, DepositTransaction, TransferTransaction, BalanceInquiryTransaction — is a natural application of the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Template Method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pattern.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6119" y="3650159"/>
            <a:ext cx="2663354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Factory Method Applied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6119" y="3947294"/>
            <a:ext cx="2663354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SessionManager uses a Factory Method to instantiate the correct Transaction subclass based on the user's menu selection — decoupling control flow from creation logic.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5253" y="1299567"/>
            <a:ext cx="3778151" cy="3310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3771"/>
            <a:ext cx="4722763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053926"/>
            <a:ext cx="686619" cy="12285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15715" y="1191220"/>
            <a:ext cx="3903166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Proven Design Knowledge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15715" y="1496244"/>
            <a:ext cx="3903166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are language-agnostic and reusable across domains — they capture decades of collective design expertise.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82503"/>
            <a:ext cx="686619" cy="12285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15715" y="2419796"/>
            <a:ext cx="3903166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 Patterns, Three Mechanisms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315715" y="2724820"/>
            <a:ext cx="3903166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Template Method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inheritance + hooks ·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Factory Method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decouple creation ·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Strategy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swap algorithms via composition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511079"/>
            <a:ext cx="686619" cy="12285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15715" y="3648373"/>
            <a:ext cx="3903166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Patterns Emerge from Good Design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1315715" y="3953396"/>
            <a:ext cx="3903166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ATM exercise, RDD + CRC cards → clear class boundaries → patterns arise naturally from well-allocated responsibilities.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07592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Sources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556272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 Patterns(1).pdf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Week07_Patterns_Summary.docx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u="sng" dirty="0">
                <a:solidFill>
                  <a:srgbClr val="876CD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 Answer Week07.pdf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76CD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2026-07-27T06:50:36Z</dcterms:created>
  <dcterms:modified xsi:type="dcterms:W3CDTF">2026-07-27T06:50:36Z</dcterms:modified>
</cp:coreProperties>
</file>