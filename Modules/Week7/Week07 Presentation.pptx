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 Italics" charset="1" panose="00000800000000000000"/>
      <p:regular r:id="rId14"/>
    </p:embeddedFont>
    <p:embeddedFont>
      <p:font typeface="Raleway Bold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207" y="-418658"/>
            <a:ext cx="18536016" cy="12241353"/>
          </a:xfrm>
          <a:custGeom>
            <a:avLst/>
            <a:gdLst/>
            <a:ahLst/>
            <a:cxnLst/>
            <a:rect r="r" b="b" t="t" l="l"/>
            <a:pathLst>
              <a:path h="12241353" w="18536016">
                <a:moveTo>
                  <a:pt x="0" y="0"/>
                </a:moveTo>
                <a:lnTo>
                  <a:pt x="18536016" y="0"/>
                </a:lnTo>
                <a:lnTo>
                  <a:pt x="18536016" y="12241353"/>
                </a:lnTo>
                <a:lnTo>
                  <a:pt x="0" y="1224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5" t="0" r="-935" b="-28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047982">
            <a:off x="-752237" y="7331391"/>
            <a:ext cx="3996842" cy="4114800"/>
          </a:xfrm>
          <a:custGeom>
            <a:avLst/>
            <a:gdLst/>
            <a:ahLst/>
            <a:cxnLst/>
            <a:rect r="r" b="b" t="t" l="l"/>
            <a:pathLst>
              <a:path h="4114800" w="3996842">
                <a:moveTo>
                  <a:pt x="0" y="0"/>
                </a:moveTo>
                <a:lnTo>
                  <a:pt x="3996843" y="0"/>
                </a:lnTo>
                <a:lnTo>
                  <a:pt x="39968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115024" cy="2115024"/>
          </a:xfrm>
          <a:custGeom>
            <a:avLst/>
            <a:gdLst/>
            <a:ahLst/>
            <a:cxnLst/>
            <a:rect r="r" b="b" t="t" l="l"/>
            <a:pathLst>
              <a:path h="2115024" w="2115024">
                <a:moveTo>
                  <a:pt x="0" y="0"/>
                </a:moveTo>
                <a:lnTo>
                  <a:pt x="2115024" y="0"/>
                </a:lnTo>
                <a:lnTo>
                  <a:pt x="2115024" y="2115024"/>
                </a:lnTo>
                <a:lnTo>
                  <a:pt x="0" y="2115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87758" y="4197451"/>
            <a:ext cx="8813116" cy="881311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46" t="0" r="-2504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586014" y="314325"/>
            <a:ext cx="15701986" cy="369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30"/>
              </a:lnSpc>
            </a:pPr>
            <a:r>
              <a:rPr lang="en-US" b="true" sz="14567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Standalone ATM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9752" y="5075269"/>
            <a:ext cx="7054248" cy="286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Course: Software Architecture and Application</a:t>
            </a:r>
          </a:p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Course ID: SWE30003</a:t>
            </a:r>
          </a:p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Lecturer: Mr.Pham Thai Ky Trung</a:t>
            </a:r>
          </a:p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Lecture Dat: Mondays, 13:00 - 16:00 p.m</a:t>
            </a:r>
          </a:p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Team Member: Lu Nhat Hoang</a:t>
            </a:r>
          </a:p>
          <a:p>
            <a:pPr algn="just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         Duong Nguyen Dang</a:t>
            </a:r>
          </a:p>
          <a:p>
            <a:pPr algn="just" marL="0" indent="0" lvl="0">
              <a:lnSpc>
                <a:spcPts val="3276"/>
              </a:lnSpc>
            </a:pPr>
            <a:r>
              <a:rPr lang="en-US" b="true" sz="2340" spc="25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         Truong Ngoc Gia Hieu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58746" cy="14666313"/>
          </a:xfrm>
          <a:custGeom>
            <a:avLst/>
            <a:gdLst/>
            <a:ahLst/>
            <a:cxnLst/>
            <a:rect r="r" b="b" t="t" l="l"/>
            <a:pathLst>
              <a:path h="14666313" w="18458746">
                <a:moveTo>
                  <a:pt x="0" y="0"/>
                </a:moveTo>
                <a:lnTo>
                  <a:pt x="18458746" y="0"/>
                </a:lnTo>
                <a:lnTo>
                  <a:pt x="18458746" y="14666313"/>
                </a:lnTo>
                <a:lnTo>
                  <a:pt x="0" y="1466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1658" y="2025841"/>
            <a:ext cx="13204684" cy="6235319"/>
          </a:xfrm>
          <a:custGeom>
            <a:avLst/>
            <a:gdLst/>
            <a:ahLst/>
            <a:cxnLst/>
            <a:rect r="r" b="b" t="t" l="l"/>
            <a:pathLst>
              <a:path h="6235319" w="13204684">
                <a:moveTo>
                  <a:pt x="0" y="0"/>
                </a:moveTo>
                <a:lnTo>
                  <a:pt x="13204684" y="0"/>
                </a:lnTo>
                <a:lnTo>
                  <a:pt x="13204684" y="6235318"/>
                </a:lnTo>
                <a:lnTo>
                  <a:pt x="0" y="623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88" r="0" b="-57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848588">
            <a:off x="12857059" y="2116441"/>
            <a:ext cx="1374640" cy="1533575"/>
          </a:xfrm>
          <a:custGeom>
            <a:avLst/>
            <a:gdLst/>
            <a:ahLst/>
            <a:cxnLst/>
            <a:rect r="r" b="b" t="t" l="l"/>
            <a:pathLst>
              <a:path h="1533575" w="1374640">
                <a:moveTo>
                  <a:pt x="0" y="0"/>
                </a:moveTo>
                <a:lnTo>
                  <a:pt x="1374641" y="0"/>
                </a:lnTo>
                <a:lnTo>
                  <a:pt x="1374641" y="1533574"/>
                </a:lnTo>
                <a:lnTo>
                  <a:pt x="0" y="1533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73758" y="7068247"/>
            <a:ext cx="6840983" cy="4114800"/>
          </a:xfrm>
          <a:custGeom>
            <a:avLst/>
            <a:gdLst/>
            <a:ahLst/>
            <a:cxnLst/>
            <a:rect r="r" b="b" t="t" l="l"/>
            <a:pathLst>
              <a:path h="4114800" w="6840983">
                <a:moveTo>
                  <a:pt x="0" y="0"/>
                </a:moveTo>
                <a:lnTo>
                  <a:pt x="6840983" y="0"/>
                </a:lnTo>
                <a:lnTo>
                  <a:pt x="6840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5105" y="3836689"/>
            <a:ext cx="11697791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System Specification and Operational Scenario 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Class Identification and Responsibility Distribution 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Class-Responsibility-Collaboration (CRC) Cards and Object Dependencies 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Class Hierarchies and Object Modeling 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Applied Design Patterns 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 spc="27">
                <a:solidFill>
                  <a:srgbClr val="2B5098"/>
                </a:solidFill>
                <a:latin typeface="Raleway"/>
                <a:ea typeface="Raleway"/>
                <a:cs typeface="Raleway"/>
                <a:sym typeface="Raleway"/>
              </a:rPr>
              <a:t>Distributed Balance Synchronization  </a:t>
            </a:r>
          </a:p>
          <a:p>
            <a:pPr algn="just" marL="0" indent="0" lvl="0">
              <a:lnSpc>
                <a:spcPts val="34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627355" y="2244916"/>
            <a:ext cx="5033291" cy="126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52"/>
              </a:lnSpc>
            </a:pPr>
            <a:r>
              <a:rPr lang="en-US" b="true" sz="9744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9798" y="-525497"/>
            <a:ext cx="12352120" cy="10812497"/>
          </a:xfrm>
          <a:custGeom>
            <a:avLst/>
            <a:gdLst/>
            <a:ahLst/>
            <a:cxnLst/>
            <a:rect r="r" b="b" t="t" l="l"/>
            <a:pathLst>
              <a:path h="10812497" w="12352120">
                <a:moveTo>
                  <a:pt x="0" y="0"/>
                </a:moveTo>
                <a:lnTo>
                  <a:pt x="12352120" y="0"/>
                </a:lnTo>
                <a:lnTo>
                  <a:pt x="12352120" y="10812497"/>
                </a:lnTo>
                <a:lnTo>
                  <a:pt x="0" y="10812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92" t="0" r="-1569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2452" y="-244670"/>
            <a:ext cx="13527400" cy="12241353"/>
          </a:xfrm>
          <a:custGeom>
            <a:avLst/>
            <a:gdLst/>
            <a:ahLst/>
            <a:cxnLst/>
            <a:rect r="r" b="b" t="t" l="l"/>
            <a:pathLst>
              <a:path h="12241353" w="13527400">
                <a:moveTo>
                  <a:pt x="0" y="0"/>
                </a:moveTo>
                <a:lnTo>
                  <a:pt x="13527400" y="0"/>
                </a:lnTo>
                <a:lnTo>
                  <a:pt x="13527400" y="12241352"/>
                </a:lnTo>
                <a:lnTo>
                  <a:pt x="0" y="1224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1" t="0" r="-38307" b="-28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79713" y="626836"/>
            <a:ext cx="8283070" cy="24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67"/>
              </a:lnSpc>
            </a:pPr>
            <a:r>
              <a:rPr lang="en-US" b="true" sz="9863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System Specification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352" y="3568700"/>
            <a:ext cx="11697791" cy="56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Machine Architecture: Designed as a standalone software layout interfacing with standard physical endpoints.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Hardware Interface Components: Integrated with a display screen, bankcard reader, input keys, cash dispenser, and receipt printer.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Default System State: Displays a greeting text when idle while locking out hardware input channels.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Input Parsing &amp; Verification: Reads inserted card metadata and validates masked user numeric credentials.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Core Business Actions: Executes dedicated financial routines for deposits, withdrawals, transfers, and balance inquiries.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System Escape Sequences: Provides an uninterrupted cancellation routine to return user cards and print logs at any active stage.</a:t>
            </a:r>
          </a:p>
          <a:p>
            <a:pPr algn="just" marL="0" indent="0" lvl="0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305097" cy="10287000"/>
          </a:xfrm>
          <a:custGeom>
            <a:avLst/>
            <a:gdLst/>
            <a:ahLst/>
            <a:cxnLst/>
            <a:rect r="r" b="b" t="t" l="l"/>
            <a:pathLst>
              <a:path h="10287000" w="7305097">
                <a:moveTo>
                  <a:pt x="0" y="0"/>
                </a:moveTo>
                <a:lnTo>
                  <a:pt x="7305097" y="0"/>
                </a:lnTo>
                <a:lnTo>
                  <a:pt x="73050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967" t="0" r="-779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05097" y="-353412"/>
            <a:ext cx="13527400" cy="12241353"/>
          </a:xfrm>
          <a:custGeom>
            <a:avLst/>
            <a:gdLst/>
            <a:ahLst/>
            <a:cxnLst/>
            <a:rect r="r" b="b" t="t" l="l"/>
            <a:pathLst>
              <a:path h="12241353" w="13527400">
                <a:moveTo>
                  <a:pt x="0" y="0"/>
                </a:moveTo>
                <a:lnTo>
                  <a:pt x="13527400" y="0"/>
                </a:lnTo>
                <a:lnTo>
                  <a:pt x="13527400" y="12241352"/>
                </a:lnTo>
                <a:lnTo>
                  <a:pt x="0" y="1224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1" t="0" r="-38307" b="-28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0091" y="849780"/>
            <a:ext cx="6630188" cy="24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7"/>
              </a:lnSpc>
            </a:pPr>
            <a:r>
              <a:rPr lang="en-US" b="true" sz="9863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Operation</a:t>
            </a:r>
          </a:p>
          <a:p>
            <a:pPr algn="ctr" marL="0" indent="0" lvl="0">
              <a:lnSpc>
                <a:spcPts val="9567"/>
              </a:lnSpc>
            </a:pPr>
            <a:r>
              <a:rPr lang="en-US" b="true" sz="9863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Scenario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01366" y="3764436"/>
            <a:ext cx="10327638" cy="56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Step 1: Session Initialization – Displays a default greeting message while keeping all hardware keys and slots locked until a bankcard is physically inserted.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Step 2: Security Verification – Reads card metadata, prompts for a PIN, masks numeric inputs (*), and triggers physical card retention on the third successive failure.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Step 3: Service Selection &amp; Execution – Loads the transaction menu (Deposit, Withdrawal, Transfer, Inquiry) and runs the chosen business logic back to the main loop.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27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Step 4: Safe Escape Routine – Monitors the Cancel key at any active stage to terminate execution, print summary records, return the card, and reset back to idle. </a:t>
            </a:r>
          </a:p>
          <a:p>
            <a:pPr algn="just" marL="0" indent="0" lvl="0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452" y="-244670"/>
            <a:ext cx="20160677" cy="12241353"/>
          </a:xfrm>
          <a:custGeom>
            <a:avLst/>
            <a:gdLst/>
            <a:ahLst/>
            <a:cxnLst/>
            <a:rect r="r" b="b" t="t" l="l"/>
            <a:pathLst>
              <a:path h="12241353" w="20160677">
                <a:moveTo>
                  <a:pt x="0" y="0"/>
                </a:moveTo>
                <a:lnTo>
                  <a:pt x="20160677" y="0"/>
                </a:lnTo>
                <a:lnTo>
                  <a:pt x="20160677" y="12241352"/>
                </a:lnTo>
                <a:lnTo>
                  <a:pt x="0" y="1224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" t="-3878" r="0" b="-69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574" y="1028700"/>
            <a:ext cx="17596851" cy="9096044"/>
          </a:xfrm>
          <a:custGeom>
            <a:avLst/>
            <a:gdLst/>
            <a:ahLst/>
            <a:cxnLst/>
            <a:rect r="r" b="b" t="t" l="l"/>
            <a:pathLst>
              <a:path h="9096044" w="17596851">
                <a:moveTo>
                  <a:pt x="0" y="0"/>
                </a:moveTo>
                <a:lnTo>
                  <a:pt x="17596852" y="0"/>
                </a:lnTo>
                <a:lnTo>
                  <a:pt x="17596852" y="9096044"/>
                </a:lnTo>
                <a:lnTo>
                  <a:pt x="0" y="9096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8" t="0" r="-10364" b="-9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79744" y="277645"/>
            <a:ext cx="5728511" cy="62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4"/>
              </a:lnSpc>
            </a:pPr>
            <a:r>
              <a:rPr lang="en-US" b="true" sz="483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Important Classes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452" y="-244670"/>
            <a:ext cx="20160677" cy="12241353"/>
          </a:xfrm>
          <a:custGeom>
            <a:avLst/>
            <a:gdLst/>
            <a:ahLst/>
            <a:cxnLst/>
            <a:rect r="r" b="b" t="t" l="l"/>
            <a:pathLst>
              <a:path h="12241353" w="20160677">
                <a:moveTo>
                  <a:pt x="0" y="0"/>
                </a:moveTo>
                <a:lnTo>
                  <a:pt x="20160677" y="0"/>
                </a:lnTo>
                <a:lnTo>
                  <a:pt x="20160677" y="12241352"/>
                </a:lnTo>
                <a:lnTo>
                  <a:pt x="0" y="1224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" t="-3878" r="0" b="-69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8645" y="1568031"/>
            <a:ext cx="11370710" cy="8615950"/>
          </a:xfrm>
          <a:custGeom>
            <a:avLst/>
            <a:gdLst/>
            <a:ahLst/>
            <a:cxnLst/>
            <a:rect r="r" b="b" t="t" l="l"/>
            <a:pathLst>
              <a:path h="8615950" w="11370710">
                <a:moveTo>
                  <a:pt x="0" y="0"/>
                </a:moveTo>
                <a:lnTo>
                  <a:pt x="11370710" y="0"/>
                </a:lnTo>
                <a:lnTo>
                  <a:pt x="11370710" y="8615950"/>
                </a:lnTo>
                <a:lnTo>
                  <a:pt x="0" y="8615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8396" y="408135"/>
            <a:ext cx="9991207" cy="62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4"/>
              </a:lnSpc>
            </a:pPr>
            <a:r>
              <a:rPr lang="en-US" b="true" sz="483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Relationship Between Classes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452" y="-244670"/>
            <a:ext cx="20160677" cy="12241353"/>
          </a:xfrm>
          <a:custGeom>
            <a:avLst/>
            <a:gdLst/>
            <a:ahLst/>
            <a:cxnLst/>
            <a:rect r="r" b="b" t="t" l="l"/>
            <a:pathLst>
              <a:path h="12241353" w="20160677">
                <a:moveTo>
                  <a:pt x="0" y="0"/>
                </a:moveTo>
                <a:lnTo>
                  <a:pt x="20160677" y="0"/>
                </a:lnTo>
                <a:lnTo>
                  <a:pt x="20160677" y="12241352"/>
                </a:lnTo>
                <a:lnTo>
                  <a:pt x="0" y="1224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6" t="-3878" r="0" b="-69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0631" y="1165835"/>
            <a:ext cx="12834510" cy="8692821"/>
          </a:xfrm>
          <a:custGeom>
            <a:avLst/>
            <a:gdLst/>
            <a:ahLst/>
            <a:cxnLst/>
            <a:rect r="r" b="b" t="t" l="l"/>
            <a:pathLst>
              <a:path h="8692821" w="12834510">
                <a:moveTo>
                  <a:pt x="0" y="0"/>
                </a:moveTo>
                <a:lnTo>
                  <a:pt x="12834510" y="0"/>
                </a:lnTo>
                <a:lnTo>
                  <a:pt x="12834510" y="8692822"/>
                </a:lnTo>
                <a:lnTo>
                  <a:pt x="0" y="8692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8396" y="408135"/>
            <a:ext cx="9991207" cy="62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94"/>
              </a:lnSpc>
            </a:pPr>
            <a:r>
              <a:rPr lang="en-US" b="true" sz="483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Relationship Between Classes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207" y="-418658"/>
            <a:ext cx="18536016" cy="12241353"/>
          </a:xfrm>
          <a:custGeom>
            <a:avLst/>
            <a:gdLst/>
            <a:ahLst/>
            <a:cxnLst/>
            <a:rect r="r" b="b" t="t" l="l"/>
            <a:pathLst>
              <a:path h="12241353" w="18536016">
                <a:moveTo>
                  <a:pt x="0" y="0"/>
                </a:moveTo>
                <a:lnTo>
                  <a:pt x="18536016" y="0"/>
                </a:lnTo>
                <a:lnTo>
                  <a:pt x="18536016" y="12241353"/>
                </a:lnTo>
                <a:lnTo>
                  <a:pt x="0" y="1224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5" t="0" r="-935" b="-28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34236"/>
            <a:ext cx="5018049" cy="4114800"/>
          </a:xfrm>
          <a:custGeom>
            <a:avLst/>
            <a:gdLst/>
            <a:ahLst/>
            <a:cxnLst/>
            <a:rect r="r" b="b" t="t" l="l"/>
            <a:pathLst>
              <a:path h="4114800" w="5018049">
                <a:moveTo>
                  <a:pt x="0" y="0"/>
                </a:moveTo>
                <a:lnTo>
                  <a:pt x="5018049" y="0"/>
                </a:lnTo>
                <a:lnTo>
                  <a:pt x="50180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5356098"/>
          </a:xfrm>
          <a:custGeom>
            <a:avLst/>
            <a:gdLst/>
            <a:ahLst/>
            <a:cxnLst/>
            <a:rect r="r" b="b" t="t" l="l"/>
            <a:pathLst>
              <a:path h="5356098" w="18288000">
                <a:moveTo>
                  <a:pt x="0" y="0"/>
                </a:moveTo>
                <a:lnTo>
                  <a:pt x="18288000" y="0"/>
                </a:lnTo>
                <a:lnTo>
                  <a:pt x="18288000" y="5356098"/>
                </a:lnTo>
                <a:lnTo>
                  <a:pt x="0" y="535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338" r="0" b="-63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159711">
            <a:off x="12031518" y="4597274"/>
            <a:ext cx="7286948" cy="7904973"/>
          </a:xfrm>
          <a:custGeom>
            <a:avLst/>
            <a:gdLst/>
            <a:ahLst/>
            <a:cxnLst/>
            <a:rect r="r" b="b" t="t" l="l"/>
            <a:pathLst>
              <a:path h="7904973" w="7286948">
                <a:moveTo>
                  <a:pt x="0" y="0"/>
                </a:moveTo>
                <a:lnTo>
                  <a:pt x="7286949" y="0"/>
                </a:lnTo>
                <a:lnTo>
                  <a:pt x="7286949" y="7904974"/>
                </a:lnTo>
                <a:lnTo>
                  <a:pt x="0" y="7904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9808" y="3454365"/>
            <a:ext cx="15701986" cy="369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30"/>
              </a:lnSpc>
            </a:pPr>
            <a:r>
              <a:rPr lang="en-US" b="true" sz="14567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DAHNory9rRY</dc:identifier>
  <dcterms:modified xsi:type="dcterms:W3CDTF">2011-08-01T06:04:30Z</dcterms:modified>
  <cp:revision>1</cp:revision>
  <dc:title>OOAD for Standalone ATM System</dc:title>
</cp:coreProperties>
</file>