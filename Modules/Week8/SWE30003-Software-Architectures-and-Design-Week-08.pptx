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Prata"/>
      <p:regular r:id="rId201314"/>
    </p:embeddedFont>
    <p:embeddedFont>
      <p:font typeface="Raleway ExtraBold"/>
      <p:regular r:id="rId201315"/>
    </p:embeddedFont>
    <p:embeddedFont>
      <p:font typeface="Raleway Medium"/>
      <p:regular r:id="rId201316"/>
    </p:embeddedFont>
    <p:embeddedFont>
      <p:font typeface="Raleway SemiBold"/>
      <p:regular r:id="rId201317"/>
    </p:embeddedFont>
    <p:embeddedFont>
      <p:font typeface="Raleway Bold"/>
      <p:regular r:id="rId201318"/>
    </p:embeddedFont>
    <p:embeddedFont>
      <p:font typeface="Raleway Black"/>
      <p:regular r:id="rId201319"/>
    </p:embeddedFont>
    <p:embeddedFont>
      <p:font typeface="Raleway Thin"/>
      <p:regular r:id="rId201320"/>
    </p:embeddedFont>
    <p:embeddedFont>
      <p:font typeface="Raleway ExtraLight"/>
      <p:regular r:id="rId201321"/>
    </p:embeddedFont>
    <p:embeddedFont>
      <p:font typeface="Raleway Light"/>
      <p:regular r:id="rId201322"/>
    </p:embeddedFont>
    <p:embeddedFont>
      <p:font typeface="Raleway"/>
      <p:regular r:id="rId2013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image" Target="../media/image-6-2.png"/><Relationship Id="rId9" Type="http://schemas.openxmlformats.org/officeDocument/2006/relationships/image" Target="../media/image-6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image" Target="../media/image-9-2.png"/><Relationship Id="rId9" Type="http://schemas.openxmlformats.org/officeDocument/2006/relationships/image" Target="../media/image-9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A3B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SWE30003 – Software Architectures and Design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30075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Lecture 8: Software Architectures and Architectural Styles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432941"/>
            <a:ext cx="3398193" cy="30037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550593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Lecture Outline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96119" y="4014415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01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96119" y="4184526"/>
            <a:ext cx="2661865" cy="14288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4267349"/>
            <a:ext cx="2661865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Software Architectures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96119" y="4486721"/>
            <a:ext cx="266186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Processing, Interaction, and Composition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241030" y="4014415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41030" y="4184526"/>
            <a:ext cx="2661865" cy="14288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10" name="Text 7"/>
          <p:cNvSpPr/>
          <p:nvPr/>
        </p:nvSpPr>
        <p:spPr>
          <a:xfrm>
            <a:off x="3241030" y="4267349"/>
            <a:ext cx="2661865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Architectural Styles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241030" y="4486721"/>
            <a:ext cx="266186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Deployment perspectives and style categories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985942" y="4014415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03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985942" y="4184526"/>
            <a:ext cx="2661865" cy="14288"/>
          </a:xfrm>
          <a:prstGeom prst="rect">
            <a:avLst/>
          </a:prstGeom>
          <a:solidFill>
            <a:srgbClr val="D2AC47"/>
          </a:solidFill>
          <a:ln/>
        </p:spPr>
      </p:sp>
      <p:sp>
        <p:nvSpPr>
          <p:cNvPr id="14" name="Text 11"/>
          <p:cNvSpPr/>
          <p:nvPr/>
        </p:nvSpPr>
        <p:spPr>
          <a:xfrm>
            <a:off x="5985942" y="4267349"/>
            <a:ext cx="2661865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Why Use Architectures?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985942" y="4486721"/>
            <a:ext cx="266186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Managing complexity with rationale and structure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Software Abstractions – The Hierarchy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4988" y="1876648"/>
            <a:ext cx="1631305" cy="204571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11997" y="2037457"/>
            <a:ext cx="12334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High-Level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711997" y="2400672"/>
            <a:ext cx="1233488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Software Architectures → Subsystems → Components → Modules/Packages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8052" y="1876648"/>
            <a:ext cx="1631379" cy="204571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5061" y="2037457"/>
            <a:ext cx="12335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Mid-Level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485061" y="2400672"/>
            <a:ext cx="123356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Objects, Interfaces, Abstract Data Types, Functional abstractions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1190" y="1876648"/>
            <a:ext cx="1631379" cy="204571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58199" y="2037457"/>
            <a:ext cx="12335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Low-Level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258199" y="2400672"/>
            <a:ext cx="12335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Primitive data types, machine instructions, symbolic names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75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is a Processing Element?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85863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Core Properties of a Processing Element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49078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All contemporary design methods support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abstraction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decomposition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composition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4339" y="1207815"/>
            <a:ext cx="2628230" cy="19588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6119" y="3485555"/>
            <a:ext cx="1931566" cy="1265113"/>
          </a:xfrm>
          <a:prstGeom prst="roundRect">
            <a:avLst>
              <a:gd name="adj" fmla="val 1681"/>
            </a:avLst>
          </a:prstGeom>
          <a:solidFill>
            <a:srgbClr val="3A3B3C"/>
          </a:solidFill>
          <a:ln/>
        </p:spPr>
      </p:sp>
      <p:sp>
        <p:nvSpPr>
          <p:cNvPr id="7" name="Text 4"/>
          <p:cNvSpPr/>
          <p:nvPr/>
        </p:nvSpPr>
        <p:spPr>
          <a:xfrm>
            <a:off x="637877" y="3627313"/>
            <a:ext cx="164804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Contains Information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7877" y="4155281"/>
            <a:ext cx="164804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Holds state and data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9443" y="3485555"/>
            <a:ext cx="1931640" cy="1265113"/>
          </a:xfrm>
          <a:prstGeom prst="roundRect">
            <a:avLst>
              <a:gd name="adj" fmla="val 1681"/>
            </a:avLst>
          </a:prstGeom>
          <a:solidFill>
            <a:srgbClr val="3A3B3C"/>
          </a:solidFill>
          <a:ln/>
        </p:spPr>
      </p:sp>
      <p:sp>
        <p:nvSpPr>
          <p:cNvPr id="10" name="Text 7"/>
          <p:cNvSpPr/>
          <p:nvPr/>
        </p:nvSpPr>
        <p:spPr>
          <a:xfrm>
            <a:off x="2711202" y="3627313"/>
            <a:ext cx="16481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Performs Computations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711202" y="4155281"/>
            <a:ext cx="16481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Executes logic and transforms data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42842" y="3485555"/>
            <a:ext cx="1931640" cy="1265113"/>
          </a:xfrm>
          <a:prstGeom prst="roundRect">
            <a:avLst>
              <a:gd name="adj" fmla="val 1681"/>
            </a:avLst>
          </a:prstGeom>
          <a:solidFill>
            <a:srgbClr val="3A3B3C"/>
          </a:solidFill>
          <a:ln/>
        </p:spPr>
      </p:sp>
      <p:sp>
        <p:nvSpPr>
          <p:cNvPr id="13" name="Text 10"/>
          <p:cNvSpPr/>
          <p:nvPr/>
        </p:nvSpPr>
        <p:spPr>
          <a:xfrm>
            <a:off x="4784601" y="3627313"/>
            <a:ext cx="16481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Maintains Connections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784601" y="4155281"/>
            <a:ext cx="16481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Interfaces with other PEs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16241" y="3485555"/>
            <a:ext cx="1931640" cy="1265113"/>
          </a:xfrm>
          <a:prstGeom prst="roundRect">
            <a:avLst>
              <a:gd name="adj" fmla="val 1681"/>
            </a:avLst>
          </a:prstGeom>
          <a:solidFill>
            <a:srgbClr val="3A3B3C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3627313"/>
            <a:ext cx="16481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Can Be Composed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858000" y="3933825"/>
            <a:ext cx="16481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Nested as part of larger PEs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2750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is Software Architecture?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708720" y="1913483"/>
            <a:ext cx="7939162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i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"This shared understanding is often called 'architecture'. It includes how the system is divided into processing elements and their interaction through interfaces."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 Ralph Johnson, 2003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754014"/>
            <a:ext cx="19050" cy="1158850"/>
          </a:xfrm>
          <a:prstGeom prst="roundRect">
            <a:avLst>
              <a:gd name="adj" fmla="val 60000"/>
            </a:avLst>
          </a:prstGeom>
          <a:solidFill>
            <a:srgbClr val="EEE27D"/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3072333"/>
            <a:ext cx="8151763" cy="1043657"/>
          </a:xfrm>
          <a:prstGeom prst="roundRect">
            <a:avLst>
              <a:gd name="adj" fmla="val 2038"/>
            </a:avLst>
          </a:prstGeom>
          <a:solidFill>
            <a:srgbClr val="3A3B3C"/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3072333"/>
            <a:ext cx="2717229" cy="1043657"/>
          </a:xfrm>
          <a:prstGeom prst="rect">
            <a:avLst/>
          </a:prstGeom>
          <a:solidFill>
            <a:srgbClr val="3A3B3C"/>
          </a:solidFill>
          <a:ln/>
        </p:spPr>
      </p:sp>
      <p:sp>
        <p:nvSpPr>
          <p:cNvPr id="7" name="Text 5"/>
          <p:cNvSpPr/>
          <p:nvPr/>
        </p:nvSpPr>
        <p:spPr>
          <a:xfrm>
            <a:off x="637877" y="3214092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Structure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7877" y="3520604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High-level processing elements and how the system is divided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3348" y="3072333"/>
            <a:ext cx="2717229" cy="1043657"/>
          </a:xfrm>
          <a:prstGeom prst="rect">
            <a:avLst/>
          </a:prstGeom>
          <a:solidFill>
            <a:srgbClr val="3A3B3C"/>
          </a:solidFill>
          <a:ln/>
        </p:spPr>
      </p:sp>
      <p:sp>
        <p:nvSpPr>
          <p:cNvPr id="10" name="Shape 8"/>
          <p:cNvSpPr/>
          <p:nvPr/>
        </p:nvSpPr>
        <p:spPr>
          <a:xfrm>
            <a:off x="3213348" y="3072333"/>
            <a:ext cx="19050" cy="1043657"/>
          </a:xfrm>
          <a:prstGeom prst="roundRect">
            <a:avLst>
              <a:gd name="adj" fmla="val 111628"/>
            </a:avLst>
          </a:prstGeom>
          <a:solidFill>
            <a:srgbClr val="535455"/>
          </a:solidFill>
          <a:ln/>
        </p:spPr>
      </p:sp>
      <p:sp>
        <p:nvSpPr>
          <p:cNvPr id="11" name="Text 9"/>
          <p:cNvSpPr/>
          <p:nvPr/>
        </p:nvSpPr>
        <p:spPr>
          <a:xfrm>
            <a:off x="3355107" y="3214092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Visibility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55107" y="3520604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Externally visible properties of each element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30578" y="3072333"/>
            <a:ext cx="2717229" cy="1043657"/>
          </a:xfrm>
          <a:prstGeom prst="rect">
            <a:avLst/>
          </a:prstGeom>
          <a:solidFill>
            <a:srgbClr val="3A3B3C"/>
          </a:solidFill>
          <a:ln/>
        </p:spPr>
      </p:sp>
      <p:sp>
        <p:nvSpPr>
          <p:cNvPr id="14" name="Shape 12"/>
          <p:cNvSpPr/>
          <p:nvPr/>
        </p:nvSpPr>
        <p:spPr>
          <a:xfrm>
            <a:off x="5930578" y="3072333"/>
            <a:ext cx="19050" cy="1043657"/>
          </a:xfrm>
          <a:prstGeom prst="roundRect">
            <a:avLst>
              <a:gd name="adj" fmla="val 111628"/>
            </a:avLst>
          </a:prstGeom>
          <a:solidFill>
            <a:srgbClr val="535455"/>
          </a:solidFill>
          <a:ln/>
        </p:spPr>
      </p:sp>
      <p:sp>
        <p:nvSpPr>
          <p:cNvPr id="15" name="Text 13"/>
          <p:cNvSpPr/>
          <p:nvPr/>
        </p:nvSpPr>
        <p:spPr>
          <a:xfrm>
            <a:off x="6072336" y="3214092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Relationships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72336" y="3520604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Constraints and interactions between elements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928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Separation of Concerns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114550"/>
            <a:ext cx="2638797" cy="15298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69332" y="1153269"/>
            <a:ext cx="56404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Software architecture cleanly separates four fundamental concerns: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69332" y="1509266"/>
            <a:ext cx="2527250" cy="14693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23444" y="2062386"/>
            <a:ext cx="221902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3623444" y="2402235"/>
            <a:ext cx="221902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"Components"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what computations are performed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5319" y="1509266"/>
            <a:ext cx="2527250" cy="146930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79431" y="2062386"/>
            <a:ext cx="221902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Interaction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279431" y="2402235"/>
            <a:ext cx="221902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"Connections"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how components communicate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69332" y="3107308"/>
            <a:ext cx="2527250" cy="146930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23444" y="3660428"/>
            <a:ext cx="221902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Composition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3623444" y="4000277"/>
            <a:ext cx="221902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"Hierarchies"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how components are structured and nested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25319" y="3107308"/>
            <a:ext cx="2527250" cy="146930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279431" y="3660428"/>
            <a:ext cx="221902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6279431" y="4000277"/>
            <a:ext cx="221902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Where components physically run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3A3B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4596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Rationale – Why Decisions Matter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154453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Rationale explains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why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 decision was made and the implications of changing it. Good rationale is essential for long-lived systems.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2157636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7" name="Text 4"/>
          <p:cNvSpPr/>
          <p:nvPr/>
        </p:nvSpPr>
        <p:spPr>
          <a:xfrm>
            <a:off x="4385816" y="2206303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System-Wide Choices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385816" y="2512814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 overarching design decisions that affect the entire architecture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25119" y="3249960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10" name="Text 7"/>
          <p:cNvSpPr/>
          <p:nvPr/>
        </p:nvSpPr>
        <p:spPr>
          <a:xfrm>
            <a:off x="4385816" y="3298627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Changing Requirements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385816" y="3605138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Record the effects and risks of evolving or shifting requirements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25119" y="4115470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A3B3C"/>
          </a:solidFill>
          <a:ln/>
        </p:spPr>
      </p:sp>
      <p:sp>
        <p:nvSpPr>
          <p:cNvPr id="13" name="Text 10"/>
          <p:cNvSpPr/>
          <p:nvPr/>
        </p:nvSpPr>
        <p:spPr>
          <a:xfrm>
            <a:off x="4385816" y="4164137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Rejected Alternatives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385816" y="4470648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Capture what was considered and why it was not chosen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A3B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1216521"/>
            <a:ext cx="778743" cy="215354"/>
          </a:xfrm>
          <a:prstGeom prst="roundRect">
            <a:avLst>
              <a:gd name="adj" fmla="val 7900"/>
            </a:avLst>
          </a:prstGeom>
          <a:solidFill>
            <a:srgbClr val="443D09"/>
          </a:solidFill>
          <a:ln/>
        </p:spPr>
      </p:sp>
      <p:sp>
        <p:nvSpPr>
          <p:cNvPr id="5" name="Text 2"/>
          <p:cNvSpPr/>
          <p:nvPr/>
        </p:nvSpPr>
        <p:spPr>
          <a:xfrm>
            <a:off x="581174" y="1259012"/>
            <a:ext cx="106583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CHAPTER 2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96119" y="1488579"/>
            <a:ext cx="4722763" cy="1772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Architectural Styles</a:t>
            </a:r>
            <a:endParaRPr lang="en-US" sz="5550" dirty="0"/>
          </a:p>
        </p:txBody>
      </p:sp>
      <p:sp>
        <p:nvSpPr>
          <p:cNvPr id="7" name="Text 4"/>
          <p:cNvSpPr/>
          <p:nvPr/>
        </p:nvSpPr>
        <p:spPr>
          <a:xfrm>
            <a:off x="496119" y="347327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Deployment perspectives and established patterns for organising systems at scale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Popular Architectural Styles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04255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613868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Architectural styles provide proven, reusable solutions to recurring structural problems. Choosing the right style early shapes every subsequent design decision.</a:t>
            </a:r>
            <a:endParaRPr lang="en-US" sz="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684" y="4775485"/>
            <a:ext cx="106263" cy="1062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6430" y="4773290"/>
            <a:ext cx="382339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Data-flow</a:t>
            </a:r>
            <a:endParaRPr lang="en-US" sz="650" dirty="0"/>
          </a:p>
        </p:txBody>
      </p:sp>
      <p:sp>
        <p:nvSpPr>
          <p:cNvPr id="7" name="Text 3"/>
          <p:cNvSpPr/>
          <p:nvPr/>
        </p:nvSpPr>
        <p:spPr>
          <a:xfrm>
            <a:off x="726430" y="4905226"/>
            <a:ext cx="38233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Batch sequential, Pipes-and-Filter</a:t>
            </a:r>
            <a:endParaRPr lang="en-US" sz="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0667" y="4775485"/>
            <a:ext cx="106263" cy="1062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24413" y="4773290"/>
            <a:ext cx="382346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Call-and-Return</a:t>
            </a:r>
            <a:endParaRPr lang="en-US" sz="650" dirty="0"/>
          </a:p>
        </p:txBody>
      </p:sp>
      <p:sp>
        <p:nvSpPr>
          <p:cNvPr id="10" name="Text 5"/>
          <p:cNvSpPr/>
          <p:nvPr/>
        </p:nvSpPr>
        <p:spPr>
          <a:xfrm>
            <a:off x="4824413" y="4905226"/>
            <a:ext cx="382346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Client-Server, Layered, Tiered, OO</a:t>
            </a:r>
            <a:endParaRPr lang="en-US" sz="5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2684" y="5063319"/>
            <a:ext cx="106263" cy="10626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6430" y="5061124"/>
            <a:ext cx="382339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Data-centred</a:t>
            </a:r>
            <a:endParaRPr lang="en-US" sz="650" dirty="0"/>
          </a:p>
        </p:txBody>
      </p:sp>
      <p:sp>
        <p:nvSpPr>
          <p:cNvPr id="13" name="Text 7"/>
          <p:cNvSpPr/>
          <p:nvPr/>
        </p:nvSpPr>
        <p:spPr>
          <a:xfrm>
            <a:off x="726430" y="5193060"/>
            <a:ext cx="38233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Repository, Blackboard</a:t>
            </a:r>
            <a:endParaRPr lang="en-US" sz="5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20667" y="5063319"/>
            <a:ext cx="106263" cy="10626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824413" y="5061124"/>
            <a:ext cx="382346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Independent Component</a:t>
            </a:r>
            <a:endParaRPr lang="en-US" sz="650" dirty="0"/>
          </a:p>
        </p:txBody>
      </p:sp>
      <p:sp>
        <p:nvSpPr>
          <p:cNvPr id="16" name="Text 9"/>
          <p:cNvSpPr/>
          <p:nvPr/>
        </p:nvSpPr>
        <p:spPr>
          <a:xfrm>
            <a:off x="4824413" y="5193060"/>
            <a:ext cx="382346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Peer-to-Peer, Event-Driven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8875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Layered Architecture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71886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Organises a system into layers — each provides services to the layer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above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and uses services from the layer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below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453060"/>
            <a:ext cx="5177582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Elements only "see" the same layer or the layer below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Call-backs communicate upward through defined interfaces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3115717"/>
            <a:ext cx="5177582" cy="779562"/>
          </a:xfrm>
          <a:prstGeom prst="roundRect">
            <a:avLst>
              <a:gd name="adj" fmla="val 2728"/>
            </a:avLst>
          </a:prstGeom>
          <a:solidFill>
            <a:srgbClr val="71660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330773"/>
            <a:ext cx="177180" cy="1417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3278684"/>
            <a:ext cx="45751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Example: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UI → UI Mgmt/Auth → Core Business Logic → System Support (OS/DB)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339" y="1951137"/>
            <a:ext cx="2628230" cy="18968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8391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Dataflow &amp; Pipes-and-Filter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98972"/>
            <a:ext cx="2628230" cy="7599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872555"/>
            <a:ext cx="5177582" cy="8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Each component (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filter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) performs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one type of data transformation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; data flows from one filter to the next via pipes.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Unix example: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 -cvf - . | gzip -9 | ssh mercury dd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977828"/>
            <a:ext cx="4004965" cy="1081757"/>
          </a:xfrm>
          <a:prstGeom prst="roundRect">
            <a:avLst>
              <a:gd name="adj" fmla="val 1966"/>
            </a:avLst>
          </a:prstGeom>
          <a:solidFill>
            <a:srgbClr val="1B1C1D"/>
          </a:solidFill>
          <a:ln w="19050">
            <a:solidFill>
              <a:srgbClr val="5354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6927" y="3138636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Property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6927" y="3445148"/>
            <a:ext cx="36833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Generally free of cycles — data moves in one direction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2977828"/>
            <a:ext cx="4005039" cy="1081757"/>
          </a:xfrm>
          <a:prstGeom prst="roundRect">
            <a:avLst>
              <a:gd name="adj" fmla="val 1966"/>
            </a:avLst>
          </a:prstGeom>
          <a:solidFill>
            <a:srgbClr val="1B1C1D"/>
          </a:solidFill>
          <a:ln w="19050">
            <a:solidFill>
              <a:srgbClr val="5354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3651" y="3138636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Limitation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803651" y="3445148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 suitable for interactive systems requiring real-time feedback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2026-07-27T06:58:00Z</dcterms:created>
  <dcterms:modified xsi:type="dcterms:W3CDTF">2026-07-27T06:58:00Z</dcterms:modified>
</cp:coreProperties>
</file>